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79" r:id="rId2"/>
    <p:sldId id="256" r:id="rId3"/>
    <p:sldId id="316" r:id="rId4"/>
    <p:sldId id="257" r:id="rId5"/>
    <p:sldId id="323" r:id="rId6"/>
    <p:sldId id="324" r:id="rId7"/>
    <p:sldId id="315" r:id="rId8"/>
    <p:sldId id="380" r:id="rId9"/>
    <p:sldId id="259" r:id="rId10"/>
    <p:sldId id="325" r:id="rId11"/>
    <p:sldId id="328" r:id="rId12"/>
    <p:sldId id="333" r:id="rId13"/>
    <p:sldId id="318" r:id="rId14"/>
    <p:sldId id="319" r:id="rId15"/>
    <p:sldId id="320" r:id="rId16"/>
    <p:sldId id="321" r:id="rId17"/>
    <p:sldId id="334" r:id="rId18"/>
    <p:sldId id="326" r:id="rId19"/>
    <p:sldId id="330" r:id="rId20"/>
    <p:sldId id="327" r:id="rId21"/>
    <p:sldId id="331" r:id="rId22"/>
    <p:sldId id="335" r:id="rId23"/>
    <p:sldId id="332" r:id="rId24"/>
    <p:sldId id="336" r:id="rId25"/>
    <p:sldId id="31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7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8" autoAdjust="0"/>
    <p:restoredTop sz="86370" autoAdjust="0"/>
  </p:normalViewPr>
  <p:slideViewPr>
    <p:cSldViewPr snapToGrid="0">
      <p:cViewPr varScale="1">
        <p:scale>
          <a:sx n="99" d="100"/>
          <a:sy n="99" d="100"/>
        </p:scale>
        <p:origin x="1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67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904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386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6211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3080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25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2755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021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5/30/2024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69F34-9CC1-E59F-E59F-51DB3D97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after the presentation?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67A4AD-2DB8-D681-74A7-3A47132B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49" y="2184885"/>
            <a:ext cx="10096500" cy="136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330FE9-AB35-44BA-F17A-6FD0DAAB70CE}"/>
              </a:ext>
            </a:extLst>
          </p:cNvPr>
          <p:cNvSpPr txBox="1"/>
          <p:nvPr/>
        </p:nvSpPr>
        <p:spPr>
          <a:xfrm>
            <a:off x="2152997" y="4735629"/>
            <a:ext cx="7886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 sure to enable the Notes for slide-specific content</a:t>
            </a:r>
          </a:p>
        </p:txBody>
      </p:sp>
    </p:spTree>
    <p:extLst>
      <p:ext uri="{BB962C8B-B14F-4D97-AF65-F5344CB8AC3E}">
        <p14:creationId xmlns:p14="http://schemas.microsoft.com/office/powerpoint/2010/main" val="1346962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3590460" y="1637340"/>
            <a:ext cx="50110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LIKE</a:t>
            </a:r>
            <a:r>
              <a:rPr lang="en-US" sz="4800" b="1" dirty="0"/>
              <a:t>, to the max!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stringable1</a:t>
            </a:r>
            <a:r>
              <a:rPr lang="en-US" sz="4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4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i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190392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Stringable1</a:t>
            </a:r>
            <a:r>
              <a:rPr lang="en-US" dirty="0"/>
              <a:t> is usually the longer string</a:t>
            </a:r>
          </a:p>
          <a:p>
            <a:endParaRPr lang="en-US" dirty="0"/>
          </a:p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Stringable2</a:t>
            </a:r>
            <a:r>
              <a:rPr lang="en-US" dirty="0"/>
              <a:t> is usually the shorter string with one/more % symbols as wildcards</a:t>
            </a:r>
          </a:p>
          <a:p>
            <a:endParaRPr lang="en-US" dirty="0"/>
          </a:p>
          <a:p>
            <a:r>
              <a:rPr lang="en-US" dirty="0"/>
              <a:t>Returns </a:t>
            </a:r>
            <a:r>
              <a:rPr lang="en-US" dirty="0" err="1"/>
              <a:t>boolean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11973C-F73D-D1BF-C7CE-A57C9BA4A3A9}"/>
              </a:ext>
            </a:extLst>
          </p:cNvPr>
          <p:cNvSpPr txBox="1"/>
          <p:nvPr/>
        </p:nvSpPr>
        <p:spPr>
          <a:xfrm>
            <a:off x="1125495" y="1903921"/>
            <a:ext cx="4482465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@_venue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'SQL Saturday 20XX'</a:t>
            </a:r>
            <a:endParaRPr lang="en-US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@_venue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PRINT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'@_venue LIKE "%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%"'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BA725D-843C-BCAC-BED1-534BAAD10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495" y="3390548"/>
            <a:ext cx="3557716" cy="6727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3DD1500-1F2C-AB9A-9E2B-DFA74A4EB9AB}"/>
              </a:ext>
            </a:extLst>
          </p:cNvPr>
          <p:cNvSpPr txBox="1"/>
          <p:nvPr/>
        </p:nvSpPr>
        <p:spPr>
          <a:xfrm>
            <a:off x="1125495" y="4527860"/>
            <a:ext cx="46327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[description]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master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configurations</a:t>
            </a:r>
            <a:endParaRPr lang="en-US" sz="18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[description]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clr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347E16-249D-92DD-8510-5A3A0B38E9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943" y="5451190"/>
            <a:ext cx="5349985" cy="81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B0C15-EC35-5C7D-AABF-24A56E4C387B}"/>
              </a:ext>
            </a:extLst>
          </p:cNvPr>
          <p:cNvSpPr txBox="1"/>
          <p:nvPr/>
        </p:nvSpPr>
        <p:spPr>
          <a:xfrm>
            <a:off x="997809" y="698842"/>
            <a:ext cx="911001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 </a:t>
            </a:r>
            <a:r>
              <a:rPr lang="en-US" sz="4000" dirty="0"/>
              <a:t>– Wildcard of any length (even zero)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A2269-8B38-7849-D4E4-9626CFD3C0B6}"/>
              </a:ext>
            </a:extLst>
          </p:cNvPr>
          <p:cNvSpPr txBox="1"/>
          <p:nvPr/>
        </p:nvSpPr>
        <p:spPr>
          <a:xfrm>
            <a:off x="1729946" y="1961972"/>
            <a:ext cx="572117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'%'</a:t>
            </a: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'%A'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'A%B'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'%B%'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FAC5EE3-8112-20E6-E516-D7626EBFB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548" y="0"/>
            <a:ext cx="89062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90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129BA3-7C0C-46B5-DBFE-4EB74F36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67" y="428"/>
            <a:ext cx="10438095" cy="68571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281E4F-67D9-02CE-116A-2575821BD40D}"/>
              </a:ext>
            </a:extLst>
          </p:cNvPr>
          <p:cNvSpPr txBox="1"/>
          <p:nvPr/>
        </p:nvSpPr>
        <p:spPr>
          <a:xfrm>
            <a:off x="4324866" y="3698784"/>
            <a:ext cx="74870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AF04C6-C507-0E09-FAD7-E437579C0712}"/>
              </a:ext>
            </a:extLst>
          </p:cNvPr>
          <p:cNvSpPr txBox="1"/>
          <p:nvPr/>
        </p:nvSpPr>
        <p:spPr>
          <a:xfrm>
            <a:off x="2372498" y="2443544"/>
            <a:ext cx="1417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800" b="1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EE4EE6-4BB3-157D-AAB6-51C9A5D955AC}"/>
              </a:ext>
            </a:extLst>
          </p:cNvPr>
          <p:cNvSpPr txBox="1"/>
          <p:nvPr/>
        </p:nvSpPr>
        <p:spPr>
          <a:xfrm>
            <a:off x="3527954" y="2328219"/>
            <a:ext cx="13046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8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434FA2-F0F2-DF23-D4AE-CBC19D365B7B}"/>
              </a:ext>
            </a:extLst>
          </p:cNvPr>
          <p:cNvSpPr txBox="1"/>
          <p:nvPr/>
        </p:nvSpPr>
        <p:spPr>
          <a:xfrm>
            <a:off x="6711953" y="1912720"/>
            <a:ext cx="580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8A58B-63BF-956F-CE69-E7EA0485D618}"/>
              </a:ext>
            </a:extLst>
          </p:cNvPr>
          <p:cNvSpPr txBox="1"/>
          <p:nvPr/>
        </p:nvSpPr>
        <p:spPr>
          <a:xfrm>
            <a:off x="5093284" y="2094978"/>
            <a:ext cx="10418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460ABE-79DA-339C-1620-C95ED0AE401A}"/>
              </a:ext>
            </a:extLst>
          </p:cNvPr>
          <p:cNvSpPr txBox="1"/>
          <p:nvPr/>
        </p:nvSpPr>
        <p:spPr>
          <a:xfrm>
            <a:off x="8476735" y="3575217"/>
            <a:ext cx="13221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</a:p>
        </p:txBody>
      </p:sp>
    </p:spTree>
    <p:extLst>
      <p:ext uri="{BB962C8B-B14F-4D97-AF65-F5344CB8AC3E}">
        <p14:creationId xmlns:p14="http://schemas.microsoft.com/office/powerpoint/2010/main" val="1645384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37F7E54-7C4C-6895-6551-4EE478CB78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81F40E8-CE45-5D97-2B42-F27B153A891A}"/>
              </a:ext>
            </a:extLst>
          </p:cNvPr>
          <p:cNvSpPr txBox="1"/>
          <p:nvPr/>
        </p:nvSpPr>
        <p:spPr>
          <a:xfrm>
            <a:off x="5181465" y="0"/>
            <a:ext cx="6774412" cy="6940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IDENTITY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NOCOUNT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@_text2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1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abcdefghijklmnopqrstuvwxyz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@_text1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@_text2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@_text0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@_text1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WHILE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END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END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BREAK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CONCAT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@_text0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@_text2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INSERT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END</a:t>
            </a:r>
          </a:p>
          <a:p>
            <a:endParaRPr lang="en-US" sz="800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[Table_1]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[value]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','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'-'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75E29-12F3-72EF-C16D-E7ABDF5D0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63" y="491953"/>
            <a:ext cx="3499872" cy="12256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3DA3FC5-586F-65F1-7828-2840AF5C6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86" y="1804087"/>
            <a:ext cx="2085975" cy="48577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0894CB-06A9-8424-C596-373079A1C6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5160" y="2043900"/>
            <a:ext cx="3217866" cy="157857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C2659D1-41F9-FD70-E71D-84622BF11BCC}"/>
              </a:ext>
            </a:extLst>
          </p:cNvPr>
          <p:cNvGrpSpPr/>
          <p:nvPr/>
        </p:nvGrpSpPr>
        <p:grpSpPr>
          <a:xfrm>
            <a:off x="1126156" y="5409398"/>
            <a:ext cx="10732167" cy="1233042"/>
            <a:chOff x="1126156" y="5409398"/>
            <a:chExt cx="10732167" cy="12330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A262A22-87F8-732C-774C-B5A0D7EC2BCB}"/>
                </a:ext>
              </a:extLst>
            </p:cNvPr>
            <p:cNvSpPr txBox="1"/>
            <p:nvPr/>
          </p:nvSpPr>
          <p:spPr>
            <a:xfrm>
              <a:off x="5181464" y="6380830"/>
              <a:ext cx="667685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INSERT</a:t>
              </a:r>
              <a:r>
                <a:rPr lang="en-US" sz="1100" dirty="0">
                  <a:solidFill>
                    <a:srgbClr val="00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INTO</a:t>
              </a:r>
              <a:r>
                <a:rPr lang="en-US" sz="1100" dirty="0">
                  <a:solidFill>
                    <a:srgbClr val="00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[</a:t>
              </a:r>
              <a:r>
                <a:rPr lang="en-US" sz="1100" dirty="0" err="1">
                  <a:solidFill>
                    <a:srgbClr val="00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dbo</a:t>
              </a:r>
              <a:r>
                <a:rPr lang="en-US" sz="1100" dirty="0">
                  <a:solidFill>
                    <a:srgbClr val="00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]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.</a:t>
              </a:r>
              <a:r>
                <a:rPr lang="en-US" sz="1100" dirty="0">
                  <a:solidFill>
                    <a:srgbClr val="00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[Table_1]</a:t>
              </a:r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(</a:t>
              </a:r>
              <a:r>
                <a:rPr lang="en-US" sz="1100" dirty="0">
                  <a:solidFill>
                    <a:srgbClr val="00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[value]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)</a:t>
              </a:r>
              <a:r>
                <a:rPr lang="en-US" sz="1100" dirty="0">
                  <a:solidFill>
                    <a:srgbClr val="00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VALUES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(</a:t>
              </a:r>
              <a:r>
                <a:rPr lang="en-US" sz="1100" dirty="0">
                  <a:solidFill>
                    <a:srgbClr val="FF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','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),</a:t>
              </a:r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(</a:t>
              </a:r>
              <a:r>
                <a:rPr lang="en-US" sz="1100" dirty="0">
                  <a:solidFill>
                    <a:srgbClr val="FF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'%'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),</a:t>
              </a:r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(</a:t>
              </a:r>
              <a:r>
                <a:rPr lang="en-US" sz="1100" dirty="0">
                  <a:solidFill>
                    <a:srgbClr val="FF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'_'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),</a:t>
              </a:r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(</a:t>
              </a:r>
              <a:r>
                <a:rPr lang="en-US" sz="1100" dirty="0">
                  <a:solidFill>
                    <a:srgbClr val="FF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'^'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),</a:t>
              </a:r>
              <a:r>
                <a:rPr lang="en-US" sz="1100" dirty="0">
                  <a:solidFill>
                    <a:srgbClr val="0000FF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(</a:t>
              </a:r>
              <a:r>
                <a:rPr lang="en-US" sz="1100" dirty="0">
                  <a:solidFill>
                    <a:srgbClr val="FF000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'-'</a:t>
              </a:r>
              <a:r>
                <a:rPr lang="en-US" sz="1100" dirty="0">
                  <a:solidFill>
                    <a:srgbClr val="808080"/>
                  </a:solidFill>
                  <a:highlight>
                    <a:srgbClr val="FFFF00"/>
                  </a:highlight>
                  <a:latin typeface="Cascadia Code" panose="020B0609020000020004" pitchFamily="49" charset="0"/>
                  <a:cs typeface="Cascadia Code" panose="020B0609020000020004" pitchFamily="49" charset="0"/>
                </a:rPr>
                <a:t>)</a:t>
              </a:r>
              <a:endParaRPr lang="en-US" sz="11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9977D85-00CE-F44C-B916-2739D47EBAFF}"/>
                </a:ext>
              </a:extLst>
            </p:cNvPr>
            <p:cNvSpPr/>
            <p:nvPr/>
          </p:nvSpPr>
          <p:spPr>
            <a:xfrm>
              <a:off x="1126156" y="5409398"/>
              <a:ext cx="2329313" cy="1233042"/>
            </a:xfrm>
            <a:prstGeom prst="rect">
              <a:avLst/>
            </a:prstGeom>
            <a:noFill/>
            <a:ln w="476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5670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102962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 </a:t>
            </a:r>
            <a:r>
              <a:rPr lang="en-US" sz="4000" dirty="0"/>
              <a:t>– Wildcard of one (non-zero length) character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76DF3-142B-9C99-090C-7F58FD0B05E8}"/>
              </a:ext>
            </a:extLst>
          </p:cNvPr>
          <p:cNvSpPr txBox="1"/>
          <p:nvPr/>
        </p:nvSpPr>
        <p:spPr>
          <a:xfrm>
            <a:off x="1729945" y="1961972"/>
            <a:ext cx="481523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4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'_'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NEWID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-- randomizer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4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'__'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NEWID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-- randomizer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4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'__%'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NEWID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-- randomizer</a:t>
            </a:r>
            <a:endParaRPr 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432EC9-2C9D-8496-5D48-EA3BD4941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187" y="1836843"/>
            <a:ext cx="2295525" cy="1419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E05E-DE1C-CDD8-D5E1-F1B0187A59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3612" y="3532974"/>
            <a:ext cx="2324100" cy="14668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D66C38-993B-D4BB-1053-E2B16FF8BD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3612" y="5154679"/>
            <a:ext cx="2352675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 </a:t>
            </a:r>
            <a:r>
              <a:rPr lang="en-US" sz="4000" dirty="0"/>
              <a:t>– Containment characters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9758F-329B-CAE5-5842-2A67AD311381}"/>
              </a:ext>
            </a:extLst>
          </p:cNvPr>
          <p:cNvSpPr txBox="1"/>
          <p:nvPr/>
        </p:nvSpPr>
        <p:spPr>
          <a:xfrm>
            <a:off x="2109917" y="2709567"/>
            <a:ext cx="609805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@_value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@_value </a:t>
            </a:r>
            <a:r>
              <a:rPr lang="en-US" sz="20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'[]'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'yes'</a:t>
            </a:r>
            <a:endParaRPr lang="en-US" sz="20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'no'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754659" y="1932542"/>
            <a:ext cx="6098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By themselves do nothing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471BF6-AD32-855E-AC9A-6417346BC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917" y="4694503"/>
            <a:ext cx="2370257" cy="100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92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 </a:t>
            </a:r>
            <a:r>
              <a:rPr lang="en-US" sz="4000" dirty="0"/>
              <a:t>– Containment characters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709350" y="1528627"/>
            <a:ext cx="87732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Represent an array of allowable characters </a:t>
            </a:r>
            <a:r>
              <a:rPr lang="en-US" sz="2000" dirty="0">
                <a:highlight>
                  <a:srgbClr val="FFFF00"/>
                </a:highlight>
              </a:rPr>
              <a:t>as one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cs typeface="Cascadia Code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</a:t>
            </a:r>
            <a:r>
              <a:rPr lang="en-US" sz="2000" dirty="0"/>
              <a:t> and </a:t>
            </a:r>
            <a:r>
              <a:rPr lang="en-US" sz="24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</a:t>
            </a:r>
            <a:r>
              <a:rPr lang="en-US" sz="2000" dirty="0"/>
              <a:t> lose their special wildcard ability inside the containment characters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NULL/blank are not acceptable entries for this list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985FF2-2D0D-EFD6-22B1-76BB3C828782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8A6630A-0B19-8424-FC98-0C62639FFF6F}"/>
              </a:ext>
            </a:extLst>
          </p:cNvPr>
          <p:cNvGrpSpPr/>
          <p:nvPr/>
        </p:nvGrpSpPr>
        <p:grpSpPr>
          <a:xfrm>
            <a:off x="5795318" y="2716289"/>
            <a:ext cx="5585255" cy="3211169"/>
            <a:chOff x="5795318" y="2716289"/>
            <a:chExt cx="5585255" cy="321116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4E935D-4B7F-1A9C-62CF-502134C1C3E0}"/>
                </a:ext>
              </a:extLst>
            </p:cNvPr>
            <p:cNvSpPr txBox="1"/>
            <p:nvPr/>
          </p:nvSpPr>
          <p:spPr>
            <a:xfrm>
              <a:off x="5795318" y="2716289"/>
              <a:ext cx="55852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WHERE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 err="1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ArbitraryID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LIKE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'%[2%]9[86][90]'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48B1541-63E8-AA46-E5DA-5C5FAE8C1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63995" y="3317608"/>
              <a:ext cx="2247900" cy="2609850"/>
            </a:xfrm>
            <a:prstGeom prst="rect">
              <a:avLst/>
            </a:prstGeom>
          </p:spPr>
        </p:pic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497BD2B1-4EDD-59CA-AB9F-43B1672F1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194" y="3317608"/>
            <a:ext cx="2247900" cy="1733550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E329701A-8F82-991B-CE9C-43CEA3C0A934}"/>
              </a:ext>
            </a:extLst>
          </p:cNvPr>
          <p:cNvGrpSpPr/>
          <p:nvPr/>
        </p:nvGrpSpPr>
        <p:grpSpPr>
          <a:xfrm>
            <a:off x="1032367" y="5298047"/>
            <a:ext cx="3413554" cy="1103860"/>
            <a:chOff x="1032367" y="5298047"/>
            <a:chExt cx="3413554" cy="110386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0C5010C-FD47-F0C7-7144-27302E51A58A}"/>
                </a:ext>
              </a:extLst>
            </p:cNvPr>
            <p:cNvSpPr txBox="1"/>
            <p:nvPr/>
          </p:nvSpPr>
          <p:spPr>
            <a:xfrm>
              <a:off x="1032367" y="5298047"/>
              <a:ext cx="341355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Code" panose="020B0609020000020004" pitchFamily="49" charset="0"/>
                  <a:cs typeface="Cascadia Code" panose="020B0609020000020004" pitchFamily="49" charset="0"/>
                </a:rPr>
                <a:t>WHERE</a:t>
              </a:r>
              <a:r>
                <a:rPr lang="en-US" sz="1800" dirty="0">
                  <a:solidFill>
                    <a:srgbClr val="000000"/>
                  </a:solidFill>
                  <a:latin typeface="Cascadia Code" panose="020B0609020000020004" pitchFamily="49" charset="0"/>
                  <a:cs typeface="Cascadia Code" panose="020B0609020000020004" pitchFamily="49" charset="0"/>
                </a:rPr>
                <a:t> [value] </a:t>
              </a:r>
              <a:r>
                <a:rPr lang="en-US" sz="1800" dirty="0">
                  <a:solidFill>
                    <a:srgbClr val="808080"/>
                  </a:solidFill>
                  <a:latin typeface="Cascadia Code" panose="020B0609020000020004" pitchFamily="49" charset="0"/>
                  <a:cs typeface="Cascadia Code" panose="020B0609020000020004" pitchFamily="49" charset="0"/>
                </a:rPr>
                <a:t>LIKE</a:t>
              </a:r>
              <a:r>
                <a:rPr lang="en-US" sz="1800" dirty="0">
                  <a:solidFill>
                    <a:srgbClr val="000000"/>
                  </a:solidFill>
                  <a:latin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Code" panose="020B0609020000020004" pitchFamily="49" charset="0"/>
                  <a:cs typeface="Cascadia Code" panose="020B0609020000020004" pitchFamily="49" charset="0"/>
                </a:rPr>
                <a:t>'[%]'</a:t>
              </a:r>
              <a:endParaRPr lang="en-US" dirty="0">
                <a:latin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DC7922B6-2AE2-CBC7-56CA-67EE6E228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15194" y="5773257"/>
              <a:ext cx="2238375" cy="6286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77557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Do I need to worry about case-sensitivity?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816442" y="1726290"/>
            <a:ext cx="877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functions other than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UPPER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and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are case-sensitive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 you need to follow/enforce something other than the current collation?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82E3B-44B6-3A64-FBA4-4E9C567A4FD4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089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E3141-A63E-884B-2AD4-9DD5BDE0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462" y="1562100"/>
            <a:ext cx="5648325" cy="449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53F0D2-EDE0-117B-D759-20EFC0A40B80}"/>
              </a:ext>
            </a:extLst>
          </p:cNvPr>
          <p:cNvSpPr txBox="1"/>
          <p:nvPr/>
        </p:nvSpPr>
        <p:spPr>
          <a:xfrm>
            <a:off x="907614" y="3105835"/>
            <a:ext cx="405843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5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5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SERVERPROPERTY</a:t>
            </a:r>
            <a:r>
              <a:rPr lang="en-US" sz="15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5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5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5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34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C1E75-96EE-AE71-EB80-364BD32CD2B1}"/>
              </a:ext>
            </a:extLst>
          </p:cNvPr>
          <p:cNvSpPr txBox="1"/>
          <p:nvPr/>
        </p:nvSpPr>
        <p:spPr>
          <a:xfrm>
            <a:off x="977029" y="3448308"/>
            <a:ext cx="7549133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'Case-insensitive database'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'Case-sensitive database'</a:t>
            </a:r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4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collation_name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sys.databases</a:t>
            </a:r>
            <a:endParaRPr lang="en-US" sz="1600" dirty="0">
              <a:solidFill>
                <a:schemeClr val="accent6">
                  <a:lumMod val="50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endParaRPr lang="en-US" sz="2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(),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DATABASEPROPERTYEX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'collation'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A301E4-7435-5DB7-B34C-9A5230A20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218" y="1841326"/>
            <a:ext cx="5956582" cy="28567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4DECD8-4EA2-6477-F054-ABAD21780CD8}"/>
              </a:ext>
            </a:extLst>
          </p:cNvPr>
          <p:cNvSpPr txBox="1"/>
          <p:nvPr/>
        </p:nvSpPr>
        <p:spPr>
          <a:xfrm>
            <a:off x="8756347" y="2307888"/>
            <a:ext cx="2119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Copies the current instance-level collation</a:t>
            </a:r>
          </a:p>
        </p:txBody>
      </p:sp>
    </p:spTree>
    <p:extLst>
      <p:ext uri="{BB962C8B-B14F-4D97-AF65-F5344CB8AC3E}">
        <p14:creationId xmlns:p14="http://schemas.microsoft.com/office/powerpoint/2010/main" val="794748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C365DF-CA11-3A1D-7F7A-AD180571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32" y="2164491"/>
            <a:ext cx="4800600" cy="2657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3BBBC-860B-7462-E006-437B6656733C}"/>
              </a:ext>
            </a:extLst>
          </p:cNvPr>
          <p:cNvSpPr txBox="1"/>
          <p:nvPr/>
        </p:nvSpPr>
        <p:spPr>
          <a:xfrm>
            <a:off x="1100597" y="4513927"/>
            <a:ext cx="677065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DATA_TYPE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COLLATION_NAME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CASE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 err="1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'*'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Not_As_DB_Collation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INFORMATION_SCHEMA.COLUMNS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  <a:endParaRPr lang="en-US" sz="11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47AD3A-7BE8-FBF1-C370-1D2788BF4FE9}"/>
              </a:ext>
            </a:extLst>
          </p:cNvPr>
          <p:cNvSpPr txBox="1"/>
          <p:nvPr/>
        </p:nvSpPr>
        <p:spPr>
          <a:xfrm>
            <a:off x="9038504" y="3552111"/>
            <a:ext cx="21171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Copies the current database-level collation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6B8F09E-2C4C-B82C-F0CF-A8ACE8DEB9FE}"/>
              </a:ext>
            </a:extLst>
          </p:cNvPr>
          <p:cNvCxnSpPr/>
          <p:nvPr/>
        </p:nvCxnSpPr>
        <p:spPr>
          <a:xfrm>
            <a:off x="8316227" y="2990404"/>
            <a:ext cx="423512" cy="1084927"/>
          </a:xfrm>
          <a:prstGeom prst="straightConnector1">
            <a:avLst/>
          </a:prstGeom>
          <a:ln w="412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3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8AFCA-8F9E-FDA2-5AA6-6252AEAA4D13}"/>
              </a:ext>
            </a:extLst>
          </p:cNvPr>
          <p:cNvSpPr txBox="1"/>
          <p:nvPr/>
        </p:nvSpPr>
        <p:spPr>
          <a:xfrm>
            <a:off x="2133598" y="4225969"/>
            <a:ext cx="3617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Query-level – temporarily treat it differently for calculation purposes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31693-F528-5FD2-0B05-D3A2F61A521D}"/>
              </a:ext>
            </a:extLst>
          </p:cNvPr>
          <p:cNvSpPr txBox="1"/>
          <p:nvPr/>
        </p:nvSpPr>
        <p:spPr>
          <a:xfrm>
            <a:off x="6112703" y="4075331"/>
            <a:ext cx="49133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1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Cannot resolve the collation conflict between "SQL_Latin1_General_CP1_CI_AS" and "Latin1_General_CI_AS" in the equal to operation.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5825F3-9331-6164-FD25-0B6153355097}"/>
              </a:ext>
            </a:extLst>
          </p:cNvPr>
          <p:cNvSpPr txBox="1"/>
          <p:nvPr/>
        </p:nvSpPr>
        <p:spPr>
          <a:xfrm>
            <a:off x="6096000" y="2625056"/>
            <a:ext cx="525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AC6CB-BA0C-C066-3766-66035BDA4E15}"/>
              </a:ext>
            </a:extLst>
          </p:cNvPr>
          <p:cNvSpPr txBox="1"/>
          <p:nvPr/>
        </p:nvSpPr>
        <p:spPr>
          <a:xfrm>
            <a:off x="6041720" y="1905506"/>
            <a:ext cx="5366359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COLLATE</a:t>
            </a:r>
          </a:p>
          <a:p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SQL_Latin1_General_CP1_CI_AS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7821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Do I need to worry about case-sensitivity?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816442" y="1726290"/>
            <a:ext cx="877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functions other than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UPPER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and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are case-sensitive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 you need to follow/enforce something other than the current collation?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A7BA3-5B89-DCD6-B4A3-2FEBB537EB1F}"/>
              </a:ext>
            </a:extLst>
          </p:cNvPr>
          <p:cNvSpPr txBox="1"/>
          <p:nvPr/>
        </p:nvSpPr>
        <p:spPr>
          <a:xfrm>
            <a:off x="997807" y="3573835"/>
            <a:ext cx="950543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Forcing case-sensitivity on an case-insensitive column:</a:t>
            </a:r>
          </a:p>
          <a:p>
            <a:endParaRPr lang="en-US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dirty="0" err="1">
                <a:solidFill>
                  <a:srgbClr val="000000"/>
                </a:solidFill>
                <a:highlight>
                  <a:srgbClr val="00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CI</a:t>
            </a:r>
            <a:r>
              <a:rPr lang="en-US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_value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Latin1_General_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CS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_AS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Forcing case-insensitivity on an case-sensitive column:</a:t>
            </a:r>
          </a:p>
          <a:p>
            <a:endParaRPr lang="en-US" sz="18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CS</a:t>
            </a:r>
            <a:r>
              <a:rPr lang="en-US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_value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Latin1_General_</a:t>
            </a:r>
            <a:r>
              <a:rPr lang="en-US" dirty="0">
                <a:solidFill>
                  <a:srgbClr val="000000"/>
                </a:solidFill>
                <a:highlight>
                  <a:srgbClr val="00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CI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_AS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CS</a:t>
            </a:r>
            <a:r>
              <a:rPr lang="en-US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_value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'[mM][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aAeEiIoOuU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dD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CS</a:t>
            </a:r>
            <a:r>
              <a:rPr lang="en-US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_value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sz="18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1A6D9-4013-D159-2206-C84DFE72182D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4883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Range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3BBD6C-B22B-05EA-3CDE-F924F3770359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shortcut to consolidate characters on its </a:t>
            </a:r>
            <a:r>
              <a:rPr lang="en-US" sz="2000" b="1" dirty="0"/>
              <a:t>immediate</a:t>
            </a:r>
            <a:r>
              <a:rPr lang="en-US" sz="2000" dirty="0"/>
              <a:t> left and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Characters must be contiguous. Lower value must be on the left.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3BA2-0115-DE75-06B9-AE948687B303}"/>
              </a:ext>
            </a:extLst>
          </p:cNvPr>
          <p:cNvSpPr txBox="1"/>
          <p:nvPr/>
        </p:nvSpPr>
        <p:spPr>
          <a:xfrm>
            <a:off x="1037961" y="2852474"/>
            <a:ext cx="517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'[1-2][5-7]'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DE86C1-3A55-81AA-C150-9805A8F1F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7053" y="3523708"/>
            <a:ext cx="2212503" cy="20405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E22134-EA7E-B29E-A0BC-D46FB8837E40}"/>
              </a:ext>
            </a:extLst>
          </p:cNvPr>
          <p:cNvSpPr txBox="1"/>
          <p:nvPr/>
        </p:nvSpPr>
        <p:spPr>
          <a:xfrm>
            <a:off x="6484209" y="2852474"/>
            <a:ext cx="517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-46]8'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AB79AF-ABB1-B016-C657-DCDD8B9D003B}"/>
              </a:ext>
            </a:extLst>
          </p:cNvPr>
          <p:cNvSpPr txBox="1"/>
          <p:nvPr/>
        </p:nvSpPr>
        <p:spPr>
          <a:xfrm>
            <a:off x="4788563" y="3336559"/>
            <a:ext cx="11179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1          5</a:t>
            </a:r>
          </a:p>
          <a:p>
            <a:r>
              <a:rPr lang="en-US" dirty="0"/>
              <a:t>2          6</a:t>
            </a:r>
          </a:p>
          <a:p>
            <a:r>
              <a:rPr lang="en-US" dirty="0"/>
              <a:t>            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63C33B-5EEA-CDA5-94F6-62FAE9F2A10B}"/>
              </a:ext>
            </a:extLst>
          </p:cNvPr>
          <p:cNvSpPr txBox="1"/>
          <p:nvPr/>
        </p:nvSpPr>
        <p:spPr>
          <a:xfrm>
            <a:off x="10242019" y="3336558"/>
            <a:ext cx="9779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3         8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651B01-1BDF-5B5B-F1A4-51865B445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224" y="3523708"/>
            <a:ext cx="2212503" cy="172083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8E67D9-CB11-4AA5-DF3D-86594CC35BB4}"/>
              </a:ext>
            </a:extLst>
          </p:cNvPr>
          <p:cNvCxnSpPr>
            <a:cxnSpLocks/>
          </p:cNvCxnSpPr>
          <p:nvPr/>
        </p:nvCxnSpPr>
        <p:spPr>
          <a:xfrm>
            <a:off x="5111015" y="3523708"/>
            <a:ext cx="28875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F644BD-3751-4C72-10EC-D82F80815BF5}"/>
              </a:ext>
            </a:extLst>
          </p:cNvPr>
          <p:cNvCxnSpPr>
            <a:cxnSpLocks/>
          </p:cNvCxnSpPr>
          <p:nvPr/>
        </p:nvCxnSpPr>
        <p:spPr>
          <a:xfrm>
            <a:off x="5111015" y="3801236"/>
            <a:ext cx="28875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40E56EA-816D-6410-755B-4B3862FD30AA}"/>
              </a:ext>
            </a:extLst>
          </p:cNvPr>
          <p:cNvCxnSpPr>
            <a:cxnSpLocks/>
          </p:cNvCxnSpPr>
          <p:nvPr/>
        </p:nvCxnSpPr>
        <p:spPr>
          <a:xfrm>
            <a:off x="5111015" y="3523708"/>
            <a:ext cx="288758" cy="277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9F014B-3081-0C1A-B4A7-AA4AE47BDBDD}"/>
              </a:ext>
            </a:extLst>
          </p:cNvPr>
          <p:cNvCxnSpPr>
            <a:cxnSpLocks/>
          </p:cNvCxnSpPr>
          <p:nvPr/>
        </p:nvCxnSpPr>
        <p:spPr>
          <a:xfrm flipV="1">
            <a:off x="5111015" y="3523708"/>
            <a:ext cx="288758" cy="277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CF9C91D-DAEF-75EA-632B-65A22F025622}"/>
              </a:ext>
            </a:extLst>
          </p:cNvPr>
          <p:cNvCxnSpPr>
            <a:cxnSpLocks/>
          </p:cNvCxnSpPr>
          <p:nvPr/>
        </p:nvCxnSpPr>
        <p:spPr>
          <a:xfrm>
            <a:off x="5111015" y="3523708"/>
            <a:ext cx="288758" cy="518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B607465-98A6-26DF-BF30-028D377052C3}"/>
              </a:ext>
            </a:extLst>
          </p:cNvPr>
          <p:cNvCxnSpPr>
            <a:cxnSpLocks/>
          </p:cNvCxnSpPr>
          <p:nvPr/>
        </p:nvCxnSpPr>
        <p:spPr>
          <a:xfrm>
            <a:off x="5111015" y="3801236"/>
            <a:ext cx="288758" cy="2413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3A757B5-11C3-6E18-222A-83B4AFEBED6E}"/>
              </a:ext>
            </a:extLst>
          </p:cNvPr>
          <p:cNvCxnSpPr>
            <a:cxnSpLocks/>
          </p:cNvCxnSpPr>
          <p:nvPr/>
        </p:nvCxnSpPr>
        <p:spPr>
          <a:xfrm>
            <a:off x="10528434" y="4042611"/>
            <a:ext cx="28875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B2865-7B73-E575-ACA9-668BA92166EA}"/>
              </a:ext>
            </a:extLst>
          </p:cNvPr>
          <p:cNvCxnSpPr>
            <a:cxnSpLocks/>
          </p:cNvCxnSpPr>
          <p:nvPr/>
        </p:nvCxnSpPr>
        <p:spPr>
          <a:xfrm>
            <a:off x="10528434" y="3801236"/>
            <a:ext cx="288758" cy="2413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D73998B-08EF-5648-9DF9-FDC0087CCEF4}"/>
              </a:ext>
            </a:extLst>
          </p:cNvPr>
          <p:cNvCxnSpPr>
            <a:cxnSpLocks/>
          </p:cNvCxnSpPr>
          <p:nvPr/>
        </p:nvCxnSpPr>
        <p:spPr>
          <a:xfrm>
            <a:off x="10510398" y="3523708"/>
            <a:ext cx="306794" cy="518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736BD01-6BB4-5454-4340-4B2ABEB297B6}"/>
              </a:ext>
            </a:extLst>
          </p:cNvPr>
          <p:cNvCxnSpPr>
            <a:cxnSpLocks/>
          </p:cNvCxnSpPr>
          <p:nvPr/>
        </p:nvCxnSpPr>
        <p:spPr>
          <a:xfrm flipV="1">
            <a:off x="10528434" y="4042611"/>
            <a:ext cx="288758" cy="5871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14F6C3D-81D0-2360-3DE4-7765F4323633}"/>
              </a:ext>
            </a:extLst>
          </p:cNvPr>
          <p:cNvCxnSpPr>
            <a:cxnSpLocks/>
          </p:cNvCxnSpPr>
          <p:nvPr/>
        </p:nvCxnSpPr>
        <p:spPr>
          <a:xfrm flipV="1">
            <a:off x="10528434" y="4040121"/>
            <a:ext cx="288758" cy="296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7270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BD7D455A-0E9B-463B-C7FE-EAFE063214DB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shortcut to consolidate characters on its immediate left and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Characters must be contiguous. Lower value must be on the left.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Range character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3BA2-0115-DE75-06B9-AE948687B303}"/>
              </a:ext>
            </a:extLst>
          </p:cNvPr>
          <p:cNvSpPr txBox="1"/>
          <p:nvPr/>
        </p:nvSpPr>
        <p:spPr>
          <a:xfrm>
            <a:off x="1037962" y="2852474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'[a-f]'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E22134-EA7E-B29E-A0BC-D46FB8837E40}"/>
              </a:ext>
            </a:extLst>
          </p:cNvPr>
          <p:cNvSpPr txBox="1"/>
          <p:nvPr/>
        </p:nvSpPr>
        <p:spPr>
          <a:xfrm>
            <a:off x="4667758" y="2852474"/>
            <a:ext cx="3438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'[a-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em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5132F8-6AFB-1963-9A3A-840060696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897" y="3511352"/>
            <a:ext cx="2419099" cy="22045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871EBB-4232-8BE8-A092-C4673D6E3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678" y="3540212"/>
            <a:ext cx="2419099" cy="21316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791B74F-6E8A-9970-EA3A-0CBFD1E37877}"/>
              </a:ext>
            </a:extLst>
          </p:cNvPr>
          <p:cNvSpPr txBox="1"/>
          <p:nvPr/>
        </p:nvSpPr>
        <p:spPr>
          <a:xfrm>
            <a:off x="8332589" y="2856590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'[f-a]'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9DABEE-F738-55E7-0203-6DC8DA97D7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4348" y="3552570"/>
            <a:ext cx="2357755" cy="74758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01F240-3E32-6024-2536-AA9F763CE3C1}"/>
              </a:ext>
            </a:extLst>
          </p:cNvPr>
          <p:cNvSpPr txBox="1"/>
          <p:nvPr/>
        </p:nvSpPr>
        <p:spPr>
          <a:xfrm>
            <a:off x="8332589" y="4613651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'[-f]'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7478852-0F01-6FBD-61AC-7407C187AD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347" y="5099221"/>
            <a:ext cx="2357755" cy="93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53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Negation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A2A-5690-641B-B13C-0FE6140BD9DE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“NOT” to all characters on its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 the FIRST character within the containment characters to take effect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0DE6EE-7409-F6C4-C5D0-B7BBB2A6D51A}"/>
              </a:ext>
            </a:extLst>
          </p:cNvPr>
          <p:cNvSpPr txBox="1"/>
          <p:nvPr/>
        </p:nvSpPr>
        <p:spPr>
          <a:xfrm>
            <a:off x="1109019" y="3059668"/>
            <a:ext cx="4538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'[^4]'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C9A0BB-E943-79E9-50D3-79CDC0EE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6442" y="3629151"/>
            <a:ext cx="2276476" cy="2638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101F84-DD05-346C-CE22-7A4D61D55237}"/>
              </a:ext>
            </a:extLst>
          </p:cNvPr>
          <p:cNvSpPr txBox="1"/>
          <p:nvPr/>
        </p:nvSpPr>
        <p:spPr>
          <a:xfrm>
            <a:off x="6096000" y="3054860"/>
            <a:ext cx="478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'[4]'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CBF5B5-EDA9-ABE6-B717-418CFD8EF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720" y="3428619"/>
            <a:ext cx="1838563" cy="27305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56F969-A6E1-5D5E-98E6-4005A5D934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1643" y="4698888"/>
            <a:ext cx="1688539" cy="49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441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Negation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A2A-5690-641B-B13C-0FE6140BD9DE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 the FIRST character within the containment characters to take effect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“NOT” to all characters on its right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0DE6EE-7409-F6C4-C5D0-B7BBB2A6D51A}"/>
              </a:ext>
            </a:extLst>
          </p:cNvPr>
          <p:cNvSpPr txBox="1"/>
          <p:nvPr/>
        </p:nvSpPr>
        <p:spPr>
          <a:xfrm>
            <a:off x="1109019" y="3059668"/>
            <a:ext cx="4871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'2[^467]'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4272D-D88B-9BAB-9A0C-22397C8B22F4}"/>
              </a:ext>
            </a:extLst>
          </p:cNvPr>
          <p:cNvSpPr txBox="1"/>
          <p:nvPr/>
        </p:nvSpPr>
        <p:spPr>
          <a:xfrm>
            <a:off x="6532607" y="3059668"/>
            <a:ext cx="42919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'a[^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a-v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C8C7CF-5FB6-C298-D96B-ADB88CC49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340" y="3717204"/>
            <a:ext cx="2343914" cy="15344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31845AC-A20C-7F2C-5079-878F170BE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049" y="3612616"/>
            <a:ext cx="2485619" cy="254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0257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6E99E-8E53-C95A-DD85-0F2AB82BD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9208"/>
            <a:ext cx="10515600" cy="623415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 </a:t>
            </a:r>
            <a:r>
              <a:rPr lang="en-US" sz="4400" i="1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</a:t>
            </a:r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F1565-CD25-2E9F-D46E-6B8770C81D9F}"/>
              </a:ext>
            </a:extLst>
          </p:cNvPr>
          <p:cNvSpPr txBox="1"/>
          <p:nvPr/>
        </p:nvSpPr>
        <p:spPr>
          <a:xfrm>
            <a:off x="898437" y="2787134"/>
            <a:ext cx="50575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'%\%%'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'\'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2C913A-1AA1-AF3A-BF56-7612EF696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29" y="3701535"/>
            <a:ext cx="2561966" cy="7356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75BB86-AFD6-54DE-46A4-4CA0AB12E482}"/>
              </a:ext>
            </a:extLst>
          </p:cNvPr>
          <p:cNvSpPr txBox="1"/>
          <p:nvPr/>
        </p:nvSpPr>
        <p:spPr>
          <a:xfrm>
            <a:off x="6521277" y="2787134"/>
            <a:ext cx="50575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'%!_%'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'!'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AC5D3A-FF31-8B86-7A2A-797DB4170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107" y="3701535"/>
            <a:ext cx="2456203" cy="735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35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9C23066-7333-B294-B79B-D8C29EDB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PATINDEX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i="1" dirty="0" err="1">
                <a:solidFill>
                  <a:srgbClr val="000000"/>
                </a:solidFill>
                <a:latin typeface="Consolas" panose="020B0609020204030204" pitchFamily="49" charset="0"/>
              </a:rPr>
              <a:t>like_pattern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4000" i="1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i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B5967-F69F-D300-32CF-D209691F2C75}"/>
              </a:ext>
            </a:extLst>
          </p:cNvPr>
          <p:cNvSpPr txBox="1"/>
          <p:nvPr/>
        </p:nvSpPr>
        <p:spPr>
          <a:xfrm>
            <a:off x="1193530" y="3429000"/>
            <a:ext cx="57366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ArbitraryID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PATINDEX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'%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bc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Position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'%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bc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NEWID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1800" dirty="0">
                <a:solidFill>
                  <a:srgbClr val="008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-- randomizer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33E2A7-C050-D53F-29DA-326A6A03E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944" y="3467172"/>
            <a:ext cx="3114675" cy="14668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612397-0B02-23BC-F488-C5652F72A2FD}"/>
              </a:ext>
            </a:extLst>
          </p:cNvPr>
          <p:cNvSpPr txBox="1"/>
          <p:nvPr/>
        </p:nvSpPr>
        <p:spPr>
          <a:xfrm>
            <a:off x="838200" y="1505330"/>
            <a:ext cx="9572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161616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Returns the starting position of the first occurrence of a pattern in a specified expression, or zero if the pattern is not found, on all valid text and character data types.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4926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856D9-6501-77AF-6C04-04EA4757C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4688"/>
            <a:ext cx="10515600" cy="768631"/>
          </a:xfrm>
        </p:spPr>
        <p:txBody>
          <a:bodyPr/>
          <a:lstStyle/>
          <a:p>
            <a:r>
              <a:rPr lang="en-US" dirty="0"/>
              <a:t>On the horizon, true </a:t>
            </a:r>
            <a:r>
              <a:rPr lang="en-US" dirty="0" err="1"/>
              <a:t>RegEx</a:t>
            </a:r>
            <a:r>
              <a:rPr lang="en-US" dirty="0"/>
              <a:t>…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AA89A1-3D33-A5AA-8864-6FE488EA9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498293"/>
              </p:ext>
            </p:extLst>
          </p:nvPr>
        </p:nvGraphicFramePr>
        <p:xfrm>
          <a:off x="951469" y="2098460"/>
          <a:ext cx="9959546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3267">
                  <a:extLst>
                    <a:ext uri="{9D8B030D-6E8A-4147-A177-3AD203B41FA5}">
                      <a16:colId xmlns:a16="http://schemas.microsoft.com/office/drawing/2014/main" val="390366559"/>
                    </a:ext>
                  </a:extLst>
                </a:gridCol>
                <a:gridCol w="7006279">
                  <a:extLst>
                    <a:ext uri="{9D8B030D-6E8A-4147-A177-3AD203B41FA5}">
                      <a16:colId xmlns:a16="http://schemas.microsoft.com/office/drawing/2014/main" val="4019430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161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REGEXP_LIKE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TRUE if a string matches a regular expression pattern, or FALSE otherwise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293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REGEXP_COUNT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the number of times a regular expression pattern matches in a string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9477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REGEXP_INSTR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the starting or ending position, based on the specified option, of the given occurrence of a regular expression pattern in a string.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957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REGEXP_REPLACE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a substring that matches a regular expression pattern from a string.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906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REGEXP_SUBSTR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a modified string replaced by a ‘replacement string’, where occurrence of the regular expression pattern found.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43910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5D69FA-642E-B6A4-D00B-7197D37F741C}"/>
              </a:ext>
            </a:extLst>
          </p:cNvPr>
          <p:cNvSpPr txBox="1"/>
          <p:nvPr/>
        </p:nvSpPr>
        <p:spPr>
          <a:xfrm>
            <a:off x="951469" y="1415758"/>
            <a:ext cx="10194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https://devblogs.microsoft.com/azure-sql/introducing-regular-expression-regex-support-in-azure-sql-db/</a:t>
            </a:r>
          </a:p>
        </p:txBody>
      </p:sp>
    </p:spTree>
    <p:extLst>
      <p:ext uri="{BB962C8B-B14F-4D97-AF65-F5344CB8AC3E}">
        <p14:creationId xmlns:p14="http://schemas.microsoft.com/office/powerpoint/2010/main" val="24482177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</a:t>
            </a:r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/jeff-foushee/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3C8CD4-C986-E9FD-64F6-11300E49B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49134</TotalTime>
  <Words>1618</Words>
  <Application>Microsoft Office PowerPoint</Application>
  <PresentationFormat>Widescreen</PresentationFormat>
  <Paragraphs>261</Paragraphs>
  <Slides>25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6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SegoeUI</vt:lpstr>
      <vt:lpstr>Verdana</vt:lpstr>
      <vt:lpstr>Office Theme</vt:lpstr>
      <vt:lpstr>Reviewing after the presentation?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Collation (Case-Sensitivity) Hierarchy</vt:lpstr>
      <vt:lpstr>The Collation (Case-Sensitivity) Hierarchy</vt:lpstr>
      <vt:lpstr>The Collation (Case-Sensitivity) Hierarchy</vt:lpstr>
      <vt:lpstr>The Collation (Case-Sensitivity) Hierarchy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ESCAPE stringable</vt:lpstr>
      <vt:lpstr>PATINDEX(like_pattern, stringable)</vt:lpstr>
      <vt:lpstr>On the horizon, true RegEx…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43</cp:revision>
  <dcterms:created xsi:type="dcterms:W3CDTF">2023-07-18T22:41:59Z</dcterms:created>
  <dcterms:modified xsi:type="dcterms:W3CDTF">2024-06-06T23:55:36Z</dcterms:modified>
</cp:coreProperties>
</file>