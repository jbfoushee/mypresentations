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79" r:id="rId2"/>
    <p:sldId id="256" r:id="rId3"/>
    <p:sldId id="316" r:id="rId4"/>
    <p:sldId id="257" r:id="rId5"/>
    <p:sldId id="323" r:id="rId6"/>
    <p:sldId id="324" r:id="rId7"/>
    <p:sldId id="315" r:id="rId8"/>
    <p:sldId id="329" r:id="rId9"/>
    <p:sldId id="259" r:id="rId10"/>
    <p:sldId id="325" r:id="rId11"/>
    <p:sldId id="328" r:id="rId12"/>
    <p:sldId id="333" r:id="rId13"/>
    <p:sldId id="318" r:id="rId14"/>
    <p:sldId id="319" r:id="rId15"/>
    <p:sldId id="320" r:id="rId16"/>
    <p:sldId id="321" r:id="rId17"/>
    <p:sldId id="334" r:id="rId18"/>
    <p:sldId id="326" r:id="rId19"/>
    <p:sldId id="330" r:id="rId20"/>
    <p:sldId id="327" r:id="rId21"/>
    <p:sldId id="331" r:id="rId22"/>
    <p:sldId id="335" r:id="rId23"/>
    <p:sldId id="332" r:id="rId24"/>
    <p:sldId id="336" r:id="rId25"/>
    <p:sldId id="337" r:id="rId26"/>
    <p:sldId id="338" r:id="rId27"/>
    <p:sldId id="339" r:id="rId28"/>
    <p:sldId id="31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78" autoAdjust="0"/>
    <p:restoredTop sz="86370" autoAdjust="0"/>
  </p:normalViewPr>
  <p:slideViewPr>
    <p:cSldViewPr snapToGrid="0">
      <p:cViewPr varScale="1">
        <p:scale>
          <a:sx n="99" d="100"/>
          <a:sy n="99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2AC56-E20D-4719-9E66-68604E547144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7DB7D-0C53-4255-829B-DFDF02E6C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0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5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0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5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6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04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86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1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08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25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75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021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installed Oracle Express for Windows using this video: https://www.youtube.com/watch?v=DYleroLay5E</a:t>
            </a:r>
          </a:p>
          <a:p>
            <a:r>
              <a:rPr lang="en-US" dirty="0"/>
              <a:t>Open sqlplus.exe to connect to the XE container as the “SYS AS SYSDBA” user.</a:t>
            </a:r>
          </a:p>
          <a:p>
            <a:r>
              <a:rPr lang="en-US" dirty="0"/>
              <a:t>Within this session, connect to the XEPDB1 pluggable database.</a:t>
            </a:r>
          </a:p>
          <a:p>
            <a:r>
              <a:rPr lang="en-US" dirty="0"/>
              <a:t>     connect sys/myPassword@localhost:1521/XEPDB1 as </a:t>
            </a:r>
            <a:r>
              <a:rPr lang="en-US" dirty="0" err="1"/>
              <a:t>sysdba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here -- still as the SYS user -- create a guest account that has “create session, create table, create sequence, create trigger” on it.</a:t>
            </a:r>
          </a:p>
          <a:p>
            <a:r>
              <a:rPr lang="en-US" dirty="0"/>
              <a:t>     create user </a:t>
            </a:r>
            <a:r>
              <a:rPr lang="en-US" dirty="0" err="1"/>
              <a:t>demouser</a:t>
            </a:r>
            <a:r>
              <a:rPr lang="en-US" dirty="0"/>
              <a:t> identified by </a:t>
            </a:r>
            <a:r>
              <a:rPr lang="en-US" dirty="0" err="1"/>
              <a:t>myPassword</a:t>
            </a:r>
            <a:r>
              <a:rPr lang="en-US" dirty="0"/>
              <a:t> default tablespace users quota unlimited on users;</a:t>
            </a:r>
          </a:p>
          <a:p>
            <a:r>
              <a:rPr lang="en-US" dirty="0"/>
              <a:t>     grant create session, create table, create sequence, create trigger to </a:t>
            </a:r>
            <a:r>
              <a:rPr lang="en-US" dirty="0" err="1"/>
              <a:t>demouser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 can then use freeware tools such as </a:t>
            </a:r>
            <a:r>
              <a:rPr lang="en-US" dirty="0" err="1"/>
              <a:t>TOra</a:t>
            </a:r>
            <a:r>
              <a:rPr lang="en-US" dirty="0"/>
              <a:t> or Oracle SQL Developer to connect as that guest user to the XEPDB1 database to run this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7DB7D-0C53-4255-829B-DFDF02E6CE3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28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753A-E3DF-D113-107E-2253D0CC6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DFCB6-71EE-2925-8C00-494F9A1A3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403D5-2BA4-281A-1181-41A5F4CF9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940EF-8E16-9A7A-331B-5CC403B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ADC46-E43D-3565-404F-1C300C36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9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C0C2-74B6-34BD-1AF8-873E82C9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9A790-354D-25A4-1207-686713283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8D49F-03B5-DC9A-5EB9-8852D472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37C-5BCE-1A44-0A55-4BB39D44B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D2537-D1B7-F981-D1C4-26C9EBCC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5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4E38-3D3B-AC3A-522E-3E6279A3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7CC59-0F62-8737-070E-3F7337650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DE316-876E-70F5-C4A2-7C981D41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8DFD8-BFB7-6F3E-D145-7BCE22B58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D72A-3D29-E62C-1704-C507D1C14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3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EA4-D817-4FB6-623F-95DF6BA65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64AAD-4265-F373-6767-3F84C8FB9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882C45-611C-3F7F-B95C-62B4C5799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D42A4-DFFF-4BFA-AB29-1AEF4761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2C8FE-21F8-6618-D9B8-4385EB4F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5558D-A555-619F-BDBB-89B02BEEC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0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48D52-2772-4ECE-AA7C-0E79C6552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1FD2E-4ED9-379B-13FB-399443B70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73F70-FCD7-AC98-B529-EE0A1A653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4A138-5B91-738E-9290-CF36A6319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32356-07BD-905F-6C5E-83E7B56A1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C31F0-A17D-F4E0-74B7-7DAB02EB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CA1E3-951E-66EE-2979-77C37946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87E8D-5B98-7C04-4EC7-2A6634E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94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BDED-E0C6-4206-D9E3-6CCC79AB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19234-0980-0353-12AA-211FCE9F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65104-1009-44C6-3D8C-1B3190F7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4B41B-8E2A-D85B-7655-44C9B464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38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E733B-B1B8-CDA0-C45F-FF95D036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BC0640-AB7D-D020-DC82-39F093DE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637BF-C631-48FF-604D-65F2A96D5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7F69-85E6-9A57-78EC-CDF56847C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AA502-6061-964D-7670-0DE35E6A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4EAF3-C838-4910-0BA4-6E7F19E7D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EAF64-E9D3-513A-ABD8-D873DA52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F29D-DDA8-F2F5-5257-A11EA126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F0063-7D5C-D0C6-4CE5-E2E5B871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9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901F5-F168-E9F5-CCCA-DFAB4C9EB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A8A86-061C-2100-2F16-E41B4952B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C2F05-94A8-3867-E69A-FBA4931DB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48DC7-E255-B95B-AFE1-F2C10BAF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9CD03-A8C3-2660-E1B4-F21D57C9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991A6-CC57-740E-1D7F-75C9A464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1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6729-0DA4-7A91-02B2-0E0900D7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58F4A-4C96-34BD-D2EA-87A286776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7E5C-6B44-95A4-9FB6-0A1AB294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2CB06-1902-9CC4-DB2D-E6BDE018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96AE5-7E5E-6A6F-72C2-BEA4CF57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4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7EE57-C87B-8F12-08CB-A4BD569B8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F6CAE-831D-499F-31D0-7278C2D1B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EF168-0037-4588-9D56-0C5613D5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CF4E2-48BD-14DC-78C0-C0BCF502D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37F64-FC63-A971-4A45-E59BBB0E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B0A634-BD21-4DF6-381F-11BD00A1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A83E9-A0D8-F914-16B5-B6F2DF040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7D800-5817-325B-C5A6-21EC1EBBA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3A28C-D62F-4439-8BFC-9924939B4D00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F8152-504A-FE2C-1829-039E55492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8AE3F-4DBB-2792-F95C-B97FFDD4D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3834F-A822-4CB9-A6A7-CAC7B26D0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6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9F34-9CC1-E59F-E59F-51DB3D97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after the presentation?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7A4AD-2DB8-D681-74A7-3A47132B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49" y="2184885"/>
            <a:ext cx="10096500" cy="1362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30FE9-AB35-44BA-F17A-6FD0DAAB70CE}"/>
              </a:ext>
            </a:extLst>
          </p:cNvPr>
          <p:cNvSpPr txBox="1"/>
          <p:nvPr/>
        </p:nvSpPr>
        <p:spPr>
          <a:xfrm>
            <a:off x="2152997" y="4735629"/>
            <a:ext cx="7886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sure to enable the Notes for slide-specific content</a:t>
            </a:r>
          </a:p>
        </p:txBody>
      </p:sp>
    </p:spTree>
    <p:extLst>
      <p:ext uri="{BB962C8B-B14F-4D97-AF65-F5344CB8AC3E}">
        <p14:creationId xmlns:p14="http://schemas.microsoft.com/office/powerpoint/2010/main" val="134696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ve Instructor-Led SQL Querying Advanced Training - Hands-on Course">
            <a:extLst>
              <a:ext uri="{FF2B5EF4-FFF2-40B4-BE49-F238E27FC236}">
                <a16:creationId xmlns:a16="http://schemas.microsoft.com/office/drawing/2014/main" id="{DFE403ED-A277-0B1F-929B-84674C9F6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063" y="4829875"/>
            <a:ext cx="1698570" cy="17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44AD19-263C-C364-3CA4-77843A07E6F1}"/>
              </a:ext>
            </a:extLst>
          </p:cNvPr>
          <p:cNvSpPr txBox="1"/>
          <p:nvPr/>
        </p:nvSpPr>
        <p:spPr>
          <a:xfrm>
            <a:off x="3590460" y="1637340"/>
            <a:ext cx="5011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4800" b="1" dirty="0"/>
              <a:t>, to the max!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04061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4B7F01-18FC-0134-829F-DE82552E8BE8}"/>
              </a:ext>
            </a:extLst>
          </p:cNvPr>
          <p:cNvSpPr txBox="1"/>
          <p:nvPr/>
        </p:nvSpPr>
        <p:spPr>
          <a:xfrm>
            <a:off x="738055" y="744925"/>
            <a:ext cx="105839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stringable1</a:t>
            </a:r>
            <a:r>
              <a:rPr lang="en-US" sz="4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4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i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stringable2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4B8B0-A303-1D1D-3E99-08F362298D87}"/>
              </a:ext>
            </a:extLst>
          </p:cNvPr>
          <p:cNvSpPr txBox="1"/>
          <p:nvPr/>
        </p:nvSpPr>
        <p:spPr>
          <a:xfrm>
            <a:off x="6839503" y="1903921"/>
            <a:ext cx="4585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 err="1"/>
              <a:t>Stringable</a:t>
            </a:r>
            <a:r>
              <a:rPr lang="en-US" dirty="0"/>
              <a:t>” refers to anything that can be represented as a string, including </a:t>
            </a:r>
            <a:r>
              <a:rPr lang="en-US" dirty="0" err="1"/>
              <a:t>numerics</a:t>
            </a:r>
            <a:r>
              <a:rPr lang="en-US" dirty="0"/>
              <a:t>, datetimes, </a:t>
            </a:r>
            <a:r>
              <a:rPr lang="en-US" dirty="0" err="1"/>
              <a:t>guids</a:t>
            </a:r>
            <a:r>
              <a:rPr lang="en-US" dirty="0"/>
              <a:t>, etc.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95F8E7-F4ED-2BD1-D94C-38120D18DDD4}"/>
              </a:ext>
            </a:extLst>
          </p:cNvPr>
          <p:cNvSpPr txBox="1"/>
          <p:nvPr/>
        </p:nvSpPr>
        <p:spPr>
          <a:xfrm>
            <a:off x="6839503" y="3376414"/>
            <a:ext cx="4482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Stringable1</a:t>
            </a:r>
            <a:r>
              <a:rPr lang="en-US" dirty="0"/>
              <a:t> is usually the longer string</a:t>
            </a:r>
          </a:p>
          <a:p>
            <a:endParaRPr lang="en-US" dirty="0"/>
          </a:p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Stringable2</a:t>
            </a:r>
            <a:r>
              <a:rPr lang="en-US" dirty="0"/>
              <a:t> is usually the shorter string with one/more % symbols as wildcards</a:t>
            </a:r>
          </a:p>
          <a:p>
            <a:endParaRPr lang="en-US" dirty="0"/>
          </a:p>
          <a:p>
            <a:r>
              <a:rPr lang="en-US" dirty="0"/>
              <a:t>Returns </a:t>
            </a:r>
            <a:r>
              <a:rPr lang="en-US" dirty="0" err="1"/>
              <a:t>boolean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1973C-F73D-D1BF-C7CE-A57C9BA4A3A9}"/>
              </a:ext>
            </a:extLst>
          </p:cNvPr>
          <p:cNvSpPr txBox="1"/>
          <p:nvPr/>
        </p:nvSpPr>
        <p:spPr>
          <a:xfrm>
            <a:off x="1125495" y="1903921"/>
            <a:ext cx="4482465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@_venue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'SQL Saturday 20XX'</a:t>
            </a:r>
            <a:endParaRPr lang="en-US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@_venue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%'</a:t>
            </a:r>
            <a:endParaRPr lang="en-US" sz="18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PRINT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'@_venue LIKE "%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sql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%"'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BA725D-843C-BCAC-BED1-534BAAD10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95" y="3390548"/>
            <a:ext cx="3557716" cy="6727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DD1500-1F2C-AB9A-9E2B-DFA74A4EB9AB}"/>
              </a:ext>
            </a:extLst>
          </p:cNvPr>
          <p:cNvSpPr txBox="1"/>
          <p:nvPr/>
        </p:nvSpPr>
        <p:spPr>
          <a:xfrm>
            <a:off x="1125495" y="4527860"/>
            <a:ext cx="46327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[name]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[description] 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master</a:t>
            </a:r>
            <a:r>
              <a:rPr lang="en-US" sz="1800" dirty="0" err="1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800" dirty="0" err="1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sys</a:t>
            </a:r>
            <a:r>
              <a:rPr lang="en-US" sz="1800" dirty="0" err="1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800" dirty="0" err="1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configurations</a:t>
            </a:r>
            <a:endParaRPr lang="en-US" sz="1800" dirty="0">
              <a:solidFill>
                <a:srgbClr val="00B05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[description]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clr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347E16-249D-92DD-8510-5A3A0B38E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943" y="5451190"/>
            <a:ext cx="5349985" cy="81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1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B0C15-EC35-5C7D-AABF-24A56E4C387B}"/>
              </a:ext>
            </a:extLst>
          </p:cNvPr>
          <p:cNvSpPr txBox="1"/>
          <p:nvPr/>
        </p:nvSpPr>
        <p:spPr>
          <a:xfrm>
            <a:off x="997809" y="698842"/>
            <a:ext cx="91100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 </a:t>
            </a:r>
            <a:r>
              <a:rPr lang="en-US" sz="4000" dirty="0"/>
              <a:t>– Wildcard of any length (even zero)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A2269-8B38-7849-D4E4-9626CFD3C0B6}"/>
              </a:ext>
            </a:extLst>
          </p:cNvPr>
          <p:cNvSpPr txBox="1"/>
          <p:nvPr/>
        </p:nvSpPr>
        <p:spPr>
          <a:xfrm>
            <a:off x="1729946" y="1961972"/>
            <a:ext cx="57211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'%'</a:t>
            </a: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'A%'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'%A'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'A%B'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'%B%'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2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FAC5EE3-8112-20E6-E516-D7626EBFB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48" y="0"/>
            <a:ext cx="89062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0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129BA3-7C0C-46B5-DBFE-4EB74F36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67" y="428"/>
            <a:ext cx="10438095" cy="68571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281E4F-67D9-02CE-116A-2575821BD40D}"/>
              </a:ext>
            </a:extLst>
          </p:cNvPr>
          <p:cNvSpPr txBox="1"/>
          <p:nvPr/>
        </p:nvSpPr>
        <p:spPr>
          <a:xfrm>
            <a:off x="4324866" y="3698784"/>
            <a:ext cx="748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F04C6-C507-0E09-FAD7-E437579C0712}"/>
              </a:ext>
            </a:extLst>
          </p:cNvPr>
          <p:cNvSpPr txBox="1"/>
          <p:nvPr/>
        </p:nvSpPr>
        <p:spPr>
          <a:xfrm>
            <a:off x="2372498" y="2443544"/>
            <a:ext cx="1417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8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4800" b="1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E4EE6-4BB3-157D-AAB6-51C9A5D955AC}"/>
              </a:ext>
            </a:extLst>
          </p:cNvPr>
          <p:cNvSpPr txBox="1"/>
          <p:nvPr/>
        </p:nvSpPr>
        <p:spPr>
          <a:xfrm>
            <a:off x="3527954" y="2328219"/>
            <a:ext cx="1304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48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434FA2-F0F2-DF23-D4AE-CBC19D365B7B}"/>
              </a:ext>
            </a:extLst>
          </p:cNvPr>
          <p:cNvSpPr txBox="1"/>
          <p:nvPr/>
        </p:nvSpPr>
        <p:spPr>
          <a:xfrm>
            <a:off x="6711953" y="1912720"/>
            <a:ext cx="5807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8A58B-63BF-956F-CE69-E7EA0485D618}"/>
              </a:ext>
            </a:extLst>
          </p:cNvPr>
          <p:cNvSpPr txBox="1"/>
          <p:nvPr/>
        </p:nvSpPr>
        <p:spPr>
          <a:xfrm>
            <a:off x="5093284" y="2094978"/>
            <a:ext cx="1041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460ABE-79DA-339C-1620-C95ED0AE401A}"/>
              </a:ext>
            </a:extLst>
          </p:cNvPr>
          <p:cNvSpPr txBox="1"/>
          <p:nvPr/>
        </p:nvSpPr>
        <p:spPr>
          <a:xfrm>
            <a:off x="8476735" y="3575217"/>
            <a:ext cx="1322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</a:t>
            </a:r>
          </a:p>
        </p:txBody>
      </p:sp>
    </p:spTree>
    <p:extLst>
      <p:ext uri="{BB962C8B-B14F-4D97-AF65-F5344CB8AC3E}">
        <p14:creationId xmlns:p14="http://schemas.microsoft.com/office/powerpoint/2010/main" val="1645384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https://www.linkedin.com/in/jeff-foushee/</a:t>
            </a: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169173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1F40E8-CE45-5D97-2B42-F27B153A891A}"/>
              </a:ext>
            </a:extLst>
          </p:cNvPr>
          <p:cNvSpPr txBox="1"/>
          <p:nvPr/>
        </p:nvSpPr>
        <p:spPr>
          <a:xfrm>
            <a:off x="590215" y="0"/>
            <a:ext cx="6774412" cy="694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Table_1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IDENTITY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NULL,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NOCOUNT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@_text2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26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US" sz="11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abcdefghijklmnopqrstuvwxyz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@_text1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26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@_text2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@_text0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26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@_text1</a:t>
            </a: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tinyint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0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tinyint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0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 </a:t>
            </a:r>
            <a:r>
              <a:rPr lang="en-US" sz="1100" dirty="0" err="1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tinyint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0</a:t>
            </a: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WHILE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BEGIN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IF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26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BEGIN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END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IF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26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BEGIN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+=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SET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END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IF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26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BREAK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DECLARE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@_text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CONCAT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SUBSTRING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@_text0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@_p0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SUBSTRING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SUBSTRING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@_text2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@_p2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9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INSERT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INTO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dbo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Table_1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@_text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END</a:t>
            </a:r>
          </a:p>
          <a:p>
            <a:endParaRPr lang="en-US" sz="800" dirty="0">
              <a:solidFill>
                <a:srgbClr val="0000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INTO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1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dbo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[Table_1]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[value]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1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','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'_'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r>
              <a:rPr lang="en-US" sz="11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'-'</a:t>
            </a:r>
            <a:r>
              <a:rPr lang="en-US" sz="11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100" dirty="0">
              <a:solidFill>
                <a:srgbClr val="0000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75E29-12F3-72EF-C16D-E7ABDF5D0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821" y="491953"/>
            <a:ext cx="3499872" cy="1225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E09A1C-7B93-6460-20C0-B11394010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421" y="2005399"/>
            <a:ext cx="3217866" cy="15785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DA3FC5-586F-65F1-7828-2840AF5C6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844" y="1804087"/>
            <a:ext cx="208597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8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102962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 </a:t>
            </a:r>
            <a:r>
              <a:rPr lang="en-US" sz="4000" dirty="0"/>
              <a:t>– Wildcard of one (non-zero length) character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76DF3-142B-9C99-090C-7F58FD0B05E8}"/>
              </a:ext>
            </a:extLst>
          </p:cNvPr>
          <p:cNvSpPr txBox="1"/>
          <p:nvPr/>
        </p:nvSpPr>
        <p:spPr>
          <a:xfrm>
            <a:off x="1729946" y="1961972"/>
            <a:ext cx="5721178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TOP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4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dbo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Table_1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Column1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'_'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NEWID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6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TOP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4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dbo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Table_1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'__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NEWID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6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TOP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4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dbo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Table_1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Column1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'__%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600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NEWID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6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432EC9-2C9D-8496-5D48-EA3BD4941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187" y="1836843"/>
            <a:ext cx="2295525" cy="1419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29E05E-DE1C-CDD8-D5E1-F1B0187A5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612" y="3532974"/>
            <a:ext cx="2324100" cy="1466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D66C38-993B-D4BB-1053-E2B16FF8B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612" y="5154679"/>
            <a:ext cx="2352675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3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[] </a:t>
            </a:r>
            <a:r>
              <a:rPr lang="en-US" sz="4000" dirty="0"/>
              <a:t>– Containment characters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9758F-329B-CAE5-5842-2A67AD311381}"/>
              </a:ext>
            </a:extLst>
          </p:cNvPr>
          <p:cNvSpPr txBox="1"/>
          <p:nvPr/>
        </p:nvSpPr>
        <p:spPr>
          <a:xfrm>
            <a:off x="2109917" y="2709567"/>
            <a:ext cx="60980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@_value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''</a:t>
            </a:r>
            <a:endParaRPr lang="en-US" sz="20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@_value </a:t>
            </a:r>
            <a:r>
              <a:rPr lang="en-US" sz="2000" dirty="0">
                <a:solidFill>
                  <a:srgbClr val="80808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'[]'</a:t>
            </a:r>
            <a:endParaRPr lang="en-US" sz="2000" dirty="0">
              <a:solidFill>
                <a:srgbClr val="000000"/>
              </a:solidFill>
              <a:highlight>
                <a:srgbClr val="FFFF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'yes'</a:t>
            </a:r>
            <a:endParaRPr lang="en-US" sz="20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'no'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754659" y="1932542"/>
            <a:ext cx="6098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By themselves do nothing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471BF6-AD32-855E-AC9A-6417346BC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917" y="4694503"/>
            <a:ext cx="2370257" cy="100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92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[] </a:t>
            </a:r>
            <a:r>
              <a:rPr lang="en-US" sz="4000" dirty="0"/>
              <a:t>– Containment characters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709350" y="1528627"/>
            <a:ext cx="87732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Represent an array of allowable characters </a:t>
            </a:r>
            <a:r>
              <a:rPr lang="en-US" sz="2000" dirty="0">
                <a:highlight>
                  <a:srgbClr val="FFFF00"/>
                </a:highlight>
              </a:rPr>
              <a:t>in one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%</a:t>
            </a:r>
            <a:r>
              <a:rPr lang="en-US" sz="2000" dirty="0"/>
              <a:t> and </a:t>
            </a:r>
            <a:r>
              <a:rPr lang="en-US" sz="24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_</a:t>
            </a:r>
            <a:r>
              <a:rPr lang="en-US" sz="2000" dirty="0"/>
              <a:t> lose their special wildcard ability inside the containment characters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NULL/blank are not acceptable entries for this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85FF2-2D0D-EFD6-22B1-76BB3C828782}"/>
              </a:ext>
            </a:extLst>
          </p:cNvPr>
          <p:cNvSpPr txBox="1"/>
          <p:nvPr/>
        </p:nvSpPr>
        <p:spPr>
          <a:xfrm>
            <a:off x="1032367" y="2736965"/>
            <a:ext cx="419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8A6630A-0B19-8424-FC98-0C62639FFF6F}"/>
              </a:ext>
            </a:extLst>
          </p:cNvPr>
          <p:cNvGrpSpPr/>
          <p:nvPr/>
        </p:nvGrpSpPr>
        <p:grpSpPr>
          <a:xfrm>
            <a:off x="5795318" y="2716289"/>
            <a:ext cx="5585255" cy="3211169"/>
            <a:chOff x="5795318" y="2716289"/>
            <a:chExt cx="5585255" cy="321116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4E935D-4B7F-1A9C-62CF-502134C1C3E0}"/>
                </a:ext>
              </a:extLst>
            </p:cNvPr>
            <p:cNvSpPr txBox="1"/>
            <p:nvPr/>
          </p:nvSpPr>
          <p:spPr>
            <a:xfrm>
              <a:off x="5795318" y="2716289"/>
              <a:ext cx="55852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WHERE</a:t>
              </a:r>
              <a:r>
                <a:rPr lang="en-US" sz="1800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800" dirty="0" err="1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ArbitraryID</a:t>
              </a:r>
              <a:r>
                <a:rPr lang="en-US" sz="1800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800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LIKE</a:t>
              </a:r>
              <a:r>
                <a:rPr lang="en-US" sz="1800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sz="1800" dirty="0">
                  <a:solidFill>
                    <a:srgbClr val="FF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'%[2%]9[86][90]'</a:t>
              </a:r>
              <a:endParaRPr lang="en-US" dirty="0"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48B1541-63E8-AA46-E5DA-5C5FAE8C1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3995" y="3317608"/>
              <a:ext cx="2247900" cy="2609850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497BD2B1-4EDD-59CA-AB9F-43B1672F1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194" y="3317608"/>
            <a:ext cx="2247900" cy="173355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329701A-8F82-991B-CE9C-43CEA3C0A934}"/>
              </a:ext>
            </a:extLst>
          </p:cNvPr>
          <p:cNvGrpSpPr/>
          <p:nvPr/>
        </p:nvGrpSpPr>
        <p:grpSpPr>
          <a:xfrm>
            <a:off x="1032367" y="5298047"/>
            <a:ext cx="3413554" cy="1103860"/>
            <a:chOff x="1032367" y="5298047"/>
            <a:chExt cx="3413554" cy="110386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C5010C-FD47-F0C7-7144-27302E51A58A}"/>
                </a:ext>
              </a:extLst>
            </p:cNvPr>
            <p:cNvSpPr txBox="1"/>
            <p:nvPr/>
          </p:nvSpPr>
          <p:spPr>
            <a:xfrm>
              <a:off x="1032367" y="5298047"/>
              <a:ext cx="34135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WHERE</a:t>
              </a:r>
              <a:r>
                <a:rPr lang="en-US" sz="1800" dirty="0">
                  <a:solidFill>
                    <a:srgbClr val="00000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 [value] </a:t>
              </a:r>
              <a:r>
                <a:rPr lang="en-US" sz="1800" dirty="0">
                  <a:solidFill>
                    <a:srgbClr val="80808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LIKE</a:t>
              </a:r>
              <a:r>
                <a:rPr lang="en-US" sz="1800" dirty="0">
                  <a:solidFill>
                    <a:srgbClr val="00000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sz="1800" dirty="0">
                  <a:solidFill>
                    <a:srgbClr val="FF000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'[%]'</a:t>
              </a:r>
              <a:endParaRPr lang="en-US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C7922B6-2AE2-CBC7-56CA-67EE6E228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15194" y="5773257"/>
              <a:ext cx="2238375" cy="628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55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Do I need to worry about case-sensitivity?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816442" y="1726290"/>
            <a:ext cx="8773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functions other than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UPPER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and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are case-sensitive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 you need to follow/enforce something other than the current collation?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82E3B-44B6-3A64-FBA4-4E9C567A4FD4}"/>
              </a:ext>
            </a:extLst>
          </p:cNvPr>
          <p:cNvSpPr txBox="1"/>
          <p:nvPr/>
        </p:nvSpPr>
        <p:spPr>
          <a:xfrm>
            <a:off x="1032367" y="2736965"/>
            <a:ext cx="419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089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E3141-A63E-884B-2AD4-9DD5BDE0E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62" y="1562100"/>
            <a:ext cx="5648325" cy="449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53F0D2-EDE0-117B-D759-20EFC0A40B80}"/>
              </a:ext>
            </a:extLst>
          </p:cNvPr>
          <p:cNvSpPr txBox="1"/>
          <p:nvPr/>
        </p:nvSpPr>
        <p:spPr>
          <a:xfrm>
            <a:off x="907614" y="3105835"/>
            <a:ext cx="40584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SERVERPROPERTY</a:t>
            </a:r>
            <a:r>
              <a:rPr lang="en-US" sz="15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5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'collation'</a:t>
            </a:r>
            <a:r>
              <a:rPr lang="en-US" sz="15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5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4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C1E75-96EE-AE71-EB80-364BD32CD2B1}"/>
              </a:ext>
            </a:extLst>
          </p:cNvPr>
          <p:cNvSpPr txBox="1"/>
          <p:nvPr/>
        </p:nvSpPr>
        <p:spPr>
          <a:xfrm>
            <a:off x="977029" y="3448308"/>
            <a:ext cx="754913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'A'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'Case-insensitive database'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'Case-sensitive database'</a:t>
            </a:r>
            <a:endParaRPr lang="en-US" sz="16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24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[name]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collation_name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sys.databases</a:t>
            </a:r>
            <a:endParaRPr lang="en-US" sz="1600" dirty="0">
              <a:solidFill>
                <a:schemeClr val="accent6">
                  <a:lumMod val="50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DB_NAME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  <a:p>
            <a:endParaRPr lang="en-US" sz="2400" dirty="0">
              <a:solidFill>
                <a:schemeClr val="accent6">
                  <a:lumMod val="50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DB_NAME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(), 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DATABASEPROPERTYEX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DB_NAME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(),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'collation'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301E4-7435-5DB7-B34C-9A5230A20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218" y="1841326"/>
            <a:ext cx="5956582" cy="285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4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C365DF-CA11-3A1D-7F7A-AD180571F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32" y="2164491"/>
            <a:ext cx="4800600" cy="2657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AEED8-77C3-6C71-B02B-8049F2C40678}"/>
              </a:ext>
            </a:extLst>
          </p:cNvPr>
          <p:cNvSpPr txBox="1"/>
          <p:nvPr/>
        </p:nvSpPr>
        <p:spPr>
          <a:xfrm>
            <a:off x="1655521" y="3429000"/>
            <a:ext cx="361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Column – Database default or explicit?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3BBBC-860B-7462-E006-437B6656733C}"/>
              </a:ext>
            </a:extLst>
          </p:cNvPr>
          <p:cNvSpPr txBox="1"/>
          <p:nvPr/>
        </p:nvSpPr>
        <p:spPr>
          <a:xfrm>
            <a:off x="1100597" y="4513927"/>
            <a:ext cx="677065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TABLE_SCHEMA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COLUMN_NAME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DATA_TYPE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COLLATION_NAME</a:t>
            </a:r>
          </a:p>
          <a:p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CASE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1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 err="1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IsNull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COLLATION_NAME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Convert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DATABASEPROPERTYEX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'collation'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THEN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''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'*'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Not_As_DB_Collation</a:t>
            </a:r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INFORMATION_SCHEMA.COLUMNS</a:t>
            </a:r>
          </a:p>
          <a:p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TABLE_SCHEMA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TABLE_NAME</a:t>
            </a:r>
            <a:r>
              <a:rPr lang="en-US" sz="11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COLUMN_NAME</a:t>
            </a:r>
            <a:endParaRPr lang="en-US" sz="11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8B567-6659-70E4-8D1A-58FA4C66B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Collation (Case-Sensitivity) Hierarchy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48302-1F57-40F3-55E7-F6BB2DC8725D}"/>
              </a:ext>
            </a:extLst>
          </p:cNvPr>
          <p:cNvSpPr txBox="1"/>
          <p:nvPr/>
        </p:nvSpPr>
        <p:spPr>
          <a:xfrm>
            <a:off x="977029" y="1841326"/>
            <a:ext cx="4058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Instance – What was set when SQL Server was first installed?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797DD-918D-ABD0-75B7-821950A001EF}"/>
              </a:ext>
            </a:extLst>
          </p:cNvPr>
          <p:cNvSpPr txBox="1"/>
          <p:nvPr/>
        </p:nvSpPr>
        <p:spPr>
          <a:xfrm>
            <a:off x="1316274" y="2621072"/>
            <a:ext cx="3379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– Default or explicit?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AEED8-77C3-6C71-B02B-8049F2C40678}"/>
              </a:ext>
            </a:extLst>
          </p:cNvPr>
          <p:cNvSpPr txBox="1"/>
          <p:nvPr/>
        </p:nvSpPr>
        <p:spPr>
          <a:xfrm>
            <a:off x="1655521" y="3429000"/>
            <a:ext cx="361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Table Column – Database default or explicit?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8AFCA-8F9E-FDA2-5AA6-6252AEAA4D13}"/>
              </a:ext>
            </a:extLst>
          </p:cNvPr>
          <p:cNvSpPr txBox="1"/>
          <p:nvPr/>
        </p:nvSpPr>
        <p:spPr>
          <a:xfrm>
            <a:off x="2133598" y="4225969"/>
            <a:ext cx="3617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Query-level – temporarily treat it differently for calculation purposes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31693-F528-5FD2-0B05-D3A2F61A521D}"/>
              </a:ext>
            </a:extLst>
          </p:cNvPr>
          <p:cNvSpPr txBox="1"/>
          <p:nvPr/>
        </p:nvSpPr>
        <p:spPr>
          <a:xfrm>
            <a:off x="6112703" y="4075331"/>
            <a:ext cx="49133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chemeClr val="accent2">
                    <a:lumMod val="50000"/>
                  </a:schemeClr>
                </a:solidFill>
                <a:effectLst/>
                <a:latin typeface="-apple-system"/>
              </a:rPr>
              <a:t>Cannot resolve the collation conflict between "SQL_Latin1_General_CP1_CI_AS" and "Latin1_General_CI_AS" in the equal to operation.</a:t>
            </a:r>
            <a:endParaRPr 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825F3-9331-6164-FD25-0B6153355097}"/>
              </a:ext>
            </a:extLst>
          </p:cNvPr>
          <p:cNvSpPr txBox="1"/>
          <p:nvPr/>
        </p:nvSpPr>
        <p:spPr>
          <a:xfrm>
            <a:off x="6096000" y="2625056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Table_1 t1</a:t>
            </a:r>
          </a:p>
          <a:p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fr-FR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fr-FR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fr-FR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Table_2 t2</a:t>
            </a:r>
          </a:p>
          <a:p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t1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 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t2</a:t>
            </a:r>
            <a:r>
              <a:rPr lang="en-US" sz="180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AC6CB-BA0C-C066-3766-66035BDA4E15}"/>
              </a:ext>
            </a:extLst>
          </p:cNvPr>
          <p:cNvSpPr txBox="1"/>
          <p:nvPr/>
        </p:nvSpPr>
        <p:spPr>
          <a:xfrm>
            <a:off x="6041720" y="1905506"/>
            <a:ext cx="5366359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Table_1 t1</a:t>
            </a:r>
          </a:p>
          <a:p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fr-FR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fr-FR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Table_2 t2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COLLATE</a:t>
            </a:r>
          </a:p>
          <a:p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SQL_Latin1_General_CP1_CI_AS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t2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SomeColumn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2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8" y="698842"/>
            <a:ext cx="93818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Do I need to worry about case-sensitivity?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47E0-63BA-4DAB-957D-EF3C7FB1326E}"/>
              </a:ext>
            </a:extLst>
          </p:cNvPr>
          <p:cNvSpPr txBox="1"/>
          <p:nvPr/>
        </p:nvSpPr>
        <p:spPr>
          <a:xfrm>
            <a:off x="1816442" y="1726290"/>
            <a:ext cx="8773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functions other than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UPPER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and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/>
              <a:t> are case-sensitive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Do you need to follow/enforce something other than the current collation?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3A7BA3-5B89-DCD6-B4A3-2FEBB537EB1F}"/>
              </a:ext>
            </a:extLst>
          </p:cNvPr>
          <p:cNvSpPr txBox="1"/>
          <p:nvPr/>
        </p:nvSpPr>
        <p:spPr>
          <a:xfrm>
            <a:off x="997807" y="3573835"/>
            <a:ext cx="95054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Forcing case-sensitivity on an case-insensitive column:</a:t>
            </a:r>
          </a:p>
          <a:p>
            <a:endParaRPr lang="en-US" dirty="0">
              <a:solidFill>
                <a:srgbClr val="0000FF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COLLATE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Latin1_General_CS_AS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</a:p>
          <a:p>
            <a:endParaRPr lang="en-US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Forcing case-insensitivity on an </a:t>
            </a:r>
            <a:r>
              <a:rPr lang="en-US"/>
              <a:t>case-sensitive column:</a:t>
            </a:r>
            <a:endParaRPr lang="en-US" dirty="0"/>
          </a:p>
          <a:p>
            <a:endParaRPr lang="en-US" sz="18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COLLATE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Latin1_General_CI_AS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</a:p>
          <a:p>
            <a:endParaRPr lang="en-US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'[mM][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aAeEiIoOuU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dD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]'</a:t>
            </a:r>
          </a:p>
          <a:p>
            <a:endParaRPr lang="en-US" dirty="0">
              <a:solidFill>
                <a:srgbClr val="FF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WHERE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[value]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LOWER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F1A6D9-4013-D159-2206-C84DFE72182D}"/>
              </a:ext>
            </a:extLst>
          </p:cNvPr>
          <p:cNvSpPr txBox="1"/>
          <p:nvPr/>
        </p:nvSpPr>
        <p:spPr>
          <a:xfrm>
            <a:off x="1032367" y="2736965"/>
            <a:ext cx="419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'm[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aeiou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]d'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883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Range character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3BBD6C-B22B-05EA-3CDE-F924F3770359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shortcut to consolidate characters on its </a:t>
            </a:r>
            <a:r>
              <a:rPr lang="en-US" sz="2000" b="1" dirty="0"/>
              <a:t>immediate</a:t>
            </a:r>
            <a:r>
              <a:rPr lang="en-US" sz="2000" dirty="0"/>
              <a:t> left and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Characters must be contiguous. Lower value must be on the left.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63BA2-0115-DE75-06B9-AE948687B303}"/>
              </a:ext>
            </a:extLst>
          </p:cNvPr>
          <p:cNvSpPr txBox="1"/>
          <p:nvPr/>
        </p:nvSpPr>
        <p:spPr>
          <a:xfrm>
            <a:off x="1037961" y="2852474"/>
            <a:ext cx="517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'[1-2][5-7]'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DE86C1-3A55-81AA-C150-9805A8F1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053" y="3523708"/>
            <a:ext cx="2212503" cy="2040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E22134-EA7E-B29E-A0BC-D46FB8837E40}"/>
              </a:ext>
            </a:extLst>
          </p:cNvPr>
          <p:cNvSpPr txBox="1"/>
          <p:nvPr/>
        </p:nvSpPr>
        <p:spPr>
          <a:xfrm>
            <a:off x="6484209" y="2852474"/>
            <a:ext cx="517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</a:t>
            </a:r>
            <a:r>
              <a:rPr lang="en-US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-46]8'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AB79AF-ABB1-B016-C657-DCDD8B9D003B}"/>
              </a:ext>
            </a:extLst>
          </p:cNvPr>
          <p:cNvSpPr txBox="1"/>
          <p:nvPr/>
        </p:nvSpPr>
        <p:spPr>
          <a:xfrm>
            <a:off x="4788563" y="3336559"/>
            <a:ext cx="1117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1          5</a:t>
            </a:r>
          </a:p>
          <a:p>
            <a:r>
              <a:rPr lang="en-US" dirty="0"/>
              <a:t>2          6</a:t>
            </a:r>
          </a:p>
          <a:p>
            <a:r>
              <a:rPr lang="en-US" dirty="0"/>
              <a:t>            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63C33B-5EEA-CDA5-94F6-62FAE9F2A10B}"/>
              </a:ext>
            </a:extLst>
          </p:cNvPr>
          <p:cNvSpPr txBox="1"/>
          <p:nvPr/>
        </p:nvSpPr>
        <p:spPr>
          <a:xfrm>
            <a:off x="10242019" y="3336558"/>
            <a:ext cx="977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3         8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651B01-1BDF-5B5B-F1A4-51865B445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224" y="3523708"/>
            <a:ext cx="2212503" cy="172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70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D7D455A-0E9B-463B-C7FE-EAFE063214DB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shortcut to consolidate characters on its immediate left and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Characters must be contiguous. Lower value must be on the left.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Range character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B63BA2-0115-DE75-06B9-AE948687B303}"/>
              </a:ext>
            </a:extLst>
          </p:cNvPr>
          <p:cNvSpPr txBox="1"/>
          <p:nvPr/>
        </p:nvSpPr>
        <p:spPr>
          <a:xfrm>
            <a:off x="1037962" y="2852474"/>
            <a:ext cx="3286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'[a-f]'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E22134-EA7E-B29E-A0BC-D46FB8837E40}"/>
              </a:ext>
            </a:extLst>
          </p:cNvPr>
          <p:cNvSpPr txBox="1"/>
          <p:nvPr/>
        </p:nvSpPr>
        <p:spPr>
          <a:xfrm>
            <a:off x="4667758" y="2852474"/>
            <a:ext cx="3438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'[a-</a:t>
            </a:r>
            <a:r>
              <a:rPr lang="en-US" sz="16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em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5132F8-6AFB-1963-9A3A-840060696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897" y="3511352"/>
            <a:ext cx="2419099" cy="22045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871EBB-4232-8BE8-A092-C4673D6E3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678" y="3540212"/>
            <a:ext cx="2419099" cy="21316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91B74F-6E8A-9970-EA3A-0CBFD1E37877}"/>
              </a:ext>
            </a:extLst>
          </p:cNvPr>
          <p:cNvSpPr txBox="1"/>
          <p:nvPr/>
        </p:nvSpPr>
        <p:spPr>
          <a:xfrm>
            <a:off x="8332589" y="2856590"/>
            <a:ext cx="3286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'[f-a]'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9DABEE-F738-55E7-0203-6DC8DA97D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348" y="3552570"/>
            <a:ext cx="2357755" cy="7475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901F240-3E32-6024-2536-AA9F763CE3C1}"/>
              </a:ext>
            </a:extLst>
          </p:cNvPr>
          <p:cNvSpPr txBox="1"/>
          <p:nvPr/>
        </p:nvSpPr>
        <p:spPr>
          <a:xfrm>
            <a:off x="8332589" y="4613651"/>
            <a:ext cx="32863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'[-f]'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7478852-0F01-6FBD-61AC-7407C187A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347" y="5099221"/>
            <a:ext cx="2357755" cy="93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53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Negation character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09A2A-5690-641B-B13C-0FE6140BD9DE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“NOT” to all characters on its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Must be the FIRST character within the containment characters to take effect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DE6EE-7409-F6C4-C5D0-B7BBB2A6D51A}"/>
              </a:ext>
            </a:extLst>
          </p:cNvPr>
          <p:cNvSpPr txBox="1"/>
          <p:nvPr/>
        </p:nvSpPr>
        <p:spPr>
          <a:xfrm>
            <a:off x="1109019" y="3059668"/>
            <a:ext cx="4538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'[^4]'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C9A0BB-E943-79E9-50D3-79CDC0EE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442" y="3629151"/>
            <a:ext cx="2276476" cy="2638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101F84-DD05-346C-CE22-7A4D61D55237}"/>
              </a:ext>
            </a:extLst>
          </p:cNvPr>
          <p:cNvSpPr txBox="1"/>
          <p:nvPr/>
        </p:nvSpPr>
        <p:spPr>
          <a:xfrm>
            <a:off x="6096000" y="3054860"/>
            <a:ext cx="478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'[4]'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CBF5B5-EDA9-ABE6-B717-418CFD8EF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720" y="3428619"/>
            <a:ext cx="1838563" cy="27305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56F969-A6E1-5D5E-98E6-4005A5D93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643" y="4698888"/>
            <a:ext cx="1688539" cy="49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4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6FB96-4034-764E-6103-B47B9317BE1B}"/>
              </a:ext>
            </a:extLst>
          </p:cNvPr>
          <p:cNvSpPr txBox="1"/>
          <p:nvPr/>
        </p:nvSpPr>
        <p:spPr>
          <a:xfrm>
            <a:off x="997809" y="698842"/>
            <a:ext cx="81338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4000" dirty="0">
                <a:solidFill>
                  <a:srgbClr val="FF9797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4000" dirty="0"/>
              <a:t>– Negation character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09A2A-5690-641B-B13C-0FE6140BD9DE}"/>
              </a:ext>
            </a:extLst>
          </p:cNvPr>
          <p:cNvSpPr txBox="1"/>
          <p:nvPr/>
        </p:nvSpPr>
        <p:spPr>
          <a:xfrm>
            <a:off x="1816442" y="1952368"/>
            <a:ext cx="8785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Must be the FIRST character within the containment characters to take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Provides a “NOT” to all characters on its 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DE6EE-7409-F6C4-C5D0-B7BBB2A6D51A}"/>
              </a:ext>
            </a:extLst>
          </p:cNvPr>
          <p:cNvSpPr txBox="1"/>
          <p:nvPr/>
        </p:nvSpPr>
        <p:spPr>
          <a:xfrm>
            <a:off x="1109019" y="3059668"/>
            <a:ext cx="4871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'2[^467]'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4272D-D88B-9BAB-9A0C-22397C8B22F4}"/>
              </a:ext>
            </a:extLst>
          </p:cNvPr>
          <p:cNvSpPr txBox="1"/>
          <p:nvPr/>
        </p:nvSpPr>
        <p:spPr>
          <a:xfrm>
            <a:off x="6532607" y="3059668"/>
            <a:ext cx="4291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'a[^</a:t>
            </a:r>
            <a:r>
              <a:rPr lang="en-US" sz="18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a-v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]''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C8C7CF-5FB6-C298-D96B-ADB88CC49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340" y="3717204"/>
            <a:ext cx="2343914" cy="15344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1845AC-A20C-7F2C-5079-878F170BE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049" y="3612616"/>
            <a:ext cx="2485619" cy="254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25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E99E-8E53-C95A-DD85-0F2AB82BD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9208"/>
            <a:ext cx="10515600" cy="623415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 </a:t>
            </a:r>
            <a:r>
              <a:rPr lang="en-US" sz="4400" i="1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stringable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F1565-CD25-2E9F-D46E-6B8770C81D9F}"/>
              </a:ext>
            </a:extLst>
          </p:cNvPr>
          <p:cNvSpPr txBox="1"/>
          <p:nvPr/>
        </p:nvSpPr>
        <p:spPr>
          <a:xfrm>
            <a:off x="898437" y="2787134"/>
            <a:ext cx="5057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'%\%%'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'\'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2C913A-1AA1-AF3A-BF56-7612EF69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929" y="3701535"/>
            <a:ext cx="2561966" cy="735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75BB86-AFD6-54DE-46A4-4CA0AB12E482}"/>
              </a:ext>
            </a:extLst>
          </p:cNvPr>
          <p:cNvSpPr txBox="1"/>
          <p:nvPr/>
        </p:nvSpPr>
        <p:spPr>
          <a:xfrm>
            <a:off x="6521277" y="2787134"/>
            <a:ext cx="5057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'%!_%'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ESCAPE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'!'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AC5D3A-FF31-8B86-7A2A-797DB417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107" y="3701535"/>
            <a:ext cx="2456203" cy="7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535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C23066-7333-B294-B79B-D8C29EDB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PATINDEX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like_pattern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stringable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4000" i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B5967-F69F-D300-32CF-D209691F2C75}"/>
              </a:ext>
            </a:extLst>
          </p:cNvPr>
          <p:cNvSpPr txBox="1"/>
          <p:nvPr/>
        </p:nvSpPr>
        <p:spPr>
          <a:xfrm>
            <a:off x="1193530" y="3429000"/>
            <a:ext cx="5736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TOP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4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ArbitraryID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[value]</a:t>
            </a:r>
          </a:p>
          <a:p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PATINDEX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'%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bc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[value]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Position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Table_1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[value]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LIKE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'%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bc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NEWID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33E2A7-C050-D53F-29DA-326A6A03E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944" y="3467172"/>
            <a:ext cx="3114675" cy="1466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612397-0B02-23BC-F488-C5652F72A2FD}"/>
              </a:ext>
            </a:extLst>
          </p:cNvPr>
          <p:cNvSpPr txBox="1"/>
          <p:nvPr/>
        </p:nvSpPr>
        <p:spPr>
          <a:xfrm>
            <a:off x="838200" y="1505330"/>
            <a:ext cx="95723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Returns the starting position of the first occurrence of a pattern in a specified expression, or zero if the pattern is not found, on all valid text and character data types.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492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56D9-6501-77AF-6C04-04EA4757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4688"/>
            <a:ext cx="10515600" cy="768631"/>
          </a:xfrm>
        </p:spPr>
        <p:txBody>
          <a:bodyPr/>
          <a:lstStyle/>
          <a:p>
            <a:r>
              <a:rPr lang="en-US" dirty="0"/>
              <a:t>On the horizon, true </a:t>
            </a:r>
            <a:r>
              <a:rPr lang="en-US" dirty="0" err="1"/>
              <a:t>RegEx</a:t>
            </a:r>
            <a:r>
              <a:rPr lang="en-US" dirty="0"/>
              <a:t>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AA89A1-3D33-A5AA-8864-6FE488EA9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498293"/>
              </p:ext>
            </p:extLst>
          </p:nvPr>
        </p:nvGraphicFramePr>
        <p:xfrm>
          <a:off x="951469" y="2098460"/>
          <a:ext cx="9959546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3267">
                  <a:extLst>
                    <a:ext uri="{9D8B030D-6E8A-4147-A177-3AD203B41FA5}">
                      <a16:colId xmlns:a16="http://schemas.microsoft.com/office/drawing/2014/main" val="390366559"/>
                    </a:ext>
                  </a:extLst>
                </a:gridCol>
                <a:gridCol w="7006279">
                  <a:extLst>
                    <a:ext uri="{9D8B030D-6E8A-4147-A177-3AD203B41FA5}">
                      <a16:colId xmlns:a16="http://schemas.microsoft.com/office/drawing/2014/main" val="4019430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161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REGEXP_LIKE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TRUE if a string matches a regular expression pattern, or FALSE otherwise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29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REGEXP_COUNT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the number of times a regular expression pattern matches in a string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47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REGEXP_INSTR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the starting or ending position, based on the specified option, of the given occurrence of a regular expression pattern in a string.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957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REGEXP_REPLACE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a substring that matches a regular expression pattern from a string.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90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REGEXP_SUBSTR</a:t>
                      </a:r>
                      <a:r>
                        <a:rPr lang="en-US" sz="1800" b="0" i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800" b="0" i="0" dirty="0">
                        <a:solidFill>
                          <a:srgbClr val="333333"/>
                        </a:solidFill>
                        <a:effectLst/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333333"/>
                          </a:solidFill>
                          <a:effectLst/>
                          <a:latin typeface="SegoeUI"/>
                        </a:rPr>
                        <a:t>This function returns a modified string replaced by a ‘replacement string’, where occurrence of the regular expression pattern found.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4391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5D69FA-642E-B6A4-D00B-7197D37F741C}"/>
              </a:ext>
            </a:extLst>
          </p:cNvPr>
          <p:cNvSpPr txBox="1"/>
          <p:nvPr/>
        </p:nvSpPr>
        <p:spPr>
          <a:xfrm>
            <a:off x="951469" y="1415758"/>
            <a:ext cx="1019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https://devblogs.microsoft.com/azure-sql/introducing-regular-expression-regex-support-in-azure-sql-db/</a:t>
            </a:r>
          </a:p>
        </p:txBody>
      </p:sp>
    </p:spTree>
    <p:extLst>
      <p:ext uri="{BB962C8B-B14F-4D97-AF65-F5344CB8AC3E}">
        <p14:creationId xmlns:p14="http://schemas.microsoft.com/office/powerpoint/2010/main" val="2448217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423437-B5D6-32CD-FEDD-DD56ACE3CBBB}"/>
              </a:ext>
            </a:extLst>
          </p:cNvPr>
          <p:cNvSpPr txBox="1"/>
          <p:nvPr/>
        </p:nvSpPr>
        <p:spPr>
          <a:xfrm>
            <a:off x="923152" y="1185388"/>
            <a:ext cx="106674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Employees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ID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IDENTITY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101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[Name]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150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),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Email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320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REGEXP_LIKE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Email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'^[A-Za-z0-9._%+-]+@[A-Za-z0-9.-]+\.[A-Za-z]{2,}$'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)),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REGEXP_LIKE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'^(\d{3})-(\d{3})-(\d{4})$'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endParaRPr lang="en-US" sz="16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i="0" dirty="0">
                <a:solidFill>
                  <a:srgbClr val="0101F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INSERT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i="0" dirty="0">
                <a:solidFill>
                  <a:srgbClr val="0101F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INTO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Employees ([Name], Email, </a:t>
            </a:r>
            <a:r>
              <a:rPr lang="en-US" sz="1600" i="0" dirty="0" err="1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  <a:p>
            <a:r>
              <a:rPr lang="en-US" sz="1600" i="0" dirty="0">
                <a:solidFill>
                  <a:srgbClr val="0101F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'John Doe'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'john@contoso.com'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'123-456-7890’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'Alice Smith'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'alice@fabrikam.com'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'234-567-8901’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'Bob Johnson'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'bob@fabrikam.net'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'345-678-9012’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'Eve Jones'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'eve@contoso.com'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'456-789-0123’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dirty="0">
                <a:solidFill>
                  <a:srgbClr val="212529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(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'Charlie Brown'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'charlie@contoso.co.in'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i="0" dirty="0">
                <a:solidFill>
                  <a:srgbClr val="A3151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'567-890-1234'</a:t>
            </a:r>
            <a:r>
              <a:rPr lang="en-US" sz="1600" i="0" dirty="0">
                <a:solidFill>
                  <a:srgbClr val="21252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1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593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7BD3E7-4C2D-5318-5A22-33AA6067B2DE}"/>
              </a:ext>
            </a:extLst>
          </p:cNvPr>
          <p:cNvSpPr txBox="1"/>
          <p:nvPr/>
        </p:nvSpPr>
        <p:spPr>
          <a:xfrm>
            <a:off x="1010164" y="544995"/>
            <a:ext cx="9542507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 TABLE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 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,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 VARCHAR2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150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,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Email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VARCHAR2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320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REGEXP_LIKE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(Email,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'^[A-Za-z0-9._%+-]+@[A-Za-z0-9.-]+\.[A-Za-z]{2,}$'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)),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VARCHAR2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20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REGEXP_LIKE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'^(\d{3})-(\d{3})-(\d{4})$'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 SEQUENCE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demouser.tt_Employees_ID</a:t>
            </a:r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START WITH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101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INCREMENT BY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CREATE OR REPLACE TRIGGER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demouser.tt_TR_Employees_ID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BEFORE INSERT ON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EACH ROW</a:t>
            </a: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BEGIN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tt_Employees_ID.</a:t>
            </a:r>
            <a:r>
              <a:rPr lang="en-US" sz="1100" dirty="0" err="1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NEXTVAL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INTO 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NEW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DUAL;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END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'John Doe'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'john@contoso.com'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'123-456-7890'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'Alice Smith'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'alice@fabrikam.com'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'234-567-8901' 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'Bob Johnson'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'bob@fabrikam.net'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100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'345-678-9012'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'Eve Jones', 'eve@contoso.com', '456-789-0123' );</a:t>
            </a:r>
          </a:p>
          <a:p>
            <a:endParaRPr lang="en-US" sz="11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INSERT INTO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demouser.Employees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, Email, </a:t>
            </a:r>
            <a:r>
              <a:rPr lang="en-US" sz="11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Phone_Number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)</a:t>
            </a:r>
          </a:p>
          <a:p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VALUES</a:t>
            </a:r>
            <a:r>
              <a:rPr lang="en-US" sz="1100" dirty="0">
                <a:latin typeface="Cascadia Code" panose="020B0609020000020004" pitchFamily="49" charset="0"/>
                <a:cs typeface="Cascadia Code" panose="020B0609020000020004" pitchFamily="49" charset="0"/>
              </a:rPr>
              <a:t> ( 'Charlie Brown', 'charlie@contoso.co.in', '567-890-1234' );</a:t>
            </a:r>
          </a:p>
        </p:txBody>
      </p:sp>
    </p:spTree>
    <p:extLst>
      <p:ext uri="{BB962C8B-B14F-4D97-AF65-F5344CB8AC3E}">
        <p14:creationId xmlns:p14="http://schemas.microsoft.com/office/powerpoint/2010/main" val="3193736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CEB0-C0D6-54F9-43BD-42B19A0B0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REGEXP_COUNT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stringable,RegEx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[,</a:t>
            </a:r>
            <a:r>
              <a:rPr lang="en-US" sz="2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startPos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[,</a:t>
            </a:r>
            <a:r>
              <a:rPr lang="en-US" sz="24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matchParam</a:t>
            </a:r>
            <a:r>
              <a:rPr lang="en-US" sz="2400" b="0" i="0" dirty="0">
                <a:solidFill>
                  <a:schemeClr val="bg1">
                    <a:lumMod val="50000"/>
                  </a:schemeClr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]])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773AC-F73D-9C0E-175A-C6CF5176C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333333"/>
                </a:solidFill>
                <a:latin typeface="SegoeUI"/>
              </a:rPr>
              <a:t>R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SegoeUI"/>
              </a:rPr>
              <a:t>eturns the number of times a regular expression pattern matches in a string</a:t>
            </a:r>
          </a:p>
          <a:p>
            <a:r>
              <a:rPr lang="en-US" sz="2000" dirty="0">
                <a:solidFill>
                  <a:srgbClr val="333333"/>
                </a:solidFill>
                <a:latin typeface="SegoeUI"/>
              </a:rPr>
              <a:t>Valid match parameter values: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7482B-87A8-4D5B-6038-A35F864FD39D}"/>
              </a:ext>
            </a:extLst>
          </p:cNvPr>
          <p:cNvSpPr txBox="1"/>
          <p:nvPr/>
        </p:nvSpPr>
        <p:spPr>
          <a:xfrm>
            <a:off x="1071950" y="4236073"/>
            <a:ext cx="57242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101FD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[Name]</a:t>
            </a:r>
          </a:p>
          <a:p>
            <a:r>
              <a:rPr lang="en-US" dirty="0">
                <a:solidFill>
                  <a:srgbClr val="212529"/>
                </a:solidFill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8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REGEXP_COUNT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([Name],</a:t>
            </a:r>
            <a:r>
              <a:rPr lang="en-US" b="0" i="0" dirty="0">
                <a:solidFill>
                  <a:srgbClr val="A31515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'[AEIOU]'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b="0" i="0" dirty="0">
                <a:solidFill>
                  <a:srgbClr val="880000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b="0" i="0" dirty="0">
                <a:solidFill>
                  <a:srgbClr val="A31515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'i'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  <a:p>
            <a:r>
              <a:rPr lang="en-US" dirty="0">
                <a:solidFill>
                  <a:srgbClr val="212529"/>
                </a:solidFill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b="1" i="0" dirty="0">
                <a:solidFill>
                  <a:srgbClr val="0101FD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dirty="0">
                <a:solidFill>
                  <a:srgbClr val="212529"/>
                </a:solidFill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i="0" dirty="0" err="1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Vowel_Count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b="1" i="0" dirty="0">
                <a:solidFill>
                  <a:srgbClr val="0101FD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b="0" i="0" dirty="0">
                <a:solidFill>
                  <a:srgbClr val="212529"/>
                </a:solidFill>
                <a:effectLst/>
                <a:highlight>
                  <a:srgbClr val="F0F0F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Employees;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9C7AE0-37E1-8D1F-ECE7-E6CC8803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096" y="4100148"/>
            <a:ext cx="3171825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23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</a:t>
            </a:r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/jeff-foushee/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</p:spTree>
    <p:extLst>
      <p:ext uri="{BB962C8B-B14F-4D97-AF65-F5344CB8AC3E}">
        <p14:creationId xmlns:p14="http://schemas.microsoft.com/office/powerpoint/2010/main" val="91828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39104</TotalTime>
  <Words>2228</Words>
  <Application>Microsoft Office PowerPoint</Application>
  <PresentationFormat>Widescreen</PresentationFormat>
  <Paragraphs>326</Paragraphs>
  <Slides>28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-apple-system</vt:lpstr>
      <vt:lpstr>Arial</vt:lpstr>
      <vt:lpstr>Calibri</vt:lpstr>
      <vt:lpstr>Calibri Light</vt:lpstr>
      <vt:lpstr>Cascadia Code</vt:lpstr>
      <vt:lpstr>Cascadia Mono</vt:lpstr>
      <vt:lpstr>Consolas</vt:lpstr>
      <vt:lpstr>Segoe UI</vt:lpstr>
      <vt:lpstr>SegoeUI</vt:lpstr>
      <vt:lpstr>Verdana</vt:lpstr>
      <vt:lpstr>Office Theme</vt:lpstr>
      <vt:lpstr>Reviewing after the presentation?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Collation (Case-Sensitivity) Hierarchy</vt:lpstr>
      <vt:lpstr>The Collation (Case-Sensitivity) Hierarchy</vt:lpstr>
      <vt:lpstr>The Collation (Case-Sensitivity) Hierarchy</vt:lpstr>
      <vt:lpstr>The Collation (Case-Sensitivity) Hierarchy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ESCAPE stringable</vt:lpstr>
      <vt:lpstr>PATINDEX(like_pattern, stringable)</vt:lpstr>
      <vt:lpstr>On the horizon, true RegEx…</vt:lpstr>
      <vt:lpstr>PowerPoint Presentation</vt:lpstr>
      <vt:lpstr>PowerPoint Presentation</vt:lpstr>
      <vt:lpstr>REGEXP_COUNT(stringable,RegEx[,startPos[,matchParam]])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F</dc:creator>
  <cp:lastModifiedBy>Jeff Foushee</cp:lastModifiedBy>
  <cp:revision>41</cp:revision>
  <dcterms:created xsi:type="dcterms:W3CDTF">2023-07-18T22:41:59Z</dcterms:created>
  <dcterms:modified xsi:type="dcterms:W3CDTF">2024-05-31T00:45:39Z</dcterms:modified>
</cp:coreProperties>
</file>