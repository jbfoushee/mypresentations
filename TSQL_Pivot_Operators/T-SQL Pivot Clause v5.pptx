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3"/>
  </p:notesMasterIdLst>
  <p:sldIdLst>
    <p:sldId id="332" r:id="rId3"/>
    <p:sldId id="335" r:id="rId4"/>
    <p:sldId id="336" r:id="rId5"/>
    <p:sldId id="337" r:id="rId6"/>
    <p:sldId id="338" r:id="rId7"/>
    <p:sldId id="392" r:id="rId8"/>
    <p:sldId id="339" r:id="rId9"/>
    <p:sldId id="340" r:id="rId10"/>
    <p:sldId id="283" r:id="rId11"/>
    <p:sldId id="325" r:id="rId12"/>
    <p:sldId id="343" r:id="rId13"/>
    <p:sldId id="346" r:id="rId14"/>
    <p:sldId id="347" r:id="rId15"/>
    <p:sldId id="348" r:id="rId16"/>
    <p:sldId id="287" r:id="rId17"/>
    <p:sldId id="257" r:id="rId18"/>
    <p:sldId id="258" r:id="rId19"/>
    <p:sldId id="259" r:id="rId20"/>
    <p:sldId id="286" r:id="rId21"/>
    <p:sldId id="261" r:id="rId22"/>
    <p:sldId id="262" r:id="rId23"/>
    <p:sldId id="263" r:id="rId24"/>
    <p:sldId id="264" r:id="rId25"/>
    <p:sldId id="349" r:id="rId26"/>
    <p:sldId id="372" r:id="rId27"/>
    <p:sldId id="375" r:id="rId28"/>
    <p:sldId id="373" r:id="rId29"/>
    <p:sldId id="326" r:id="rId30"/>
    <p:sldId id="266" r:id="rId31"/>
    <p:sldId id="382" r:id="rId32"/>
    <p:sldId id="404" r:id="rId33"/>
    <p:sldId id="352" r:id="rId34"/>
    <p:sldId id="381" r:id="rId35"/>
    <p:sldId id="267" r:id="rId36"/>
    <p:sldId id="383" r:id="rId37"/>
    <p:sldId id="386" r:id="rId38"/>
    <p:sldId id="355" r:id="rId39"/>
    <p:sldId id="284" r:id="rId40"/>
    <p:sldId id="403" r:id="rId41"/>
    <p:sldId id="288" r:id="rId42"/>
    <p:sldId id="281" r:id="rId43"/>
    <p:sldId id="285" r:id="rId44"/>
    <p:sldId id="289" r:id="rId45"/>
    <p:sldId id="290" r:id="rId46"/>
    <p:sldId id="296" r:id="rId47"/>
    <p:sldId id="291" r:id="rId48"/>
    <p:sldId id="292" r:id="rId49"/>
    <p:sldId id="327" r:id="rId50"/>
    <p:sldId id="379" r:id="rId51"/>
    <p:sldId id="353" r:id="rId52"/>
    <p:sldId id="391" r:id="rId53"/>
    <p:sldId id="384" r:id="rId54"/>
    <p:sldId id="402" r:id="rId55"/>
    <p:sldId id="393" r:id="rId56"/>
    <p:sldId id="388" r:id="rId57"/>
    <p:sldId id="395" r:id="rId58"/>
    <p:sldId id="396" r:id="rId59"/>
    <p:sldId id="397" r:id="rId60"/>
    <p:sldId id="398" r:id="rId61"/>
    <p:sldId id="399" r:id="rId62"/>
    <p:sldId id="400" r:id="rId63"/>
    <p:sldId id="401" r:id="rId64"/>
    <p:sldId id="377" r:id="rId65"/>
    <p:sldId id="368" r:id="rId66"/>
    <p:sldId id="356" r:id="rId67"/>
    <p:sldId id="357" r:id="rId68"/>
    <p:sldId id="358" r:id="rId69"/>
    <p:sldId id="359" r:id="rId70"/>
    <p:sldId id="394" r:id="rId71"/>
    <p:sldId id="369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FFCB"/>
    <a:srgbClr val="CFC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7" autoAdjust="0"/>
    <p:restoredTop sz="81132" autoAdjust="0"/>
  </p:normalViewPr>
  <p:slideViewPr>
    <p:cSldViewPr>
      <p:cViewPr varScale="1">
        <p:scale>
          <a:sx n="73" d="100"/>
          <a:sy n="73" d="100"/>
        </p:scale>
        <p:origin x="187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F" userId="f003630136abceb0" providerId="LiveId" clId="{97EA8DAB-F963-4D22-AE0F-B085A6DE53BB}"/>
    <pc:docChg chg="undo custSel addSld delSld modSld sldOrd">
      <pc:chgData name="Jeff F" userId="f003630136abceb0" providerId="LiveId" clId="{97EA8DAB-F963-4D22-AE0F-B085A6DE53BB}" dt="2023-05-23T21:33:08.513" v="282" actId="1076"/>
      <pc:docMkLst>
        <pc:docMk/>
      </pc:docMkLst>
      <pc:sldChg chg="modSp mod">
        <pc:chgData name="Jeff F" userId="f003630136abceb0" providerId="LiveId" clId="{97EA8DAB-F963-4D22-AE0F-B085A6DE53BB}" dt="2023-05-23T21:17:26.453" v="14" actId="20577"/>
        <pc:sldMkLst>
          <pc:docMk/>
          <pc:sldMk cId="3849227631" sldId="266"/>
        </pc:sldMkLst>
        <pc:spChg chg="mod">
          <ac:chgData name="Jeff F" userId="f003630136abceb0" providerId="LiveId" clId="{97EA8DAB-F963-4D22-AE0F-B085A6DE53BB}" dt="2023-05-23T21:17:26.453" v="14" actId="20577"/>
          <ac:spMkLst>
            <pc:docMk/>
            <pc:sldMk cId="3849227631" sldId="266"/>
            <ac:spMk id="11" creationId="{00000000-0000-0000-0000-000000000000}"/>
          </ac:spMkLst>
        </pc:spChg>
      </pc:sldChg>
      <pc:sldChg chg="modSp mod">
        <pc:chgData name="Jeff F" userId="f003630136abceb0" providerId="LiveId" clId="{97EA8DAB-F963-4D22-AE0F-B085A6DE53BB}" dt="2023-05-23T21:28:05.988" v="231" actId="20577"/>
        <pc:sldMkLst>
          <pc:docMk/>
          <pc:sldMk cId="663012460" sldId="267"/>
        </pc:sldMkLst>
        <pc:spChg chg="mod">
          <ac:chgData name="Jeff F" userId="f003630136abceb0" providerId="LiveId" clId="{97EA8DAB-F963-4D22-AE0F-B085A6DE53BB}" dt="2023-05-23T21:28:05.988" v="231" actId="20577"/>
          <ac:spMkLst>
            <pc:docMk/>
            <pc:sldMk cId="663012460" sldId="267"/>
            <ac:spMk id="23" creationId="{00000000-0000-0000-0000-000000000000}"/>
          </ac:spMkLst>
        </pc:spChg>
      </pc:sldChg>
      <pc:sldChg chg="addSp delSp modSp mod modAnim">
        <pc:chgData name="Jeff F" userId="f003630136abceb0" providerId="LiveId" clId="{97EA8DAB-F963-4D22-AE0F-B085A6DE53BB}" dt="2023-05-23T21:14:05.092" v="12" actId="478"/>
        <pc:sldMkLst>
          <pc:docMk/>
          <pc:sldMk cId="3873307458" sldId="348"/>
        </pc:sldMkLst>
        <pc:spChg chg="add del mod topLvl">
          <ac:chgData name="Jeff F" userId="f003630136abceb0" providerId="LiveId" clId="{97EA8DAB-F963-4D22-AE0F-B085A6DE53BB}" dt="2023-05-23T21:14:05.092" v="12" actId="478"/>
          <ac:spMkLst>
            <pc:docMk/>
            <pc:sldMk cId="3873307458" sldId="348"/>
            <ac:spMk id="16" creationId="{00000000-0000-0000-0000-000000000000}"/>
          </ac:spMkLst>
        </pc:spChg>
        <pc:grpChg chg="del">
          <ac:chgData name="Jeff F" userId="f003630136abceb0" providerId="LiveId" clId="{97EA8DAB-F963-4D22-AE0F-B085A6DE53BB}" dt="2023-05-23T21:10:22.136" v="0" actId="165"/>
          <ac:grpSpMkLst>
            <pc:docMk/>
            <pc:sldMk cId="3873307458" sldId="348"/>
            <ac:grpSpMk id="14" creationId="{00000000-0000-0000-0000-000000000000}"/>
          </ac:grpSpMkLst>
        </pc:grpChg>
        <pc:picChg chg="add del mod">
          <ac:chgData name="Jeff F" userId="f003630136abceb0" providerId="LiveId" clId="{97EA8DAB-F963-4D22-AE0F-B085A6DE53BB}" dt="2023-05-23T21:14:04.741" v="11" actId="22"/>
          <ac:picMkLst>
            <pc:docMk/>
            <pc:sldMk cId="3873307458" sldId="348"/>
            <ac:picMk id="5" creationId="{4C503D9A-3789-EFC9-5179-8DB6FDBCFF84}"/>
          </ac:picMkLst>
        </pc:picChg>
        <pc:picChg chg="add del mod topLvl">
          <ac:chgData name="Jeff F" userId="f003630136abceb0" providerId="LiveId" clId="{97EA8DAB-F963-4D22-AE0F-B085A6DE53BB}" dt="2023-05-23T21:14:05.092" v="12" actId="478"/>
          <ac:picMkLst>
            <pc:docMk/>
            <pc:sldMk cId="3873307458" sldId="348"/>
            <ac:picMk id="15" creationId="{00000000-0000-0000-0000-000000000000}"/>
          </ac:picMkLst>
        </pc:picChg>
      </pc:sldChg>
      <pc:sldChg chg="addSp delSp modSp mod">
        <pc:chgData name="Jeff F" userId="f003630136abceb0" providerId="LiveId" clId="{97EA8DAB-F963-4D22-AE0F-B085A6DE53BB}" dt="2023-05-23T21:33:08.513" v="282" actId="1076"/>
        <pc:sldMkLst>
          <pc:docMk/>
          <pc:sldMk cId="22600922" sldId="369"/>
        </pc:sldMkLst>
        <pc:spChg chg="mod">
          <ac:chgData name="Jeff F" userId="f003630136abceb0" providerId="LiveId" clId="{97EA8DAB-F963-4D22-AE0F-B085A6DE53BB}" dt="2023-05-23T21:31:55.417" v="241" actId="5793"/>
          <ac:spMkLst>
            <pc:docMk/>
            <pc:sldMk cId="22600922" sldId="369"/>
            <ac:spMk id="2" creationId="{00000000-0000-0000-0000-000000000000}"/>
          </ac:spMkLst>
        </pc:spChg>
        <pc:spChg chg="del">
          <ac:chgData name="Jeff F" userId="f003630136abceb0" providerId="LiveId" clId="{97EA8DAB-F963-4D22-AE0F-B085A6DE53BB}" dt="2023-05-23T21:31:47.232" v="236" actId="478"/>
          <ac:spMkLst>
            <pc:docMk/>
            <pc:sldMk cId="22600922" sldId="369"/>
            <ac:spMk id="4" creationId="{00000000-0000-0000-0000-000000000000}"/>
          </ac:spMkLst>
        </pc:spChg>
        <pc:spChg chg="add mod">
          <ac:chgData name="Jeff F" userId="f003630136abceb0" providerId="LiveId" clId="{97EA8DAB-F963-4D22-AE0F-B085A6DE53BB}" dt="2023-05-23T21:33:08.513" v="282" actId="1076"/>
          <ac:spMkLst>
            <pc:docMk/>
            <pc:sldMk cId="22600922" sldId="369"/>
            <ac:spMk id="5" creationId="{41F7D6FD-AA3A-44E2-3666-D7EA7C744DC7}"/>
          </ac:spMkLst>
        </pc:spChg>
        <pc:picChg chg="del">
          <ac:chgData name="Jeff F" userId="f003630136abceb0" providerId="LiveId" clId="{97EA8DAB-F963-4D22-AE0F-B085A6DE53BB}" dt="2023-05-23T21:31:43.081" v="235" actId="478"/>
          <ac:picMkLst>
            <pc:docMk/>
            <pc:sldMk cId="22600922" sldId="369"/>
            <ac:picMk id="3" creationId="{00000000-0000-0000-0000-000000000000}"/>
          </ac:picMkLst>
        </pc:picChg>
      </pc:sldChg>
      <pc:sldChg chg="modSp mod">
        <pc:chgData name="Jeff F" userId="f003630136abceb0" providerId="LiveId" clId="{97EA8DAB-F963-4D22-AE0F-B085A6DE53BB}" dt="2023-05-23T21:28:03.456" v="230" actId="20577"/>
        <pc:sldMkLst>
          <pc:docMk/>
          <pc:sldMk cId="836833011" sldId="381"/>
        </pc:sldMkLst>
        <pc:spChg chg="mod">
          <ac:chgData name="Jeff F" userId="f003630136abceb0" providerId="LiveId" clId="{97EA8DAB-F963-4D22-AE0F-B085A6DE53BB}" dt="2023-05-23T21:28:03.456" v="230" actId="20577"/>
          <ac:spMkLst>
            <pc:docMk/>
            <pc:sldMk cId="836833011" sldId="381"/>
            <ac:spMk id="23" creationId="{00000000-0000-0000-0000-000000000000}"/>
          </ac:spMkLst>
        </pc:spChg>
      </pc:sldChg>
      <pc:sldChg chg="modSp mod">
        <pc:chgData name="Jeff F" userId="f003630136abceb0" providerId="LiveId" clId="{97EA8DAB-F963-4D22-AE0F-B085A6DE53BB}" dt="2023-05-23T21:27:57.395" v="229" actId="14100"/>
        <pc:sldMkLst>
          <pc:docMk/>
          <pc:sldMk cId="283616676" sldId="382"/>
        </pc:sldMkLst>
        <pc:spChg chg="mod">
          <ac:chgData name="Jeff F" userId="f003630136abceb0" providerId="LiveId" clId="{97EA8DAB-F963-4D22-AE0F-B085A6DE53BB}" dt="2023-05-23T21:17:32.085" v="15" actId="20577"/>
          <ac:spMkLst>
            <pc:docMk/>
            <pc:sldMk cId="283616676" sldId="382"/>
            <ac:spMk id="23" creationId="{00000000-0000-0000-0000-000000000000}"/>
          </ac:spMkLst>
        </pc:spChg>
        <pc:spChg chg="mod">
          <ac:chgData name="Jeff F" userId="f003630136abceb0" providerId="LiveId" clId="{97EA8DAB-F963-4D22-AE0F-B085A6DE53BB}" dt="2023-05-23T21:27:57.395" v="229" actId="14100"/>
          <ac:spMkLst>
            <pc:docMk/>
            <pc:sldMk cId="283616676" sldId="382"/>
            <ac:spMk id="25" creationId="{00000000-0000-0000-0000-000000000000}"/>
          </ac:spMkLst>
        </pc:spChg>
      </pc:sldChg>
      <pc:sldChg chg="delSp modSp mod">
        <pc:chgData name="Jeff F" userId="f003630136abceb0" providerId="LiveId" clId="{97EA8DAB-F963-4D22-AE0F-B085A6DE53BB}" dt="2023-05-23T21:29:57.578" v="234" actId="478"/>
        <pc:sldMkLst>
          <pc:docMk/>
          <pc:sldMk cId="651254254" sldId="391"/>
        </pc:sldMkLst>
        <pc:spChg chg="del mod">
          <ac:chgData name="Jeff F" userId="f003630136abceb0" providerId="LiveId" clId="{97EA8DAB-F963-4D22-AE0F-B085A6DE53BB}" dt="2023-05-23T21:29:57.578" v="234" actId="478"/>
          <ac:spMkLst>
            <pc:docMk/>
            <pc:sldMk cId="651254254" sldId="391"/>
            <ac:spMk id="20" creationId="{00000000-0000-0000-0000-000000000000}"/>
          </ac:spMkLst>
        </pc:spChg>
      </pc:sldChg>
      <pc:sldChg chg="addSp delSp modSp add mod ord">
        <pc:chgData name="Jeff F" userId="f003630136abceb0" providerId="LiveId" clId="{97EA8DAB-F963-4D22-AE0F-B085A6DE53BB}" dt="2023-05-23T21:26:45.946" v="226" actId="20577"/>
        <pc:sldMkLst>
          <pc:docMk/>
          <pc:sldMk cId="700921165" sldId="404"/>
        </pc:sldMkLst>
        <pc:spChg chg="mod">
          <ac:chgData name="Jeff F" userId="f003630136abceb0" providerId="LiveId" clId="{97EA8DAB-F963-4D22-AE0F-B085A6DE53BB}" dt="2023-05-23T21:26:45.946" v="226" actId="20577"/>
          <ac:spMkLst>
            <pc:docMk/>
            <pc:sldMk cId="700921165" sldId="404"/>
            <ac:spMk id="6" creationId="{00000000-0000-0000-0000-000000000000}"/>
          </ac:spMkLst>
        </pc:spChg>
        <pc:spChg chg="mod">
          <ac:chgData name="Jeff F" userId="f003630136abceb0" providerId="LiveId" clId="{97EA8DAB-F963-4D22-AE0F-B085A6DE53BB}" dt="2023-05-23T21:26:15.356" v="217" actId="20577"/>
          <ac:spMkLst>
            <pc:docMk/>
            <pc:sldMk cId="700921165" sldId="404"/>
            <ac:spMk id="7" creationId="{00000000-0000-0000-0000-000000000000}"/>
          </ac:spMkLst>
        </pc:spChg>
        <pc:picChg chg="add mod">
          <ac:chgData name="Jeff F" userId="f003630136abceb0" providerId="LiveId" clId="{97EA8DAB-F963-4D22-AE0F-B085A6DE53BB}" dt="2023-05-23T21:25:49.297" v="163" actId="1076"/>
          <ac:picMkLst>
            <pc:docMk/>
            <pc:sldMk cId="700921165" sldId="404"/>
            <ac:picMk id="3" creationId="{9A988F24-72A9-D4BC-BE31-DC6C31B9708E}"/>
          </ac:picMkLst>
        </pc:picChg>
        <pc:picChg chg="del">
          <ac:chgData name="Jeff F" userId="f003630136abceb0" providerId="LiveId" clId="{97EA8DAB-F963-4D22-AE0F-B085A6DE53BB}" dt="2023-05-23T21:25:43.743" v="160" actId="478"/>
          <ac:picMkLst>
            <pc:docMk/>
            <pc:sldMk cId="700921165" sldId="404"/>
            <ac:picMk id="5123" creationId="{00000000-0000-0000-0000-000000000000}"/>
          </ac:picMkLst>
        </pc:picChg>
      </pc:sldChg>
      <pc:sldChg chg="modSp add del mod">
        <pc:chgData name="Jeff F" userId="f003630136abceb0" providerId="LiveId" clId="{97EA8DAB-F963-4D22-AE0F-B085A6DE53BB}" dt="2023-05-23T21:24:54.781" v="98" actId="2696"/>
        <pc:sldMkLst>
          <pc:docMk/>
          <pc:sldMk cId="3490099942" sldId="404"/>
        </pc:sldMkLst>
        <pc:spChg chg="mod">
          <ac:chgData name="Jeff F" userId="f003630136abceb0" providerId="LiveId" clId="{97EA8DAB-F963-4D22-AE0F-B085A6DE53BB}" dt="2023-05-23T21:17:42.075" v="17" actId="20577"/>
          <ac:spMkLst>
            <pc:docMk/>
            <pc:sldMk cId="3490099942" sldId="404"/>
            <ac:spMk id="23" creationId="{00000000-0000-0000-0000-000000000000}"/>
          </ac:spMkLst>
        </pc:spChg>
        <pc:spChg chg="mod">
          <ac:chgData name="Jeff F" userId="f003630136abceb0" providerId="LiveId" clId="{97EA8DAB-F963-4D22-AE0F-B085A6DE53BB}" dt="2023-05-23T21:18:25.208" v="97" actId="20577"/>
          <ac:spMkLst>
            <pc:docMk/>
            <pc:sldMk cId="3490099942" sldId="404"/>
            <ac:spMk id="25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360" units="cm"/>
          <inkml:channel name="Y" type="integer" max="1200" units="cm"/>
        </inkml:traceFormat>
        <inkml:channelProperties>
          <inkml:channelProperty channel="X" name="resolution" value="66.14173" units="1/cm"/>
          <inkml:channelProperty channel="Y" name="resolution" value="37.73585" units="1/cm"/>
        </inkml:channelProperties>
      </inkml:inkSource>
      <inkml:timestamp xml:id="ts0" timeString="2014-03-18T13:31:40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19532 15772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99F2A-407A-4F07-855F-407DA6D2D96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F0AEB-4D2C-4C83-8320-F4AE318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4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6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</a:t>
            </a:r>
            <a:r>
              <a:rPr lang="en-US" baseline="0" dirty="0"/>
              <a:t>last name is pronounced “foo-SHAY,” though I respond to a number of pronunciations.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03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Servers</a:t>
            </a:r>
            <a:r>
              <a:rPr lang="en-US" baseline="0" dirty="0"/>
              <a:t> have a primary and secondary contact. At most one person can be a given contact.</a:t>
            </a:r>
          </a:p>
          <a:p>
            <a:endParaRPr lang="en-US" baseline="0" dirty="0"/>
          </a:p>
          <a:p>
            <a:r>
              <a:rPr lang="en-US" dirty="0"/>
              <a:t>I am part-owner of a server named LOUSISWPS130, and this needs to be documented as data inside some database.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3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Alright,</a:t>
            </a:r>
            <a:r>
              <a:rPr lang="en-US" baseline="0" dirty="0"/>
              <a:t> so there it is… but is that the only way to store this?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25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If I were to add a new contact/contact-type, I would append a row to the left-hand dataset, or add a column to the right-hand dataset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08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real world does not conform to the same standards on storing data.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</a:t>
            </a:r>
            <a:r>
              <a:rPr lang="en-US" baseline="0" dirty="0"/>
              <a:t> may need to be transformed to meet disparate business requirements, or to summarize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07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look at taking vertical data and turn it horizontal. </a:t>
            </a:r>
          </a:p>
          <a:p>
            <a:r>
              <a:rPr lang="en-US" dirty="0"/>
              <a:t>This could be accomplished using</a:t>
            </a:r>
            <a:r>
              <a:rPr lang="en-US" baseline="0" dirty="0"/>
              <a:t> </a:t>
            </a:r>
            <a:r>
              <a:rPr lang="en-US" dirty="0"/>
              <a:t>FULL OUTER JOINs</a:t>
            </a:r>
          </a:p>
          <a:p>
            <a:r>
              <a:rPr lang="en-US" baseline="0" dirty="0"/>
              <a:t>For each unique value in the </a:t>
            </a:r>
            <a:r>
              <a:rPr lang="en-US" baseline="0" dirty="0" err="1"/>
              <a:t>PropertyName</a:t>
            </a:r>
            <a:r>
              <a:rPr lang="en-US" baseline="0" dirty="0"/>
              <a:t> column, a new FULL OUTER JOIN is required</a:t>
            </a:r>
          </a:p>
          <a:p>
            <a:r>
              <a:rPr lang="en-US" baseline="0" dirty="0"/>
              <a:t>This is fine for a small number of columns…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13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But what about when new requirements are added?</a:t>
            </a:r>
          </a:p>
          <a:p>
            <a:r>
              <a:rPr lang="en-US" baseline="0" dirty="0"/>
              <a:t>The code gets pretty unreadable.</a:t>
            </a:r>
          </a:p>
          <a:p>
            <a:r>
              <a:rPr lang="en-US" baseline="0" dirty="0"/>
              <a:t>There must be </a:t>
            </a:r>
            <a:r>
              <a:rPr lang="en-US" baseline="0"/>
              <a:t>an easier way!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13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 told you that Microsoft has already provided a way</a:t>
            </a:r>
            <a:r>
              <a:rPr lang="en-US" baseline="0" dirty="0"/>
              <a:t> to make this easier?</a:t>
            </a:r>
          </a:p>
          <a:p>
            <a:r>
              <a:rPr lang="en-US" baseline="0" dirty="0"/>
              <a:t>And thankfully, there is no additional product you have to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33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pivot is a theoretical</a:t>
            </a:r>
            <a:r>
              <a:rPr lang="en-US" baseline="0" dirty="0"/>
              <a:t> point or set of points that stay stationary while something rotates or spins about it.</a:t>
            </a:r>
          </a:p>
          <a:p>
            <a:r>
              <a:rPr lang="en-US" baseline="0" dirty="0"/>
              <a:t>Some example motions are a see-saw, a door hinge, or my favorite example…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example</a:t>
            </a:r>
            <a:r>
              <a:rPr lang="en-US" baseline="0" dirty="0"/>
              <a:t> of the wrench turning a bolt will be used for demonstrative purposes against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01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</a:t>
            </a:r>
            <a:r>
              <a:rPr lang="en-US" baseline="0" dirty="0"/>
              <a:t> </a:t>
            </a:r>
            <a:r>
              <a:rPr lang="en-US" dirty="0"/>
              <a:t>oversimplified demonstration, what if I could</a:t>
            </a:r>
            <a:r>
              <a:rPr lang="en-US" baseline="0" dirty="0"/>
              <a:t> take a wrench and rotate that data?</a:t>
            </a:r>
          </a:p>
          <a:p>
            <a:r>
              <a:rPr lang="en-US" baseline="0" dirty="0"/>
              <a:t>Look how we get more columns, and less “data”.</a:t>
            </a:r>
          </a:p>
          <a:p>
            <a:r>
              <a:rPr lang="en-US" baseline="0" dirty="0"/>
              <a:t>This is not quite the result, but the rotation will be helpful to explain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37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We’ll depict the PIVOT as a clockwise function to further describe this passage.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 every dataset, there is a box that represents neither a row header nor a column header… but it borders both columns and data.</a:t>
            </a:r>
          </a:p>
          <a:p>
            <a:r>
              <a:rPr lang="en-US" dirty="0"/>
              <a:t>Any data that will become a column</a:t>
            </a:r>
            <a:r>
              <a:rPr lang="en-US" baseline="0" dirty="0"/>
              <a:t> header has to pass </a:t>
            </a:r>
            <a:r>
              <a:rPr lang="en-US" dirty="0"/>
              <a:t>though</a:t>
            </a:r>
            <a:r>
              <a:rPr lang="en-US" baseline="0" dirty="0"/>
              <a:t> the </a:t>
            </a:r>
            <a:r>
              <a:rPr lang="en-US" dirty="0"/>
              <a:t>“magic square” to transcend functionality.</a:t>
            </a:r>
            <a:endParaRPr lang="en-US" baseline="0" dirty="0"/>
          </a:p>
          <a:p>
            <a:r>
              <a:rPr lang="en-US" baseline="0" dirty="0"/>
              <a:t>Coincidentally, the letter “P” is generally written using a clockwise circle.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58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some basic</a:t>
            </a:r>
            <a:r>
              <a:rPr lang="en-US" baseline="0" dirty="0"/>
              <a:t> arbitrary data.</a:t>
            </a:r>
          </a:p>
          <a:p>
            <a:endParaRPr lang="en-US" baseline="0" dirty="0"/>
          </a:p>
          <a:p>
            <a:r>
              <a:rPr lang="en-US" dirty="0"/>
              <a:t>The</a:t>
            </a:r>
            <a:r>
              <a:rPr lang="en-US" baseline="0" dirty="0"/>
              <a:t> PIVOT operator takes the data and turns it clockwise, causing data to promote to the column headers. The original column headers are removed.</a:t>
            </a:r>
          </a:p>
          <a:p>
            <a:r>
              <a:rPr lang="en-US" baseline="0" dirty="0"/>
              <a:t>However, the rotated dataset is invalid because it uses repeating column headers.</a:t>
            </a:r>
          </a:p>
          <a:p>
            <a:r>
              <a:rPr lang="en-US" baseline="0" dirty="0"/>
              <a:t>To solve this, the data is temporarily condensed into “holding tanks” by column. </a:t>
            </a:r>
          </a:p>
          <a:p>
            <a:r>
              <a:rPr lang="en-US" baseline="0" dirty="0"/>
              <a:t>But what is ultimately presented back to the client?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84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must use</a:t>
            </a:r>
            <a:r>
              <a:rPr lang="en-US" baseline="0" dirty="0"/>
              <a:t> an aggregate function, even if you have one value to aggregate.</a:t>
            </a:r>
          </a:p>
          <a:p>
            <a:r>
              <a:rPr lang="en-US" baseline="0" dirty="0"/>
              <a:t>Make sure your alphanumeric data is scrubbed before applying aggregates upon it.</a:t>
            </a:r>
          </a:p>
          <a:p>
            <a:r>
              <a:rPr lang="en-US" baseline="0" dirty="0"/>
              <a:t>Min/Max are usually not adequate aggregates for </a:t>
            </a:r>
            <a:r>
              <a:rPr lang="en-US" baseline="0" dirty="0" err="1"/>
              <a:t>alphanumerics</a:t>
            </a:r>
            <a:r>
              <a:rPr lang="en-US" baseline="0" dirty="0"/>
              <a:t>, e.g. a list of names, so make ensure you don’t have multiple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78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syntax is the</a:t>
            </a:r>
            <a:r>
              <a:rPr lang="en-US" baseline="0" dirty="0"/>
              <a:t> main part of understanding the PIVOT statement.</a:t>
            </a:r>
            <a:endParaRPr lang="en-US" dirty="0"/>
          </a:p>
          <a:p>
            <a:r>
              <a:rPr lang="en-US" dirty="0"/>
              <a:t>Cannot stress this enough:</a:t>
            </a:r>
            <a:r>
              <a:rPr lang="en-US" baseline="0" dirty="0"/>
              <a:t> B</a:t>
            </a:r>
            <a:r>
              <a:rPr lang="en-US" dirty="0"/>
              <a:t>ecause values are aggregated, you get one and only one resulting value.</a:t>
            </a:r>
          </a:p>
          <a:p>
            <a:r>
              <a:rPr lang="en-US" dirty="0"/>
              <a:t>You cannot result with the raw array or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1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both the PIVOT and GROUP BY clauses</a:t>
            </a:r>
            <a:r>
              <a:rPr lang="en-US" baseline="0" dirty="0"/>
              <a:t> aggregate results, they do not share the same output structure, nor the same execution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51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</a:t>
            </a:r>
            <a:r>
              <a:rPr lang="en-US" baseline="0" dirty="0"/>
              <a:t> calls them “pivoted columns,” but I will use “Values-Turned-Columns”</a:t>
            </a:r>
            <a:endParaRPr lang="en-US" dirty="0"/>
          </a:p>
          <a:p>
            <a:r>
              <a:rPr lang="en-US" dirty="0"/>
              <a:t>The </a:t>
            </a:r>
            <a:r>
              <a:rPr lang="en-US" baseline="0" dirty="0"/>
              <a:t>glossary term “VTC” will be used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28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37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 “</a:t>
            </a:r>
            <a:r>
              <a:rPr lang="en-US" dirty="0" err="1"/>
              <a:t>RawData</a:t>
            </a:r>
            <a:r>
              <a:rPr lang="en-US" dirty="0"/>
              <a:t>” and “</a:t>
            </a:r>
            <a:r>
              <a:rPr lang="en-US" dirty="0" err="1"/>
              <a:t>PivotResults</a:t>
            </a:r>
            <a:r>
              <a:rPr lang="en-US" dirty="0"/>
              <a:t>”</a:t>
            </a:r>
            <a:r>
              <a:rPr lang="en-US" baseline="0" dirty="0"/>
              <a:t> to identify my predicates easily, but you can use any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96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select the correct predicate.</a:t>
            </a:r>
          </a:p>
          <a:p>
            <a:r>
              <a:rPr lang="en-US" dirty="0"/>
              <a:t>Congrats,</a:t>
            </a:r>
            <a:r>
              <a:rPr lang="en-US" baseline="0" dirty="0"/>
              <a:t> y</a:t>
            </a:r>
            <a:r>
              <a:rPr lang="en-US" dirty="0"/>
              <a:t>ou have transformed</a:t>
            </a:r>
            <a:r>
              <a:rPr lang="en-US" baseline="0" dirty="0"/>
              <a:t> the dataset provided by “</a:t>
            </a:r>
            <a:r>
              <a:rPr lang="en-US" baseline="0" dirty="0" err="1"/>
              <a:t>RawData</a:t>
            </a:r>
            <a:r>
              <a:rPr lang="en-US" baseline="0" dirty="0"/>
              <a:t>” into a new dataset named “</a:t>
            </a:r>
            <a:r>
              <a:rPr lang="en-US" baseline="0" dirty="0" err="1"/>
              <a:t>PivotResults</a:t>
            </a:r>
            <a:r>
              <a:rPr lang="en-US" baseline="0" dirty="0"/>
              <a:t>.”</a:t>
            </a:r>
          </a:p>
          <a:p>
            <a:r>
              <a:rPr lang="en-US" baseline="0" dirty="0"/>
              <a:t>You cannot explicitly request any columns from </a:t>
            </a:r>
            <a:r>
              <a:rPr lang="en-US" baseline="0" dirty="0" err="1"/>
              <a:t>RawData</a:t>
            </a:r>
            <a:r>
              <a:rPr lang="en-US" baseline="0" dirty="0"/>
              <a:t> into the SELECT predicate.</a:t>
            </a:r>
          </a:p>
          <a:p>
            <a:r>
              <a:rPr lang="en-US" baseline="0" dirty="0"/>
              <a:t>You don’t have to qualify the * with “</a:t>
            </a:r>
            <a:r>
              <a:rPr lang="en-US" baseline="0" dirty="0" err="1"/>
              <a:t>PivotResults</a:t>
            </a:r>
            <a:r>
              <a:rPr lang="en-US" baseline="0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398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</a:t>
            </a:r>
            <a:r>
              <a:rPr lang="en-US" baseline="0" dirty="0"/>
              <a:t> back to our original example, which is a 3-column PIVOT</a:t>
            </a:r>
          </a:p>
          <a:p>
            <a:r>
              <a:rPr lang="en-US" baseline="0" dirty="0"/>
              <a:t>As long as I’m guaranteed one value per contact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86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Essentially, you’ll be</a:t>
            </a:r>
            <a:r>
              <a:rPr lang="en-US" baseline="0" dirty="0"/>
              <a:t> constructing the PIVOT’s IN-clause.</a:t>
            </a:r>
            <a:endParaRPr lang="en-US" dirty="0"/>
          </a:p>
          <a:p>
            <a:r>
              <a:rPr lang="en-US" dirty="0"/>
              <a:t>You want to order the columns into a logical order, and only look for unique data</a:t>
            </a:r>
          </a:p>
          <a:p>
            <a:r>
              <a:rPr lang="en-US" dirty="0"/>
              <a:t>Pay attention to cursor options “local” and “</a:t>
            </a:r>
            <a:r>
              <a:rPr lang="en-US" dirty="0" err="1"/>
              <a:t>fast_forward</a:t>
            </a:r>
            <a:r>
              <a:rPr lang="en-US" dirty="0"/>
              <a:t>” for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23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don’t have to use a cursor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238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Essentially, you’ll be</a:t>
            </a:r>
            <a:r>
              <a:rPr lang="en-US" baseline="0" dirty="0"/>
              <a:t> constructing the PIVOT’s IN-clause.</a:t>
            </a:r>
            <a:endParaRPr lang="en-US" dirty="0"/>
          </a:p>
          <a:p>
            <a:r>
              <a:rPr lang="en-US" dirty="0"/>
              <a:t>You want to order the columns into a logical order, and only look for unique data</a:t>
            </a:r>
          </a:p>
          <a:p>
            <a:endParaRPr lang="en-US" dirty="0"/>
          </a:p>
          <a:p>
            <a:r>
              <a:rPr lang="en-US" dirty="0"/>
              <a:t>Many thanks to</a:t>
            </a:r>
            <a:r>
              <a:rPr lang="en-US" baseline="0" dirty="0"/>
              <a:t> MSDN forums for the XML conversion technique:</a:t>
            </a:r>
          </a:p>
          <a:p>
            <a:r>
              <a:rPr lang="en-US" dirty="0"/>
              <a:t>http://social.msdn.microsoft.com/Forums/sqlserver/en-US/2ab88114-be39-40f7-bed0-99d30b6fbc43/set-variable-to-distinct-array-returned-by-for-xml?forum=transactsql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238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</a:t>
            </a:r>
            <a:r>
              <a:rPr lang="en-US" baseline="0" dirty="0"/>
              <a:t>d explanation of the PIVOT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01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could I take horizontal</a:t>
            </a:r>
            <a:r>
              <a:rPr lang="en-US" baseline="0" dirty="0"/>
              <a:t> data and change it to vertical data?</a:t>
            </a:r>
          </a:p>
          <a:p>
            <a:r>
              <a:rPr lang="en-US" baseline="0" dirty="0"/>
              <a:t>Note that the data is going in the reverse direction.</a:t>
            </a:r>
          </a:p>
          <a:p>
            <a:r>
              <a:rPr lang="en-US" baseline="0" dirty="0"/>
              <a:t>One idea would be the UNION ALL statement.</a:t>
            </a:r>
          </a:p>
          <a:p>
            <a:r>
              <a:rPr lang="en-US" baseline="0" dirty="0"/>
              <a:t>Notice for each column on the right-hand dataset, I need another UNION ALL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215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</a:t>
            </a:r>
            <a:r>
              <a:rPr lang="en-US" baseline="0" dirty="0"/>
              <a:t> </a:t>
            </a:r>
            <a:r>
              <a:rPr lang="en-US" dirty="0"/>
              <a:t>oversimplified demonstration, what if I could</a:t>
            </a:r>
            <a:r>
              <a:rPr lang="en-US" baseline="0" dirty="0"/>
              <a:t> take a wrench and rotate that data?</a:t>
            </a:r>
          </a:p>
          <a:p>
            <a:r>
              <a:rPr lang="en-US" baseline="0" dirty="0"/>
              <a:t>Look how we get more columns, and less “data”.</a:t>
            </a:r>
          </a:p>
          <a:p>
            <a:r>
              <a:rPr lang="en-US" baseline="0" dirty="0"/>
              <a:t>This is not quite the result, but the rotation will be helpful to explain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825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column</a:t>
            </a:r>
            <a:r>
              <a:rPr lang="en-US" baseline="0" dirty="0"/>
              <a:t> headers to transcend to data elements, they need to move counter-clockwise though the magic square.</a:t>
            </a:r>
          </a:p>
          <a:p>
            <a:r>
              <a:rPr lang="en-US" baseline="0" dirty="0"/>
              <a:t>The curve of the letter “U” is written counter-clockwise as well (reminds you which operation to use based on rotation).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919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say Col1, Col2, and Col3 are </a:t>
            </a:r>
            <a:r>
              <a:rPr lang="en-US" dirty="0" err="1"/>
              <a:t>tinyints</a:t>
            </a:r>
            <a:r>
              <a:rPr lang="en-US" dirty="0"/>
              <a:t>,</a:t>
            </a:r>
            <a:r>
              <a:rPr lang="en-US" baseline="0" dirty="0"/>
              <a:t> and Col4 is a one-letter string.</a:t>
            </a:r>
          </a:p>
          <a:p>
            <a:r>
              <a:rPr lang="en-US" baseline="0" dirty="0"/>
              <a:t>After the animation, what </a:t>
            </a:r>
            <a:r>
              <a:rPr lang="en-US" baseline="0" dirty="0" err="1"/>
              <a:t>datatype</a:t>
            </a:r>
            <a:r>
              <a:rPr lang="en-US" baseline="0" dirty="0"/>
              <a:t> would satisfy the merged values?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073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important..</a:t>
            </a:r>
            <a:endParaRPr lang="en-US" baseline="0" dirty="0"/>
          </a:p>
          <a:p>
            <a:r>
              <a:rPr lang="en-US" baseline="0" dirty="0"/>
              <a:t>Balance your current/future needs such that your common </a:t>
            </a:r>
            <a:r>
              <a:rPr lang="en-US" baseline="0" dirty="0" err="1"/>
              <a:t>datatype</a:t>
            </a:r>
            <a:r>
              <a:rPr lang="en-US" baseline="0" dirty="0"/>
              <a:t> continues to work, yet doesn’t bloat </a:t>
            </a:r>
            <a:r>
              <a:rPr lang="en-US" baseline="0" dirty="0" err="1"/>
              <a:t>tempdb</a:t>
            </a:r>
            <a:r>
              <a:rPr lang="en-US" baseline="0" dirty="0"/>
              <a:t> with unnecessary sizes.</a:t>
            </a:r>
          </a:p>
          <a:p>
            <a:r>
              <a:rPr lang="en-US" baseline="0" dirty="0"/>
              <a:t>Consider the theoretical minimums/maximums of the combined </a:t>
            </a:r>
            <a:r>
              <a:rPr lang="en-US" baseline="0" dirty="0" err="1"/>
              <a:t>datatypes</a:t>
            </a:r>
            <a:r>
              <a:rPr lang="en-US" baseline="0" dirty="0"/>
              <a:t>. </a:t>
            </a:r>
          </a:p>
          <a:p>
            <a:r>
              <a:rPr lang="en-US" baseline="0" dirty="0"/>
              <a:t>(A </a:t>
            </a:r>
            <a:r>
              <a:rPr lang="en-US" baseline="0" dirty="0" err="1"/>
              <a:t>bigint</a:t>
            </a:r>
            <a:r>
              <a:rPr lang="en-US" baseline="0" dirty="0"/>
              <a:t> could have a value of </a:t>
            </a:r>
            <a:r>
              <a:rPr lang="en-US" dirty="0">
                <a:effectLst/>
              </a:rPr>
              <a:t>9 quintillion which is 19 characters</a:t>
            </a:r>
            <a:r>
              <a:rPr lang="en-US" baseline="0" dirty="0">
                <a:effectLst/>
              </a:rPr>
              <a:t> long when typed out. Add one more character for the negative sign.)</a:t>
            </a:r>
          </a:p>
          <a:p>
            <a:r>
              <a:rPr lang="en-US" baseline="0" dirty="0">
                <a:effectLst/>
              </a:rPr>
              <a:t>But if you’re not using extremes in your data (</a:t>
            </a:r>
            <a:r>
              <a:rPr lang="en-US" baseline="0" dirty="0" err="1">
                <a:effectLst/>
              </a:rPr>
              <a:t>datatype</a:t>
            </a:r>
            <a:r>
              <a:rPr lang="en-US" baseline="0" dirty="0">
                <a:effectLst/>
              </a:rPr>
              <a:t> maximums/minimums/lengths), could you go even smaller?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841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</a:t>
            </a:r>
            <a:r>
              <a:rPr lang="en-US" baseline="0" dirty="0"/>
              <a:t> new {</a:t>
            </a:r>
            <a:r>
              <a:rPr lang="en-US" baseline="0" dirty="0" err="1"/>
              <a:t>ColName</a:t>
            </a:r>
            <a:r>
              <a:rPr lang="en-US" baseline="0" dirty="0"/>
              <a:t>} and {Value} columns could be as simple as ‘</a:t>
            </a:r>
            <a:r>
              <a:rPr lang="en-US" baseline="0" dirty="0" err="1"/>
              <a:t>PropertyName</a:t>
            </a:r>
            <a:r>
              <a:rPr lang="en-US" baseline="0" dirty="0"/>
              <a:t>’ and ‘</a:t>
            </a:r>
            <a:r>
              <a:rPr lang="en-US" baseline="0" dirty="0" err="1"/>
              <a:t>PropertyValue</a:t>
            </a:r>
            <a:r>
              <a:rPr lang="en-US" baseline="0" dirty="0"/>
              <a:t>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78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my original dataset… oh</a:t>
            </a:r>
            <a:r>
              <a:rPr lang="en-US" baseline="0" dirty="0"/>
              <a:t> yeah, but these datatypes clash. </a:t>
            </a:r>
          </a:p>
          <a:p>
            <a:r>
              <a:rPr lang="en-US" baseline="0" dirty="0"/>
              <a:t>What datatype do I need such that </a:t>
            </a:r>
            <a:r>
              <a:rPr lang="en-US" baseline="0" dirty="0" err="1"/>
              <a:t>tinyints</a:t>
            </a:r>
            <a:r>
              <a:rPr lang="en-US" baseline="0" dirty="0"/>
              <a:t> and char(1) can get along?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166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knowing</a:t>
            </a:r>
            <a:r>
              <a:rPr lang="en-US" baseline="0" dirty="0"/>
              <a:t> the range of used values of the </a:t>
            </a:r>
            <a:r>
              <a:rPr lang="en-US" baseline="0" dirty="0" err="1"/>
              <a:t>tinyint</a:t>
            </a:r>
            <a:r>
              <a:rPr lang="en-US" baseline="0" dirty="0"/>
              <a:t> column, I might be able to get away with a char(2) or char(1).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300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predicates</a:t>
            </a:r>
            <a:r>
              <a:rPr lang="en-US" baseline="0" dirty="0"/>
              <a:t> must be named with something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041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 have to preface the star</a:t>
            </a:r>
            <a:r>
              <a:rPr lang="en-US" baseline="0" dirty="0"/>
              <a:t> with </a:t>
            </a:r>
            <a:r>
              <a:rPr lang="en-US" baseline="0" dirty="0" err="1"/>
              <a:t>UnpivotResults</a:t>
            </a:r>
            <a:r>
              <a:rPr lang="en-US" baseline="0" dirty="0"/>
              <a:t>?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607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look at the demo, we’ll find the “{Circle, Col3, NULL}” and “{Triangle, Col2, NULL}” records do not transfer</a:t>
            </a:r>
            <a:r>
              <a:rPr lang="en-US" baseline="0" dirty="0"/>
              <a:t> to the </a:t>
            </a:r>
            <a:r>
              <a:rPr lang="en-US" baseline="0" dirty="0" err="1"/>
              <a:t>UnpivotResults</a:t>
            </a:r>
            <a:r>
              <a:rPr lang="en-US" baseline="0" dirty="0"/>
              <a:t> </a:t>
            </a:r>
            <a:r>
              <a:rPr lang="en-US" baseline="0" dirty="0" err="1"/>
              <a:t>recordset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You can force these records into the </a:t>
            </a:r>
            <a:r>
              <a:rPr lang="en-US" baseline="0" dirty="0" err="1"/>
              <a:t>resultset</a:t>
            </a:r>
            <a:r>
              <a:rPr lang="en-US" baseline="0" dirty="0"/>
              <a:t> by using the </a:t>
            </a:r>
            <a:r>
              <a:rPr lang="en-US" b="1" baseline="0" dirty="0" err="1"/>
              <a:t>IsNull</a:t>
            </a:r>
            <a:r>
              <a:rPr lang="en-US" baseline="0" dirty="0"/>
              <a:t> function to display some alternate text.</a:t>
            </a:r>
          </a:p>
          <a:p>
            <a:r>
              <a:rPr lang="en-US" baseline="0" dirty="0"/>
              <a:t>However, your alternate text will also be bound by the lowest common denominator rule from 6 slides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461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0742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Based on the </a:t>
            </a:r>
            <a:r>
              <a:rPr lang="en-US" baseline="0" dirty="0"/>
              <a:t>potential number of columns to </a:t>
            </a:r>
            <a:r>
              <a:rPr lang="en-US" baseline="0" dirty="0" err="1"/>
              <a:t>unpivot</a:t>
            </a:r>
            <a:r>
              <a:rPr lang="en-US" baseline="0" dirty="0"/>
              <a:t>, and the </a:t>
            </a:r>
            <a:r>
              <a:rPr lang="en-US" dirty="0"/>
              <a:t>trickiness</a:t>
            </a:r>
            <a:r>
              <a:rPr lang="en-US" baseline="0" dirty="0"/>
              <a:t> of calculating combined </a:t>
            </a:r>
            <a:r>
              <a:rPr lang="en-US" baseline="0" dirty="0" err="1"/>
              <a:t>datatypes</a:t>
            </a:r>
            <a:r>
              <a:rPr lang="en-US" baseline="0" dirty="0"/>
              <a:t>, no slide-deck presentation would do it justice.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691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both the UNPIVOT and CROSS</a:t>
            </a:r>
            <a:r>
              <a:rPr lang="en-US" baseline="0" dirty="0"/>
              <a:t> APPLY force disparate values into one column, they do not share the same output structure.</a:t>
            </a:r>
          </a:p>
          <a:p>
            <a:r>
              <a:rPr lang="en-US" baseline="0" dirty="0"/>
              <a:t>Note how the columns are presented backwards between them?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782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0742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dataset-based</a:t>
            </a:r>
            <a:r>
              <a:rPr lang="en-US" baseline="0" dirty="0"/>
              <a:t> keyword, not a string-manipulation keyword.</a:t>
            </a:r>
          </a:p>
          <a:p>
            <a:r>
              <a:rPr lang="en-US" dirty="0"/>
              <a:t>Therefore, you use the </a:t>
            </a:r>
            <a:r>
              <a:rPr lang="en-US" sz="12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STRING_SPLIT keyword</a:t>
            </a:r>
            <a:r>
              <a:rPr lang="en-US" sz="1200" baseline="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inside </a:t>
            </a:r>
            <a:r>
              <a:rPr lang="en-US"/>
              <a:t>the FROM-clause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254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3215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a dataset has been pivoted/</a:t>
            </a:r>
            <a:r>
              <a:rPr lang="en-US" dirty="0" err="1"/>
              <a:t>unpivoted</a:t>
            </a:r>
            <a:r>
              <a:rPr lang="en-US" dirty="0"/>
              <a:t>, it can be pivoted/</a:t>
            </a:r>
            <a:r>
              <a:rPr lang="en-US" dirty="0" err="1"/>
              <a:t>unpivoted</a:t>
            </a:r>
            <a:r>
              <a:rPr lang="en-US" dirty="0"/>
              <a:t> again…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772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884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Looks like we’re on</a:t>
            </a:r>
            <a:r>
              <a:rPr lang="en-US" baseline="0" dirty="0"/>
              <a:t> the right path…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862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 no!</a:t>
            </a:r>
            <a:r>
              <a:rPr lang="en-US" baseline="0" dirty="0"/>
              <a:t> What’s happening?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133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like</a:t>
            </a:r>
            <a:r>
              <a:rPr lang="en-US" baseline="0" dirty="0"/>
              <a:t> the UNPIVOTs are behaving like a CROSS JOIN!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077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two rows are important:</a:t>
            </a:r>
            <a:r>
              <a:rPr lang="en-US" baseline="0" dirty="0"/>
              <a:t> where the “element” data matches on the first 8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023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Thankfully,</a:t>
            </a:r>
            <a:r>
              <a:rPr lang="en-US" baseline="0" dirty="0"/>
              <a:t> since this is just a dataset… I can add a WHERE-clause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202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7348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</a:t>
            </a:r>
            <a:r>
              <a:rPr lang="en-US" baseline="0" dirty="0"/>
              <a:t> to show that the datatype of the “</a:t>
            </a:r>
            <a:r>
              <a:rPr lang="en-US" baseline="0" dirty="0" err="1"/>
              <a:t>PropertyName</a:t>
            </a:r>
            <a:r>
              <a:rPr lang="en-US" baseline="0" dirty="0"/>
              <a:t>” column – generated after an UNPIVOT – is an </a:t>
            </a:r>
            <a:r>
              <a:rPr lang="en-US" baseline="0" dirty="0" err="1"/>
              <a:t>nvarchar</a:t>
            </a:r>
            <a:r>
              <a:rPr lang="en-US" baseline="0" dirty="0"/>
              <a:t>(128).</a:t>
            </a:r>
          </a:p>
          <a:p>
            <a:r>
              <a:rPr lang="en-US" baseline="0" dirty="0"/>
              <a:t>This makes sense since column names have a limit of 128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235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to convert your </a:t>
            </a:r>
            <a:r>
              <a:rPr lang="en-US" dirty="0" err="1"/>
              <a:t>datetime</a:t>
            </a:r>
            <a:r>
              <a:rPr lang="en-US" dirty="0"/>
              <a:t> values to string for the purposes of </a:t>
            </a:r>
            <a:r>
              <a:rPr lang="en-US" dirty="0" err="1"/>
              <a:t>unpivot</a:t>
            </a:r>
            <a:r>
              <a:rPr lang="en-US" dirty="0"/>
              <a:t>,</a:t>
            </a:r>
          </a:p>
          <a:p>
            <a:r>
              <a:rPr lang="en-US" dirty="0"/>
              <a:t>you may want to use the </a:t>
            </a:r>
            <a:r>
              <a:rPr lang="en-US" b="1" dirty="0"/>
              <a:t>Convert</a:t>
            </a:r>
            <a:r>
              <a:rPr lang="en-US" dirty="0"/>
              <a:t> function’s third parameter to preserve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68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7214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has been around since SQL Server 2005.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471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</a:t>
            </a:r>
            <a:r>
              <a:rPr lang="en-US" baseline="0" dirty="0"/>
              <a:t> for reviewing my SQL Saturday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042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</a:t>
            </a:r>
            <a:r>
              <a:rPr lang="en-US" baseline="0" dirty="0"/>
              <a:t> for reviewing my SQL Saturday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F0AEB-4D2C-4C83-8320-F4AE3189DC8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58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4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3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6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43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9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1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9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8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91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547"/>
            <a:ext cx="9143999" cy="67586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408" y="516685"/>
            <a:ext cx="8203153" cy="1470025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08" y="1907341"/>
            <a:ext cx="7925349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197614"/>
            <a:ext cx="773079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white">
                    <a:lumMod val="75000"/>
                  </a:prstClr>
                </a:solidFill>
              </a:rPr>
              <a:t>6/21/2014  |</a:t>
            </a:r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50847" y="6197614"/>
            <a:ext cx="2895600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white">
                    <a:lumMod val="75000"/>
                  </a:prstClr>
                </a:solidFill>
              </a:rPr>
              <a:t>Footer Goes Here</a:t>
            </a:r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9" name="Picture 8" descr="SQLSaturday_Final_Web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317" y="5675582"/>
            <a:ext cx="1912930" cy="104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51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charset="2"/>
              <a:buChar char="§"/>
              <a:defRPr>
                <a:solidFill>
                  <a:schemeClr val="tx2"/>
                </a:solidFill>
              </a:defRPr>
            </a:lvl1pPr>
            <a:lvl2pPr marL="742950" indent="-285750">
              <a:buFont typeface="Wingdings" charset="2"/>
              <a:buChar char="§"/>
              <a:defRPr>
                <a:solidFill>
                  <a:srgbClr val="474947"/>
                </a:solidFill>
              </a:defRPr>
            </a:lvl2pPr>
            <a:lvl3pPr marL="11430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3pPr>
            <a:lvl4pPr marL="16002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4pPr>
            <a:lvl5pPr marL="20574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001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i="0" cap="all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</p:spTree>
    <p:extLst>
      <p:ext uri="{BB962C8B-B14F-4D97-AF65-F5344CB8AC3E}">
        <p14:creationId xmlns:p14="http://schemas.microsoft.com/office/powerpoint/2010/main" val="3980533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77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260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6153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</p:spTree>
    <p:extLst>
      <p:ext uri="{BB962C8B-B14F-4D97-AF65-F5344CB8AC3E}">
        <p14:creationId xmlns:p14="http://schemas.microsoft.com/office/powerpoint/2010/main" val="3863148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</p:spTree>
    <p:extLst>
      <p:ext uri="{BB962C8B-B14F-4D97-AF65-F5344CB8AC3E}">
        <p14:creationId xmlns:p14="http://schemas.microsoft.com/office/powerpoint/2010/main" val="239444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</p:spTree>
    <p:extLst>
      <p:ext uri="{BB962C8B-B14F-4D97-AF65-F5344CB8AC3E}">
        <p14:creationId xmlns:p14="http://schemas.microsoft.com/office/powerpoint/2010/main" val="2005725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6/21/2014  |</a:t>
            </a: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42B21B-2ADA-A040-A652-A7305E1B99FE}" type="datetimeFigureOut">
              <a:rPr lang="en-US" smtClean="0"/>
              <a:pPr/>
              <a:t>5/23/2023</a:t>
            </a:fld>
            <a:r>
              <a:rPr lang="en-US"/>
              <a:t>  |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809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6/21/2014  |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/>
              <a:t>  |  </a:t>
            </a:r>
          </a:p>
        </p:txBody>
      </p:sp>
    </p:spTree>
    <p:extLst>
      <p:ext uri="{BB962C8B-B14F-4D97-AF65-F5344CB8AC3E}">
        <p14:creationId xmlns:p14="http://schemas.microsoft.com/office/powerpoint/2010/main" val="242609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6/21/2014  |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2C390-4848-4C25-AF45-03DC72DF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2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728" y="6072791"/>
            <a:ext cx="9143995" cy="7951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pPr defTabSz="457200"/>
            <a:r>
              <a:rPr lang="en-US"/>
              <a:t>6/21/2014  |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pPr defTabSz="457200"/>
            <a:r>
              <a:rPr lang="en-US"/>
              <a:t>Footer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pPr defTabSz="457200"/>
            <a:fld id="{87FD5303-69AD-2E4D-B18B-E5EED0F0A60B}" type="slidenum">
              <a:rPr lang="en-US" smtClean="0"/>
              <a:pPr defTabSz="457200"/>
              <a:t>‹#›</a:t>
            </a:fld>
            <a:r>
              <a:rPr lang="en-US" dirty="0"/>
              <a:t>  |  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260044" y="122030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8" name="Picture 7" descr="SQLSaturday_Final_Web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337" y="5911456"/>
            <a:ext cx="1912930" cy="9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0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gi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gif"/><Relationship Id="rId10" Type="http://schemas.openxmlformats.org/officeDocument/2006/relationships/image" Target="../media/image11.png"/><Relationship Id="rId4" Type="http://schemas.openxmlformats.org/officeDocument/2006/relationships/image" Target="../media/image5.gif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emf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customXml" Target="../ink/ink1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microsoft.com/office/2007/relationships/hdphoto" Target="../media/hdphoto1.wdp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eg"/><Relationship Id="rId3" Type="http://schemas.openxmlformats.org/officeDocument/2006/relationships/image" Target="../media/image80.png"/><Relationship Id="rId7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png"/><Relationship Id="rId4" Type="http://schemas.openxmlformats.org/officeDocument/2006/relationships/image" Target="../media/image8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png"/><Relationship Id="rId4" Type="http://schemas.openxmlformats.org/officeDocument/2006/relationships/image" Target="../media/image85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8.png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5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bing.com/images/search?q=time+icon&amp;id=A811B78BEEF13BD74992333EF7629BC68415BE24&amp;FORM=IQFRBA" TargetMode="Externa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408" y="597500"/>
            <a:ext cx="8203153" cy="1470025"/>
          </a:xfrm>
        </p:spPr>
        <p:txBody>
          <a:bodyPr/>
          <a:lstStyle/>
          <a:p>
            <a:r>
              <a:rPr lang="en-US" dirty="0"/>
              <a:t>SQL Server PIV</a:t>
            </a:r>
            <a:r>
              <a:rPr lang="en-US" sz="4200" dirty="0"/>
              <a:t>   </a:t>
            </a:r>
            <a:r>
              <a:rPr lang="en-US" dirty="0"/>
              <a:t>T Operators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08" y="2067525"/>
            <a:ext cx="7925349" cy="1752600"/>
          </a:xfrm>
        </p:spPr>
        <p:txBody>
          <a:bodyPr/>
          <a:lstStyle/>
          <a:p>
            <a:r>
              <a:rPr lang="en-US" dirty="0"/>
              <a:t>Transforming Data Using the </a:t>
            </a:r>
          </a:p>
          <a:p>
            <a:r>
              <a:rPr lang="en-US" dirty="0"/>
              <a:t>T-SQL PIVOT/UNPIVOT operators</a:t>
            </a:r>
          </a:p>
        </p:txBody>
      </p:sp>
      <p:sp>
        <p:nvSpPr>
          <p:cNvPr id="7" name="Circular Arrow 6"/>
          <p:cNvSpPr/>
          <p:nvPr/>
        </p:nvSpPr>
        <p:spPr>
          <a:xfrm rot="14468456">
            <a:off x="4120981" y="1078179"/>
            <a:ext cx="546507" cy="551266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588939"/>
              <a:gd name="adj5" fmla="val 19282"/>
            </a:avLst>
          </a:pr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127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Who am I?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533" y="3176062"/>
            <a:ext cx="15240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733" y="1814948"/>
            <a:ext cx="152400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637" y="4500298"/>
            <a:ext cx="152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32" y="1660451"/>
            <a:ext cx="387330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42" y="2967037"/>
            <a:ext cx="8191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887" y="3019425"/>
            <a:ext cx="28575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688009" y="4648200"/>
            <a:ext cx="1866284" cy="311428"/>
            <a:chOff x="661332" y="5111645"/>
            <a:chExt cx="1866284" cy="311428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332" y="5111645"/>
              <a:ext cx="332759" cy="31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091" y="5111645"/>
              <a:ext cx="1533525" cy="295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742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Ground Rules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pivot?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Converting Vertical Data to Horizontal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PIVOT clause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2-column PIVOT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3-column PIVOT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Dynamic PIVOT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Alternative ways to pivot data</a:t>
            </a: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-column PIVOT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Converting Horizontal Data to Vertical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UNPIVOT clause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Alternative ways to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data</a:t>
            </a: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Multi-UNPIVOT</a:t>
            </a:r>
          </a:p>
        </p:txBody>
      </p:sp>
    </p:spTree>
    <p:extLst>
      <p:ext uri="{BB962C8B-B14F-4D97-AF65-F5344CB8AC3E}">
        <p14:creationId xmlns:p14="http://schemas.microsoft.com/office/powerpoint/2010/main" val="274000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Ground Rules…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PIVOT operators are T-SQL OLTP-based keywords. This presentation will not involve SQL Analysis cubes.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PIVOT is not a replacement to the GROUP BY predicate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Oracle (11g and above) has a similar concept, but will not be discussed in-depth here.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compatibility of 90+ (SQL 2005)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04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set-up…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66420"/>
            <a:ext cx="19050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73996" y="2438400"/>
            <a:ext cx="4379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Server “LOUSISWPS130”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67200" y="3124200"/>
            <a:ext cx="411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Primary Contact: Kevin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Secondary Contact: Jeff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0" y="51054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could this be represented as data?</a:t>
            </a:r>
          </a:p>
        </p:txBody>
      </p:sp>
    </p:spTree>
    <p:extLst>
      <p:ext uri="{BB962C8B-B14F-4D97-AF65-F5344CB8AC3E}">
        <p14:creationId xmlns:p14="http://schemas.microsoft.com/office/powerpoint/2010/main" val="315569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273821"/>
              </p:ext>
            </p:extLst>
          </p:nvPr>
        </p:nvGraphicFramePr>
        <p:xfrm>
          <a:off x="562693" y="1676400"/>
          <a:ext cx="3507535" cy="632187"/>
        </p:xfrm>
        <a:graphic>
          <a:graphicData uri="http://schemas.openxmlformats.org/drawingml/2006/table">
            <a:tbl>
              <a:tblPr/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15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defTabSz="914400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Same data, different perspectives… (1/2)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922084" y="3352800"/>
            <a:ext cx="7764715" cy="400608"/>
            <a:chOff x="922084" y="3352800"/>
            <a:chExt cx="7610805" cy="400608"/>
          </a:xfrm>
        </p:grpSpPr>
        <p:sp>
          <p:nvSpPr>
            <p:cNvPr id="39" name="TextBox 38"/>
            <p:cNvSpPr txBox="1"/>
            <p:nvPr/>
          </p:nvSpPr>
          <p:spPr>
            <a:xfrm>
              <a:off x="922084" y="3352800"/>
              <a:ext cx="32762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One piece of truth per line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19217" y="3353298"/>
              <a:ext cx="39136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One piece of truth per x/y position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922084" y="4741201"/>
            <a:ext cx="5067299" cy="406300"/>
            <a:chOff x="922084" y="4331092"/>
            <a:chExt cx="5067299" cy="406300"/>
          </a:xfrm>
        </p:grpSpPr>
        <p:sp>
          <p:nvSpPr>
            <p:cNvPr id="42" name="TextBox 41"/>
            <p:cNvSpPr txBox="1"/>
            <p:nvPr/>
          </p:nvSpPr>
          <p:spPr>
            <a:xfrm>
              <a:off x="922084" y="4331092"/>
              <a:ext cx="2164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Data storage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693983" y="4337282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Reporting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14400" y="3848528"/>
            <a:ext cx="6850315" cy="406300"/>
            <a:chOff x="914400" y="3848528"/>
            <a:chExt cx="6850315" cy="406300"/>
          </a:xfrm>
        </p:grpSpPr>
        <p:sp>
          <p:nvSpPr>
            <p:cNvPr id="45" name="TextBox 44"/>
            <p:cNvSpPr txBox="1"/>
            <p:nvPr/>
          </p:nvSpPr>
          <p:spPr>
            <a:xfrm>
              <a:off x="914400" y="3848528"/>
              <a:ext cx="2667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Vertical Data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686299" y="3854718"/>
              <a:ext cx="30784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Horizontal Data</a:t>
              </a:r>
            </a:p>
          </p:txBody>
        </p:sp>
      </p:grp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42081"/>
              </p:ext>
            </p:extLst>
          </p:nvPr>
        </p:nvGraphicFramePr>
        <p:xfrm>
          <a:off x="4719193" y="1676401"/>
          <a:ext cx="3739007" cy="42186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8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Primary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Secondary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010669"/>
              </p:ext>
            </p:extLst>
          </p:nvPr>
        </p:nvGraphicFramePr>
        <p:xfrm>
          <a:off x="562693" y="1676400"/>
          <a:ext cx="3507535" cy="632187"/>
        </p:xfrm>
        <a:graphic>
          <a:graphicData uri="http://schemas.openxmlformats.org/drawingml/2006/table">
            <a:tbl>
              <a:tblPr/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0" name="Group 49"/>
          <p:cNvGrpSpPr/>
          <p:nvPr/>
        </p:nvGrpSpPr>
        <p:grpSpPr>
          <a:xfrm>
            <a:off x="1371600" y="4270208"/>
            <a:ext cx="7239000" cy="307777"/>
            <a:chOff x="1371600" y="4270208"/>
            <a:chExt cx="7239000" cy="307777"/>
          </a:xfrm>
        </p:grpSpPr>
        <p:sp>
          <p:nvSpPr>
            <p:cNvPr id="51" name="TextBox 50"/>
            <p:cNvSpPr txBox="1"/>
            <p:nvPr/>
          </p:nvSpPr>
          <p:spPr>
            <a:xfrm>
              <a:off x="1371600" y="4270208"/>
              <a:ext cx="3429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- New contacts are added as rows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81600" y="4270208"/>
              <a:ext cx="3429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- New contacts are added as columns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917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Same data, different perspectives… (2/2)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14800" y="2057400"/>
            <a:ext cx="495300" cy="0"/>
          </a:xfrm>
          <a:prstGeom prst="straightConnector1">
            <a:avLst/>
          </a:prstGeom>
          <a:noFill/>
          <a:ln w="444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arrow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62000" y="2590800"/>
            <a:ext cx="77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There will be times where your data must be converted: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feed you import does not fit into your model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Data you export does not fit into the target model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Your data needs to fit in a one-page report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ETL purposes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221467"/>
              </p:ext>
            </p:extLst>
          </p:nvPr>
        </p:nvGraphicFramePr>
        <p:xfrm>
          <a:off x="4719193" y="1676401"/>
          <a:ext cx="3739007" cy="42186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8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Primary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Secondary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LOUSISWPS130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100279"/>
              </p:ext>
            </p:extLst>
          </p:nvPr>
        </p:nvGraphicFramePr>
        <p:xfrm>
          <a:off x="562693" y="1676400"/>
          <a:ext cx="3507535" cy="632187"/>
        </p:xfrm>
        <a:graphic>
          <a:graphicData uri="http://schemas.openxmlformats.org/drawingml/2006/table">
            <a:tbl>
              <a:tblPr/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14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Converting Vertical Data to Horizontal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110814" y="1501038"/>
            <a:ext cx="495300" cy="0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000016"/>
              </p:ext>
            </p:extLst>
          </p:nvPr>
        </p:nvGraphicFramePr>
        <p:xfrm>
          <a:off x="4715207" y="1120039"/>
          <a:ext cx="3739007" cy="421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83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Primary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Secondary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LOUSISWPS130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758433"/>
              </p:ext>
            </p:extLst>
          </p:nvPr>
        </p:nvGraphicFramePr>
        <p:xfrm>
          <a:off x="558707" y="1120038"/>
          <a:ext cx="3507535" cy="632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083" name="Group 3082"/>
          <p:cNvGrpSpPr/>
          <p:nvPr/>
        </p:nvGrpSpPr>
        <p:grpSpPr>
          <a:xfrm>
            <a:off x="990600" y="1676400"/>
            <a:ext cx="7648575" cy="5072259"/>
            <a:chOff x="990600" y="1676400"/>
            <a:chExt cx="7648575" cy="5072259"/>
          </a:xfrm>
        </p:grpSpPr>
        <p:sp>
          <p:nvSpPr>
            <p:cNvPr id="18" name="TextBox 17"/>
            <p:cNvSpPr txBox="1"/>
            <p:nvPr/>
          </p:nvSpPr>
          <p:spPr>
            <a:xfrm>
              <a:off x="990600" y="1981200"/>
              <a:ext cx="6396318" cy="4767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SELECT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base</a:t>
              </a:r>
              <a:r>
                <a:rPr lang="en-US" sz="1400" dirty="0" err="1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pri</a:t>
              </a:r>
              <a:r>
                <a:rPr lang="en-US" sz="1400" dirty="0" err="1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PropertyValue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[Primary Contact]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sec</a:t>
              </a:r>
              <a:r>
                <a:rPr lang="en-US" sz="1400" dirty="0" err="1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PropertyValue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[Secondary Contact]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FROM</a:t>
              </a: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(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SELECT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DISTINCT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FROM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[Table1]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)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b="1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base</a:t>
              </a:r>
              <a:endParaRPr lang="en-US" sz="1400" b="1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8080"/>
                  </a:solidFill>
                  <a:highlight>
                    <a:srgbClr val="FFFF00"/>
                  </a:highlight>
                  <a:latin typeface="Consolas"/>
                  <a:ea typeface="Calibri"/>
                  <a:cs typeface="Times New Roman"/>
                </a:rPr>
                <a:t>FULL OUTER JOIN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(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SELECT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PropertyValue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FROM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[Table1]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WHERE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PropertyName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=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  <a:latin typeface="Consolas"/>
                  <a:ea typeface="Calibri"/>
                  <a:cs typeface="Times New Roman"/>
                </a:rPr>
                <a:t>'Primary Contact'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)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b="1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pri</a:t>
              </a:r>
              <a:endParaRPr lang="en-US" sz="14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ON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base.ServerName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=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pri</a:t>
              </a:r>
              <a:r>
                <a:rPr lang="en-US" sz="1400" dirty="0" err="1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endParaRPr lang="en-US" sz="1400" b="1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8080"/>
                  </a:solidFill>
                  <a:highlight>
                    <a:srgbClr val="FFFF00"/>
                  </a:highlight>
                  <a:latin typeface="Consolas"/>
                  <a:ea typeface="Calibri"/>
                  <a:cs typeface="Times New Roman"/>
                </a:rPr>
                <a:t>FULL OUTER JOIN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(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SELECT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PropertyValue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FROM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[Table1]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WHERE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PropertyName</a:t>
              </a:r>
              <a:r>
                <a:rPr lang="en-US" sz="14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=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  <a:latin typeface="Consolas"/>
                  <a:ea typeface="Calibri"/>
                  <a:cs typeface="Times New Roman"/>
                </a:rPr>
                <a:t>'Secondary Contact'</a:t>
              </a:r>
              <a:endParaRPr lang="en-US" sz="14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)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b="1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sec</a:t>
              </a:r>
              <a:endParaRPr lang="en-US" sz="1400" b="1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ON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base</a:t>
              </a:r>
              <a:r>
                <a:rPr lang="en-US" sz="1400" dirty="0" err="1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=</a:t>
              </a:r>
              <a:r>
                <a:rPr lang="en-US" sz="14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sec</a:t>
              </a:r>
              <a:r>
                <a:rPr lang="en-US" sz="1400" dirty="0" err="1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endParaRPr lang="en-US" sz="1400" dirty="0">
                <a:ea typeface="Calibri"/>
                <a:cs typeface="Times New Roman"/>
              </a:endParaRPr>
            </a:p>
          </p:txBody>
        </p:sp>
        <p:grpSp>
          <p:nvGrpSpPr>
            <p:cNvPr id="3082" name="Group 3081"/>
            <p:cNvGrpSpPr/>
            <p:nvPr/>
          </p:nvGrpSpPr>
          <p:grpSpPr>
            <a:xfrm>
              <a:off x="5029200" y="1676400"/>
              <a:ext cx="3609975" cy="4505325"/>
              <a:chOff x="5029200" y="1676400"/>
              <a:chExt cx="3609975" cy="4505325"/>
            </a:xfrm>
          </p:grpSpPr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9200" y="3042337"/>
                <a:ext cx="914400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Arrow Connector 13"/>
              <p:cNvCxnSpPr/>
              <p:nvPr/>
            </p:nvCxnSpPr>
            <p:spPr>
              <a:xfrm flipH="1" flipV="1">
                <a:off x="7924800" y="1676400"/>
                <a:ext cx="76200" cy="3926048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V="1">
                <a:off x="5486400" y="1676400"/>
                <a:ext cx="0" cy="1600200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76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1200" y="3808619"/>
                <a:ext cx="2800350" cy="981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078" name="Picture 6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1200" y="5257800"/>
                <a:ext cx="2847975" cy="923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2" name="Straight Arrow Connector 11"/>
              <p:cNvCxnSpPr/>
              <p:nvPr/>
            </p:nvCxnSpPr>
            <p:spPr>
              <a:xfrm flipH="1" flipV="1">
                <a:off x="5943600" y="1676401"/>
                <a:ext cx="1828800" cy="2743199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5486400" y="3409049"/>
                <a:ext cx="609600" cy="95588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H="1" flipV="1">
                <a:off x="5486400" y="3409050"/>
                <a:ext cx="609600" cy="261075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1" name="Straight Connector 3080"/>
              <p:cNvCxnSpPr/>
              <p:nvPr/>
            </p:nvCxnSpPr>
            <p:spPr>
              <a:xfrm flipV="1">
                <a:off x="8001000" y="5602448"/>
                <a:ext cx="0" cy="41735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8987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Converting Vertical Data to Horizontal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110814" y="1501038"/>
            <a:ext cx="495300" cy="0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11412"/>
              </p:ext>
            </p:extLst>
          </p:nvPr>
        </p:nvGraphicFramePr>
        <p:xfrm>
          <a:off x="5053306" y="1209266"/>
          <a:ext cx="3062656" cy="291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3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ServerName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Primary…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Secondary…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Tertiary…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Access…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Patching…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3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LOUSISWPS130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Kevin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Jeff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Mike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001402"/>
              </p:ext>
            </p:extLst>
          </p:nvPr>
        </p:nvGraphicFramePr>
        <p:xfrm>
          <a:off x="558707" y="1120038"/>
          <a:ext cx="3507535" cy="1255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Tertiary Contact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Chris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Access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Patching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Mike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40441" y="2648350"/>
            <a:ext cx="4569759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[Primary Contact]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[Secondary Contact]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[Tertiary Contact]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[Access Approver]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[Patching Approver]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DISTINCT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'Primary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endParaRPr lang="en-US" sz="700" b="1" dirty="0">
              <a:solidFill>
                <a:srgbClr val="00808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base.ServerName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'Secondary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solidFill>
                <a:srgbClr val="00808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Tertiary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Access Approver'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Patching Approver'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292839"/>
            <a:ext cx="9144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256" y="1804510"/>
            <a:ext cx="1515344" cy="88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9" name="Straight Connector 28"/>
          <p:cNvCxnSpPr/>
          <p:nvPr/>
        </p:nvCxnSpPr>
        <p:spPr>
          <a:xfrm flipV="1">
            <a:off x="5105400" y="2133600"/>
            <a:ext cx="1371600" cy="5259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43" y="2691920"/>
            <a:ext cx="1514957" cy="8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1" name="Straight Connector 30"/>
          <p:cNvCxnSpPr>
            <a:stCxn id="2051" idx="1"/>
          </p:cNvCxnSpPr>
          <p:nvPr/>
        </p:nvCxnSpPr>
        <p:spPr>
          <a:xfrm flipH="1" flipV="1">
            <a:off x="5105401" y="2659551"/>
            <a:ext cx="1228242" cy="4466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43" y="3686193"/>
            <a:ext cx="1514957" cy="757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Straight Connector 29"/>
          <p:cNvCxnSpPr>
            <a:stCxn id="2052" idx="1"/>
          </p:cNvCxnSpPr>
          <p:nvPr/>
        </p:nvCxnSpPr>
        <p:spPr>
          <a:xfrm flipH="1" flipV="1">
            <a:off x="5105401" y="2691920"/>
            <a:ext cx="1228242" cy="13730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075" y="4664101"/>
            <a:ext cx="1521525" cy="75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526" y="5638800"/>
            <a:ext cx="1521525" cy="77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0" name="Straight Connector 39"/>
          <p:cNvCxnSpPr/>
          <p:nvPr/>
        </p:nvCxnSpPr>
        <p:spPr>
          <a:xfrm flipH="1" flipV="1">
            <a:off x="5105401" y="2681468"/>
            <a:ext cx="1319211" cy="25001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5115829" y="2691920"/>
            <a:ext cx="1319212" cy="36326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6019800" y="1501039"/>
            <a:ext cx="1371600" cy="632561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6459926" y="1501041"/>
            <a:ext cx="1024748" cy="1605204"/>
          </a:xfrm>
          <a:prstGeom prst="straightConnector1">
            <a:avLst/>
          </a:prstGeom>
          <a:ln w="22225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7018937" y="1501040"/>
            <a:ext cx="465737" cy="2601116"/>
          </a:xfrm>
          <a:prstGeom prst="straightConnector1">
            <a:avLst/>
          </a:prstGeom>
          <a:ln w="222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7484674" y="1501038"/>
            <a:ext cx="88313" cy="3731052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7572987" y="1530199"/>
            <a:ext cx="292687" cy="477983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538" y="5494794"/>
            <a:ext cx="851981" cy="91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5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715789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30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is a pivot?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pivot is a point or set of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points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on the end of which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something rests and turns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something rotates or oscillates. 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09598" y="2713613"/>
            <a:ext cx="7743942" cy="3028038"/>
            <a:chOff x="861803" y="3277923"/>
            <a:chExt cx="7743942" cy="3028038"/>
          </a:xfrm>
        </p:grpSpPr>
        <p:grpSp>
          <p:nvGrpSpPr>
            <p:cNvPr id="35" name="Group 34"/>
            <p:cNvGrpSpPr/>
            <p:nvPr/>
          </p:nvGrpSpPr>
          <p:grpSpPr>
            <a:xfrm>
              <a:off x="861803" y="3523001"/>
              <a:ext cx="3110122" cy="2432176"/>
              <a:chOff x="861803" y="3523001"/>
              <a:chExt cx="3110122" cy="2432176"/>
            </a:xfrm>
          </p:grpSpPr>
          <p:pic>
            <p:nvPicPr>
              <p:cNvPr id="41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600" y="3962400"/>
                <a:ext cx="2981325" cy="1676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42" name="Straight Arrow Connector 41"/>
              <p:cNvCxnSpPr/>
              <p:nvPr/>
            </p:nvCxnSpPr>
            <p:spPr>
              <a:xfrm>
                <a:off x="1981199" y="3838250"/>
                <a:ext cx="491359" cy="1106866"/>
              </a:xfrm>
              <a:prstGeom prst="straightConnector1">
                <a:avLst/>
              </a:prstGeom>
              <a:noFill/>
              <a:ln w="50800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/>
              </a:ln>
              <a:effectLst/>
            </p:spPr>
          </p:cxnSp>
          <p:sp>
            <p:nvSpPr>
              <p:cNvPr id="43" name="Circular Arrow 42"/>
              <p:cNvSpPr/>
              <p:nvPr/>
            </p:nvSpPr>
            <p:spPr>
              <a:xfrm rot="20022896" flipV="1">
                <a:off x="2274288" y="4238469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Circular Arrow 43"/>
              <p:cNvSpPr/>
              <p:nvPr/>
            </p:nvSpPr>
            <p:spPr>
              <a:xfrm rot="9536570" flipV="1">
                <a:off x="861803" y="3523001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4846339" y="3277923"/>
              <a:ext cx="3759406" cy="3028038"/>
              <a:chOff x="4846339" y="3277923"/>
              <a:chExt cx="3759406" cy="3028038"/>
            </a:xfrm>
          </p:grpSpPr>
          <p:pic>
            <p:nvPicPr>
              <p:cNvPr id="37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0200" y="3407978"/>
                <a:ext cx="2743200" cy="2600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38" name="Straight Arrow Connector 37"/>
              <p:cNvCxnSpPr/>
              <p:nvPr/>
            </p:nvCxnSpPr>
            <p:spPr>
              <a:xfrm>
                <a:off x="6096000" y="3277923"/>
                <a:ext cx="609600" cy="1120655"/>
              </a:xfrm>
              <a:prstGeom prst="straightConnector1">
                <a:avLst/>
              </a:prstGeom>
              <a:noFill/>
              <a:ln w="50800" cap="flat" cmpd="sng" algn="ctr">
                <a:solidFill>
                  <a:srgbClr val="1F497D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39" name="Circular Arrow 38"/>
              <p:cNvSpPr/>
              <p:nvPr/>
            </p:nvSpPr>
            <p:spPr>
              <a:xfrm rot="9536570" flipV="1">
                <a:off x="4846339" y="3369278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Circular Arrow 39"/>
              <p:cNvSpPr/>
              <p:nvPr/>
            </p:nvSpPr>
            <p:spPr>
              <a:xfrm rot="20022896" flipV="1">
                <a:off x="6922488" y="4589253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5" name="TextBox 44"/>
          <p:cNvSpPr txBox="1"/>
          <p:nvPr/>
        </p:nvSpPr>
        <p:spPr>
          <a:xfrm>
            <a:off x="5029200" y="5674820"/>
            <a:ext cx="342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http://dictionary.reference.com/browse/pivoted?s=t</a:t>
            </a:r>
          </a:p>
        </p:txBody>
      </p:sp>
    </p:spTree>
    <p:extLst>
      <p:ext uri="{BB962C8B-B14F-4D97-AF65-F5344CB8AC3E}">
        <p14:creationId xmlns:p14="http://schemas.microsoft.com/office/powerpoint/2010/main" val="2197559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54836"/>
            <a:ext cx="51911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90600" y="488848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84746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Torque / Force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899224" y="2054572"/>
            <a:ext cx="685800" cy="23680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ircular Arrow 10"/>
          <p:cNvSpPr/>
          <p:nvPr/>
        </p:nvSpPr>
        <p:spPr>
          <a:xfrm rot="17343314">
            <a:off x="871859" y="1626274"/>
            <a:ext cx="2080101" cy="2154974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8170595"/>
              <a:gd name="adj5" fmla="val 19282"/>
            </a:avLst>
          </a:pr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08386" y="2713300"/>
            <a:ext cx="1030014" cy="2188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066800" y="2743200"/>
            <a:ext cx="1371600" cy="47360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6324600" y="2123568"/>
            <a:ext cx="0" cy="1447800"/>
          </a:xfrm>
          <a:prstGeom prst="straightConnector1">
            <a:avLst/>
          </a:prstGeom>
          <a:ln w="1301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299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“Imagine” how this would apply to data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88094"/>
            <a:ext cx="962025" cy="2718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650094"/>
            <a:ext cx="17335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066800" y="4964668"/>
            <a:ext cx="200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Vertical data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49993"/>
            <a:ext cx="3505200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807849" y="496466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Horizontal data</a:t>
            </a:r>
          </a:p>
        </p:txBody>
      </p:sp>
      <p:sp>
        <p:nvSpPr>
          <p:cNvPr id="17" name="Circular Arrow 16"/>
          <p:cNvSpPr/>
          <p:nvPr/>
        </p:nvSpPr>
        <p:spPr>
          <a:xfrm rot="8828843">
            <a:off x="2261043" y="2457582"/>
            <a:ext cx="986467" cy="988941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87966"/>
              <a:gd name="adj5" fmla="val 19282"/>
            </a:avLst>
          </a:pr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38800" y="16002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Less rows, more columns</a:t>
            </a:r>
          </a:p>
        </p:txBody>
      </p:sp>
    </p:spTree>
    <p:extLst>
      <p:ext uri="{BB962C8B-B14F-4D97-AF65-F5344CB8AC3E}">
        <p14:creationId xmlns:p14="http://schemas.microsoft.com/office/powerpoint/2010/main" val="387330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054" y="3875214"/>
            <a:ext cx="4547414" cy="1184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765253" y="3581400"/>
            <a:ext cx="1159547" cy="1609967"/>
            <a:chOff x="1126092" y="2200033"/>
            <a:chExt cx="1159547" cy="1609967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2362200"/>
              <a:ext cx="0" cy="1447800"/>
            </a:xfrm>
            <a:prstGeom prst="line">
              <a:avLst/>
            </a:prstGeom>
            <a:ln w="1238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ircular Arrow 3"/>
            <p:cNvSpPr/>
            <p:nvPr/>
          </p:nvSpPr>
          <p:spPr>
            <a:xfrm rot="9108731">
              <a:off x="1126092" y="2200033"/>
              <a:ext cx="1159547" cy="1127789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8796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251377" y="783859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The PIVOT operator promotes data to column headers</a:t>
            </a:r>
          </a:p>
        </p:txBody>
      </p:sp>
      <p:sp>
        <p:nvSpPr>
          <p:cNvPr id="9" name="Circular Arrow 8"/>
          <p:cNvSpPr/>
          <p:nvPr/>
        </p:nvSpPr>
        <p:spPr>
          <a:xfrm rot="14468456">
            <a:off x="6004292" y="1281952"/>
            <a:ext cx="1651741" cy="1669883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87966"/>
              <a:gd name="adj5" fmla="val 19282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51377" y="4216371"/>
            <a:ext cx="501518" cy="23935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239674" y="4070259"/>
            <a:ext cx="817726" cy="806541"/>
            <a:chOff x="660576" y="2937026"/>
            <a:chExt cx="817726" cy="806541"/>
          </a:xfrm>
        </p:grpSpPr>
        <p:sp>
          <p:nvSpPr>
            <p:cNvPr id="19" name="Rectangle 18"/>
            <p:cNvSpPr/>
            <p:nvPr/>
          </p:nvSpPr>
          <p:spPr>
            <a:xfrm>
              <a:off x="660576" y="3065123"/>
              <a:ext cx="501518" cy="239352"/>
            </a:xfrm>
            <a:prstGeom prst="rect">
              <a:avLst/>
            </a:prstGeom>
            <a:noFill/>
            <a:ln w="635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ircular Arrow 10"/>
            <p:cNvSpPr/>
            <p:nvPr/>
          </p:nvSpPr>
          <p:spPr>
            <a:xfrm rot="18396935">
              <a:off x="673544" y="2938809"/>
              <a:ext cx="806541" cy="802975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640082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24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05" y="1799783"/>
            <a:ext cx="50292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34" y="1957345"/>
            <a:ext cx="13430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T-SQL PIVOT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6323" y="5338547"/>
            <a:ext cx="563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But what is ultimately presented back to the client?</a:t>
            </a:r>
          </a:p>
        </p:txBody>
      </p:sp>
      <p:sp>
        <p:nvSpPr>
          <p:cNvPr id="8" name="Circular Arrow 7"/>
          <p:cNvSpPr/>
          <p:nvPr/>
        </p:nvSpPr>
        <p:spPr>
          <a:xfrm rot="14468456">
            <a:off x="607765" y="2722194"/>
            <a:ext cx="1159547" cy="1183154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87966"/>
              <a:gd name="adj5" fmla="val 19282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200400" y="2590800"/>
            <a:ext cx="2895600" cy="1878221"/>
            <a:chOff x="3200400" y="2590800"/>
            <a:chExt cx="2895600" cy="1878221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1230" y="3745121"/>
              <a:ext cx="2400300" cy="72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" name="Straight Arrow Connector 5"/>
            <p:cNvCxnSpPr/>
            <p:nvPr/>
          </p:nvCxnSpPr>
          <p:spPr>
            <a:xfrm>
              <a:off x="4686300" y="2847913"/>
              <a:ext cx="0" cy="781091"/>
            </a:xfrm>
            <a:prstGeom prst="straightConnector1">
              <a:avLst/>
            </a:prstGeom>
            <a:ln w="476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200400" y="2667000"/>
              <a:ext cx="1314450" cy="152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 flipV="1">
              <a:off x="3810000" y="2590800"/>
              <a:ext cx="98138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5029200" y="2667000"/>
              <a:ext cx="609600" cy="152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3962400" y="2590800"/>
              <a:ext cx="72390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4114800" y="2590800"/>
              <a:ext cx="198120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300690" y="2590800"/>
              <a:ext cx="110951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257800" y="2590800"/>
              <a:ext cx="38100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33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Aggregates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4417"/>
              </p:ext>
            </p:extLst>
          </p:nvPr>
        </p:nvGraphicFramePr>
        <p:xfrm>
          <a:off x="1217237" y="1905000"/>
          <a:ext cx="6557126" cy="2580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7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8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3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15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Aggregate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Alphanumerics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Numerics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Datarows</a:t>
                      </a:r>
                      <a:r>
                        <a:rPr lang="en-US" sz="1100" dirty="0">
                          <a:effectLst/>
                        </a:rPr>
                        <a:t> with NULLs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NULL-only records,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or record-less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COUNT()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Not counted towards final result</a:t>
                      </a:r>
                      <a:endParaRPr lang="en-US" sz="11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MIN()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Not counted towards final result</a:t>
                      </a:r>
                      <a:endParaRPr lang="en-US" sz="11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NULL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MAX()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Not counted towards final result</a:t>
                      </a:r>
                      <a:endParaRPr lang="en-US" sz="11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NULL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SUM()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Not counted towards final result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NULL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AVG()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Not counted towards final result</a:t>
                      </a:r>
                      <a:endParaRPr lang="en-US" sz="11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NULL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3000" y="51816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Books Online for additional aggregates, as well as any    aggregate-to-</a:t>
            </a:r>
            <a:r>
              <a:rPr lang="en-US" dirty="0" err="1"/>
              <a:t>datatype</a:t>
            </a:r>
            <a:r>
              <a:rPr lang="en-US" dirty="0"/>
              <a:t> limitations.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13716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aggregate value is a solitary value that summarizes a list of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5220" y="4571998"/>
            <a:ext cx="4800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See Books Online for additional aggregates</a:t>
            </a:r>
          </a:p>
        </p:txBody>
      </p:sp>
    </p:spTree>
    <p:extLst>
      <p:ext uri="{BB962C8B-B14F-4D97-AF65-F5344CB8AC3E}">
        <p14:creationId xmlns:p14="http://schemas.microsoft.com/office/powerpoint/2010/main" val="173611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75640"/>
            <a:ext cx="13335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704850"/>
            <a:ext cx="443865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0"/>
            <a:ext cx="8317777" cy="151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424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PIVOT</a:t>
            </a:r>
            <a:r>
              <a:rPr lang="en-US" sz="40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40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LIKE/!=</a:t>
            </a:r>
            <a:r>
              <a:rPr lang="en-US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</a:t>
            </a:r>
            <a:endParaRPr lang="en-US" sz="4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41771" y="4419600"/>
            <a:ext cx="8068815" cy="2078460"/>
            <a:chOff x="441771" y="4419600"/>
            <a:chExt cx="8068815" cy="2078460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4476750" y="4419600"/>
              <a:ext cx="0" cy="2078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771" y="5342836"/>
              <a:ext cx="3914775" cy="904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811" y="5342836"/>
              <a:ext cx="3914775" cy="923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2" name="Group 21"/>
          <p:cNvGrpSpPr/>
          <p:nvPr/>
        </p:nvGrpSpPr>
        <p:grpSpPr>
          <a:xfrm>
            <a:off x="609600" y="1371600"/>
            <a:ext cx="7710488" cy="2292013"/>
            <a:chOff x="609600" y="1371600"/>
            <a:chExt cx="7710488" cy="2292013"/>
          </a:xfrm>
        </p:grpSpPr>
        <p:sp>
          <p:nvSpPr>
            <p:cNvPr id="6" name="TextBox 5"/>
            <p:cNvSpPr txBox="1"/>
            <p:nvPr/>
          </p:nvSpPr>
          <p:spPr>
            <a:xfrm>
              <a:off x="1371600" y="1371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PIVOT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600" y="1955453"/>
              <a:ext cx="3048000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sz="1050" dirty="0">
                  <a:latin typeface="Lucida Console" pitchFamily="49" charset="0"/>
                </a:rPr>
                <a:t> PivotResults.*</a:t>
              </a:r>
            </a:p>
            <a:p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FROM</a:t>
              </a:r>
              <a:r>
                <a:rPr lang="en-US" sz="1050" dirty="0">
                  <a:latin typeface="Lucida Console" pitchFamily="49" charset="0"/>
                </a:rPr>
                <a:t> (</a:t>
              </a:r>
            </a:p>
            <a:p>
              <a:r>
                <a:rPr lang="en-US" sz="1050" dirty="0">
                  <a:latin typeface="Lucida Console" pitchFamily="49" charset="0"/>
                </a:rPr>
                <a:t>  </a:t>
              </a:r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sz="1050" dirty="0">
                  <a:latin typeface="Lucida Console" pitchFamily="49" charset="0"/>
                </a:rPr>
                <a:t> ID, Col1 </a:t>
              </a:r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FROM</a:t>
              </a:r>
              <a:r>
                <a:rPr lang="en-US" sz="1050" dirty="0">
                  <a:latin typeface="Lucida Console" pitchFamily="49" charset="0"/>
                </a:rPr>
                <a:t> dbo.Table_1</a:t>
              </a:r>
            </a:p>
            <a:p>
              <a:r>
                <a:rPr lang="en-US" sz="1050" dirty="0">
                  <a:latin typeface="Lucida Console" pitchFamily="49" charset="0"/>
                </a:rPr>
                <a:t>  ) </a:t>
              </a:r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AS</a:t>
              </a:r>
              <a:r>
                <a:rPr lang="en-US" sz="1050" dirty="0">
                  <a:latin typeface="Lucida Console" pitchFamily="49" charset="0"/>
                </a:rPr>
                <a:t> </a:t>
              </a:r>
              <a:r>
                <a:rPr lang="en-US" sz="1050" dirty="0" err="1">
                  <a:latin typeface="Lucida Console" pitchFamily="49" charset="0"/>
                </a:rPr>
                <a:t>RawData</a:t>
              </a:r>
              <a:r>
                <a:rPr lang="en-US" sz="1050" dirty="0">
                  <a:latin typeface="Lucida Console" pitchFamily="49" charset="0"/>
                </a:rPr>
                <a:t>  </a:t>
              </a:r>
            </a:p>
            <a:p>
              <a:r>
                <a:rPr lang="en-US" sz="1050" b="1" dirty="0">
                  <a:solidFill>
                    <a:schemeClr val="bg1">
                      <a:lumMod val="65000"/>
                    </a:schemeClr>
                  </a:solidFill>
                  <a:latin typeface="Lucida Console" pitchFamily="49" charset="0"/>
                </a:rPr>
                <a:t>PIVOT</a:t>
              </a:r>
              <a:r>
                <a:rPr lang="en-US" sz="1050" dirty="0">
                  <a:latin typeface="Lucida Console" pitchFamily="49" charset="0"/>
                </a:rPr>
                <a:t> (</a:t>
              </a:r>
            </a:p>
            <a:p>
              <a:r>
                <a:rPr lang="en-US" sz="1050" dirty="0">
                  <a:latin typeface="Lucida Console" pitchFamily="49" charset="0"/>
                </a:rPr>
                <a:t>  </a:t>
              </a:r>
              <a:r>
                <a:rPr lang="en-US" sz="1050" dirty="0">
                  <a:solidFill>
                    <a:srgbClr val="FF66FF"/>
                  </a:solidFill>
                  <a:latin typeface="Lucida Console" pitchFamily="49" charset="0"/>
                </a:rPr>
                <a:t>SUM</a:t>
              </a:r>
              <a:r>
                <a:rPr lang="en-US" sz="1050" dirty="0">
                  <a:latin typeface="Lucida Console" pitchFamily="49" charset="0"/>
                </a:rPr>
                <a:t>(Col1) </a:t>
              </a:r>
            </a:p>
            <a:p>
              <a:r>
                <a:rPr lang="en-US" sz="1050" dirty="0">
                  <a:latin typeface="Lucida Console" pitchFamily="49" charset="0"/>
                </a:rPr>
                <a:t>  </a:t>
              </a:r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FOR</a:t>
              </a:r>
              <a:r>
                <a:rPr lang="en-US" sz="1050" dirty="0">
                  <a:latin typeface="Lucida Console" pitchFamily="49" charset="0"/>
                </a:rPr>
                <a:t> [ID] </a:t>
              </a:r>
            </a:p>
            <a:p>
              <a:r>
                <a:rPr lang="en-US" sz="1050" dirty="0">
                  <a:latin typeface="Lucida Console" pitchFamily="49" charset="0"/>
                </a:rPr>
                <a:t>    </a:t>
              </a:r>
              <a:r>
                <a:rPr lang="en-US" sz="1050" dirty="0">
                  <a:solidFill>
                    <a:schemeClr val="bg1">
                      <a:lumMod val="65000"/>
                    </a:schemeClr>
                  </a:solidFill>
                  <a:latin typeface="Lucida Console" pitchFamily="49" charset="0"/>
                </a:rPr>
                <a:t>IN</a:t>
              </a:r>
              <a:r>
                <a:rPr lang="en-US" sz="1050" dirty="0">
                  <a:latin typeface="Lucida Console" pitchFamily="49" charset="0"/>
                </a:rPr>
                <a:t> ([  </a:t>
              </a:r>
              <a:r>
                <a:rPr lang="en-US" sz="500" dirty="0">
                  <a:latin typeface="Lucida Console" pitchFamily="49" charset="0"/>
                </a:rPr>
                <a:t> </a:t>
              </a:r>
              <a:r>
                <a:rPr lang="en-US" sz="1050" dirty="0">
                  <a:latin typeface="Lucida Console" pitchFamily="49" charset="0"/>
                </a:rPr>
                <a:t>],[  </a:t>
              </a:r>
              <a:r>
                <a:rPr lang="en-US" sz="400" dirty="0">
                  <a:latin typeface="Lucida Console" pitchFamily="49" charset="0"/>
                </a:rPr>
                <a:t> </a:t>
              </a:r>
              <a:r>
                <a:rPr lang="en-US" sz="1050" dirty="0">
                  <a:latin typeface="Lucida Console" pitchFamily="49" charset="0"/>
                </a:rPr>
                <a:t>],[  </a:t>
              </a:r>
              <a:r>
                <a:rPr lang="en-US" sz="100" dirty="0">
                  <a:latin typeface="Lucida Console" pitchFamily="49" charset="0"/>
                </a:rPr>
                <a:t> </a:t>
              </a:r>
              <a:r>
                <a:rPr lang="en-US" sz="1050" dirty="0">
                  <a:latin typeface="Lucida Console" pitchFamily="49" charset="0"/>
                </a:rPr>
                <a:t>])</a:t>
              </a:r>
            </a:p>
            <a:p>
              <a:r>
                <a:rPr lang="en-US" sz="1050" dirty="0">
                  <a:latin typeface="Lucida Console" pitchFamily="49" charset="0"/>
                </a:rPr>
                <a:t> ) </a:t>
              </a:r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AS</a:t>
              </a:r>
              <a:r>
                <a:rPr lang="en-US" sz="1050" dirty="0">
                  <a:latin typeface="Lucida Console" pitchFamily="49" charset="0"/>
                </a:rPr>
                <a:t> </a:t>
              </a:r>
              <a:r>
                <a:rPr lang="en-US" sz="1050" dirty="0" err="1">
                  <a:latin typeface="Lucida Console" pitchFamily="49" charset="0"/>
                </a:rPr>
                <a:t>PivotResults</a:t>
              </a:r>
              <a:endParaRPr lang="en-US" sz="1050" dirty="0">
                <a:latin typeface="Lucida Console" pitchFamily="49" charset="0"/>
              </a:endParaRPr>
            </a:p>
            <a:p>
              <a:endParaRPr lang="en-US" sz="105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53200" y="1371600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GROUP BY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3600" y="1955453"/>
              <a:ext cx="237648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sz="1050" dirty="0">
                  <a:latin typeface="Lucida Console" pitchFamily="49" charset="0"/>
                </a:rPr>
                <a:t> ID</a:t>
              </a:r>
            </a:p>
            <a:p>
              <a:r>
                <a:rPr lang="en-US" sz="1050" dirty="0">
                  <a:latin typeface="Lucida Console" pitchFamily="49" charset="0"/>
                </a:rPr>
                <a:t> , </a:t>
              </a:r>
              <a:r>
                <a:rPr lang="en-US" sz="1050" dirty="0">
                  <a:solidFill>
                    <a:srgbClr val="FF66FF"/>
                  </a:solidFill>
                  <a:latin typeface="Lucida Console" pitchFamily="49" charset="0"/>
                </a:rPr>
                <a:t>SUM</a:t>
              </a:r>
              <a:r>
                <a:rPr lang="en-US" sz="1050" dirty="0">
                  <a:latin typeface="Lucida Console" pitchFamily="49" charset="0"/>
                </a:rPr>
                <a:t>(Col1)</a:t>
              </a:r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 AS</a:t>
              </a:r>
              <a:r>
                <a:rPr lang="en-US" sz="1050" dirty="0">
                  <a:latin typeface="Lucida Console" pitchFamily="49" charset="0"/>
                </a:rPr>
                <a:t> Col1</a:t>
              </a:r>
            </a:p>
            <a:p>
              <a:r>
                <a:rPr lang="en-US" sz="1050" dirty="0">
                  <a:solidFill>
                    <a:srgbClr val="0070C0"/>
                  </a:solidFill>
                  <a:latin typeface="Lucida Console" pitchFamily="49" charset="0"/>
                </a:rPr>
                <a:t>FROM</a:t>
              </a:r>
              <a:r>
                <a:rPr lang="en-US" sz="1050" dirty="0">
                  <a:latin typeface="Lucida Console" pitchFamily="49" charset="0"/>
                </a:rPr>
                <a:t> dbo.Table_1</a:t>
              </a:r>
            </a:p>
            <a:p>
              <a:r>
                <a:rPr lang="en-US" sz="1050" b="1" dirty="0">
                  <a:solidFill>
                    <a:srgbClr val="0070C0"/>
                  </a:solidFill>
                  <a:latin typeface="Lucida Console" pitchFamily="49" charset="0"/>
                </a:rPr>
                <a:t>GROUP BY</a:t>
              </a:r>
              <a:r>
                <a:rPr lang="en-US" sz="1050" dirty="0">
                  <a:latin typeface="Lucida Console" pitchFamily="49" charset="0"/>
                </a:rPr>
                <a:t> ID</a:t>
              </a:r>
            </a:p>
          </p:txBody>
        </p:sp>
        <p:pic>
          <p:nvPicPr>
            <p:cNvPr id="19" name="Picture 18" descr="http://www.iconsdb.com/icons/preview/royal-blue/circle-m.png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0180" y="3127340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Picture 19" descr="http://www.iconsdb.com/icons/preview/green/triangle-m.png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425" y="3106032"/>
              <a:ext cx="180975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Picture 20" descr="http://www.iconsdb.com/icons/preview/red/square-rounded-m.png"/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370" y="3127340"/>
              <a:ext cx="147576" cy="1492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37" y="1642355"/>
            <a:ext cx="13430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1209675" y="3700106"/>
            <a:ext cx="6296025" cy="1266825"/>
            <a:chOff x="1209675" y="3700106"/>
            <a:chExt cx="6296025" cy="1266825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9675" y="4248150"/>
              <a:ext cx="1847850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3700106"/>
              <a:ext cx="1333500" cy="1266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3522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2438400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0" y="319610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Exactly one column’s values can be </a:t>
            </a:r>
          </a:p>
          <a:p>
            <a:r>
              <a:rPr lang="en-US" dirty="0"/>
              <a:t>    pivoted into a column header</a:t>
            </a:r>
          </a:p>
        </p:txBody>
      </p:sp>
      <p:cxnSp>
        <p:nvCxnSpPr>
          <p:cNvPr id="10" name="Straight Connector 9"/>
          <p:cNvCxnSpPr>
            <a:endCxn id="8" idx="1"/>
          </p:cNvCxnSpPr>
          <p:nvPr/>
        </p:nvCxnSpPr>
        <p:spPr>
          <a:xfrm flipV="1">
            <a:off x="2209800" y="3519275"/>
            <a:ext cx="381000" cy="747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2342909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Exactly one column can be aggregated</a:t>
            </a:r>
          </a:p>
        </p:txBody>
      </p:sp>
      <p:cxnSp>
        <p:nvCxnSpPr>
          <p:cNvPr id="16" name="Straight Connector 15"/>
          <p:cNvCxnSpPr>
            <a:endCxn id="14" idx="1"/>
          </p:cNvCxnSpPr>
          <p:nvPr/>
        </p:nvCxnSpPr>
        <p:spPr>
          <a:xfrm flipV="1">
            <a:off x="1905000" y="2527575"/>
            <a:ext cx="381000" cy="1282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676400" y="4768333"/>
            <a:ext cx="403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922827" y="4768333"/>
            <a:ext cx="172673" cy="337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95500" y="4955563"/>
            <a:ext cx="6819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“value-turned-column” (VTC)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Must be explicitly requested at compile-time.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Sub-queries are not allowed here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“But what if I don’t know them at compile-time?” </a:t>
            </a:r>
            <a:r>
              <a:rPr lang="en-US" i="1" dirty="0"/>
              <a:t>Stay tuned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Must be enclosed in braces, if data contains spaces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(1/4)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1524239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Exactly one aggregate can be applied</a:t>
            </a:r>
          </a:p>
        </p:txBody>
      </p:sp>
      <p:cxnSp>
        <p:nvCxnSpPr>
          <p:cNvPr id="13" name="Straight Connector 12"/>
          <p:cNvCxnSpPr>
            <a:endCxn id="12" idx="1"/>
          </p:cNvCxnSpPr>
          <p:nvPr/>
        </p:nvCxnSpPr>
        <p:spPr>
          <a:xfrm flipV="1">
            <a:off x="1295400" y="1708905"/>
            <a:ext cx="381000" cy="2100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12368" y="356544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Table_1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962" y="4725214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/>
              <a:t>PivotResults</a:t>
            </a:r>
            <a:endParaRPr lang="en-US" sz="1050" b="1" dirty="0"/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427" y="4114800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38" y="1334353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8405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5800" y="2443877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SELECT </a:t>
            </a:r>
          </a:p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b="1" dirty="0">
                <a:latin typeface="Lucida Console" pitchFamily="49" charset="0"/>
              </a:rPr>
              <a:t> (</a:t>
            </a:r>
          </a:p>
          <a:p>
            <a:r>
              <a:rPr lang="en-US" b="1" dirty="0">
                <a:latin typeface="Lucida Console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b="1" dirty="0">
                <a:latin typeface="Lucida Console" pitchFamily="49" charset="0"/>
              </a:rPr>
              <a:t> ID, Col1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b="1" dirty="0">
                <a:latin typeface="Lucida Console" pitchFamily="49" charset="0"/>
              </a:rPr>
              <a:t> dbo.Table_1</a:t>
            </a:r>
          </a:p>
          <a:p>
            <a:r>
              <a:rPr lang="en-US" b="1" dirty="0">
                <a:latin typeface="Lucida Console" pitchFamily="49" charset="0"/>
              </a:rPr>
              <a:t>  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 </a:t>
            </a:r>
            <a:r>
              <a:rPr lang="en-US" dirty="0">
                <a:latin typeface="Lucida Console" pitchFamily="49" charset="0"/>
              </a:rPr>
              <a:t>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0" y="3657600"/>
            <a:ext cx="476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295400" y="3358278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10" idx="1"/>
          </p:cNvCxnSpPr>
          <p:nvPr/>
        </p:nvCxnSpPr>
        <p:spPr>
          <a:xfrm>
            <a:off x="2629220" y="3361566"/>
            <a:ext cx="875980" cy="48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(2/4)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2368" y="356544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962" y="4725214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427" y="4114800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38" y="1334353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9419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2443877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 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ID, Col1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 err="1">
                <a:latin typeface="Lucida Console" pitchFamily="49" charset="0"/>
              </a:rPr>
              <a:t>RawData</a:t>
            </a:r>
            <a:r>
              <a:rPr lang="en-US" b="1" dirty="0">
                <a:latin typeface="Lucida Console" pitchFamily="49" charset="0"/>
              </a:rPr>
              <a:t>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 err="1">
                <a:latin typeface="Lucida Console" pitchFamily="49" charset="0"/>
              </a:rPr>
              <a:t>PivotResults</a:t>
            </a:r>
            <a:endParaRPr lang="en-US" b="1" dirty="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76700" y="3738420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predicates must be named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819400" y="3510677"/>
            <a:ext cx="1257300" cy="412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352800" y="3923086"/>
            <a:ext cx="723900" cy="88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(3/4)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2368" y="356544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962" y="4725214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427" y="4114800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38" y="1334353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870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2443877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b="1" dirty="0">
                <a:latin typeface="Lucida Console" pitchFamily="49" charset="0"/>
              </a:rPr>
              <a:t>PivotResults.*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ID, Col1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RawData</a:t>
            </a:r>
            <a:r>
              <a:rPr lang="en-US" dirty="0">
                <a:latin typeface="Lucida Console" pitchFamily="49" charset="0"/>
              </a:rPr>
              <a:t>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PivotResults</a:t>
            </a:r>
            <a:endParaRPr lang="en-US" dirty="0">
              <a:latin typeface="Lucida Console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2260" y="3745468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then select the correct predicate</a:t>
            </a:r>
          </a:p>
        </p:txBody>
      </p:sp>
      <p:cxnSp>
        <p:nvCxnSpPr>
          <p:cNvPr id="8" name="Straight Connector 7"/>
          <p:cNvCxnSpPr>
            <a:stCxn id="6" idx="1"/>
          </p:cNvCxnSpPr>
          <p:nvPr/>
        </p:nvCxnSpPr>
        <p:spPr>
          <a:xfrm flipH="1" flipV="1">
            <a:off x="3352800" y="2748680"/>
            <a:ext cx="759460" cy="1181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1"/>
          </p:cNvCxnSpPr>
          <p:nvPr/>
        </p:nvCxnSpPr>
        <p:spPr>
          <a:xfrm flipV="1">
            <a:off x="3352800" y="3930134"/>
            <a:ext cx="759460" cy="952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(4/4)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43200" y="3520553"/>
            <a:ext cx="5701004" cy="2459778"/>
            <a:chOff x="2743200" y="3520553"/>
            <a:chExt cx="5701004" cy="2459778"/>
          </a:xfrm>
        </p:grpSpPr>
        <p:sp>
          <p:nvSpPr>
            <p:cNvPr id="7" name="TextBox 6"/>
            <p:cNvSpPr txBox="1"/>
            <p:nvPr/>
          </p:nvSpPr>
          <p:spPr>
            <a:xfrm>
              <a:off x="4572000" y="5334000"/>
              <a:ext cx="38722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You cannot select this predicate, but its values will be part of the pivot results</a:t>
              </a:r>
            </a:p>
          </p:txBody>
        </p:sp>
        <p:cxnSp>
          <p:nvCxnSpPr>
            <p:cNvPr id="10" name="Straight Connector 9"/>
            <p:cNvCxnSpPr>
              <a:stCxn id="7" idx="1"/>
            </p:cNvCxnSpPr>
            <p:nvPr/>
          </p:nvCxnSpPr>
          <p:spPr>
            <a:xfrm flipH="1" flipV="1">
              <a:off x="2743200" y="3520553"/>
              <a:ext cx="1828800" cy="21366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7412368" y="356544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962" y="4725214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427" y="4114800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38" y="1334353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76400" y="2461736"/>
            <a:ext cx="2590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Lucida Console" pitchFamily="49" charset="0"/>
              </a:rPr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7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a 2-column PIVOT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1954108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83" y="3378920"/>
            <a:ext cx="2317798" cy="1984289"/>
          </a:xfrm>
          <a:prstGeom prst="rect">
            <a:avLst/>
          </a:prstGeom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33" y="3581400"/>
            <a:ext cx="24193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810258" y="3738345"/>
            <a:ext cx="2295525" cy="2476500"/>
            <a:chOff x="810258" y="3738345"/>
            <a:chExt cx="2295525" cy="2476500"/>
          </a:xfrm>
        </p:grpSpPr>
        <p:pic>
          <p:nvPicPr>
            <p:cNvPr id="1044" name="Picture 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258" y="3738345"/>
              <a:ext cx="2295525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Circular Arrow 28"/>
            <p:cNvSpPr/>
            <p:nvPr/>
          </p:nvSpPr>
          <p:spPr>
            <a:xfrm rot="14468456">
              <a:off x="2111111" y="4267216"/>
              <a:ext cx="674168" cy="704330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8796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Circular Arrow 27"/>
            <p:cNvSpPr/>
            <p:nvPr/>
          </p:nvSpPr>
          <p:spPr>
            <a:xfrm rot="14468456">
              <a:off x="2111112" y="5476241"/>
              <a:ext cx="674168" cy="704330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8796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360" y="1238877"/>
            <a:ext cx="5785477" cy="507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5856914" y="3738345"/>
            <a:ext cx="3048000" cy="1323930"/>
            <a:chOff x="5856914" y="3738345"/>
            <a:chExt cx="3048000" cy="1323930"/>
          </a:xfrm>
        </p:grpSpPr>
        <p:sp>
          <p:nvSpPr>
            <p:cNvPr id="20" name="TextBox 19"/>
            <p:cNvSpPr txBox="1"/>
            <p:nvPr/>
          </p:nvSpPr>
          <p:spPr>
            <a:xfrm>
              <a:off x="5856914" y="4138945"/>
              <a:ext cx="3048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Notice this additional column (Name) is NOT in the PIVOT predicate</a:t>
              </a:r>
            </a:p>
          </p:txBody>
        </p:sp>
        <p:cxnSp>
          <p:nvCxnSpPr>
            <p:cNvPr id="8" name="Straight Connector 7"/>
            <p:cNvCxnSpPr>
              <a:stCxn id="20" idx="0"/>
            </p:cNvCxnSpPr>
            <p:nvPr/>
          </p:nvCxnSpPr>
          <p:spPr>
            <a:xfrm flipH="1" flipV="1">
              <a:off x="5943600" y="3738345"/>
              <a:ext cx="1437314" cy="400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86175"/>
            <a:ext cx="3248025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a 3-column PIVOT works…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202545"/>
            <a:ext cx="5486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PivotResults.*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[Name</a:t>
            </a:r>
            <a:r>
              <a:rPr lang="en-US" b="1" dirty="0">
                <a:latin typeface="Lucida Console" pitchFamily="49" charset="0"/>
              </a:rPr>
              <a:t>]</a:t>
            </a:r>
            <a:r>
              <a:rPr lang="en-US" dirty="0">
                <a:latin typeface="Lucida Console" pitchFamily="49" charset="0"/>
              </a:rPr>
              <a:t>, Miles, </a:t>
            </a:r>
            <a:r>
              <a:rPr lang="en-US" dirty="0" err="1">
                <a:latin typeface="Lucida Console" pitchFamily="49" charset="0"/>
              </a:rPr>
              <a:t>Mins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 </a:t>
            </a:r>
            <a:r>
              <a:rPr lang="en-US" b="1" dirty="0">
                <a:latin typeface="Lucida Console" pitchFamily="49" charset="0"/>
              </a:rPr>
              <a:t>...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RawData</a:t>
            </a:r>
            <a:r>
              <a:rPr lang="en-US" dirty="0">
                <a:latin typeface="Lucida Console" pitchFamily="49" charset="0"/>
              </a:rPr>
              <a:t>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MIN</a:t>
            </a:r>
            <a:r>
              <a:rPr lang="en-US" dirty="0">
                <a:latin typeface="Lucida Console" pitchFamily="49" charset="0"/>
              </a:rPr>
              <a:t>(</a:t>
            </a:r>
            <a:r>
              <a:rPr lang="en-US" dirty="0" err="1">
                <a:latin typeface="Lucida Console" pitchFamily="49" charset="0"/>
              </a:rPr>
              <a:t>Mins</a:t>
            </a:r>
            <a:r>
              <a:rPr lang="en-US" dirty="0">
                <a:latin typeface="Lucida Console" pitchFamily="49" charset="0"/>
              </a:rPr>
              <a:t>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[Miles]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([3], [5], [10])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PivotResults</a:t>
            </a:r>
            <a:endParaRPr lang="en-US" dirty="0">
              <a:latin typeface="Lucida Console" pitchFamily="49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654" y="4446404"/>
            <a:ext cx="22479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111691"/>
            <a:ext cx="1819275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654" y="4446404"/>
            <a:ext cx="24479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7" y="1238877"/>
            <a:ext cx="18669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16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364486"/>
              </p:ext>
            </p:extLst>
          </p:nvPr>
        </p:nvGraphicFramePr>
        <p:xfrm>
          <a:off x="1143000" y="457200"/>
          <a:ext cx="6982984" cy="5745469"/>
        </p:xfrm>
        <a:graphic>
          <a:graphicData uri="http://schemas.openxmlformats.org/drawingml/2006/table">
            <a:tbl>
              <a:tblPr/>
              <a:tblGrid>
                <a:gridCol w="97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6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678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StoreID</a:t>
                      </a:r>
                      <a:endParaRPr lang="en-US" sz="1600" b="1" i="0" u="sng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[Quarter]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[Year]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Sales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sng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DataEnteredBy</a:t>
                      </a:r>
                      <a:endParaRPr lang="en-US" sz="1600" b="1" i="0" u="sng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17500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18000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22000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Bob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60000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38000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32000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Bob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Kim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Kim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Kim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8000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Lee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Verdana"/>
                        </a:rPr>
                        <a:t>-3000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Jerry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Jerry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2013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Bill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223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a 3-column PIVOT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2340259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2615731"/>
            <a:ext cx="4569759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[Primary Contact]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[Secondary Contact]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[Tertiary Contact]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[Access Approver]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[Patching Approver]</a:t>
            </a:r>
            <a:endParaRPr lang="en-US" sz="700" b="1" dirty="0">
              <a:solidFill>
                <a:srgbClr val="0000FF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DISTINCT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'Primary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endParaRPr lang="en-US" sz="700" b="1" dirty="0">
              <a:solidFill>
                <a:srgbClr val="00808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base.ServerName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'Secondary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solidFill>
                <a:srgbClr val="00808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Tertiary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Access Approver'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Patching Approver'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27986" y="2621165"/>
            <a:ext cx="2706414" cy="317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PivotResults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.*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 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 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RawData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PIVOT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1100" dirty="0">
                <a:solidFill>
                  <a:srgbClr val="FF00FF"/>
                </a:solidFill>
                <a:latin typeface="Consolas"/>
                <a:ea typeface="Calibri"/>
                <a:cs typeface="Times New Roman"/>
              </a:rPr>
              <a:t>MAX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FOR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]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IN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[Primary Contact]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  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[Secondary Contact]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  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[Tertiary Contact]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  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[Access Approver]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    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[Patching Approver]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endParaRPr lang="en-US" sz="11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1100" dirty="0">
                <a:latin typeface="Consolas"/>
                <a:ea typeface="Calibri"/>
                <a:cs typeface="Times New Roman"/>
              </a:rPr>
              <a:t> </a:t>
            </a:r>
            <a:r>
              <a:rPr lang="en-US" sz="1100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PivotResults</a:t>
            </a:r>
            <a:endParaRPr lang="en-US" sz="1100" dirty="0">
              <a:ea typeface="Calibri"/>
              <a:cs typeface="Times New Roman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399712" y="1600200"/>
            <a:ext cx="376352" cy="0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440394"/>
              </p:ext>
            </p:extLst>
          </p:nvPr>
        </p:nvGraphicFramePr>
        <p:xfrm>
          <a:off x="748545" y="685800"/>
          <a:ext cx="3507535" cy="1255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Tertiary Contact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Chris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Access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Patching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Mike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04193" y="2288988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FULL OUTER JOIN method…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2600" y="229216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PIVOT method…</a:t>
            </a: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39719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699" y="2575453"/>
            <a:ext cx="1182205" cy="9623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639" y="2609731"/>
            <a:ext cx="1096402" cy="94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77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38175" y="1154668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1: Explicitly request the ones of interest; Provision for extras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19" y="1823736"/>
            <a:ext cx="3582681" cy="2349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PIVOT (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SUM(Sales)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[Year]</a:t>
            </a:r>
          </a:p>
          <a:p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 IN (</a:t>
            </a:r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[2014]</a:t>
            </a:r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,</a:t>
            </a:r>
          </a:p>
          <a:p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[2015],</a:t>
            </a:r>
          </a:p>
          <a:p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[2016],</a:t>
            </a:r>
          </a:p>
          <a:p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[2017]</a:t>
            </a:r>
            <a:endParaRPr lang="en-US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I manage my VTCs?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5657354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views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752600"/>
            <a:ext cx="4175312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227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1498764"/>
            <a:ext cx="5257800" cy="507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MAX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7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0000FF"/>
              </a:solidFill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MAX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SELECT PivotResults.*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FROM ( ... ) AS </a:t>
            </a:r>
            <a:r>
              <a:rPr lang="en-US" sz="900" dirty="0" err="1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RawData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PIVOT (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SUM(Sales)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FOR [Year]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IN ('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')'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) AS </a:t>
            </a:r>
            <a:r>
              <a:rPr lang="en-US" sz="900" dirty="0" err="1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PivotResults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ORDER BY 1 ASC;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EXEC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1703446"/>
            <a:ext cx="3962400" cy="2906180"/>
          </a:xfrm>
          <a:prstGeom prst="rect">
            <a:avLst/>
          </a:prstGeom>
          <a:solidFill>
            <a:srgbClr val="FFFFCB"/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CURSOR LOCAL FAST_FORWARD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FOR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SELECT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DISTINCT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[Year]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FROM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...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ORDER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BY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[Year]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50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integer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0</a:t>
            </a: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OPEN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FETCH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NEXT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FROM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INTO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WHILE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@@FETCH_STATUS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0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BEGIN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1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IF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&gt;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1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','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'['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']'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FETCH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NEXT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FROM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INTO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END</a:t>
            </a:r>
          </a:p>
          <a:p>
            <a:pPr>
              <a:lnSpc>
                <a:spcPct val="115000"/>
              </a:lnSpc>
            </a:pPr>
            <a:endParaRPr lang="en-US" sz="600" dirty="0">
              <a:solidFill>
                <a:srgbClr val="0000FF"/>
              </a:solidFill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CLOSE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DEALLOCATE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7800" y="1487269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Organize your columns into a logical order, affects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7010" y="3688978"/>
            <a:ext cx="300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Ensures the first column is sorted, regardless of </a:t>
            </a:r>
            <a:r>
              <a:rPr lang="en-US" dirty="0" err="1"/>
              <a:t>datatype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4267200" y="3987293"/>
            <a:ext cx="1042630" cy="226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438400" y="6248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77010" y="2362200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unique data to become columns in the output</a:t>
            </a:r>
          </a:p>
          <a:p>
            <a:r>
              <a:rPr lang="en-US" dirty="0"/>
              <a:t>(Probably should be indexed)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05385" y="2057400"/>
            <a:ext cx="10163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do I manage my VTCs? (2/3)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066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2: Use dynamic SQL (with cursor)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5647378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ý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Not supported by views</a:t>
            </a:r>
          </a:p>
        </p:txBody>
      </p:sp>
      <p:cxnSp>
        <p:nvCxnSpPr>
          <p:cNvPr id="10" name="Straight Connector 9"/>
          <p:cNvCxnSpPr>
            <a:endCxn id="8" idx="1"/>
          </p:cNvCxnSpPr>
          <p:nvPr/>
        </p:nvCxnSpPr>
        <p:spPr>
          <a:xfrm flipV="1">
            <a:off x="4114800" y="1810435"/>
            <a:ext cx="1143000" cy="17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286000" y="2057400"/>
            <a:ext cx="301022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16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38175" y="1154668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3: Don’t. Pivot for items that grow slowly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19" y="1823736"/>
            <a:ext cx="3582681" cy="2052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PIVOT (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SUM(Sales)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StoreID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 IN (</a:t>
            </a:r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1], [2],</a:t>
            </a:r>
          </a:p>
          <a:p>
            <a:r>
              <a:rPr lang="en-US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[3], [4],</a:t>
            </a:r>
          </a:p>
          <a:p>
            <a:r>
              <a:rPr lang="en-US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[5])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I manage my VTCs?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5657354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988F24-72A9-D4BC-BE31-DC6C31B9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62" y="2051446"/>
            <a:ext cx="4993519" cy="9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21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the dynamic PIVOT (by Cursor)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3174643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1498764"/>
            <a:ext cx="5257800" cy="507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MAX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7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0000FF"/>
              </a:solidFill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MAX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SELECT PivotResults.*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FROM ( ... ) AS </a:t>
            </a:r>
            <a:r>
              <a:rPr lang="en-US" sz="900" dirty="0" err="1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RawData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PIVOT (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SUM(Sales)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FOR [Year]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IN ('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')'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) AS </a:t>
            </a:r>
            <a:r>
              <a:rPr lang="en-US" sz="900" dirty="0" err="1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PivotResults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ORDER BY 1 ASC; 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EXEC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SQLStmt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1703446"/>
            <a:ext cx="3962400" cy="2906180"/>
          </a:xfrm>
          <a:prstGeom prst="rect">
            <a:avLst/>
          </a:prstGeom>
          <a:solidFill>
            <a:srgbClr val="FFFFCB"/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CURSOR LOCAL FAST_FORWARD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FOR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SELECT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DISTINCT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[Year]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FROM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...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ORDER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BY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[Year]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50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integer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0</a:t>
            </a: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OPEN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FETCH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NEXT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FROM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INTO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6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WHILE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@@FETCH_STATUS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0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BEGIN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1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IF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rowcount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&gt;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1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','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'['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']'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FETCH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NEXT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FROM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INTO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@variable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END</a:t>
            </a:r>
          </a:p>
          <a:p>
            <a:pPr>
              <a:lnSpc>
                <a:spcPct val="115000"/>
              </a:lnSpc>
            </a:pPr>
            <a:endParaRPr lang="en-US" sz="600" dirty="0">
              <a:solidFill>
                <a:srgbClr val="0000FF"/>
              </a:solidFill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CLOSE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r>
              <a:rPr lang="en-US" sz="9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;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DEALLOCATE</a:t>
            </a:r>
            <a:r>
              <a:rPr lang="en-US" sz="9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9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Cursor_VTCNames</a:t>
            </a:r>
            <a:endParaRPr lang="en-US" sz="900" dirty="0">
              <a:latin typeface="Lucida Console" pitchFamily="49" charset="0"/>
              <a:ea typeface="Calibri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7800" y="1487269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Organize your columns into a logical order, affects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7010" y="3688978"/>
            <a:ext cx="300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Ensures the first column is sorted, regardless of </a:t>
            </a:r>
            <a:r>
              <a:rPr lang="en-US" dirty="0" err="1"/>
              <a:t>datatype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4267200" y="3987293"/>
            <a:ext cx="1042630" cy="226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438400" y="6248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77010" y="2362200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unique data to become columns in the output</a:t>
            </a:r>
          </a:p>
          <a:p>
            <a:r>
              <a:rPr lang="en-US" dirty="0"/>
              <a:t>(Probably should be indexed)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05385" y="2057400"/>
            <a:ext cx="10163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do I manage my VTCs? (2/3)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0668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2: Use dynamic SQL (with cursor)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5647378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ý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Not supported by views</a:t>
            </a:r>
          </a:p>
        </p:txBody>
      </p:sp>
      <p:cxnSp>
        <p:nvCxnSpPr>
          <p:cNvPr id="10" name="Straight Connector 9"/>
          <p:cNvCxnSpPr>
            <a:endCxn id="8" idx="1"/>
          </p:cNvCxnSpPr>
          <p:nvPr/>
        </p:nvCxnSpPr>
        <p:spPr>
          <a:xfrm flipV="1">
            <a:off x="4114800" y="1810435"/>
            <a:ext cx="1143000" cy="17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286000" y="2057400"/>
            <a:ext cx="301022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833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1498764"/>
            <a:ext cx="518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  <a:ea typeface="Calibri"/>
                <a:cs typeface="Times New Roman"/>
              </a:rPr>
              <a:t>DECLARE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12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MAX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);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DECLARE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varchar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1200" dirty="0">
                <a:solidFill>
                  <a:srgbClr val="FF00FF"/>
                </a:solidFill>
                <a:latin typeface="Lucida Console" pitchFamily="49" charset="0"/>
                <a:ea typeface="Calibri"/>
                <a:cs typeface="Times New Roman"/>
              </a:rPr>
              <a:t>MAX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);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SELECT PivotResults.* 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FROM ( ... ) AS </a:t>
            </a:r>
            <a:r>
              <a:rPr lang="en-US" sz="1200" dirty="0" err="1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RawData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 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PIVOT ( 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SUM(Sales) 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FOR [Year] 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 IN ('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')'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 ) AS </a:t>
            </a:r>
            <a:r>
              <a:rPr lang="en-US" sz="1200" dirty="0" err="1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PivotResults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SET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=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+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itchFamily="49" charset="0"/>
                <a:ea typeface="Calibri"/>
                <a:cs typeface="Times New Roman"/>
              </a:rPr>
              <a:t>' ORDER BY 1 ASC; '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Lucida Console" pitchFamily="49" charset="0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Lucida Console" pitchFamily="49" charset="0"/>
                <a:ea typeface="Calibri"/>
                <a:cs typeface="Times New Roman"/>
              </a:rPr>
              <a:t>EXEC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(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Stmt</a:t>
            </a:r>
            <a:r>
              <a:rPr lang="en-US" sz="1200" dirty="0">
                <a:solidFill>
                  <a:srgbClr val="808080"/>
                </a:solidFill>
                <a:latin typeface="Lucida Console" pitchFamily="49" charset="0"/>
                <a:ea typeface="Calibri"/>
                <a:cs typeface="Times New Roman"/>
              </a:rPr>
              <a:t>)</a:t>
            </a:r>
            <a:endParaRPr lang="en-US" sz="1200" dirty="0">
              <a:latin typeface="Lucida Console" pitchFamily="49" charset="0"/>
              <a:ea typeface="Calibri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35401" y="4544854"/>
            <a:ext cx="300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Ensures the first column is sorted, regardless of </a:t>
            </a:r>
            <a:r>
              <a:rPr lang="en-US" dirty="0" err="1"/>
              <a:t>datatype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4463801" y="4868019"/>
            <a:ext cx="1327399" cy="646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590800" y="551435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do I manage my VTCs? (2/3)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0668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2: Use dynamic SQL </a:t>
            </a:r>
            <a:r>
              <a:rPr lang="en-US" b="1" dirty="0">
                <a:solidFill>
                  <a:srgbClr val="FF0000"/>
                </a:solidFill>
              </a:rPr>
              <a:t>(by FOR XML)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5401" y="1996182"/>
            <a:ext cx="3009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XML transform to build a comma-separated, ordered, braced-value list</a:t>
            </a:r>
          </a:p>
          <a:p>
            <a:r>
              <a:rPr lang="en-US" dirty="0"/>
              <a:t>- A “pivot” in itself!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257800" y="5647378"/>
            <a:ext cx="3505200" cy="923330"/>
            <a:chOff x="5486400" y="5647378"/>
            <a:chExt cx="3505200" cy="923330"/>
          </a:xfrm>
        </p:grpSpPr>
        <p:sp>
          <p:nvSpPr>
            <p:cNvPr id="18" name="Rectangle 17"/>
            <p:cNvSpPr/>
            <p:nvPr/>
          </p:nvSpPr>
          <p:spPr>
            <a:xfrm>
              <a:off x="5492501" y="5647378"/>
              <a:ext cx="349909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Font typeface="Wingdings"/>
                <a:buChar char="þ"/>
              </a:pPr>
              <a:r>
                <a:rPr lang="en-US" dirty="0"/>
                <a:t>Supported by ad-hoc queries</a:t>
              </a:r>
            </a:p>
            <a:p>
              <a:pPr marL="285750" indent="-285750">
                <a:buFont typeface="Wingdings"/>
                <a:buChar char="þ"/>
              </a:pPr>
              <a:r>
                <a:rPr lang="en-US" dirty="0">
                  <a:latin typeface="+mj-lt"/>
                </a:rPr>
                <a:t>Supported by stored procedures</a:t>
              </a:r>
            </a:p>
            <a:p>
              <a:pPr marL="285750" indent="-285750">
                <a:buFont typeface="Wingdings"/>
                <a:buChar char="ý"/>
              </a:pPr>
              <a:r>
                <a:rPr lang="en-US" dirty="0">
                  <a:solidFill>
                    <a:srgbClr val="FF0000"/>
                  </a:solidFill>
                  <a:latin typeface="+mj-lt"/>
                </a:rPr>
                <a:t>Not supported by views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86400" y="6183868"/>
              <a:ext cx="34900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Wingdings" panose="05000000000000000000" pitchFamily="2" charset="2"/>
                </a:rPr>
                <a:t>ý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09600" y="1967805"/>
            <a:ext cx="5042257" cy="1384995"/>
          </a:xfrm>
          <a:prstGeom prst="rect">
            <a:avLst/>
          </a:prstGeom>
          <a:solidFill>
            <a:srgbClr val="FFFFCB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SET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@</a:t>
            </a:r>
            <a:r>
              <a:rPr lang="en-US" sz="1200" dirty="0" err="1">
                <a:solidFill>
                  <a:srgbClr val="008080"/>
                </a:solidFill>
                <a:latin typeface="Lucida Console" pitchFamily="49" charset="0"/>
                <a:ea typeface="Calibri"/>
                <a:cs typeface="Times New Roman"/>
              </a:rPr>
              <a:t>VTCNames</a:t>
            </a:r>
            <a:r>
              <a:rPr lang="en-US" sz="1200" dirty="0">
                <a:latin typeface="Lucida Console" pitchFamily="49" charset="0"/>
                <a:ea typeface="Calibri"/>
                <a:cs typeface="Times New Roman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Lucida Console" panose="020B0609040504020204" pitchFamily="49" charset="0"/>
              </a:rPr>
              <a:t>STUFF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(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(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  SELECT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', ['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+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Year 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+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']'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  FROM 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(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SELECT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DISTINCT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Year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FROM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... 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)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AS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T</a:t>
            </a: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  ORDER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BY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Year</a:t>
            </a: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  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XML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PATH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''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),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TYPE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).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value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'(./text())[1]'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'varchar(MAX)'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),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1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2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''</a:t>
            </a:r>
            <a:r>
              <a:rPr lang="en-US" sz="1200" dirty="0">
                <a:solidFill>
                  <a:srgbClr val="808080"/>
                </a:solidFill>
                <a:latin typeface="Lucida Console" panose="020B0609040504020204" pitchFamily="49" charset="0"/>
              </a:rPr>
              <a:t>);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024250" y="1905000"/>
            <a:ext cx="538350" cy="1529585"/>
            <a:chOff x="5024250" y="1975615"/>
            <a:chExt cx="663700" cy="1300985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5024250" y="1975615"/>
              <a:ext cx="6637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024250" y="3276600"/>
              <a:ext cx="6637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687950" y="1996182"/>
              <a:ext cx="0" cy="12804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/>
          <p:cNvCxnSpPr/>
          <p:nvPr/>
        </p:nvCxnSpPr>
        <p:spPr>
          <a:xfrm flipV="1">
            <a:off x="5562600" y="2330764"/>
            <a:ext cx="228600" cy="59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012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the dynamic PIVOT (by FOR XML)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1681319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a </a:t>
            </a:r>
            <a:r>
              <a:rPr lang="en-US" i="1" dirty="0"/>
              <a:t>n</a:t>
            </a:r>
            <a:r>
              <a:rPr lang="en-US" dirty="0"/>
              <a:t>-column PIVOT works…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256872"/>
            <a:ext cx="2808904" cy="3391328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810000" y="1246598"/>
            <a:ext cx="4648200" cy="2862322"/>
            <a:chOff x="3810000" y="1246598"/>
            <a:chExt cx="4648200" cy="2862322"/>
          </a:xfrm>
        </p:grpSpPr>
        <p:sp>
          <p:nvSpPr>
            <p:cNvPr id="11" name="Rectangle 10"/>
            <p:cNvSpPr/>
            <p:nvPr/>
          </p:nvSpPr>
          <p:spPr>
            <a:xfrm>
              <a:off x="3810000" y="1246598"/>
              <a:ext cx="4648200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dirty="0">
                  <a:latin typeface="Lucida Console" pitchFamily="49" charset="0"/>
                </a:rPr>
                <a:t> PivotResults.*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FROM</a:t>
              </a:r>
              <a:r>
                <a:rPr lang="en-US" dirty="0">
                  <a:latin typeface="Lucida Console" pitchFamily="49" charset="0"/>
                </a:rPr>
                <a:t> (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dirty="0">
                  <a:latin typeface="Lucida Console" pitchFamily="49" charset="0"/>
                </a:rPr>
                <a:t> Col1, Col2, Col3, Col4 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  FROM </a:t>
              </a:r>
              <a:r>
                <a:rPr lang="en-US" b="1" dirty="0">
                  <a:latin typeface="Lucida Console" pitchFamily="49" charset="0"/>
                </a:rPr>
                <a:t>...</a:t>
              </a:r>
              <a:endParaRPr lang="en-US" dirty="0">
                <a:latin typeface="Lucida Console" pitchFamily="49" charset="0"/>
              </a:endParaRPr>
            </a:p>
            <a:p>
              <a:r>
                <a:rPr lang="en-US" dirty="0">
                  <a:latin typeface="Lucida Console" pitchFamily="49" charset="0"/>
                </a:rPr>
                <a:t>  )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AS</a:t>
              </a:r>
              <a:r>
                <a:rPr lang="en-US" dirty="0">
                  <a:latin typeface="Lucida Console" pitchFamily="49" charset="0"/>
                </a:rPr>
                <a:t> </a:t>
              </a:r>
              <a:r>
                <a:rPr lang="en-US" dirty="0" err="1">
                  <a:latin typeface="Lucida Console" pitchFamily="49" charset="0"/>
                </a:rPr>
                <a:t>RawData</a:t>
              </a:r>
              <a:r>
                <a:rPr lang="en-US" dirty="0">
                  <a:latin typeface="Lucida Console" pitchFamily="49" charset="0"/>
                </a:rPr>
                <a:t>  </a:t>
              </a:r>
            </a:p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Lucida Console" pitchFamily="49" charset="0"/>
                </a:rPr>
                <a:t>PIVOT</a:t>
              </a:r>
              <a:r>
                <a:rPr lang="en-US" dirty="0">
                  <a:latin typeface="Lucida Console" pitchFamily="49" charset="0"/>
                </a:rPr>
                <a:t> (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rgbClr val="FF66FF"/>
                  </a:solidFill>
                  <a:latin typeface="Lucida Console" pitchFamily="49" charset="0"/>
                </a:rPr>
                <a:t>SUM</a:t>
              </a:r>
              <a:r>
                <a:rPr lang="en-US" dirty="0">
                  <a:latin typeface="Lucida Console" pitchFamily="49" charset="0"/>
                </a:rPr>
                <a:t>(Col3) 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FOR</a:t>
              </a:r>
              <a:r>
                <a:rPr lang="en-US" dirty="0">
                  <a:latin typeface="Lucida Console" pitchFamily="49" charset="0"/>
                </a:rPr>
                <a:t> [Col2] 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Lucida Console" pitchFamily="49" charset="0"/>
                </a:rPr>
                <a:t>IN</a:t>
              </a:r>
              <a:r>
                <a:rPr lang="en-US" dirty="0">
                  <a:latin typeface="Lucida Console" pitchFamily="49" charset="0"/>
                </a:rPr>
                <a:t> (   ,   ,    )</a:t>
              </a:r>
            </a:p>
            <a:p>
              <a:r>
                <a:rPr lang="en-US" dirty="0">
                  <a:latin typeface="Lucida Console" pitchFamily="49" charset="0"/>
                </a:rPr>
                <a:t> )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AS</a:t>
              </a:r>
              <a:r>
                <a:rPr lang="en-US" dirty="0">
                  <a:latin typeface="Lucida Console" pitchFamily="49" charset="0"/>
                </a:rPr>
                <a:t> </a:t>
              </a:r>
              <a:r>
                <a:rPr lang="en-US" dirty="0" err="1">
                  <a:latin typeface="Lucida Console" pitchFamily="49" charset="0"/>
                </a:rPr>
                <a:t>PivotResults</a:t>
              </a:r>
              <a:endParaRPr lang="en-US" dirty="0">
                <a:latin typeface="Lucida Console" pitchFamily="49" charset="0"/>
              </a:endParaRP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0600" y="3543300"/>
              <a:ext cx="352425" cy="19050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7317" y="3539144"/>
              <a:ext cx="367683" cy="19465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0717" y="3539144"/>
              <a:ext cx="367684" cy="194656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371600" y="1142254"/>
            <a:ext cx="4267200" cy="3734545"/>
            <a:chOff x="1371600" y="1142254"/>
            <a:chExt cx="4267200" cy="3734545"/>
          </a:xfrm>
        </p:grpSpPr>
        <p:sp>
          <p:nvSpPr>
            <p:cNvPr id="20" name="Rectangle 19"/>
            <p:cNvSpPr/>
            <p:nvPr/>
          </p:nvSpPr>
          <p:spPr>
            <a:xfrm>
              <a:off x="1371600" y="1142254"/>
              <a:ext cx="1447800" cy="3734545"/>
            </a:xfrm>
            <a:prstGeom prst="rect">
              <a:avLst/>
            </a:prstGeom>
            <a:noFill/>
            <a:ln w="635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0" y="2895600"/>
              <a:ext cx="1066800" cy="643544"/>
            </a:xfrm>
            <a:prstGeom prst="rect">
              <a:avLst/>
            </a:prstGeom>
            <a:noFill/>
            <a:ln w="635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5" idx="1"/>
            </p:cNvCxnSpPr>
            <p:nvPr/>
          </p:nvCxnSpPr>
          <p:spPr>
            <a:xfrm flipH="1" flipV="1">
              <a:off x="2819400" y="2438400"/>
              <a:ext cx="1752600" cy="778972"/>
            </a:xfrm>
            <a:prstGeom prst="line">
              <a:avLst/>
            </a:prstGeom>
            <a:ln w="635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30" y="1256872"/>
            <a:ext cx="2809875" cy="33909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95" y="1256872"/>
            <a:ext cx="2943225" cy="340042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58" y="1256444"/>
            <a:ext cx="2981325" cy="38671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9520" y="1057617"/>
            <a:ext cx="244049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Non-pivots  </a:t>
            </a: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                Pivots</a:t>
            </a:r>
            <a:endParaRPr 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537075" y="1786262"/>
            <a:ext cx="689549" cy="3204088"/>
            <a:chOff x="2537075" y="1786262"/>
            <a:chExt cx="689549" cy="320408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8791" y="1786262"/>
              <a:ext cx="687833" cy="678601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8791" y="2795047"/>
              <a:ext cx="687833" cy="678601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8790" y="3544148"/>
              <a:ext cx="687833" cy="678601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7075" y="4311749"/>
              <a:ext cx="687833" cy="678601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2925" y="4108920"/>
            <a:ext cx="3619500" cy="2571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5731" y="4108920"/>
            <a:ext cx="3590925" cy="2552700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457200" y="2095930"/>
            <a:ext cx="1906573" cy="4429469"/>
            <a:chOff x="457200" y="2095930"/>
            <a:chExt cx="1906573" cy="4429469"/>
          </a:xfrm>
        </p:grpSpPr>
        <p:cxnSp>
          <p:nvCxnSpPr>
            <p:cNvPr id="36" name="Straight Connector 35"/>
            <p:cNvCxnSpPr/>
            <p:nvPr/>
          </p:nvCxnSpPr>
          <p:spPr>
            <a:xfrm flipH="1" flipV="1">
              <a:off x="479072" y="2125563"/>
              <a:ext cx="15160" cy="2998031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11528" y="5325070"/>
              <a:ext cx="185224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Horizontal separation of “DISTINCT” combos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57200" y="3074147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457200" y="3823248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472360" y="4597097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472360" y="5063394"/>
              <a:ext cx="197333" cy="261675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461115" y="2095930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4561" y="4112054"/>
            <a:ext cx="3599213" cy="25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5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Questions about the PIVOT operator?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048000"/>
            <a:ext cx="662940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Coming up next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UNPIVOT operator…</a:t>
            </a:r>
          </a:p>
        </p:txBody>
      </p:sp>
    </p:spTree>
    <p:extLst>
      <p:ext uri="{BB962C8B-B14F-4D97-AF65-F5344CB8AC3E}">
        <p14:creationId xmlns:p14="http://schemas.microsoft.com/office/powerpoint/2010/main" val="64945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Converting Horizontal Data to Vertical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373528" y="1524000"/>
            <a:ext cx="480236" cy="0"/>
          </a:xfrm>
          <a:prstGeom prst="straightConnector1">
            <a:avLst/>
          </a:prstGeom>
          <a:ln w="4445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865033"/>
              </p:ext>
            </p:extLst>
          </p:nvPr>
        </p:nvGraphicFramePr>
        <p:xfrm>
          <a:off x="533400" y="1313069"/>
          <a:ext cx="3739007" cy="421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83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Primary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Secondary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LOUSISWPS130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498254"/>
              </p:ext>
            </p:extLst>
          </p:nvPr>
        </p:nvGraphicFramePr>
        <p:xfrm>
          <a:off x="4953000" y="1272813"/>
          <a:ext cx="3507535" cy="632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81000" y="1541504"/>
            <a:ext cx="8545409" cy="3843009"/>
            <a:chOff x="381000" y="1541504"/>
            <a:chExt cx="8545409" cy="3843009"/>
          </a:xfrm>
        </p:grpSpPr>
        <p:sp>
          <p:nvSpPr>
            <p:cNvPr id="11" name="TextBox 10"/>
            <p:cNvSpPr txBox="1"/>
            <p:nvPr/>
          </p:nvSpPr>
          <p:spPr>
            <a:xfrm>
              <a:off x="381000" y="2602469"/>
              <a:ext cx="5638800" cy="2782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  SELECT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onsolas"/>
                  <a:ea typeface="Calibri"/>
                  <a:cs typeface="Times New Roman"/>
                </a:rPr>
                <a:t>    </a:t>
              </a:r>
              <a:r>
                <a:rPr lang="en-US" sz="17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FF0000"/>
                  </a:solidFill>
                  <a:latin typeface="Consolas"/>
                  <a:ea typeface="Calibri"/>
                  <a:cs typeface="Times New Roman"/>
                </a:rPr>
                <a:t>'Primary Contact'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PropertyName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onsolas"/>
                  <a:ea typeface="Calibri"/>
                  <a:cs typeface="Times New Roman"/>
                </a:rPr>
                <a:t>    </a:t>
              </a:r>
              <a:r>
                <a:rPr lang="en-US" sz="17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[Primary Contact]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PropertyValue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  </a:t>
              </a:r>
            </a:p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  FROM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[Table2]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008080"/>
                  </a:solidFill>
                  <a:highlight>
                    <a:srgbClr val="FFFF00"/>
                  </a:highlight>
                  <a:latin typeface="Consolas"/>
                  <a:ea typeface="Calibri"/>
                  <a:cs typeface="Times New Roman"/>
                </a:rPr>
                <a:t>UNION ALL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SELECT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ServerName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onsolas"/>
                  <a:ea typeface="Calibri"/>
                  <a:cs typeface="Times New Roman"/>
                </a:rPr>
                <a:t>    </a:t>
              </a:r>
              <a:r>
                <a:rPr lang="en-US" sz="17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,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FF0000"/>
                  </a:solidFill>
                  <a:latin typeface="Consolas"/>
                  <a:ea typeface="Calibri"/>
                  <a:cs typeface="Times New Roman"/>
                </a:rPr>
                <a:t>'Secondary Contact'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PropertyName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808080"/>
                  </a:solidFill>
                  <a:latin typeface="Consolas"/>
                  <a:ea typeface="Calibri"/>
                  <a:cs typeface="Times New Roman"/>
                </a:rPr>
                <a:t>    ,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[Secondary Contact]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AS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PropertyValue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endParaRPr lang="en-US" sz="1700" dirty="0">
                <a:ea typeface="Calibri"/>
                <a:cs typeface="Times New Roman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onsolas"/>
                  <a:ea typeface="Calibri"/>
                  <a:cs typeface="Times New Roman"/>
                </a:rPr>
                <a:t>  </a:t>
              </a:r>
              <a:r>
                <a:rPr lang="en-US" sz="1700" dirty="0">
                  <a:solidFill>
                    <a:srgbClr val="0000FF"/>
                  </a:solidFill>
                  <a:latin typeface="Consolas"/>
                  <a:ea typeface="Calibri"/>
                  <a:cs typeface="Times New Roman"/>
                </a:rPr>
                <a:t>FROM</a:t>
              </a:r>
              <a:r>
                <a:rPr lang="en-US" sz="1700" dirty="0">
                  <a:latin typeface="Consolas"/>
                  <a:ea typeface="Calibri"/>
                  <a:cs typeface="Times New Roman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onsolas"/>
                  <a:ea typeface="Calibri"/>
                  <a:cs typeface="Times New Roman"/>
                </a:rPr>
                <a:t>[Table2]</a:t>
              </a:r>
              <a:endParaRPr lang="en-US" sz="1700" dirty="0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4787877" y="1541504"/>
              <a:ext cx="4138532" cy="3511033"/>
              <a:chOff x="4819075" y="1518166"/>
              <a:chExt cx="4138532" cy="3511033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7086600" y="3589090"/>
                <a:ext cx="457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+</a:t>
                </a:r>
                <a:endParaRPr lang="en-US" dirty="0"/>
              </a:p>
            </p:txBody>
          </p:sp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2932" y="2847974"/>
                <a:ext cx="3076575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2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2932" y="4295774"/>
                <a:ext cx="3114675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Connector 24"/>
              <p:cNvCxnSpPr/>
              <p:nvPr/>
            </p:nvCxnSpPr>
            <p:spPr>
              <a:xfrm flipV="1">
                <a:off x="7445100" y="2139434"/>
                <a:ext cx="1425298" cy="1289566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/>
              <p:nvPr/>
            </p:nvCxnSpPr>
            <p:spPr>
              <a:xfrm flipH="1">
                <a:off x="8534400" y="1528326"/>
                <a:ext cx="335998" cy="0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8870398" y="1518166"/>
                <a:ext cx="0" cy="6212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4819075" y="1805462"/>
                <a:ext cx="165123" cy="0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V="1">
                <a:off x="4819075" y="1805462"/>
                <a:ext cx="0" cy="30480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 flipV="1">
                <a:off x="4819075" y="2110262"/>
                <a:ext cx="1023858" cy="2552226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7031520" y="567792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2160" y="566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/>
          <p:cNvSpPr txBox="1"/>
          <p:nvPr/>
        </p:nvSpPr>
        <p:spPr>
          <a:xfrm>
            <a:off x="381000" y="5340786"/>
            <a:ext cx="174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UNION ALL...</a:t>
            </a:r>
            <a:endParaRPr lang="en-US" dirty="0">
              <a:ea typeface="Calibri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1000" y="5710118"/>
            <a:ext cx="174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UNION ALL...</a:t>
            </a:r>
            <a:endParaRPr lang="en-US" dirty="0">
              <a:ea typeface="Calibri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" y="6070055"/>
            <a:ext cx="174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UNION ALL...</a:t>
            </a:r>
            <a:endParaRPr lang="en-US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792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“Imagine” how this would apply to data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96" y="2158444"/>
            <a:ext cx="826503" cy="233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835147" y="467899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Vertical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7758" y="465510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Horizontal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3876" y="16129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More rows, less columns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16" y="1739500"/>
            <a:ext cx="3000375" cy="278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25" y="2991405"/>
            <a:ext cx="1552575" cy="1114425"/>
          </a:xfrm>
          <a:prstGeom prst="rect">
            <a:avLst/>
          </a:prstGeom>
        </p:spPr>
      </p:pic>
      <p:sp>
        <p:nvSpPr>
          <p:cNvPr id="12" name="Circular Arrow 11"/>
          <p:cNvSpPr/>
          <p:nvPr/>
        </p:nvSpPr>
        <p:spPr>
          <a:xfrm rot="6094343" flipV="1">
            <a:off x="1230214" y="2422652"/>
            <a:ext cx="1683257" cy="1720974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46719"/>
              <a:gd name="adj5" fmla="val 21268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07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ular Arrow 8"/>
          <p:cNvSpPr/>
          <p:nvPr/>
        </p:nvSpPr>
        <p:spPr>
          <a:xfrm rot="18036419" flipV="1">
            <a:off x="5915892" y="1256846"/>
            <a:ext cx="1683257" cy="1716708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46719"/>
              <a:gd name="adj5" fmla="val 212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534150" y="3558523"/>
            <a:ext cx="1486365" cy="1748550"/>
            <a:chOff x="513663" y="2412194"/>
            <a:chExt cx="1486365" cy="1748550"/>
          </a:xfrm>
        </p:grpSpPr>
        <p:sp>
          <p:nvSpPr>
            <p:cNvPr id="10" name="Circular Arrow 9"/>
            <p:cNvSpPr/>
            <p:nvPr/>
          </p:nvSpPr>
          <p:spPr>
            <a:xfrm rot="18036419" flipV="1">
              <a:off x="493601" y="2654317"/>
              <a:ext cx="1526489" cy="1486365"/>
            </a:xfrm>
            <a:prstGeom prst="circularArrow">
              <a:avLst>
                <a:gd name="adj1" fmla="val 11239"/>
                <a:gd name="adj2" fmla="val 749802"/>
                <a:gd name="adj3" fmla="val 17590145"/>
                <a:gd name="adj4" fmla="val 7303518"/>
                <a:gd name="adj5" fmla="val 2142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842157" y="2412194"/>
              <a:ext cx="0" cy="914400"/>
            </a:xfrm>
            <a:prstGeom prst="line">
              <a:avLst/>
            </a:prstGeom>
            <a:ln w="17462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80357" y="2412194"/>
              <a:ext cx="0" cy="914400"/>
            </a:xfrm>
            <a:prstGeom prst="line">
              <a:avLst/>
            </a:prstGeom>
            <a:ln w="17462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1251377" y="783859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An UNPIVOT demotes column headers into data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98700" y="3846731"/>
            <a:ext cx="4961876" cy="1174683"/>
            <a:chOff x="1098700" y="3846731"/>
            <a:chExt cx="4961876" cy="1174683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8700" y="3846731"/>
              <a:ext cx="4961876" cy="1102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197955" y="4190322"/>
              <a:ext cx="492867" cy="279358"/>
            </a:xfrm>
            <a:prstGeom prst="rect">
              <a:avLst/>
            </a:prstGeom>
            <a:noFill/>
            <a:ln w="635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ircular Arrow 19"/>
            <p:cNvSpPr/>
            <p:nvPr/>
          </p:nvSpPr>
          <p:spPr>
            <a:xfrm rot="2245769" flipV="1">
              <a:off x="1106781" y="4083179"/>
              <a:ext cx="900850" cy="938235"/>
            </a:xfrm>
            <a:prstGeom prst="circularArrow">
              <a:avLst>
                <a:gd name="adj1" fmla="val 12348"/>
                <a:gd name="adj2" fmla="val 995287"/>
                <a:gd name="adj3" fmla="val 20037110"/>
                <a:gd name="adj4" fmla="val 5965823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537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381000" y="4343400"/>
            <a:ext cx="3114675" cy="1770098"/>
            <a:chOff x="381000" y="4343400"/>
            <a:chExt cx="3114675" cy="1770098"/>
          </a:xfrm>
        </p:grpSpPr>
        <p:sp>
          <p:nvSpPr>
            <p:cNvPr id="8" name="Down Arrow 7"/>
            <p:cNvSpPr/>
            <p:nvPr/>
          </p:nvSpPr>
          <p:spPr>
            <a:xfrm>
              <a:off x="1600200" y="4343400"/>
              <a:ext cx="685800" cy="471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4970498"/>
              <a:ext cx="3114675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an UNPIVOT works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58401" y="4876800"/>
            <a:ext cx="2546881" cy="1334525"/>
            <a:chOff x="958401" y="4837675"/>
            <a:chExt cx="2546881" cy="1334525"/>
          </a:xfrm>
        </p:grpSpPr>
        <p:sp>
          <p:nvSpPr>
            <p:cNvPr id="22" name="Circular Arrow 21"/>
            <p:cNvSpPr/>
            <p:nvPr/>
          </p:nvSpPr>
          <p:spPr>
            <a:xfrm rot="18036419" flipV="1">
              <a:off x="948710" y="485935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Circular Arrow 22"/>
            <p:cNvSpPr/>
            <p:nvPr/>
          </p:nvSpPr>
          <p:spPr>
            <a:xfrm rot="18036419" flipV="1">
              <a:off x="1588582" y="484736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Circular Arrow 23"/>
            <p:cNvSpPr/>
            <p:nvPr/>
          </p:nvSpPr>
          <p:spPr>
            <a:xfrm rot="18036419" flipV="1">
              <a:off x="2228453" y="484736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Circular Arrow 24"/>
            <p:cNvSpPr/>
            <p:nvPr/>
          </p:nvSpPr>
          <p:spPr>
            <a:xfrm rot="18036419" flipV="1">
              <a:off x="2868325" y="4859357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Circular Arrow 25"/>
            <p:cNvSpPr/>
            <p:nvPr/>
          </p:nvSpPr>
          <p:spPr>
            <a:xfrm rot="18036419" flipV="1">
              <a:off x="972012" y="553524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ircular Arrow 26"/>
            <p:cNvSpPr/>
            <p:nvPr/>
          </p:nvSpPr>
          <p:spPr>
            <a:xfrm rot="18036419" flipV="1">
              <a:off x="1588583" y="5535245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Circular Arrow 27"/>
            <p:cNvSpPr/>
            <p:nvPr/>
          </p:nvSpPr>
          <p:spPr>
            <a:xfrm rot="18036419" flipV="1">
              <a:off x="2228454" y="5535245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Circular Arrow 28"/>
            <p:cNvSpPr/>
            <p:nvPr/>
          </p:nvSpPr>
          <p:spPr>
            <a:xfrm rot="18036419" flipV="1">
              <a:off x="2868327" y="5535245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22" y="4913348"/>
            <a:ext cx="280987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545275" y="1143000"/>
            <a:ext cx="706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17" y="1299150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390525" y="2362200"/>
            <a:ext cx="3105150" cy="1857375"/>
            <a:chOff x="390525" y="2362200"/>
            <a:chExt cx="3105150" cy="1857375"/>
          </a:xfrm>
        </p:grpSpPr>
        <p:sp>
          <p:nvSpPr>
            <p:cNvPr id="3" name="Down Arrow 2"/>
            <p:cNvSpPr/>
            <p:nvPr/>
          </p:nvSpPr>
          <p:spPr>
            <a:xfrm>
              <a:off x="1600200" y="2362200"/>
              <a:ext cx="685800" cy="471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525" y="2971800"/>
              <a:ext cx="3105150" cy="1247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20"/>
          <p:cNvGrpSpPr/>
          <p:nvPr/>
        </p:nvGrpSpPr>
        <p:grpSpPr>
          <a:xfrm>
            <a:off x="3692818" y="1143000"/>
            <a:ext cx="3717629" cy="3672090"/>
            <a:chOff x="3692818" y="1143000"/>
            <a:chExt cx="3717629" cy="3672090"/>
          </a:xfrm>
        </p:grpSpPr>
        <p:cxnSp>
          <p:nvCxnSpPr>
            <p:cNvPr id="31" name="Straight Arrow Connector 30"/>
            <p:cNvCxnSpPr/>
            <p:nvPr/>
          </p:nvCxnSpPr>
          <p:spPr>
            <a:xfrm flipV="1">
              <a:off x="3692818" y="2204677"/>
              <a:ext cx="1412582" cy="2610413"/>
            </a:xfrm>
            <a:prstGeom prst="straightConnector1">
              <a:avLst/>
            </a:prstGeom>
            <a:ln w="793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72" y="1143000"/>
              <a:ext cx="1933575" cy="215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7" name="Straight Connector 16"/>
            <p:cNvCxnSpPr/>
            <p:nvPr/>
          </p:nvCxnSpPr>
          <p:spPr>
            <a:xfrm flipV="1">
              <a:off x="5935980" y="1299150"/>
              <a:ext cx="312420" cy="2248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5935980" y="2485619"/>
              <a:ext cx="312420" cy="2248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5414959" y="3489199"/>
            <a:ext cx="2057400" cy="2966057"/>
            <a:chOff x="5414959" y="3489199"/>
            <a:chExt cx="2057400" cy="2966057"/>
          </a:xfrm>
        </p:grpSpPr>
        <p:sp>
          <p:nvSpPr>
            <p:cNvPr id="45" name="Down Arrow 44"/>
            <p:cNvSpPr/>
            <p:nvPr/>
          </p:nvSpPr>
          <p:spPr>
            <a:xfrm>
              <a:off x="6034086" y="3489199"/>
              <a:ext cx="685800" cy="471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26" name="Picture 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4959" y="4159731"/>
              <a:ext cx="2057400" cy="229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Group 33"/>
          <p:cNvGrpSpPr/>
          <p:nvPr/>
        </p:nvGrpSpPr>
        <p:grpSpPr>
          <a:xfrm>
            <a:off x="6781800" y="4419600"/>
            <a:ext cx="1797999" cy="2035656"/>
            <a:chOff x="6781800" y="4419600"/>
            <a:chExt cx="1797999" cy="2035656"/>
          </a:xfrm>
        </p:grpSpPr>
        <p:sp>
          <p:nvSpPr>
            <p:cNvPr id="32" name="Rectangle 31"/>
            <p:cNvSpPr/>
            <p:nvPr/>
          </p:nvSpPr>
          <p:spPr>
            <a:xfrm>
              <a:off x="6781800" y="4419600"/>
              <a:ext cx="690559" cy="2035656"/>
            </a:xfrm>
            <a:prstGeom prst="rect">
              <a:avLst/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36799" y="5200123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Datatype</a:t>
              </a:r>
              <a:r>
                <a:rPr lang="en-US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410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Lowest Common Denominator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241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All run-time values merged by UNPIVOT must be able to fit in one common </a:t>
            </a:r>
            <a:r>
              <a:rPr lang="en-US" sz="2000" dirty="0" err="1"/>
              <a:t>datatype</a:t>
            </a:r>
            <a:r>
              <a:rPr lang="en-US" sz="2000" dirty="0"/>
              <a:t> without overflow (range of values), truncation (length of values), or collation (</a:t>
            </a:r>
            <a:r>
              <a:rPr lang="en-US" sz="2000" dirty="0" err="1"/>
              <a:t>unicode</a:t>
            </a:r>
            <a:r>
              <a:rPr lang="en-US" sz="2000" dirty="0"/>
              <a:t> / case-sensitivity) issues.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9724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Col1 =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Col2 = </a:t>
            </a:r>
            <a:r>
              <a:rPr lang="en-US" dirty="0" err="1"/>
              <a:t>bigint</a:t>
            </a:r>
            <a:endParaRPr lang="en-US" dirty="0"/>
          </a:p>
          <a:p>
            <a:r>
              <a:rPr lang="en-US" dirty="0"/>
              <a:t>Col3 = </a:t>
            </a:r>
            <a:r>
              <a:rPr lang="en-US" dirty="0" err="1"/>
              <a:t>varchar</a:t>
            </a:r>
            <a:r>
              <a:rPr lang="en-US" dirty="0"/>
              <a:t>(10)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3543" y="3728223"/>
            <a:ext cx="302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{Value} column may need to be </a:t>
            </a:r>
            <a:r>
              <a:rPr lang="en-US" dirty="0" err="1"/>
              <a:t>varchar</a:t>
            </a:r>
            <a:r>
              <a:rPr lang="en-US" dirty="0"/>
              <a:t>(20)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482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Col1 =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Col2 = </a:t>
            </a:r>
            <a:r>
              <a:rPr lang="en-US" dirty="0" err="1"/>
              <a:t>bigint</a:t>
            </a:r>
            <a:endParaRPr lang="en-US" dirty="0"/>
          </a:p>
          <a:p>
            <a:r>
              <a:rPr lang="en-US" dirty="0"/>
              <a:t>Col3 =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nvarchar</a:t>
            </a:r>
            <a:r>
              <a:rPr lang="en-US" dirty="0"/>
              <a:t>(50)</a:t>
            </a:r>
          </a:p>
          <a:p>
            <a:r>
              <a:rPr lang="en-US" dirty="0"/>
              <a:t>Col4 = </a:t>
            </a:r>
            <a:r>
              <a:rPr lang="en-US" dirty="0">
                <a:solidFill>
                  <a:schemeClr val="accent2"/>
                </a:solidFill>
              </a:rPr>
              <a:t>char</a:t>
            </a:r>
            <a:r>
              <a:rPr lang="en-US" dirty="0"/>
              <a:t>(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2000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3542" y="5063698"/>
            <a:ext cx="3025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{Value} column may need to 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0148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Col1 =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Col2 = </a:t>
            </a:r>
            <a:r>
              <a:rPr lang="en-US" dirty="0" err="1"/>
              <a:t>bigint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33543" y="2720147"/>
            <a:ext cx="302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{Value} column may need to be defined as </a:t>
            </a:r>
            <a:r>
              <a:rPr lang="en-US" dirty="0" err="1"/>
              <a:t>bigint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19800" y="5404627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nchar</a:t>
            </a:r>
            <a:r>
              <a:rPr lang="en-US" dirty="0"/>
              <a:t>(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2000</a:t>
            </a:r>
            <a:r>
              <a:rPr lang="en-US" dirty="0"/>
              <a:t>)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845268" y="3041421"/>
            <a:ext cx="2554290" cy="2748304"/>
            <a:chOff x="5845268" y="3041421"/>
            <a:chExt cx="2554290" cy="2748304"/>
          </a:xfrm>
        </p:grpSpPr>
        <p:grpSp>
          <p:nvGrpSpPr>
            <p:cNvPr id="25" name="Group 24"/>
            <p:cNvGrpSpPr/>
            <p:nvPr/>
          </p:nvGrpSpPr>
          <p:grpSpPr>
            <a:xfrm>
              <a:off x="5845268" y="3041421"/>
              <a:ext cx="2554290" cy="2748304"/>
              <a:chOff x="5845268" y="3041421"/>
              <a:chExt cx="2554290" cy="2748304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682801" y="4562706"/>
                <a:ext cx="1716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or smaller…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6819900" y="3041421"/>
                <a:ext cx="752857" cy="318478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845268" y="4042461"/>
                <a:ext cx="1169034" cy="318478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6019799" y="5471247"/>
                <a:ext cx="1326004" cy="318478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stCxn id="6" idx="2"/>
                <a:endCxn id="12" idx="0"/>
              </p:cNvCxnSpPr>
              <p:nvPr/>
            </p:nvCxnSpPr>
            <p:spPr>
              <a:xfrm>
                <a:off x="7196329" y="3359899"/>
                <a:ext cx="344851" cy="12028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6429785" y="4374554"/>
                <a:ext cx="304800" cy="2168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14" idx="0"/>
              </p:cNvCxnSpPr>
              <p:nvPr/>
            </p:nvCxnSpPr>
            <p:spPr>
              <a:xfrm flipV="1">
                <a:off x="6682801" y="4932039"/>
                <a:ext cx="479999" cy="539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/>
            <p:nvPr/>
          </p:nvSpPr>
          <p:spPr>
            <a:xfrm>
              <a:off x="6734585" y="4594909"/>
              <a:ext cx="1169034" cy="318478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042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68" y="1478093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Breakdown of UNPIVOT statement (1/5)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968" y="251460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70C0"/>
              </a:solidFill>
              <a:latin typeface="Lucida Console" pitchFamily="49" charset="0"/>
            </a:endParaRPr>
          </a:p>
          <a:p>
            <a:endParaRPr lang="en-US" dirty="0">
              <a:solidFill>
                <a:srgbClr val="0070C0"/>
              </a:solidFill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solidFill>
                <a:srgbClr val="0070C0"/>
              </a:solidFill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 err="1">
                <a:latin typeface="Lucida Console" pitchFamily="49" charset="0"/>
              </a:rPr>
              <a:t>PropertyValue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PropertyName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(Col1, Col2, Col3, [Col4])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895600" y="1219200"/>
            <a:ext cx="2781300" cy="4225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323968" y="1676400"/>
            <a:ext cx="3305432" cy="3947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9434" y="471818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on new column names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5105400" y="6016349"/>
            <a:ext cx="438150" cy="3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64815" y="5866390"/>
            <a:ext cx="3274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Braces required only when column name contains 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789" y="129239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Table_1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8195" y="376345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/>
              <a:t>UnpivotResults</a:t>
            </a:r>
            <a:endParaRPr lang="en-US" sz="1050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676900" y="1219200"/>
            <a:ext cx="1943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620000" y="1219200"/>
            <a:ext cx="0" cy="234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47809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4028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6968" y="251460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</a:p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b="1" dirty="0">
                <a:latin typeface="Lucida Console" pitchFamily="49" charset="0"/>
              </a:rPr>
              <a:t> (</a:t>
            </a:r>
          </a:p>
          <a:p>
            <a:r>
              <a:rPr lang="en-US" b="1" dirty="0">
                <a:latin typeface="Lucida Console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b="1" dirty="0">
                <a:latin typeface="Lucida Console" pitchFamily="49" charset="0"/>
              </a:rPr>
              <a:t> ID</a:t>
            </a:r>
          </a:p>
          <a:p>
            <a:r>
              <a:rPr lang="en-US" b="1" dirty="0">
                <a:latin typeface="Lucida Console" pitchFamily="49" charset="0"/>
              </a:rPr>
              <a:t>    , Col1</a:t>
            </a:r>
          </a:p>
          <a:p>
            <a:r>
              <a:rPr lang="en-US" b="1" dirty="0">
                <a:latin typeface="Lucida Console" pitchFamily="49" charset="0"/>
              </a:rPr>
              <a:t>    , Col2</a:t>
            </a:r>
          </a:p>
          <a:p>
            <a:r>
              <a:rPr lang="en-US" b="1" dirty="0">
                <a:latin typeface="Lucida Console" pitchFamily="49" charset="0"/>
              </a:rPr>
              <a:t>    , Col3</a:t>
            </a:r>
          </a:p>
          <a:p>
            <a:r>
              <a:rPr lang="en-US" b="1" dirty="0">
                <a:latin typeface="Lucida Console" pitchFamily="49" charset="0"/>
              </a:rPr>
              <a:t>    , Col4</a:t>
            </a:r>
          </a:p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  FROM</a:t>
            </a:r>
            <a:r>
              <a:rPr lang="en-US" b="1" dirty="0">
                <a:latin typeface="Lucida Console" pitchFamily="49" charset="0"/>
              </a:rPr>
              <a:t> dbo.Table_1</a:t>
            </a:r>
          </a:p>
          <a:p>
            <a:r>
              <a:rPr lang="en-US" b="1" dirty="0">
                <a:latin typeface="Lucida Console" pitchFamily="49" charset="0"/>
              </a:rPr>
              <a:t>  )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 err="1">
                <a:latin typeface="Lucida Console" pitchFamily="49" charset="0"/>
              </a:rPr>
              <a:t>PropertyValue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PropertyName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(Col1, Col2, Col3, Col4)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Breakdown of UNPIVOT statement (2/5)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905000" y="2362200"/>
            <a:ext cx="561589" cy="706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24021" y="2699266"/>
            <a:ext cx="1771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789" y="129239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8195" y="376345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232376" y="3429000"/>
            <a:ext cx="3177824" cy="865373"/>
            <a:chOff x="2232376" y="3429000"/>
            <a:chExt cx="3177824" cy="865373"/>
          </a:xfrm>
        </p:grpSpPr>
        <p:sp>
          <p:nvSpPr>
            <p:cNvPr id="2" name="TextBox 1"/>
            <p:cNvSpPr txBox="1"/>
            <p:nvPr/>
          </p:nvSpPr>
          <p:spPr>
            <a:xfrm>
              <a:off x="3595655" y="3429000"/>
              <a:ext cx="180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tinyint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09910" y="3925041"/>
              <a:ext cx="180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char(1)</a:t>
              </a:r>
            </a:p>
          </p:txBody>
        </p:sp>
        <p:cxnSp>
          <p:nvCxnSpPr>
            <p:cNvPr id="12" name="Straight Connector 11"/>
            <p:cNvCxnSpPr>
              <a:endCxn id="2" idx="1"/>
            </p:cNvCxnSpPr>
            <p:nvPr/>
          </p:nvCxnSpPr>
          <p:spPr>
            <a:xfrm>
              <a:off x="2232376" y="3546396"/>
              <a:ext cx="1363279" cy="672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endCxn id="2" idx="1"/>
            </p:cNvCxnSpPr>
            <p:nvPr/>
          </p:nvCxnSpPr>
          <p:spPr>
            <a:xfrm flipV="1">
              <a:off x="2254536" y="3613666"/>
              <a:ext cx="1341119" cy="163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endCxn id="2" idx="1"/>
            </p:cNvCxnSpPr>
            <p:nvPr/>
          </p:nvCxnSpPr>
          <p:spPr>
            <a:xfrm flipV="1">
              <a:off x="2254536" y="3613666"/>
              <a:ext cx="1341119" cy="4287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11" idx="1"/>
            </p:cNvCxnSpPr>
            <p:nvPr/>
          </p:nvCxnSpPr>
          <p:spPr>
            <a:xfrm flipV="1">
              <a:off x="2267674" y="4109707"/>
              <a:ext cx="1342236" cy="1510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68" y="1478093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47809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06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6968" y="251460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b="1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dirty="0">
                <a:latin typeface="Lucida Console" pitchFamily="49" charset="0"/>
              </a:rPr>
              <a:t>ID</a:t>
            </a:r>
          </a:p>
          <a:p>
            <a:r>
              <a:rPr lang="en-US" b="1" dirty="0">
                <a:latin typeface="Lucida Console" pitchFamily="49" charset="0"/>
              </a:rPr>
              <a:t>    </a:t>
            </a:r>
            <a:r>
              <a:rPr lang="en-US" dirty="0">
                <a:latin typeface="Lucida Console" pitchFamily="49" charset="0"/>
              </a:rPr>
              <a:t>,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b="1" dirty="0">
                <a:latin typeface="Lucida Console" pitchFamily="49" charset="0"/>
              </a:rPr>
              <a:t>(char(3),Col1)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b="1" dirty="0">
                <a:latin typeface="Lucida Console" pitchFamily="49" charset="0"/>
              </a:rPr>
              <a:t>Col1</a:t>
            </a:r>
          </a:p>
          <a:p>
            <a:r>
              <a:rPr lang="en-US" b="1" dirty="0">
                <a:latin typeface="Lucida Console" pitchFamily="49" charset="0"/>
              </a:rPr>
              <a:t>    </a:t>
            </a:r>
            <a:r>
              <a:rPr lang="en-US" dirty="0">
                <a:latin typeface="Lucida Console" pitchFamily="49" charset="0"/>
              </a:rPr>
              <a:t>,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b="1" dirty="0">
                <a:latin typeface="Lucida Console" pitchFamily="49" charset="0"/>
              </a:rPr>
              <a:t>(char(3),Col2)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b="1" dirty="0">
                <a:latin typeface="Lucida Console" pitchFamily="49" charset="0"/>
              </a:rPr>
              <a:t>Col2</a:t>
            </a:r>
          </a:p>
          <a:p>
            <a:r>
              <a:rPr lang="en-US" b="1" dirty="0">
                <a:latin typeface="Lucida Console" pitchFamily="49" charset="0"/>
              </a:rPr>
              <a:t>    </a:t>
            </a:r>
            <a:r>
              <a:rPr lang="en-US" dirty="0">
                <a:latin typeface="Lucida Console" pitchFamily="49" charset="0"/>
              </a:rPr>
              <a:t>,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b="1" dirty="0">
                <a:latin typeface="Lucida Console" pitchFamily="49" charset="0"/>
              </a:rPr>
              <a:t>(char(3),Col3)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b="1" dirty="0">
                <a:latin typeface="Lucida Console" pitchFamily="49" charset="0"/>
              </a:rPr>
              <a:t>Col3</a:t>
            </a:r>
          </a:p>
          <a:p>
            <a:r>
              <a:rPr lang="en-US" b="1" dirty="0">
                <a:latin typeface="Lucida Console" pitchFamily="49" charset="0"/>
              </a:rPr>
              <a:t>    </a:t>
            </a:r>
            <a:r>
              <a:rPr lang="en-US" dirty="0">
                <a:latin typeface="Lucida Console" pitchFamily="49" charset="0"/>
              </a:rPr>
              <a:t>, </a:t>
            </a:r>
            <a:r>
              <a:rPr lang="en-US" b="1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b="1" dirty="0">
                <a:latin typeface="Lucida Console" pitchFamily="49" charset="0"/>
              </a:rPr>
              <a:t>(char(3),Col4)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b="1" dirty="0">
                <a:latin typeface="Lucida Console" pitchFamily="49" charset="0"/>
              </a:rPr>
              <a:t>Col4</a:t>
            </a:r>
            <a:endParaRPr lang="en-US" dirty="0">
              <a:latin typeface="Lucida Console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b="1" dirty="0">
                <a:latin typeface="Lucida Console" pitchFamily="49" charset="0"/>
              </a:rPr>
              <a:t>  )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 err="1">
                <a:latin typeface="Lucida Console" pitchFamily="49" charset="0"/>
              </a:rPr>
              <a:t>PropertyValue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PropertyName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(Col1, Col2, Col3, Col4)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Breakdown of UNPIVOT statement (3/5)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5400" y="3352800"/>
            <a:ext cx="4503009" cy="11469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311611" y="2505670"/>
            <a:ext cx="254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 to common </a:t>
            </a:r>
          </a:p>
          <a:p>
            <a:r>
              <a:rPr lang="en-US" dirty="0" err="1"/>
              <a:t>datatypes</a:t>
            </a:r>
            <a:r>
              <a:rPr lang="en-US" dirty="0"/>
              <a:t> as necessary,</a:t>
            </a:r>
          </a:p>
        </p:txBody>
      </p:sp>
      <p:cxnSp>
        <p:nvCxnSpPr>
          <p:cNvPr id="11" name="Straight Connector 10"/>
          <p:cNvCxnSpPr>
            <a:endCxn id="3" idx="1"/>
          </p:cNvCxnSpPr>
          <p:nvPr/>
        </p:nvCxnSpPr>
        <p:spPr>
          <a:xfrm flipV="1">
            <a:off x="2590800" y="2828836"/>
            <a:ext cx="720811" cy="523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3886200" y="4080906"/>
            <a:ext cx="4724400" cy="1862694"/>
            <a:chOff x="3886200" y="4080906"/>
            <a:chExt cx="4724400" cy="1862694"/>
          </a:xfrm>
        </p:grpSpPr>
        <p:sp>
          <p:nvSpPr>
            <p:cNvPr id="13" name="TextBox 12"/>
            <p:cNvSpPr txBox="1"/>
            <p:nvPr/>
          </p:nvSpPr>
          <p:spPr>
            <a:xfrm>
              <a:off x="5509439" y="4702800"/>
              <a:ext cx="31011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Re-alias column name to itself,</a:t>
              </a:r>
            </a:p>
            <a:p>
              <a:r>
                <a:rPr lang="en-US" dirty="0"/>
                <a:t>for the UNPIVOT mappings to work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4953000" y="4080906"/>
              <a:ext cx="587044" cy="9901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86200" y="5071011"/>
              <a:ext cx="1653844" cy="872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303789" y="129239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8195" y="376345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68" y="1478093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47809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83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Breakdown of UNPIVOT statement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968" y="251460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(char(3),Col1)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dirty="0">
                <a:latin typeface="Lucida Console" pitchFamily="49" charset="0"/>
              </a:rPr>
              <a:t>Col1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(char(3),Col2)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dirty="0">
                <a:latin typeface="Lucida Console" pitchFamily="49" charset="0"/>
              </a:rPr>
              <a:t>Col2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(char(3),Col3)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dirty="0">
                <a:latin typeface="Lucida Console" pitchFamily="49" charset="0"/>
              </a:rPr>
              <a:t>Col3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(char(3),Col4)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 </a:t>
            </a:r>
            <a:r>
              <a:rPr lang="en-US" dirty="0">
                <a:latin typeface="Lucida Console" pitchFamily="49" charset="0"/>
              </a:rPr>
              <a:t>Col4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  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 err="1">
                <a:latin typeface="Lucida Console" pitchFamily="49" charset="0"/>
              </a:rPr>
              <a:t>RawData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 err="1">
                <a:latin typeface="Lucida Console" pitchFamily="49" charset="0"/>
              </a:rPr>
              <a:t>PropertyValue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PropertyName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(Col1, Col2, Col3, Col4)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 err="1">
                <a:latin typeface="Lucida Console" pitchFamily="49" charset="0"/>
              </a:rPr>
              <a:t>UnpivotResults</a:t>
            </a:r>
            <a:endParaRPr lang="en-US" b="1" dirty="0">
              <a:latin typeface="Lucida Console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1415" y="4902437"/>
            <a:ext cx="329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predicates must be named</a:t>
            </a:r>
          </a:p>
        </p:txBody>
      </p:sp>
      <p:cxnSp>
        <p:nvCxnSpPr>
          <p:cNvPr id="10" name="Straight Connector 9"/>
          <p:cNvCxnSpPr>
            <a:endCxn id="8" idx="1"/>
          </p:cNvCxnSpPr>
          <p:nvPr/>
        </p:nvCxnSpPr>
        <p:spPr>
          <a:xfrm>
            <a:off x="2733418" y="4902437"/>
            <a:ext cx="2637997" cy="18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8" idx="1"/>
          </p:cNvCxnSpPr>
          <p:nvPr/>
        </p:nvCxnSpPr>
        <p:spPr>
          <a:xfrm flipV="1">
            <a:off x="3581400" y="5087103"/>
            <a:ext cx="1790015" cy="1161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03789" y="129239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8195" y="376345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68" y="1478093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47809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0776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Breakdown of UNPIVOT statement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968" y="251460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 </a:t>
            </a:r>
            <a:r>
              <a:rPr lang="en-US" b="1" dirty="0">
                <a:latin typeface="Lucida Console" pitchFamily="49" charset="0"/>
              </a:rPr>
              <a:t>UnpivotResults.*</a:t>
            </a:r>
            <a:endParaRPr lang="en-US" dirty="0">
              <a:solidFill>
                <a:srgbClr val="0070C0"/>
              </a:solidFill>
              <a:latin typeface="Lucida Console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(char(3),Col1)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Col1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(char(3),Col2)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Col2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(char(3),Col3)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Col3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(char(3),Col4)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Col4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  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RawData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 err="1">
                <a:latin typeface="Lucida Console" pitchFamily="49" charset="0"/>
              </a:rPr>
              <a:t>PropertyValue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PropertyName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(Col1, Col2, Col3, Col4)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UnpivotResults</a:t>
            </a:r>
            <a:endParaRPr lang="en-US" dirty="0">
              <a:latin typeface="Lucida Console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1415" y="4902437"/>
            <a:ext cx="329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select the correct predicate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23270" y="2856470"/>
            <a:ext cx="1485215" cy="2267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8" idx="1"/>
          </p:cNvCxnSpPr>
          <p:nvPr/>
        </p:nvCxnSpPr>
        <p:spPr>
          <a:xfrm flipV="1">
            <a:off x="3581400" y="5087103"/>
            <a:ext cx="1790015" cy="1161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03789" y="129239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8195" y="376345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68" y="1478093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47809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1676400" y="2524208"/>
            <a:ext cx="2590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Lucida Console" pitchFamily="49" charset="0"/>
              </a:rPr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4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68" y="1478093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But what if there were NULLs in the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968" y="251460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 </a:t>
            </a:r>
            <a:r>
              <a:rPr lang="en-US" dirty="0">
                <a:latin typeface="Lucida Console" pitchFamily="49" charset="0"/>
              </a:rPr>
              <a:t>*</a:t>
            </a:r>
            <a:endParaRPr lang="en-US" dirty="0">
              <a:solidFill>
                <a:srgbClr val="0070C0"/>
              </a:solidFill>
              <a:latin typeface="Lucida Console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(char(3),Col1)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Col1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(char(3),Col2)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Col2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(char(3),Col3)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Col3</a:t>
            </a:r>
          </a:p>
          <a:p>
            <a:r>
              <a:rPr lang="en-US" dirty="0">
                <a:latin typeface="Lucida Console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Convert</a:t>
            </a:r>
            <a:r>
              <a:rPr lang="en-US" dirty="0">
                <a:latin typeface="Lucida Console" pitchFamily="49" charset="0"/>
              </a:rPr>
              <a:t>(char(3),Col4)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Col4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  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RawData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 err="1">
                <a:latin typeface="Lucida Console" pitchFamily="49" charset="0"/>
              </a:rPr>
              <a:t>PropertyValue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PropertyName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(Col1, Col2, Col3, Col4)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UnpivotResults</a:t>
            </a:r>
            <a:endParaRPr lang="en-US" dirty="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03789" y="129239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8195" y="376345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2808" y="1816267"/>
            <a:ext cx="38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89" y="1478093"/>
            <a:ext cx="31051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9083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an UNPIVOT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2267653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I use dynamic T-SQL with UNPIVOT?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1752600"/>
            <a:ext cx="4800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Probably, but you may not want to!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Challenges: 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Number of columns to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Datatype agreement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lengths (Max available vs. used)</a:t>
            </a:r>
          </a:p>
          <a:p>
            <a:pPr lvl="1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“Do you want NULLs with that?”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334000" y="1676400"/>
            <a:ext cx="3601673" cy="4013158"/>
            <a:chOff x="5334000" y="1676400"/>
            <a:chExt cx="3601673" cy="4013158"/>
          </a:xfrm>
        </p:grpSpPr>
        <p:pic>
          <p:nvPicPr>
            <p:cNvPr id="2050" name="Picture 2" descr="Data type conversion 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76400"/>
              <a:ext cx="2937756" cy="3724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5334000" y="5435642"/>
              <a:ext cx="360167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http://msdn.microsoft.com/en-us/library/ms191530.aspx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35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09675" y="1611868"/>
            <a:ext cx="111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50465"/>
            <a:ext cx="304800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ID</a:t>
            </a: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Col1</a:t>
            </a: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Col2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Col2</a:t>
            </a: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Col3</a:t>
            </a: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Col4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Col4</a:t>
            </a: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Table_1</a:t>
            </a: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PropertyValue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PropertyName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it-IT" sz="11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it-IT" sz="1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it-IT" sz="11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100" dirty="0">
                <a:solidFill>
                  <a:prstClr val="black"/>
                </a:solidFill>
                <a:latin typeface="Consolas" panose="020B0609020204030204" pitchFamily="49" charset="0"/>
              </a:rPr>
              <a:t> Col2</a:t>
            </a:r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100" dirty="0">
                <a:solidFill>
                  <a:prstClr val="black"/>
                </a:solidFill>
                <a:latin typeface="Consolas" panose="020B0609020204030204" pitchFamily="49" charset="0"/>
              </a:rPr>
              <a:t> Col3</a:t>
            </a:r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100" dirty="0">
                <a:solidFill>
                  <a:prstClr val="black"/>
                </a:solidFill>
                <a:latin typeface="Consolas" panose="020B0609020204030204" pitchFamily="49" charset="0"/>
              </a:rPr>
              <a:t> Col4</a:t>
            </a:r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it-IT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UnpivotResults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97659" y="1611868"/>
            <a:ext cx="149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CROSS APPLY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370916"/>
            <a:ext cx="2708724" cy="739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24402" y="2494228"/>
            <a:ext cx="407669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Table_1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u</a:t>
            </a:r>
          </a:p>
          <a:p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1100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'Col1'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'Col2'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Col2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'Col3'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'Col4'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Col4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x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PropertyName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PropertyValue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575239" y="4115952"/>
            <a:ext cx="8111561" cy="2438400"/>
            <a:chOff x="575239" y="4115952"/>
            <a:chExt cx="8111561" cy="2438400"/>
          </a:xfrm>
        </p:grpSpPr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239" y="4572000"/>
              <a:ext cx="2701361" cy="1654381"/>
            </a:xfrm>
            <a:prstGeom prst="rect">
              <a:avLst/>
            </a:prstGeom>
          </p:spPr>
        </p:pic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0" y="4572000"/>
              <a:ext cx="4114800" cy="1982352"/>
            </a:xfrm>
            <a:prstGeom prst="rect">
              <a:avLst/>
            </a:prstGeom>
          </p:spPr>
        </p:pic>
        <p:cxnSp>
          <p:nvCxnSpPr>
            <p:cNvPr id="97" name="Straight Connector 96"/>
            <p:cNvCxnSpPr/>
            <p:nvPr/>
          </p:nvCxnSpPr>
          <p:spPr>
            <a:xfrm>
              <a:off x="4191000" y="4115952"/>
              <a:ext cx="0" cy="2438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/>
          <p:cNvSpPr/>
          <p:nvPr/>
        </p:nvSpPr>
        <p:spPr>
          <a:xfrm>
            <a:off x="4953000" y="4495800"/>
            <a:ext cx="1600200" cy="2133600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24402" y="2494228"/>
            <a:ext cx="4076698" cy="14927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</a:rPr>
              <a:t>ID, </a:t>
            </a:r>
            <a:r>
              <a:rPr lang="en-US" sz="1400" b="1" dirty="0" err="1">
                <a:latin typeface="Consolas" panose="020B0609020204030204" pitchFamily="49" charset="0"/>
              </a:rPr>
              <a:t>PropertyName</a:t>
            </a:r>
            <a:r>
              <a:rPr lang="en-US" sz="1400" b="1" dirty="0">
                <a:latin typeface="Consolas" panose="020B0609020204030204" pitchFamily="49" charset="0"/>
              </a:rPr>
              <a:t>, </a:t>
            </a:r>
            <a:r>
              <a:rPr lang="en-US" sz="1400" b="1" dirty="0" err="1">
                <a:latin typeface="Consolas" panose="020B0609020204030204" pitchFamily="49" charset="0"/>
              </a:rPr>
              <a:t>PropertyValue</a:t>
            </a:r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Table_1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u</a:t>
            </a:r>
          </a:p>
          <a:p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1100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'Col1'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'Col2'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Col2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'Col3'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'Col4'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Col4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x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PropertyName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PropertyValue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4573152"/>
            <a:ext cx="4105275" cy="1981200"/>
          </a:xfrm>
          <a:prstGeom prst="rect">
            <a:avLst/>
          </a:prstGeom>
        </p:spPr>
      </p:pic>
      <p:sp>
        <p:nvSpPr>
          <p:cNvPr id="18" name="Title 17"/>
          <p:cNvSpPr txBox="1">
            <a:spLocks/>
          </p:cNvSpPr>
          <p:nvPr/>
        </p:nvSpPr>
        <p:spPr>
          <a:xfrm>
            <a:off x="-3810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CROSS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APPLY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-based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21" name="Picture 5" descr="http://tse1.mm.bing.net/th?id=JN.scj0hH9yCbNg8rmabqgggA&amp;w=104&amp;h=105&amp;c=7&amp;rs=1&amp;qlt=90&amp;pid=3.1&amp;rm=2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125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8" grpId="1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XML-based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@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MyString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20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'1 2 3 4 5'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0" indent="0">
              <a:buNone/>
            </a:pP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@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MyString_XML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XML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CAST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latin typeface="Consolas"/>
              </a:rPr>
              <a:t>  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'&lt;root&gt;&lt;item&gt;'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  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+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Replace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@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MyString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 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'&lt;/item&gt;&lt;item&gt;'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  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+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'&lt;/item&gt;&lt;/root&gt;'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XML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0" indent="0">
              <a:buNone/>
            </a:pP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t</a:t>
            </a:r>
            <a:r>
              <a:rPr lang="en-US" sz="2000" dirty="0" err="1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value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'.'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'varchar(max)'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blah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@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MyString_XML</a:t>
            </a:r>
            <a:r>
              <a:rPr lang="en-US" sz="2000" dirty="0" err="1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nodes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'//root/item'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a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t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10" name="Picture 5" descr="http://tse1.mm.bing.net/th?id=JN.scj0hH9yCbNg8rmabqgggA&amp;w=104&amp;h=105&amp;c=7&amp;rs=1&amp;qlt=90&amp;pid=3.1&amp;rm=2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time allows…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450" y="2971800"/>
            <a:ext cx="902950" cy="266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19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" panose="020F0502020204030204" pitchFamily="34" charset="0"/>
              </a:rPr>
              <a:t>The SQL 2016 </a:t>
            </a:r>
            <a:r>
              <a:rPr lang="en-US" sz="3400" dirty="0">
                <a:solidFill>
                  <a:srgbClr val="FF66FF"/>
                </a:solidFill>
                <a:latin typeface="Consolas" panose="020B0609020204030204" pitchFamily="49" charset="0"/>
              </a:rPr>
              <a:t>STRING_SPLIT</a:t>
            </a:r>
            <a:r>
              <a:rPr lang="en-US" sz="3400" dirty="0">
                <a:latin typeface="Calibri" panose="020F0502020204030204" pitchFamily="34" charset="0"/>
              </a:rPr>
              <a:t>-based </a:t>
            </a:r>
            <a:r>
              <a:rPr lang="en-US" sz="3400" dirty="0" err="1">
                <a:latin typeface="Calibri" panose="020F0502020204030204" pitchFamily="34" charset="0"/>
              </a:rPr>
              <a:t>unpivot</a:t>
            </a:r>
            <a:endParaRPr lang="en-US" sz="3400" dirty="0">
              <a:solidFill>
                <a:srgbClr val="FF66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DECLARE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</a:t>
            </a:r>
            <a:r>
              <a:rPr lang="en-US" sz="26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MyString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265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  <a:r>
              <a:rPr lang="en-US" sz="265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5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5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'1 2 3 4 5'</a:t>
            </a:r>
            <a:endParaRPr lang="en-US" sz="26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7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[value]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[blah]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STRING_SPLIT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MyString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'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2600" dirty="0">
              <a:solidFill>
                <a:srgbClr val="80808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808080"/>
              </a:solidFill>
              <a:highlight>
                <a:srgbClr val="FFFFFF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alibri" panose="020F0502020204030204" pitchFamily="34" charset="0"/>
              </a:rPr>
              <a:t>Notes:</a:t>
            </a:r>
          </a:p>
          <a:p>
            <a:r>
              <a:rPr lang="en-US" sz="2000" dirty="0">
                <a:highlight>
                  <a:srgbClr val="FFFFFF"/>
                </a:highlight>
                <a:latin typeface="Calibri" panose="020F0502020204030204" pitchFamily="34" charset="0"/>
              </a:rPr>
              <a:t>Requires the FROM clause</a:t>
            </a:r>
          </a:p>
          <a:p>
            <a:r>
              <a:rPr lang="en-US" sz="2000" dirty="0">
                <a:latin typeface="Calibri" panose="020F0502020204030204" pitchFamily="34" charset="0"/>
              </a:rPr>
              <a:t>Database must be in SQL 2016+ compatibility mode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5" name="Picture 5" descr="http://tse1.mm.bing.net/th?id=JN.scj0hH9yCbNg8rmabqgggA&amp;w=104&amp;h=105&amp;c=7&amp;rs=1&amp;qlt=90&amp;pid=3.1&amp;rm=2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time allows…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450" y="2640135"/>
            <a:ext cx="902950" cy="266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33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Demo of the XML-based &amp; </a:t>
            </a:r>
            <a:r>
              <a:rPr lang="en-US" sz="2600" dirty="0">
                <a:solidFill>
                  <a:srgbClr val="FF66FF"/>
                </a:solidFill>
                <a:latin typeface="Consolas" panose="020B0609020204030204" pitchFamily="49" charset="0"/>
              </a:rPr>
              <a:t>STRING_SPLIT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-based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5" name="Picture 5" descr="http://tse1.mm.bing.net/th?id=JN.scj0hH9yCbNg8rmabqgggA&amp;w=104&amp;h=105&amp;c=7&amp;rs=1&amp;qlt=90&amp;pid=3.1&amp;rm=2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68374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2159"/>
            <a:ext cx="3990975" cy="24098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Multi-UNPIVOT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Normalizes hard-core </a:t>
            </a:r>
            <a:r>
              <a:rPr lang="en-US" dirty="0" err="1">
                <a:latin typeface="Calibri" panose="020F0502020204030204" pitchFamily="34" charset="0"/>
              </a:rPr>
              <a:t>denormalized</a:t>
            </a:r>
            <a:r>
              <a:rPr lang="en-US" dirty="0">
                <a:latin typeface="Calibri" panose="020F0502020204030204" pitchFamily="34" charset="0"/>
              </a:rPr>
              <a:t> data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5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time allows…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1066800" y="3210718"/>
            <a:ext cx="3696346" cy="7906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66800" y="4063999"/>
            <a:ext cx="3696346" cy="767985"/>
          </a:xfrm>
          <a:prstGeom prst="rect">
            <a:avLst/>
          </a:prstGeom>
          <a:noFill/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325" y="3210718"/>
            <a:ext cx="33147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5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521732"/>
            <a:ext cx="73037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95800"/>
            <a:ext cx="7848600" cy="4572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524000" y="4495800"/>
            <a:ext cx="3276600" cy="4572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876800" y="4495801"/>
            <a:ext cx="3200400" cy="45720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8191500" y="4724400"/>
            <a:ext cx="0" cy="58737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90600" y="1600200"/>
            <a:ext cx="1447800" cy="3048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115300" y="4267200"/>
            <a:ext cx="152400" cy="117475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22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229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521732"/>
            <a:ext cx="8001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69" y="4495800"/>
            <a:ext cx="7175604" cy="6572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24000" y="4495799"/>
            <a:ext cx="2133600" cy="6572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33800" y="4495798"/>
            <a:ext cx="2057400" cy="657226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19800" y="4660830"/>
            <a:ext cx="1615573" cy="21597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25525" y="4918005"/>
            <a:ext cx="1609848" cy="23501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5902638" y="4660830"/>
            <a:ext cx="0" cy="74937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26438" y="4191000"/>
            <a:ext cx="193362" cy="140335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21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508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521732"/>
            <a:ext cx="8001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endParaRPr lang="en-US" sz="1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495800"/>
            <a:ext cx="6839109" cy="1047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24001" y="4495800"/>
            <a:ext cx="1066800" cy="104792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28903" y="4495800"/>
            <a:ext cx="1028700" cy="1047928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943350" y="4724400"/>
            <a:ext cx="1543050" cy="381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549758" y="4720975"/>
            <a:ext cx="1746550" cy="1558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43350" y="5174750"/>
            <a:ext cx="1543050" cy="368978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49757" y="4928135"/>
            <a:ext cx="1746550" cy="17384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49757" y="5164048"/>
            <a:ext cx="1746550" cy="1558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49758" y="5381946"/>
            <a:ext cx="1746550" cy="161782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810000" y="4720975"/>
            <a:ext cx="0" cy="99402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720960" y="4267200"/>
            <a:ext cx="222390" cy="1523999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23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108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495800"/>
            <a:ext cx="6597747" cy="192389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21732"/>
            <a:ext cx="80010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element3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transform3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600200" y="4724400"/>
            <a:ext cx="0" cy="18288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714501" y="4724400"/>
            <a:ext cx="1638298" cy="77275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14501" y="5573353"/>
            <a:ext cx="1638298" cy="751248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390902" y="4724400"/>
            <a:ext cx="1638298" cy="381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90902" y="5563431"/>
            <a:ext cx="1638298" cy="381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098124" y="4724400"/>
            <a:ext cx="1956821" cy="16775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098123" y="5118833"/>
            <a:ext cx="1956821" cy="21516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098122" y="5553958"/>
            <a:ext cx="1956821" cy="17321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098122" y="5944431"/>
            <a:ext cx="1951692" cy="22776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384908" y="5150183"/>
            <a:ext cx="1644292" cy="34696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03314" y="5996520"/>
            <a:ext cx="1644292" cy="328081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098120" y="4927003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092992" y="5359101"/>
            <a:ext cx="1961949" cy="163447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095555" y="5753456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092992" y="6199821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524000" y="4321776"/>
            <a:ext cx="152398" cy="235075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38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69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495800"/>
            <a:ext cx="6597747" cy="192389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21732"/>
            <a:ext cx="8001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element3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transform3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600200" y="4724400"/>
            <a:ext cx="0" cy="18288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714501" y="4724400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14501" y="6157871"/>
            <a:ext cx="1638298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390902" y="4724400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098124" y="4724400"/>
            <a:ext cx="1956821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03314" y="6157871"/>
            <a:ext cx="1644292" cy="16673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098121" y="6157871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24000" y="4321776"/>
            <a:ext cx="152398" cy="235075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21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006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H="1">
            <a:off x="1447801" y="636706"/>
            <a:ext cx="609599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65956"/>
            <a:ext cx="6400800" cy="6252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21732"/>
            <a:ext cx="8001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element3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transform3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600200" y="5410200"/>
            <a:ext cx="0" cy="5334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714501" y="5359417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14501" y="5597299"/>
            <a:ext cx="1638298" cy="168651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352799" y="5357705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983810" y="5357704"/>
            <a:ext cx="1956821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352799" y="5599221"/>
            <a:ext cx="1644292" cy="16673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993666" y="5599221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00148" y="520238"/>
            <a:ext cx="2971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</a:rPr>
              <a:t>transform3.*</a:t>
            </a:r>
            <a:endParaRPr lang="en-US" sz="1400" b="1" dirty="0"/>
          </a:p>
        </p:txBody>
      </p:sp>
      <p:sp>
        <p:nvSpPr>
          <p:cNvPr id="16" name="Rectangle 15"/>
          <p:cNvSpPr/>
          <p:nvPr/>
        </p:nvSpPr>
        <p:spPr>
          <a:xfrm>
            <a:off x="1527213" y="5025799"/>
            <a:ext cx="145974" cy="11430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6858000" y="162957"/>
            <a:ext cx="2133600" cy="369332"/>
            <a:chOff x="6858000" y="457200"/>
            <a:chExt cx="2133600" cy="369332"/>
          </a:xfrm>
        </p:grpSpPr>
        <p:pic>
          <p:nvPicPr>
            <p:cNvPr id="25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23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the Multi-UNPIVOT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5" name="Picture 5" descr="http://tse1.mm.bing.net/th?id=JN.scj0hH9yCbNg8rmabqgggA&amp;w=104&amp;h=105&amp;c=7&amp;rs=1&amp;qlt=90&amp;pid=3.1&amp;rm=2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99737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77" y="685800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Down Arrow 11"/>
          <p:cNvSpPr/>
          <p:nvPr/>
        </p:nvSpPr>
        <p:spPr>
          <a:xfrm>
            <a:off x="1565979" y="1676400"/>
            <a:ext cx="685800" cy="471688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7" y="2438400"/>
            <a:ext cx="28003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1143000" y="2062191"/>
            <a:ext cx="2222567" cy="2700309"/>
            <a:chOff x="1143000" y="3205191"/>
            <a:chExt cx="2222567" cy="2700309"/>
          </a:xfrm>
        </p:grpSpPr>
        <p:sp>
          <p:nvSpPr>
            <p:cNvPr id="15" name="Rectangle 14"/>
            <p:cNvSpPr/>
            <p:nvPr/>
          </p:nvSpPr>
          <p:spPr>
            <a:xfrm>
              <a:off x="1143000" y="3586480"/>
              <a:ext cx="1108779" cy="2319020"/>
            </a:xfrm>
            <a:prstGeom prst="rect">
              <a:avLst/>
            </a:prstGeom>
            <a:noFill/>
            <a:ln w="635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22567" y="3205191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kern="0" dirty="0" err="1">
                  <a:solidFill>
                    <a:prstClr val="black"/>
                  </a:solidFill>
                  <a:latin typeface="Calibri"/>
                </a:rPr>
                <a:t>Datatype</a:t>
              </a:r>
              <a:r>
                <a:rPr lang="en-US" kern="0" dirty="0">
                  <a:solidFill>
                    <a:prstClr val="black"/>
                  </a:solidFill>
                  <a:latin typeface="Calibri"/>
                </a:rPr>
                <a:t>?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032315" y="685800"/>
            <a:ext cx="48006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UnpivotResults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fr-FR" sz="2400" b="1" dirty="0">
                <a:solidFill>
                  <a:schemeClr val="tx2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INTO </a:t>
            </a:r>
            <a:r>
              <a:rPr lang="fr-FR" sz="2400" b="1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dbo.Table_1</a:t>
            </a: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ID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Col1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Col2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Col3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Col4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Col4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dbo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Unpivot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 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PropertyValue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PropertyName 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Col2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Col3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Col4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it-IT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UnpivotResults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032315" y="4572000"/>
            <a:ext cx="4730685" cy="1752600"/>
            <a:chOff x="4032315" y="4572000"/>
            <a:chExt cx="4730685" cy="17526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32315" y="4572000"/>
              <a:ext cx="4676775" cy="175260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702110" y="5562600"/>
              <a:ext cx="4060890" cy="381000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22" name="Picture 5" descr="http://tse1.mm.bing.net/th?id=JN.scj0hH9yCbNg8rmabqgggA&amp;w=104&amp;h=105&amp;c=7&amp;rs=1&amp;qlt=90&amp;pid=3.1&amp;rm=2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71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Converting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datetimes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fit in a varchar()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95900" y="5070396"/>
            <a:ext cx="261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 your milliseconds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391400" y="3810000"/>
            <a:ext cx="533400" cy="129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14688"/>
            <a:ext cx="7730344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16002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/>
              </a:rPr>
              <a:t>Original_Date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808080"/>
                </a:solidFill>
                <a:latin typeface="Consolas"/>
              </a:rPr>
              <a:t> 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Convert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DateFormat1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808080"/>
                </a:solidFill>
                <a:latin typeface="Consolas"/>
              </a:rPr>
              <a:t> 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Convert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19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120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DateFormat2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808080"/>
                </a:solidFill>
                <a:latin typeface="Consolas"/>
              </a:rPr>
              <a:t> 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Convert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23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121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DateFormat3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850" y="4630698"/>
            <a:ext cx="227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 your seconds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529263" y="3790951"/>
            <a:ext cx="457200" cy="83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05000" y="4211597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 varchar conversion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3581400" y="3790950"/>
            <a:ext cx="304800" cy="4198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6858000" y="152400"/>
            <a:ext cx="2133600" cy="369332"/>
            <a:chOff x="6858000" y="457200"/>
            <a:chExt cx="2133600" cy="369332"/>
          </a:xfrm>
        </p:grpSpPr>
        <p:pic>
          <p:nvPicPr>
            <p:cNvPr id="12" name="Picture 5" descr="http://tse1.mm.bing.net/th?id=JN.scj0hH9yCbNg8rmabqgggA&amp;w=104&amp;h=105&amp;c=7&amp;rs=1&amp;qlt=90&amp;pid=3.1&amp;rm=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5870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Where do we go from here?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Pivoted- and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recordsets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can be further joined, aggregated, intersected,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unioned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filtered, grouped, pivoted and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again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Computed columns can be pivoted and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if you compute them in the “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RawData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” portion of the query.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Scrub your data, and decide how you want to handle NULLs, before applying either</a:t>
            </a:r>
          </a:p>
        </p:txBody>
      </p:sp>
    </p:spTree>
    <p:extLst>
      <p:ext uri="{BB962C8B-B14F-4D97-AF65-F5344CB8AC3E}">
        <p14:creationId xmlns:p14="http://schemas.microsoft.com/office/powerpoint/2010/main" val="14566557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Where do we go from here?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7199"/>
          </a:xfrm>
        </p:spPr>
        <p:txBody>
          <a:bodyPr>
            <a:normAutofit fontScale="92500" lnSpcReduction="10000"/>
          </a:bodyPr>
          <a:lstStyle/>
          <a:p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Pivoted/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recordsets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can be used as SSRS datasets and SSIS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datasources</a:t>
            </a:r>
            <a:endParaRPr lang="en-US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Pivoting an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dataset -- or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unpivoting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a pivoted dataset -- rarely yields the original dataset</a:t>
            </a:r>
          </a:p>
          <a:p>
            <a:pPr lvl="1"/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PIVOT alters data by aggregating it</a:t>
            </a:r>
          </a:p>
          <a:p>
            <a:pPr lvl="1"/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UNPIVOT alters the datatype of combined data</a:t>
            </a:r>
          </a:p>
          <a:p>
            <a:pPr marL="0" indent="0">
              <a:buNone/>
            </a:pPr>
            <a:endParaRPr lang="en-US" sz="2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With great power comes great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20345040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Presentation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what a pivot is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keyword (for 2-, 3-, n-columns…)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dynamic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 way to “pivot” using FOR XML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keyword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multi-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UNPIVOT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data-themed “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using XML,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CROSS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APPLY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and </a:t>
            </a:r>
            <a:r>
              <a:rPr lang="en-US" sz="2000" dirty="0">
                <a:solidFill>
                  <a:srgbClr val="FF66FF"/>
                </a:solidFill>
                <a:latin typeface="Consolas" panose="020B0609020204030204" pitchFamily="49" charset="0"/>
              </a:rPr>
              <a:t>STRING_SPLIT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2400" y="4966504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Your anticipated level of excitement: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38600"/>
            <a:ext cx="2552700" cy="193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1462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Questions?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953000"/>
            <a:ext cx="28575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6521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Thanks for listening!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953000"/>
            <a:ext cx="28575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99113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Presentation available…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7D6FD-AA3A-44E2-3666-D7EA7C744DC7}"/>
              </a:ext>
            </a:extLst>
          </p:cNvPr>
          <p:cNvSpPr txBox="1"/>
          <p:nvPr/>
        </p:nvSpPr>
        <p:spPr>
          <a:xfrm>
            <a:off x="1040674" y="3180171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https://github.com/jbfoushee</a:t>
            </a:r>
          </a:p>
        </p:txBody>
      </p:sp>
    </p:spTree>
    <p:extLst>
      <p:ext uri="{BB962C8B-B14F-4D97-AF65-F5344CB8AC3E}">
        <p14:creationId xmlns:p14="http://schemas.microsoft.com/office/powerpoint/2010/main" val="2260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74947"/>
      </a:dk2>
      <a:lt2>
        <a:srgbClr val="EEECE1"/>
      </a:lt2>
      <a:accent1>
        <a:srgbClr val="163764"/>
      </a:accent1>
      <a:accent2>
        <a:srgbClr val="75982F"/>
      </a:accent2>
      <a:accent3>
        <a:srgbClr val="16223C"/>
      </a:accent3>
      <a:accent4>
        <a:srgbClr val="B18126"/>
      </a:accent4>
      <a:accent5>
        <a:srgbClr val="00517C"/>
      </a:accent5>
      <a:accent6>
        <a:srgbClr val="F79646"/>
      </a:accent6>
      <a:hlink>
        <a:srgbClr val="75982F"/>
      </a:hlink>
      <a:folHlink>
        <a:srgbClr val="75982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48016</TotalTime>
  <Words>6653</Words>
  <Application>Microsoft Office PowerPoint</Application>
  <PresentationFormat>On-screen Show (4:3)</PresentationFormat>
  <Paragraphs>1277</Paragraphs>
  <Slides>70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Arial</vt:lpstr>
      <vt:lpstr>Calibri</vt:lpstr>
      <vt:lpstr>Consolas</vt:lpstr>
      <vt:lpstr>Lucida Console</vt:lpstr>
      <vt:lpstr>Verdana</vt:lpstr>
      <vt:lpstr>Wingdings</vt:lpstr>
      <vt:lpstr>Office Theme</vt:lpstr>
      <vt:lpstr>1_Office Theme</vt:lpstr>
      <vt:lpstr>SQL Server PIV   T Operators</vt:lpstr>
      <vt:lpstr>Who am I?</vt:lpstr>
      <vt:lpstr>Presentation Overview</vt:lpstr>
      <vt:lpstr>Ground Rules…</vt:lpstr>
      <vt:lpstr>The set-up…</vt:lpstr>
      <vt:lpstr>PowerPoint Presentation</vt:lpstr>
      <vt:lpstr>Same data, different perspectives… (1/2)</vt:lpstr>
      <vt:lpstr>Same data, different perspectives… (2/2)</vt:lpstr>
      <vt:lpstr>Converting Vertical Data to Horizontal</vt:lpstr>
      <vt:lpstr>Converting Vertical Data to Horizontal</vt:lpstr>
      <vt:lpstr>PowerPoint Presentation</vt:lpstr>
      <vt:lpstr>What is a pivot?</vt:lpstr>
      <vt:lpstr>PowerPoint Presentation</vt:lpstr>
      <vt:lpstr>“Imagine” how this would apply to data</vt:lpstr>
      <vt:lpstr>PowerPoint Presentation</vt:lpstr>
      <vt:lpstr>How a T-SQL PIVOT works</vt:lpstr>
      <vt:lpstr>Aggregates</vt:lpstr>
      <vt:lpstr>PowerPoint Presentation</vt:lpstr>
      <vt:lpstr>PIVOT LIKE/!= GROUP BY</vt:lpstr>
      <vt:lpstr>Breakdown of PIVOT statement (1/4)</vt:lpstr>
      <vt:lpstr>Breakdown of PIVOT statement (2/4)</vt:lpstr>
      <vt:lpstr>Breakdown of PIVOT statement (3/4)</vt:lpstr>
      <vt:lpstr>Breakdown of PIVOT statement (4/4)</vt:lpstr>
      <vt:lpstr>Demo of a 2-column PIVOT</vt:lpstr>
      <vt:lpstr>How a 3-column PIVOT works…</vt:lpstr>
      <vt:lpstr>PowerPoint Presentation</vt:lpstr>
      <vt:lpstr>Demo of a 3-column PIVOT</vt:lpstr>
      <vt:lpstr>PowerPoint Presentation</vt:lpstr>
      <vt:lpstr>PowerPoint Presentation</vt:lpstr>
      <vt:lpstr>How do I manage my VTCs? (2/3)</vt:lpstr>
      <vt:lpstr>PowerPoint Presentation</vt:lpstr>
      <vt:lpstr>Demo of the dynamic PIVOT (by Cursor)</vt:lpstr>
      <vt:lpstr>How do I manage my VTCs? (2/3)</vt:lpstr>
      <vt:lpstr>How do I manage my VTCs? (2/3)</vt:lpstr>
      <vt:lpstr>Demo of the dynamic PIVOT (by FOR XML)</vt:lpstr>
      <vt:lpstr>PowerPoint Presentation</vt:lpstr>
      <vt:lpstr>Questions about the PIVOT operator?</vt:lpstr>
      <vt:lpstr>Converting Horizontal Data to Vertical</vt:lpstr>
      <vt:lpstr>“Imagine” how this would apply to data</vt:lpstr>
      <vt:lpstr>PowerPoint Presentation</vt:lpstr>
      <vt:lpstr>How an UNPIVOT works</vt:lpstr>
      <vt:lpstr>The Lowest Common Denominator</vt:lpstr>
      <vt:lpstr>Breakdown of UNPIVOT statement (1/5)</vt:lpstr>
      <vt:lpstr>Breakdown of UNPIVOT statement (2/5)</vt:lpstr>
      <vt:lpstr>Breakdown of UNPIVOT statement (3/5)</vt:lpstr>
      <vt:lpstr>Breakdown of UNPIVOT statement (4/5)</vt:lpstr>
      <vt:lpstr>PowerPoint Presentation</vt:lpstr>
      <vt:lpstr>PowerPoint Presentation</vt:lpstr>
      <vt:lpstr>Demo of an UNPIVOT</vt:lpstr>
      <vt:lpstr>Can I use dynamic T-SQL with UNPIVOT?</vt:lpstr>
      <vt:lpstr>PowerPoint Presentation</vt:lpstr>
      <vt:lpstr>The XML-based unpivot</vt:lpstr>
      <vt:lpstr>The SQL 2016 STRING_SPLIT-based unpivot</vt:lpstr>
      <vt:lpstr>Demo of the XML-based &amp; STRING_SPLIT-based unpivot</vt:lpstr>
      <vt:lpstr>Multi-UNPIVOT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of the Multi-UNPIVOT</vt:lpstr>
      <vt:lpstr>PowerPoint Presentation</vt:lpstr>
      <vt:lpstr>Converting datetimes to fit in a varchar()</vt:lpstr>
      <vt:lpstr>Where do we go from here? (1/2)</vt:lpstr>
      <vt:lpstr>Where do we go from here? (2/2)</vt:lpstr>
      <vt:lpstr>Presentation Summary</vt:lpstr>
      <vt:lpstr>Questions?</vt:lpstr>
      <vt:lpstr>Thanks for listening!</vt:lpstr>
      <vt:lpstr>Presentation available…</vt:lpstr>
    </vt:vector>
  </TitlesOfParts>
  <Manager>Jeff Foushee</Manager>
  <Company>Humana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Transforming Data with the T-SQL PIVOT / UNPIVOT operators</dc:title>
  <dc:creator>Jeff Foushee</dc:creator>
  <cp:keywords>Jeff Foushee</cp:keywords>
  <cp:lastModifiedBy>Jeff F</cp:lastModifiedBy>
  <cp:revision>455</cp:revision>
  <dcterms:created xsi:type="dcterms:W3CDTF">2012-07-09T17:39:11Z</dcterms:created>
  <dcterms:modified xsi:type="dcterms:W3CDTF">2023-05-23T21:33:13Z</dcterms:modified>
</cp:coreProperties>
</file>