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ink/ink1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78455" autoAdjust="0"/>
  </p:normalViewPr>
  <p:slideViewPr>
    <p:cSldViewPr snapToGrid="0">
      <p:cViewPr varScale="1">
        <p:scale>
          <a:sx n="71" d="100"/>
          <a:sy n="71" d="100"/>
        </p:scale>
        <p:origin x="57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858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360" units="cm"/>
          <inkml:channel name="Y" type="integer" max="1200" units="cm"/>
        </inkml:traceFormat>
        <inkml:channelProperties>
          <inkml:channelProperty channel="X" name="resolution" value="66.14173" units="1/cm"/>
          <inkml:channelProperty channel="Y" name="resolution" value="37.73585" units="1/cm"/>
        </inkml:channelProperties>
      </inkml:inkSource>
      <inkml:timestamp xml:id="ts0" timeString="2024-01-28T21:58:56.7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19532 15772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AFBBC2-5AF9-4F90-BC42-E1C8A81C2D1B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785803-A66F-44CE-A446-4A0D30789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0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am part-owner of a server named MAZSQLWPS001, and this needs to be documented as data inside some database.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155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real world does not conform to the same standards on storing data.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Data</a:t>
            </a:r>
            <a:r>
              <a:rPr lang="en-US" baseline="0" dirty="0"/>
              <a:t> may need to be transformed to meet disparate business requirements, or to summarize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332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taking vertical data and turn it horizontal. </a:t>
            </a:r>
          </a:p>
          <a:p>
            <a:r>
              <a:rPr lang="en-US" dirty="0"/>
              <a:t>This could be accomplished using</a:t>
            </a:r>
            <a:r>
              <a:rPr lang="en-US" baseline="0" dirty="0"/>
              <a:t> </a:t>
            </a:r>
            <a:r>
              <a:rPr lang="en-US" dirty="0"/>
              <a:t>FULL OUTER JOINs</a:t>
            </a:r>
          </a:p>
          <a:p>
            <a:r>
              <a:rPr lang="en-US" baseline="0" dirty="0"/>
              <a:t>For each unique value in the </a:t>
            </a:r>
            <a:r>
              <a:rPr lang="en-US" baseline="0" dirty="0" err="1"/>
              <a:t>PropertyName</a:t>
            </a:r>
            <a:r>
              <a:rPr lang="en-US" baseline="0" dirty="0"/>
              <a:t> column, a new FULL OUTER JOIN is required</a:t>
            </a:r>
          </a:p>
          <a:p>
            <a:r>
              <a:rPr lang="en-US" baseline="0" dirty="0"/>
              <a:t>This is fine for a small number of columns…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085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But what about when new requirements are added?</a:t>
            </a:r>
          </a:p>
          <a:p>
            <a:r>
              <a:rPr lang="en-US" baseline="0" dirty="0"/>
              <a:t>The code gets pretty unreadable.</a:t>
            </a:r>
          </a:p>
          <a:p>
            <a:r>
              <a:rPr lang="en-US" baseline="0" dirty="0"/>
              <a:t>There must be an easier way!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038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I told you that Microsoft has already provided a way</a:t>
            </a:r>
            <a:r>
              <a:rPr lang="en-US" baseline="0" dirty="0"/>
              <a:t> to make this easier?</a:t>
            </a:r>
          </a:p>
          <a:p>
            <a:r>
              <a:rPr lang="en-US" baseline="0" dirty="0"/>
              <a:t>And thankfully, there is no additional product you have to buy.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394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pivot is a theoretical</a:t>
            </a:r>
            <a:r>
              <a:rPr lang="en-US" baseline="0" dirty="0"/>
              <a:t> point or set of points that stay stationary while something rotates or spins about it.</a:t>
            </a:r>
          </a:p>
          <a:p>
            <a:r>
              <a:rPr lang="en-US" baseline="0" dirty="0"/>
              <a:t>Some example motions are a see-saw, a door hinge,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4137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example</a:t>
            </a:r>
            <a:r>
              <a:rPr lang="en-US" baseline="0" dirty="0"/>
              <a:t> of the wrench turning a bolt will be used for demonstrative purposes against data.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790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</a:t>
            </a:r>
            <a:r>
              <a:rPr lang="en-US" baseline="0" dirty="0"/>
              <a:t> </a:t>
            </a:r>
            <a:r>
              <a:rPr lang="en-US" dirty="0"/>
              <a:t>oversimplified demonstration, what if I could</a:t>
            </a:r>
            <a:r>
              <a:rPr lang="en-US" baseline="0" dirty="0"/>
              <a:t> take a wrench and rotate that data?</a:t>
            </a:r>
          </a:p>
          <a:p>
            <a:r>
              <a:rPr lang="en-US" baseline="0" dirty="0"/>
              <a:t>Look how we get more columns, and fewer rows.</a:t>
            </a:r>
          </a:p>
          <a:p>
            <a:r>
              <a:rPr lang="en-US" baseline="0" dirty="0"/>
              <a:t>This is not quite the result, but the rotation will be helpful to explain later.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37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/>
              <a:t>We’ll depict the PIVOT as a clockwise function to further describe this passage.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/>
              <a:t>In every dataset, there is a box that represents neither a row header nor a column header… but it borders both columns and data.</a:t>
            </a:r>
          </a:p>
          <a:p>
            <a:r>
              <a:rPr lang="en-US" dirty="0"/>
              <a:t>Any data that will become a column</a:t>
            </a:r>
            <a:r>
              <a:rPr lang="en-US" baseline="0" dirty="0"/>
              <a:t> header has to pass </a:t>
            </a:r>
            <a:r>
              <a:rPr lang="en-US" dirty="0"/>
              <a:t>though</a:t>
            </a:r>
            <a:r>
              <a:rPr lang="en-US" baseline="0" dirty="0"/>
              <a:t> the </a:t>
            </a:r>
            <a:r>
              <a:rPr lang="en-US" dirty="0"/>
              <a:t>“magic square” to transcend functionality.</a:t>
            </a:r>
            <a:endParaRPr lang="en-US" baseline="0" dirty="0"/>
          </a:p>
          <a:p>
            <a:r>
              <a:rPr lang="en-US" baseline="0" dirty="0"/>
              <a:t>Coincidentally, the letter “P” is generally written using a clockwise circle.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6370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basic</a:t>
            </a:r>
            <a:r>
              <a:rPr lang="en-US" baseline="0" dirty="0"/>
              <a:t> arbitrary data.</a:t>
            </a:r>
          </a:p>
          <a:p>
            <a:endParaRPr lang="en-US" baseline="0" dirty="0"/>
          </a:p>
          <a:p>
            <a:r>
              <a:rPr lang="en-US" dirty="0"/>
              <a:t>The</a:t>
            </a:r>
            <a:r>
              <a:rPr lang="en-US" baseline="0" dirty="0"/>
              <a:t> PIVOT operator takes the data and turns it clockwise, causing data to promote to the column headers. The original column headers are removed.</a:t>
            </a:r>
          </a:p>
          <a:p>
            <a:r>
              <a:rPr lang="en-US" baseline="0" dirty="0"/>
              <a:t>However, the rotated dataset is invalid because it uses repeating column headers.</a:t>
            </a:r>
          </a:p>
          <a:p>
            <a:r>
              <a:rPr lang="en-US" baseline="0" dirty="0"/>
              <a:t>To solve this, the data is temporarily condensed into “holding tanks” by column. </a:t>
            </a:r>
          </a:p>
          <a:p>
            <a:r>
              <a:rPr lang="en-US" baseline="0" dirty="0"/>
              <a:t>But what is ultimately presented back to the client?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07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must use</a:t>
            </a:r>
            <a:r>
              <a:rPr lang="en-US" baseline="0" dirty="0"/>
              <a:t> an aggregate function, even if you have one value to aggregate.</a:t>
            </a:r>
          </a:p>
          <a:p>
            <a:r>
              <a:rPr lang="en-US" baseline="0" dirty="0"/>
              <a:t>Make sure your alphanumeric data is scrubbed before applying aggregates upon it.</a:t>
            </a:r>
          </a:p>
          <a:p>
            <a:r>
              <a:rPr lang="en-US" baseline="0" dirty="0"/>
              <a:t>Min/Max are usually not adequate aggregates for </a:t>
            </a:r>
            <a:r>
              <a:rPr lang="en-US" baseline="0" dirty="0" err="1"/>
              <a:t>alphanumerics</a:t>
            </a:r>
            <a:r>
              <a:rPr lang="en-US" baseline="0" dirty="0"/>
              <a:t>, e.g. a list of names, so make ensure you don’t have multiple values.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841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syntax is the</a:t>
            </a:r>
            <a:r>
              <a:rPr lang="en-US" baseline="0" dirty="0"/>
              <a:t> main part of understanding the PIVOT statement.</a:t>
            </a:r>
            <a:endParaRPr lang="en-US" dirty="0"/>
          </a:p>
          <a:p>
            <a:r>
              <a:rPr lang="en-US" dirty="0"/>
              <a:t>Cannot stress this enough:</a:t>
            </a:r>
            <a:r>
              <a:rPr lang="en-US" baseline="0" dirty="0"/>
              <a:t> B</a:t>
            </a:r>
            <a:r>
              <a:rPr lang="en-US" dirty="0"/>
              <a:t>ecause values are aggregated, you get one and only one resulting value.</a:t>
            </a:r>
          </a:p>
          <a:p>
            <a:r>
              <a:rPr lang="en-US" dirty="0"/>
              <a:t>You cannot result with the raw array or list.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4711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While both the PIVOT and GROUP BY clauses</a:t>
            </a:r>
            <a:r>
              <a:rPr lang="en-US" baseline="0" dirty="0"/>
              <a:t> aggregate results, they do not share the same output structure, nor the same execution plan.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8939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</a:t>
            </a:r>
            <a:r>
              <a:rPr lang="en-US" baseline="0" dirty="0"/>
              <a:t> calls them “pivoted columns,” but I will use “Values-Turned-Columns”</a:t>
            </a:r>
            <a:endParaRPr lang="en-US" dirty="0"/>
          </a:p>
          <a:p>
            <a:r>
              <a:rPr lang="en-US" dirty="0"/>
              <a:t>The </a:t>
            </a:r>
            <a:r>
              <a:rPr lang="en-US" baseline="0" dirty="0"/>
              <a:t>glossary term “VTC” will be used elsewhere.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97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dataset is the one you want to index for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9669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use “</a:t>
            </a:r>
            <a:r>
              <a:rPr lang="en-US" dirty="0" err="1"/>
              <a:t>RawData</a:t>
            </a:r>
            <a:r>
              <a:rPr lang="en-US" dirty="0"/>
              <a:t>” and “</a:t>
            </a:r>
            <a:r>
              <a:rPr lang="en-US" dirty="0" err="1"/>
              <a:t>PivotResults</a:t>
            </a:r>
            <a:r>
              <a:rPr lang="en-US" dirty="0"/>
              <a:t>”</a:t>
            </a:r>
            <a:r>
              <a:rPr lang="en-US" baseline="0" dirty="0"/>
              <a:t> to identify my predicates easily, but you can use any name.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2943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select the correct predicate.</a:t>
            </a:r>
          </a:p>
          <a:p>
            <a:r>
              <a:rPr lang="en-US" dirty="0"/>
              <a:t>Congrats,</a:t>
            </a:r>
            <a:r>
              <a:rPr lang="en-US" baseline="0" dirty="0"/>
              <a:t> y</a:t>
            </a:r>
            <a:r>
              <a:rPr lang="en-US" dirty="0"/>
              <a:t>ou have transformed</a:t>
            </a:r>
            <a:r>
              <a:rPr lang="en-US" baseline="0" dirty="0"/>
              <a:t> the dataset provided by “</a:t>
            </a:r>
            <a:r>
              <a:rPr lang="en-US" baseline="0" dirty="0" err="1"/>
              <a:t>RawData</a:t>
            </a:r>
            <a:r>
              <a:rPr lang="en-US" baseline="0" dirty="0"/>
              <a:t>” into a new dataset named “</a:t>
            </a:r>
            <a:r>
              <a:rPr lang="en-US" baseline="0" dirty="0" err="1"/>
              <a:t>PivotResults</a:t>
            </a:r>
            <a:r>
              <a:rPr lang="en-US" baseline="0" dirty="0"/>
              <a:t>.”</a:t>
            </a:r>
          </a:p>
          <a:p>
            <a:r>
              <a:rPr lang="en-US" baseline="0" dirty="0"/>
              <a:t>You cannot explicitly request any columns from </a:t>
            </a:r>
            <a:r>
              <a:rPr lang="en-US" baseline="0" dirty="0" err="1"/>
              <a:t>RawData</a:t>
            </a:r>
            <a:r>
              <a:rPr lang="en-US" baseline="0" dirty="0"/>
              <a:t> into the SELECT predicate.</a:t>
            </a:r>
          </a:p>
          <a:p>
            <a:r>
              <a:rPr lang="en-US" baseline="0" dirty="0"/>
              <a:t>You don’t have to qualify the * with “</a:t>
            </a:r>
            <a:r>
              <a:rPr lang="en-US" baseline="0" dirty="0" err="1"/>
              <a:t>PivotResults</a:t>
            </a:r>
            <a:r>
              <a:rPr lang="en-US" baseline="0" dirty="0"/>
              <a:t>”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070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</a:t>
            </a:r>
            <a:r>
              <a:rPr lang="en-US" baseline="0" dirty="0"/>
              <a:t> back to our original example, which is a 3-column PIVOT</a:t>
            </a:r>
          </a:p>
          <a:p>
            <a:r>
              <a:rPr lang="en-US" baseline="0" dirty="0"/>
              <a:t>As long as I’m guaranteed one value per contact type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4661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Essentially, you’ll be</a:t>
            </a:r>
            <a:r>
              <a:rPr lang="en-US" baseline="0" dirty="0"/>
              <a:t> constructing the PIVOT’s IN-clause.</a:t>
            </a:r>
            <a:endParaRPr lang="en-US" dirty="0"/>
          </a:p>
          <a:p>
            <a:r>
              <a:rPr lang="en-US" dirty="0"/>
              <a:t>You want to order the columns into a logical order, and only look for unique data</a:t>
            </a:r>
          </a:p>
          <a:p>
            <a:endParaRPr lang="en-US" dirty="0"/>
          </a:p>
          <a:p>
            <a:r>
              <a:rPr lang="en-US" dirty="0"/>
              <a:t>Many thanks to</a:t>
            </a:r>
            <a:r>
              <a:rPr lang="en-US" baseline="0" dirty="0"/>
              <a:t> MSDN forums for the XML conversion technique:</a:t>
            </a:r>
          </a:p>
          <a:p>
            <a:r>
              <a:rPr lang="en-US" dirty="0"/>
              <a:t>http://social.msdn.microsoft.com/Forums/sqlserver/en-US/2ab88114-be39-40f7-bed0-99d30b6fbc43/set-variable-to-distinct-array-returned-by-for-xml?forum=transactsql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6817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95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could I take horizontal</a:t>
            </a:r>
            <a:r>
              <a:rPr lang="en-US" baseline="0" dirty="0"/>
              <a:t> data and change it to vertical data?</a:t>
            </a:r>
          </a:p>
          <a:p>
            <a:r>
              <a:rPr lang="en-US" baseline="0" dirty="0"/>
              <a:t>Note that the data is going in the reverse direction.</a:t>
            </a:r>
          </a:p>
          <a:p>
            <a:r>
              <a:rPr lang="en-US" baseline="0" dirty="0"/>
              <a:t>One idea would be the UNION ALL statement.</a:t>
            </a:r>
          </a:p>
          <a:p>
            <a:r>
              <a:rPr lang="en-US" baseline="0" dirty="0"/>
              <a:t>Notice for each column on the right-hand dataset, I need another UNION ALL statement.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8791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</a:t>
            </a:r>
            <a:r>
              <a:rPr lang="en-US" baseline="0" dirty="0"/>
              <a:t> </a:t>
            </a:r>
            <a:r>
              <a:rPr lang="en-US" dirty="0"/>
              <a:t>oversimplified demonstration, what if I could</a:t>
            </a:r>
            <a:r>
              <a:rPr lang="en-US" baseline="0" dirty="0"/>
              <a:t> take a wrench and rotate that data?</a:t>
            </a:r>
          </a:p>
          <a:p>
            <a:r>
              <a:rPr lang="en-US" baseline="0" dirty="0"/>
              <a:t>Look how we get less columns, and more rows.</a:t>
            </a:r>
          </a:p>
          <a:p>
            <a:r>
              <a:rPr lang="en-US" baseline="0" dirty="0"/>
              <a:t>This is not quite the result, but the rotation will be helpful to explain later.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1835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column</a:t>
            </a:r>
            <a:r>
              <a:rPr lang="en-US" baseline="0" dirty="0"/>
              <a:t> headers to transcend to data elements, they need to move counter-clockwise though the magic square.</a:t>
            </a:r>
          </a:p>
          <a:p>
            <a:r>
              <a:rPr lang="en-US" baseline="0" dirty="0"/>
              <a:t>The curve of the letter “U” is written counter-clockwise as well (reminds you which operation to use based on rotation).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85803-A66F-44CE-A446-4A0D3078981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515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55FE1-EAF3-C15B-6058-14CE4B0735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4E4247-44EE-6127-ED95-A61B080CFF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F0601-A3E8-9720-4B90-74DC89D2B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AD6BF-4182-1697-D079-51DF735F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7D275-76C5-825D-E620-DB247B860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35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F03FB-4F92-FCE6-38CB-265325FBF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4F1FC-5F84-0E80-38A0-ABF85AA0D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10D83-037F-DAE9-0704-E9B190A5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F980C-851C-5648-4005-53C618353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CCFD7-AAA7-46DD-C9C0-71DF3A8C3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1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74AD2-26D8-2679-4AF6-830805E8D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CE75D-9AD0-BFD0-4C36-41A69BE5A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D80BE-C5C0-9850-1466-3004220A6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7068D-9F3A-6A09-546C-AA92DC37A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A3DEA-1745-C775-06E9-E9D627F56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46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B24CB-13CC-F571-08BC-5960A8FEA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0DC4F-2E2B-E36F-CF28-38EE12151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6CC7D1-EC21-8FB0-BD56-67774474E3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D6F6CB-BFD1-8B6C-4DF9-F9E269EDC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57B4AB-3B80-AEDD-8CAD-C98CCF25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5F56F-DBEC-AC73-6353-A4D3DCD7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44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58ABD-2293-64B5-A0F2-3B1315AEF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58565-958B-E46E-525A-98D742E0D7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968CCA-7B76-A81A-92B6-82DFE36977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85AE2D-8282-6C89-B1E1-F758E6DD08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674205-67B7-8F6A-D036-92EBE52A18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E1EF97-4646-DE5B-C99B-E5AA6EAEA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1306DB-4D74-95E2-BB15-0733CB1D7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36C757-766D-A338-5ACD-FCDFA55F3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20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27103-A1AF-A222-1FBB-7AF0338D6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D694D4-B5CC-539D-F211-98368634A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B13D17-CFCE-5ED3-CE80-50EDF44CF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E9C10E-8709-48FF-8E4D-31ABE144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67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FFA791-A346-5DF4-43B8-D5B46388A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5F6B65-7613-CEE9-16D2-56E6C9100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30EC7-249D-81BB-F261-F4108FF87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553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881A9-2703-3E95-1F26-5D9020808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48DF7-168B-DA7C-4EC1-DDA68D35E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FF0470-5D3D-1C7F-FB24-74F606A61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65219F-F4B2-4808-E8EE-9A20969F8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98DE0E-115D-410A-0AE2-BBC9035E9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2A097-CC8A-4B91-6074-7EA46B63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86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C17D5-1274-41FA-3D80-C7A9A67AB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AE41A0-3299-9B9C-C2A9-453CC6A54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B2AE02-CFCC-720C-E799-AE8794659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9B479-13EE-3551-6909-B9C9E61F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D75DAF-4134-29D7-A07F-12DECAE9E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B17F1B-3A7F-CA78-5B12-1C70F52D0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436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C8DF-FA56-35A6-F794-A3A9574B9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AAA53A-7E3E-1C53-3F0E-EBB754E0C8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00313-597D-57A8-F46E-01548D02D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E6021-18BB-E1B7-D56E-0A0AEAB1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86B0B-F004-F7FD-96C3-EC75863F7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680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15C793-835A-DDCC-B076-B9F83406FC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6FD993-1F5A-4199-50D6-D99BCAB6D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46DDD-AB9A-9058-7C6E-8198A36A2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BE3B8D-A1D3-B76F-38FD-18993A92D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46A49-9D91-24D8-0A77-1461A6C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98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D3E75F-5B63-445D-B9A9-B82176A02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86130-5542-6BD2-B3C3-351168824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602AF-9727-F72F-1DD4-3122D5E944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F4BD5-02D1-4DBB-808A-A63549E779E3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62AB6-EBBC-CE95-C273-2A09A91C5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703D1-E0C3-B610-15B7-F2D2E54121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6DC5C5-E2C3-4C1B-9A55-0C902A7C2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547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5.png"/><Relationship Id="rId4" Type="http://schemas.openxmlformats.org/officeDocument/2006/relationships/image" Target="../media/image30.png"/><Relationship Id="rId9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emf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customXml" Target="../ink/ink1.xml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36BE7F52-A9A7-526F-8C31-29DC1A514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3066BF-E472-E6BA-E41C-05D97E8D8C8D}"/>
              </a:ext>
            </a:extLst>
          </p:cNvPr>
          <p:cNvSpPr txBox="1"/>
          <p:nvPr/>
        </p:nvSpPr>
        <p:spPr>
          <a:xfrm>
            <a:off x="2133600" y="1612626"/>
            <a:ext cx="8134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PIV</a:t>
            </a:r>
            <a:r>
              <a:rPr lang="en-US" sz="36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48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T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Operators</a:t>
            </a:r>
            <a:endParaRPr lang="en-US" sz="4800" dirty="0"/>
          </a:p>
        </p:txBody>
      </p:sp>
      <p:sp>
        <p:nvSpPr>
          <p:cNvPr id="7" name="Circular Arrow 6">
            <a:extLst>
              <a:ext uri="{FF2B5EF4-FFF2-40B4-BE49-F238E27FC236}">
                <a16:creationId xmlns:a16="http://schemas.microsoft.com/office/drawing/2014/main" id="{F176BDE0-FF2D-5E8F-F5C1-D42E1840A2A9}"/>
              </a:ext>
            </a:extLst>
          </p:cNvPr>
          <p:cNvSpPr/>
          <p:nvPr/>
        </p:nvSpPr>
        <p:spPr>
          <a:xfrm rot="14468456">
            <a:off x="4292432" y="1752491"/>
            <a:ext cx="546507" cy="551266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588939"/>
              <a:gd name="adj5" fmla="val 19282"/>
            </a:avLst>
          </a:prstGeom>
          <a:solidFill>
            <a:schemeClr val="accent2">
              <a:lumMod val="75000"/>
            </a:schemeClr>
          </a:solidFill>
          <a:ln w="254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8183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QL - Welcome to SQL Skull">
            <a:extLst>
              <a:ext uri="{FF2B5EF4-FFF2-40B4-BE49-F238E27FC236}">
                <a16:creationId xmlns:a16="http://schemas.microsoft.com/office/drawing/2014/main" id="{ACB3F4C5-2FF8-AC47-CDE6-8780C1044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100" y="1085850"/>
            <a:ext cx="1200329" cy="1200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0CD18A-F52E-52C3-BE52-70D11D61EAA5}"/>
              </a:ext>
            </a:extLst>
          </p:cNvPr>
          <p:cNvSpPr txBox="1"/>
          <p:nvPr/>
        </p:nvSpPr>
        <p:spPr>
          <a:xfrm>
            <a:off x="2590800" y="1085850"/>
            <a:ext cx="4533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SQL Server “MAZSQLWPS001”</a:t>
            </a:r>
          </a:p>
          <a:p>
            <a:r>
              <a:rPr lang="en-US" sz="2400" dirty="0"/>
              <a:t>Primary Contact: Jeff</a:t>
            </a:r>
          </a:p>
          <a:p>
            <a:r>
              <a:rPr lang="en-US" sz="2400" dirty="0"/>
              <a:t>Secondary Contact: Ann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0E15AD1-99B2-97D9-F987-64D4805E3B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614811"/>
              </p:ext>
            </p:extLst>
          </p:nvPr>
        </p:nvGraphicFramePr>
        <p:xfrm>
          <a:off x="1339847" y="2778532"/>
          <a:ext cx="4533899" cy="760095"/>
        </p:xfrm>
        <a:graphic>
          <a:graphicData uri="http://schemas.openxmlformats.org/drawingml/2006/table">
            <a:tbl>
              <a:tblPr/>
              <a:tblGrid>
                <a:gridCol w="15671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4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2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 err="1">
                          <a:effectLst/>
                        </a:rPr>
                        <a:t>ServerName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 err="1">
                          <a:effectLst/>
                        </a:rPr>
                        <a:t>PropertyName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 err="1">
                          <a:effectLst/>
                        </a:rPr>
                        <a:t>PropertyValue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dirty="0"/>
                        <a:t>MAZSQLWPS001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Primary Contact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Jeff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dirty="0"/>
                        <a:t>MAZSQLWPS001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Secondary Contact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Ann</a:t>
                      </a: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F30F14-593D-1B11-C4B3-AE0316D71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548347"/>
              </p:ext>
            </p:extLst>
          </p:nvPr>
        </p:nvGraphicFramePr>
        <p:xfrm>
          <a:off x="6336670" y="2773115"/>
          <a:ext cx="4678660" cy="506730"/>
        </p:xfrm>
        <a:graphic>
          <a:graphicData uri="http://schemas.openxmlformats.org/drawingml/2006/table">
            <a:tbl>
              <a:tblPr/>
              <a:tblGrid>
                <a:gridCol w="1430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5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2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>
                          <a:effectLst/>
                        </a:rPr>
                        <a:t>ServerName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>
                          <a:effectLst/>
                        </a:rPr>
                        <a:t>Primary Contact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>
                          <a:effectLst/>
                        </a:rPr>
                        <a:t>Secondary Contact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MAZSQLWPS01</a:t>
                      </a: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Jeff</a:t>
                      </a: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Ann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15D563A-3773-202F-E484-0FE2BBA3E7D9}"/>
              </a:ext>
            </a:extLst>
          </p:cNvPr>
          <p:cNvSpPr txBox="1"/>
          <p:nvPr/>
        </p:nvSpPr>
        <p:spPr>
          <a:xfrm>
            <a:off x="1333500" y="3862000"/>
            <a:ext cx="44005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One piece of truth per line</a:t>
            </a:r>
          </a:p>
          <a:p>
            <a:endParaRPr lang="en-US" dirty="0"/>
          </a:p>
          <a:p>
            <a:r>
              <a:rPr lang="en-US" dirty="0"/>
              <a:t>Horizontal data: New contacts added as rows</a:t>
            </a:r>
          </a:p>
          <a:p>
            <a:endParaRPr lang="en-US" dirty="0"/>
          </a:p>
          <a:p>
            <a:r>
              <a:rPr lang="en-US" dirty="0"/>
              <a:t>Better-suited for </a:t>
            </a:r>
            <a:r>
              <a:rPr lang="en-US" b="1" dirty="0"/>
              <a:t>data storage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8DBFC9-7BA5-A0D9-FBCF-85A7A671FC0D}"/>
              </a:ext>
            </a:extLst>
          </p:cNvPr>
          <p:cNvSpPr txBox="1"/>
          <p:nvPr/>
        </p:nvSpPr>
        <p:spPr>
          <a:xfrm>
            <a:off x="6251611" y="3862000"/>
            <a:ext cx="48629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One piece of truth per x/y position</a:t>
            </a:r>
          </a:p>
          <a:p>
            <a:endParaRPr lang="en-US" dirty="0"/>
          </a:p>
          <a:p>
            <a:r>
              <a:rPr lang="en-US" dirty="0"/>
              <a:t>Vertical data: New contacts added as columns</a:t>
            </a:r>
          </a:p>
          <a:p>
            <a:endParaRPr lang="en-US" dirty="0"/>
          </a:p>
          <a:p>
            <a:r>
              <a:rPr lang="en-US" dirty="0"/>
              <a:t>Better-suited for </a:t>
            </a:r>
            <a:r>
              <a:rPr lang="en-US" b="1" dirty="0"/>
              <a:t>reporting</a:t>
            </a:r>
          </a:p>
        </p:txBody>
      </p:sp>
    </p:spTree>
    <p:extLst>
      <p:ext uri="{BB962C8B-B14F-4D97-AF65-F5344CB8AC3E}">
        <p14:creationId xmlns:p14="http://schemas.microsoft.com/office/powerpoint/2010/main" val="3140504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0E15AD1-99B2-97D9-F987-64D4805E3B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001722"/>
              </p:ext>
            </p:extLst>
          </p:nvPr>
        </p:nvGraphicFramePr>
        <p:xfrm>
          <a:off x="1339847" y="1178332"/>
          <a:ext cx="4533899" cy="760095"/>
        </p:xfrm>
        <a:graphic>
          <a:graphicData uri="http://schemas.openxmlformats.org/drawingml/2006/table">
            <a:tbl>
              <a:tblPr/>
              <a:tblGrid>
                <a:gridCol w="15671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4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2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 err="1">
                          <a:effectLst/>
                        </a:rPr>
                        <a:t>ServerName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 err="1">
                          <a:effectLst/>
                        </a:rPr>
                        <a:t>PropertyName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 err="1">
                          <a:effectLst/>
                        </a:rPr>
                        <a:t>PropertyValue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dirty="0"/>
                        <a:t>MAZSQLWPS001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Primary Contact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Jeff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dirty="0"/>
                        <a:t>MAZSQLWPS001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Secondary Contact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Ann</a:t>
                      </a: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F30F14-593D-1B11-C4B3-AE0316D71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612081"/>
              </p:ext>
            </p:extLst>
          </p:nvPr>
        </p:nvGraphicFramePr>
        <p:xfrm>
          <a:off x="6481430" y="1172915"/>
          <a:ext cx="4533899" cy="506730"/>
        </p:xfrm>
        <a:graphic>
          <a:graphicData uri="http://schemas.openxmlformats.org/drawingml/2006/table">
            <a:tbl>
              <a:tblPr/>
              <a:tblGrid>
                <a:gridCol w="13859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95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>
                          <a:effectLst/>
                        </a:rPr>
                        <a:t>ServerName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>
                          <a:effectLst/>
                        </a:rPr>
                        <a:t>Primary Contact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1" u="none" strike="noStrike" dirty="0">
                          <a:effectLst/>
                        </a:rPr>
                        <a:t>Secondary Contact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MAZSQLWPS01</a:t>
                      </a: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Jeff</a:t>
                      </a: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Ann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B5FCFF8-6076-19B3-5906-05BEA9D58C95}"/>
              </a:ext>
            </a:extLst>
          </p:cNvPr>
          <p:cNvSpPr txBox="1"/>
          <p:nvPr/>
        </p:nvSpPr>
        <p:spPr>
          <a:xfrm>
            <a:off x="1339847" y="2263348"/>
            <a:ext cx="7772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There will be times where your data must be converted: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A feed you import does not fit into your model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Data you export does not fit into the target model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Your data needs to fit in a one-page report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ETL purposes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BF92357-8F95-886A-C487-A839007C8597}"/>
              </a:ext>
            </a:extLst>
          </p:cNvPr>
          <p:cNvCxnSpPr/>
          <p:nvPr/>
        </p:nvCxnSpPr>
        <p:spPr>
          <a:xfrm>
            <a:off x="5930896" y="1634579"/>
            <a:ext cx="495300" cy="0"/>
          </a:xfrm>
          <a:prstGeom prst="straightConnector1">
            <a:avLst/>
          </a:prstGeom>
          <a:noFill/>
          <a:ln w="444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arrow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1889593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5775A6-A05B-1A1E-71C5-79789F3C7031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7C79C3-8014-19C3-E2ED-C92F09A9FBA2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98467C5B-90C5-A09D-96EA-C8AD21E47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GitHub Logo, symbol, meaning, history, PNG, brand">
            <a:extLst>
              <a:ext uri="{FF2B5EF4-FFF2-40B4-BE49-F238E27FC236}">
                <a16:creationId xmlns:a16="http://schemas.microsoft.com/office/drawing/2014/main" id="{F09CE760-098E-ABB9-3350-1A92A2D0F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7922A8-3EF5-5153-C94F-B5E499F81D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1E71C4-EDC7-E92F-A363-C2C625CE5F47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3203182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0984652-8C65-6F4D-A619-B6D58DA2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5561"/>
            <a:ext cx="82296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Converting Vertical Data to Horizontal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ED8DE4-BEE3-45B4-434D-DDA77C0CBD5B}"/>
              </a:ext>
            </a:extLst>
          </p:cNvPr>
          <p:cNvCxnSpPr/>
          <p:nvPr/>
        </p:nvCxnSpPr>
        <p:spPr>
          <a:xfrm>
            <a:off x="5634814" y="1395599"/>
            <a:ext cx="495300" cy="0"/>
          </a:xfrm>
          <a:prstGeom prst="straightConnector1">
            <a:avLst/>
          </a:prstGeom>
          <a:ln w="44450"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A3BB6F9-A11D-9D1E-AECD-162C5BEC86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249788"/>
              </p:ext>
            </p:extLst>
          </p:nvPr>
        </p:nvGraphicFramePr>
        <p:xfrm>
          <a:off x="6239207" y="1014600"/>
          <a:ext cx="3739007" cy="4218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6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6783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Primary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Secondary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dirty="0"/>
                        <a:t>MAZSQLWPS001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Ann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F86B2F5-5AA3-5906-B3AC-C2C854B8C5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197035"/>
              </p:ext>
            </p:extLst>
          </p:nvPr>
        </p:nvGraphicFramePr>
        <p:xfrm>
          <a:off x="2082707" y="1014599"/>
          <a:ext cx="3507535" cy="6321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dirty="0"/>
                        <a:t>MAZSQLWPS001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dirty="0"/>
                        <a:t>MAZSQLWPS001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Ann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6F309359-8797-25F6-B3AA-7DA5C9738384}"/>
              </a:ext>
            </a:extLst>
          </p:cNvPr>
          <p:cNvGrpSpPr/>
          <p:nvPr/>
        </p:nvGrpSpPr>
        <p:grpSpPr>
          <a:xfrm>
            <a:off x="2514600" y="1570961"/>
            <a:ext cx="7648575" cy="5072259"/>
            <a:chOff x="990600" y="1676400"/>
            <a:chExt cx="7648575" cy="507225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FF4EB8-E086-5AFE-2570-FAEFB20CD575}"/>
                </a:ext>
              </a:extLst>
            </p:cNvPr>
            <p:cNvSpPr txBox="1"/>
            <p:nvPr/>
          </p:nvSpPr>
          <p:spPr>
            <a:xfrm>
              <a:off x="990600" y="1981200"/>
              <a:ext cx="6396318" cy="47674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chemeClr val="bg1"/>
                  </a:solidFill>
                  <a:highlight>
                    <a:srgbClr val="808080"/>
                  </a:highlight>
                  <a:latin typeface="Consolas"/>
                  <a:ea typeface="Calibri"/>
                  <a:cs typeface="Times New Roman"/>
                </a:rPr>
                <a:t>base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highlight>
                    <a:srgbClr val="00FF00"/>
                  </a:highlight>
                  <a:latin typeface="Consolas"/>
                  <a:ea typeface="Calibri"/>
                  <a:cs typeface="Times New Roman"/>
                </a:rPr>
                <a:t>pri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[Primary Contact]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highlight>
                    <a:srgbClr val="00FFFF"/>
                  </a:highlight>
                  <a:latin typeface="Consolas"/>
                  <a:ea typeface="Calibri"/>
                  <a:cs typeface="Times New Roman"/>
                </a:rPr>
                <a:t>sec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[Secondary Contact]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(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DISTINCT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[Table1]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)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b="1" dirty="0">
                  <a:solidFill>
                    <a:schemeClr val="bg1"/>
                  </a:solidFill>
                  <a:highlight>
                    <a:srgbClr val="808080"/>
                  </a:highlight>
                  <a:latin typeface="Consolas"/>
                  <a:ea typeface="Calibri"/>
                  <a:cs typeface="Times New Roman"/>
                </a:rPr>
                <a:t>base</a:t>
              </a:r>
              <a:endParaRPr lang="en-US" sz="1400" b="1" dirty="0">
                <a:solidFill>
                  <a:schemeClr val="bg1"/>
                </a:solidFill>
                <a:highlight>
                  <a:srgbClr val="808080"/>
                </a:highlight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8080"/>
                  </a:solidFill>
                  <a:highlight>
                    <a:srgbClr val="FFFF00"/>
                  </a:highlight>
                  <a:latin typeface="Consolas"/>
                  <a:ea typeface="Calibri"/>
                  <a:cs typeface="Times New Roman"/>
                </a:rPr>
                <a:t>FULL OUTER JOIN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(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[Table1]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WHERE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'Primary Contact'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)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b="1" dirty="0" err="1">
                  <a:solidFill>
                    <a:srgbClr val="008080"/>
                  </a:solidFill>
                  <a:highlight>
                    <a:srgbClr val="00FF00"/>
                  </a:highlight>
                  <a:latin typeface="Consolas"/>
                  <a:ea typeface="Calibri"/>
                  <a:cs typeface="Times New Roman"/>
                </a:rPr>
                <a:t>pri</a:t>
              </a:r>
              <a:endParaRPr lang="en-US" sz="1400" b="1" dirty="0">
                <a:solidFill>
                  <a:srgbClr val="008080"/>
                </a:solidFill>
                <a:highlight>
                  <a:srgbClr val="00FF00"/>
                </a:highlight>
                <a:latin typeface="Consolas"/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ON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chemeClr val="bg1"/>
                  </a:solidFill>
                  <a:highlight>
                    <a:srgbClr val="808080"/>
                  </a:highlight>
                  <a:latin typeface="Consolas"/>
                  <a:ea typeface="Calibri"/>
                  <a:cs typeface="Times New Roman"/>
                </a:rPr>
                <a:t>base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.ServerName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highlight>
                    <a:srgbClr val="00FF00"/>
                  </a:highlight>
                  <a:latin typeface="Consolas"/>
                  <a:ea typeface="Calibri"/>
                  <a:cs typeface="Times New Roman"/>
                </a:rPr>
                <a:t>pri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b="1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8080"/>
                  </a:solidFill>
                  <a:highlight>
                    <a:srgbClr val="FFFF00"/>
                  </a:highlight>
                  <a:latin typeface="Consolas"/>
                  <a:ea typeface="Calibri"/>
                  <a:cs typeface="Times New Roman"/>
                </a:rPr>
                <a:t>FULL OUTER JOIN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(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[Table1]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WHERE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'Secondary Contact'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)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b="1" dirty="0">
                  <a:solidFill>
                    <a:srgbClr val="008080"/>
                  </a:solidFill>
                  <a:highlight>
                    <a:srgbClr val="00FFFF"/>
                  </a:highlight>
                  <a:latin typeface="Consolas"/>
                  <a:ea typeface="Calibri"/>
                  <a:cs typeface="Times New Roman"/>
                </a:rPr>
                <a:t>sec</a:t>
              </a:r>
              <a:endParaRPr lang="en-US" sz="1400" b="1" dirty="0">
                <a:highlight>
                  <a:srgbClr val="00FFFF"/>
                </a:highlight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ON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chemeClr val="bg1"/>
                  </a:solidFill>
                  <a:highlight>
                    <a:srgbClr val="808080"/>
                  </a:highlight>
                  <a:latin typeface="Consolas"/>
                  <a:ea typeface="Calibri"/>
                  <a:cs typeface="Times New Roman"/>
                </a:rPr>
                <a:t>base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highlight>
                    <a:srgbClr val="00FFFF"/>
                  </a:highlight>
                  <a:latin typeface="Consolas"/>
                  <a:ea typeface="Calibri"/>
                  <a:cs typeface="Times New Roman"/>
                </a:rPr>
                <a:t>sec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dirty="0">
                <a:ea typeface="Calibri"/>
                <a:cs typeface="Times New Roman"/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D8FDAD-8D54-4609-6A10-C93D7DCD42E8}"/>
                </a:ext>
              </a:extLst>
            </p:cNvPr>
            <p:cNvGrpSpPr/>
            <p:nvPr/>
          </p:nvGrpSpPr>
          <p:grpSpPr>
            <a:xfrm>
              <a:off x="5029200" y="1676400"/>
              <a:ext cx="3609975" cy="4505325"/>
              <a:chOff x="5029200" y="1676400"/>
              <a:chExt cx="3609975" cy="4505325"/>
            </a:xfrm>
          </p:grpSpPr>
          <p:pic>
            <p:nvPicPr>
              <p:cNvPr id="11" name="Picture 2">
                <a:extLst>
                  <a:ext uri="{FF2B5EF4-FFF2-40B4-BE49-F238E27FC236}">
                    <a16:creationId xmlns:a16="http://schemas.microsoft.com/office/drawing/2014/main" id="{97337F95-E363-991A-D17B-B07EF138A9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29200" y="3042337"/>
                <a:ext cx="914400" cy="7334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A60F3B5-437B-EF0C-E20D-734C33C1D2D6}"/>
                  </a:ext>
                </a:extLst>
              </p:cNvPr>
              <p:cNvCxnSpPr/>
              <p:nvPr/>
            </p:nvCxnSpPr>
            <p:spPr>
              <a:xfrm flipH="1" flipV="1">
                <a:off x="7924800" y="1676400"/>
                <a:ext cx="76200" cy="3926048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4B9562E5-D555-8C0B-9BB0-2DD375B6CB74}"/>
                  </a:ext>
                </a:extLst>
              </p:cNvPr>
              <p:cNvCxnSpPr/>
              <p:nvPr/>
            </p:nvCxnSpPr>
            <p:spPr>
              <a:xfrm flipV="1">
                <a:off x="5486400" y="1676400"/>
                <a:ext cx="0" cy="1600200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4" name="Picture 4">
                <a:extLst>
                  <a:ext uri="{FF2B5EF4-FFF2-40B4-BE49-F238E27FC236}">
                    <a16:creationId xmlns:a16="http://schemas.microsoft.com/office/drawing/2014/main" id="{84AA2E49-B58E-5A30-69C1-7BEA78D3E9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91200" y="3808619"/>
                <a:ext cx="2800350" cy="9810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pic>
            <p:nvPicPr>
              <p:cNvPr id="15" name="Picture 6">
                <a:extLst>
                  <a:ext uri="{FF2B5EF4-FFF2-40B4-BE49-F238E27FC236}">
                    <a16:creationId xmlns:a16="http://schemas.microsoft.com/office/drawing/2014/main" id="{44D6C605-6585-9535-D698-65A49BD3AE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91200" y="5257800"/>
                <a:ext cx="2847975" cy="9239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9744DD-BDAE-3303-8E80-745B1C009423}"/>
                  </a:ext>
                </a:extLst>
              </p:cNvPr>
              <p:cNvCxnSpPr/>
              <p:nvPr/>
            </p:nvCxnSpPr>
            <p:spPr>
              <a:xfrm flipH="1" flipV="1">
                <a:off x="5943600" y="1676401"/>
                <a:ext cx="1828800" cy="2743199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5B31771-9647-D2E0-82E1-3BEB080A8CA5}"/>
                  </a:ext>
                </a:extLst>
              </p:cNvPr>
              <p:cNvCxnSpPr/>
              <p:nvPr/>
            </p:nvCxnSpPr>
            <p:spPr>
              <a:xfrm>
                <a:off x="5486400" y="3409049"/>
                <a:ext cx="609600" cy="95588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BA8D4CF-8279-342A-A3F7-2F262DFE3D26}"/>
                  </a:ext>
                </a:extLst>
              </p:cNvPr>
              <p:cNvCxnSpPr/>
              <p:nvPr/>
            </p:nvCxnSpPr>
            <p:spPr>
              <a:xfrm flipH="1" flipV="1">
                <a:off x="5486400" y="3409050"/>
                <a:ext cx="609600" cy="261075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0506D2E-DCF4-C211-CB60-1AA3F3F17DD5}"/>
                  </a:ext>
                </a:extLst>
              </p:cNvPr>
              <p:cNvCxnSpPr/>
              <p:nvPr/>
            </p:nvCxnSpPr>
            <p:spPr>
              <a:xfrm flipV="1">
                <a:off x="8001000" y="5602448"/>
                <a:ext cx="0" cy="417352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1866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CF66288-0F51-AAB2-625A-E5C4DE7C3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14990"/>
            <a:ext cx="82296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Converting Vertical Data to Horizontal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53382DA-9C47-361A-5EF1-01F4508E2F2F}"/>
              </a:ext>
            </a:extLst>
          </p:cNvPr>
          <p:cNvCxnSpPr/>
          <p:nvPr/>
        </p:nvCxnSpPr>
        <p:spPr>
          <a:xfrm>
            <a:off x="5634814" y="1435028"/>
            <a:ext cx="495300" cy="0"/>
          </a:xfrm>
          <a:prstGeom prst="straightConnector1">
            <a:avLst/>
          </a:prstGeom>
          <a:ln w="44450"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B72F0D-A384-E113-C339-9E53114E0B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67726"/>
              </p:ext>
            </p:extLst>
          </p:nvPr>
        </p:nvGraphicFramePr>
        <p:xfrm>
          <a:off x="6577306" y="1143256"/>
          <a:ext cx="3062656" cy="2917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73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24825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u="none" strike="noStrike" dirty="0">
                          <a:effectLst/>
                        </a:rPr>
                        <a:t>ServerName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u="none" strike="noStrike" dirty="0">
                          <a:effectLst/>
                        </a:rPr>
                        <a:t>Primary…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u="none" strike="noStrike" dirty="0">
                          <a:effectLst/>
                        </a:rPr>
                        <a:t>Secondary…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Tertiary…</a:t>
                      </a: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Access…</a:t>
                      </a: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Patching…</a:t>
                      </a: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327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 dirty="0">
                          <a:effectLst/>
                        </a:rPr>
                        <a:t>LOUSISWPS130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 dirty="0">
                          <a:effectLst/>
                        </a:rPr>
                        <a:t>Jeff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 dirty="0">
                          <a:effectLst/>
                        </a:rPr>
                        <a:t>Ann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Chris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Dan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Joanne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5D747BF-52F5-FB16-49B4-6A06945145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094878"/>
              </p:ext>
            </p:extLst>
          </p:nvPr>
        </p:nvGraphicFramePr>
        <p:xfrm>
          <a:off x="2082707" y="1054028"/>
          <a:ext cx="3507535" cy="12551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Ann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Tertiary Contact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Chris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Access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Dan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Patching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Joanne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633B69-F1B8-332B-4EE2-024F25F40F5E}"/>
              </a:ext>
            </a:extLst>
          </p:cNvPr>
          <p:cNvSpPr txBox="1"/>
          <p:nvPr/>
        </p:nvSpPr>
        <p:spPr>
          <a:xfrm>
            <a:off x="2364441" y="2582340"/>
            <a:ext cx="4569759" cy="3792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[Primary Contact]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[Secondary Contact]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[Tertiary Contact]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[Access Approver]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[Patching Approver]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DISTINCT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'Primary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base.ServerName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'Secondary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Tertiary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Access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Patching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7B2F55E9-59E4-5206-39BE-052F294DD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2226829"/>
            <a:ext cx="914400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398DB51B-41F0-6326-76A6-F85E3D2F4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256" y="1738500"/>
            <a:ext cx="1515344" cy="887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20D94F-EA6D-B541-BDAA-82B1D8EBA2F3}"/>
              </a:ext>
            </a:extLst>
          </p:cNvPr>
          <p:cNvCxnSpPr/>
          <p:nvPr/>
        </p:nvCxnSpPr>
        <p:spPr>
          <a:xfrm flipV="1">
            <a:off x="6629400" y="2067590"/>
            <a:ext cx="1371600" cy="52595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3">
            <a:extLst>
              <a:ext uri="{FF2B5EF4-FFF2-40B4-BE49-F238E27FC236}">
                <a16:creationId xmlns:a16="http://schemas.microsoft.com/office/drawing/2014/main" id="{8BFDF410-5741-356A-272A-8652B85D1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643" y="2625910"/>
            <a:ext cx="1514957" cy="828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57B5E4-E3EA-47CD-5080-7A9A76EED5FF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6629401" y="2593541"/>
            <a:ext cx="1228242" cy="44669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4">
            <a:extLst>
              <a:ext uri="{FF2B5EF4-FFF2-40B4-BE49-F238E27FC236}">
                <a16:creationId xmlns:a16="http://schemas.microsoft.com/office/drawing/2014/main" id="{C3894014-3595-E0D5-559E-55F3E8BCE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643" y="3620183"/>
            <a:ext cx="1514957" cy="7574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20F06C9-B22F-B5C7-70AD-88C9242370F8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6629401" y="2625910"/>
            <a:ext cx="1228242" cy="137301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5">
            <a:extLst>
              <a:ext uri="{FF2B5EF4-FFF2-40B4-BE49-F238E27FC236}">
                <a16:creationId xmlns:a16="http://schemas.microsoft.com/office/drawing/2014/main" id="{CBDF5145-A19D-101C-941B-10D34DF1B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1075" y="4598091"/>
            <a:ext cx="1521525" cy="757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" name="Picture 6">
            <a:extLst>
              <a:ext uri="{FF2B5EF4-FFF2-40B4-BE49-F238E27FC236}">
                <a16:creationId xmlns:a16="http://schemas.microsoft.com/office/drawing/2014/main" id="{811BFD6F-12F9-46A4-E416-B8CE0DA52C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5526" y="5572790"/>
            <a:ext cx="1521525" cy="771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2166F4B-3D3A-3420-5A0A-26AD97D8060E}"/>
              </a:ext>
            </a:extLst>
          </p:cNvPr>
          <p:cNvCxnSpPr/>
          <p:nvPr/>
        </p:nvCxnSpPr>
        <p:spPr>
          <a:xfrm flipH="1" flipV="1">
            <a:off x="6629401" y="2615458"/>
            <a:ext cx="1319211" cy="250013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EBF87B-1A4C-CCE7-2FC1-E993D0B7B780}"/>
              </a:ext>
            </a:extLst>
          </p:cNvPr>
          <p:cNvCxnSpPr/>
          <p:nvPr/>
        </p:nvCxnSpPr>
        <p:spPr>
          <a:xfrm flipH="1" flipV="1">
            <a:off x="6639829" y="2625910"/>
            <a:ext cx="1319212" cy="363268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612E53-5986-1D6D-2C16-8A077522959C}"/>
              </a:ext>
            </a:extLst>
          </p:cNvPr>
          <p:cNvCxnSpPr/>
          <p:nvPr/>
        </p:nvCxnSpPr>
        <p:spPr>
          <a:xfrm flipH="1" flipV="1">
            <a:off x="7543800" y="1435029"/>
            <a:ext cx="1371600" cy="632561"/>
          </a:xfrm>
          <a:prstGeom prst="straightConnector1">
            <a:avLst/>
          </a:prstGeom>
          <a:ln w="2222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300B99-6485-0AE9-3ED6-7A32848AB342}"/>
              </a:ext>
            </a:extLst>
          </p:cNvPr>
          <p:cNvCxnSpPr/>
          <p:nvPr/>
        </p:nvCxnSpPr>
        <p:spPr>
          <a:xfrm flipH="1" flipV="1">
            <a:off x="7983926" y="1435031"/>
            <a:ext cx="1024748" cy="1605204"/>
          </a:xfrm>
          <a:prstGeom prst="straightConnector1">
            <a:avLst/>
          </a:prstGeom>
          <a:ln w="22225">
            <a:solidFill>
              <a:schemeClr val="accent3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7DA07A-32C9-53D3-6D2B-D83CFFF2BC5D}"/>
              </a:ext>
            </a:extLst>
          </p:cNvPr>
          <p:cNvCxnSpPr/>
          <p:nvPr/>
        </p:nvCxnSpPr>
        <p:spPr>
          <a:xfrm flipH="1" flipV="1">
            <a:off x="8542937" y="1435030"/>
            <a:ext cx="465737" cy="2601116"/>
          </a:xfrm>
          <a:prstGeom prst="straightConnector1">
            <a:avLst/>
          </a:prstGeom>
          <a:ln w="2222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D70739F-43E4-1A95-4110-17D8C6CCCA69}"/>
              </a:ext>
            </a:extLst>
          </p:cNvPr>
          <p:cNvCxnSpPr/>
          <p:nvPr/>
        </p:nvCxnSpPr>
        <p:spPr>
          <a:xfrm flipH="1" flipV="1">
            <a:off x="9008674" y="1435028"/>
            <a:ext cx="88313" cy="3731052"/>
          </a:xfrm>
          <a:prstGeom prst="straightConnector1">
            <a:avLst/>
          </a:prstGeom>
          <a:ln w="2222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8549B20-35F7-95B3-7B7E-D23FC5657D32}"/>
              </a:ext>
            </a:extLst>
          </p:cNvPr>
          <p:cNvCxnSpPr/>
          <p:nvPr/>
        </p:nvCxnSpPr>
        <p:spPr>
          <a:xfrm flipV="1">
            <a:off x="9096987" y="1464189"/>
            <a:ext cx="292687" cy="4779834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BC61AF03-5270-98F4-F59D-96DFACD697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6538" y="5428784"/>
            <a:ext cx="851981" cy="91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17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4">
            <a:extLst>
              <a:ext uri="{FF2B5EF4-FFF2-40B4-BE49-F238E27FC236}">
                <a16:creationId xmlns:a16="http://schemas.microsoft.com/office/drawing/2014/main" id="{FD5A3F12-2F2F-3EEC-A392-C1EC62781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407" y="1276350"/>
            <a:ext cx="7675186" cy="430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40939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7">
            <a:extLst>
              <a:ext uri="{FF2B5EF4-FFF2-40B4-BE49-F238E27FC236}">
                <a16:creationId xmlns:a16="http://schemas.microsoft.com/office/drawing/2014/main" id="{C72BB4AA-029B-02DD-7131-DB130BF4B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2600" y="343667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What is a pivot?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5902CD-A478-0F3B-F2CC-3D9FB30C7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6764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A pivot is a point or set of</a:t>
            </a:r>
            <a:r>
              <a:rPr kumimoji="0" lang="en-US" sz="2000" b="0" i="0" u="none" strike="noStrike" kern="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 points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, on the end of which </a:t>
            </a: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something rests and turns</a:t>
            </a: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something rotates or oscillates.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DFCBDF-C941-A8FD-E1E9-3FFA9889C0E8}"/>
              </a:ext>
            </a:extLst>
          </p:cNvPr>
          <p:cNvGrpSpPr/>
          <p:nvPr/>
        </p:nvGrpSpPr>
        <p:grpSpPr>
          <a:xfrm>
            <a:off x="2133598" y="2789813"/>
            <a:ext cx="7743942" cy="3028038"/>
            <a:chOff x="861803" y="3277923"/>
            <a:chExt cx="7743942" cy="302803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EF97AF0-E225-B8B1-74C1-628AE000A126}"/>
                </a:ext>
              </a:extLst>
            </p:cNvPr>
            <p:cNvGrpSpPr/>
            <p:nvPr/>
          </p:nvGrpSpPr>
          <p:grpSpPr>
            <a:xfrm>
              <a:off x="861803" y="3523001"/>
              <a:ext cx="3110122" cy="2432176"/>
              <a:chOff x="861803" y="3523001"/>
              <a:chExt cx="3110122" cy="2432176"/>
            </a:xfrm>
          </p:grpSpPr>
          <p:pic>
            <p:nvPicPr>
              <p:cNvPr id="13" name="Picture 2">
                <a:extLst>
                  <a:ext uri="{FF2B5EF4-FFF2-40B4-BE49-F238E27FC236}">
                    <a16:creationId xmlns:a16="http://schemas.microsoft.com/office/drawing/2014/main" id="{79361C9D-B6DA-1B7F-9824-257F4D609B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90600" y="3962400"/>
                <a:ext cx="2981325" cy="16764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2140E28-9573-5689-AA77-18C2F6190E43}"/>
                  </a:ext>
                </a:extLst>
              </p:cNvPr>
              <p:cNvCxnSpPr/>
              <p:nvPr/>
            </p:nvCxnSpPr>
            <p:spPr>
              <a:xfrm>
                <a:off x="1981199" y="3838250"/>
                <a:ext cx="491359" cy="1106866"/>
              </a:xfrm>
              <a:prstGeom prst="straightConnector1">
                <a:avLst/>
              </a:prstGeom>
              <a:noFill/>
              <a:ln w="50800" cap="flat" cmpd="sng" algn="ctr">
                <a:solidFill>
                  <a:srgbClr val="4F81BD">
                    <a:shade val="95000"/>
                    <a:satMod val="105000"/>
                  </a:srgbClr>
                </a:solidFill>
                <a:prstDash val="solid"/>
                <a:tailEnd type="arrow"/>
              </a:ln>
              <a:effectLst/>
            </p:spPr>
          </p:cxnSp>
          <p:sp>
            <p:nvSpPr>
              <p:cNvPr id="15" name="Circular Arrow 42">
                <a:extLst>
                  <a:ext uri="{FF2B5EF4-FFF2-40B4-BE49-F238E27FC236}">
                    <a16:creationId xmlns:a16="http://schemas.microsoft.com/office/drawing/2014/main" id="{2316DD38-5924-63D9-5235-DB290814281E}"/>
                  </a:ext>
                </a:extLst>
              </p:cNvPr>
              <p:cNvSpPr/>
              <p:nvPr/>
            </p:nvSpPr>
            <p:spPr>
              <a:xfrm rot="20022896" flipV="1">
                <a:off x="2274288" y="4238469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" name="Circular Arrow 43">
                <a:extLst>
                  <a:ext uri="{FF2B5EF4-FFF2-40B4-BE49-F238E27FC236}">
                    <a16:creationId xmlns:a16="http://schemas.microsoft.com/office/drawing/2014/main" id="{EB1D25D8-5AD6-A66D-8AFC-1A6DD6B1A3CE}"/>
                  </a:ext>
                </a:extLst>
              </p:cNvPr>
              <p:cNvSpPr/>
              <p:nvPr/>
            </p:nvSpPr>
            <p:spPr>
              <a:xfrm rot="9536570" flipV="1">
                <a:off x="861803" y="3523001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176F352-CE6C-97DA-1C34-4C6F509F682D}"/>
                </a:ext>
              </a:extLst>
            </p:cNvPr>
            <p:cNvGrpSpPr/>
            <p:nvPr/>
          </p:nvGrpSpPr>
          <p:grpSpPr>
            <a:xfrm>
              <a:off x="4846339" y="3277923"/>
              <a:ext cx="3759406" cy="3028038"/>
              <a:chOff x="4846339" y="3277923"/>
              <a:chExt cx="3759406" cy="3028038"/>
            </a:xfrm>
          </p:grpSpPr>
          <p:pic>
            <p:nvPicPr>
              <p:cNvPr id="9" name="Picture 3">
                <a:extLst>
                  <a:ext uri="{FF2B5EF4-FFF2-40B4-BE49-F238E27FC236}">
                    <a16:creationId xmlns:a16="http://schemas.microsoft.com/office/drawing/2014/main" id="{0ADCA777-6A26-D985-175B-3DFF16725E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10200" y="3407978"/>
                <a:ext cx="2743200" cy="26003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D8247A07-D487-FE62-1ABF-A8AE2E242AC2}"/>
                  </a:ext>
                </a:extLst>
              </p:cNvPr>
              <p:cNvCxnSpPr/>
              <p:nvPr/>
            </p:nvCxnSpPr>
            <p:spPr>
              <a:xfrm>
                <a:off x="6096000" y="3277923"/>
                <a:ext cx="609600" cy="1120655"/>
              </a:xfrm>
              <a:prstGeom prst="straightConnector1">
                <a:avLst/>
              </a:prstGeom>
              <a:noFill/>
              <a:ln w="50800" cap="flat" cmpd="sng" algn="ctr">
                <a:solidFill>
                  <a:srgbClr val="1F497D"/>
                </a:solidFill>
                <a:prstDash val="solid"/>
                <a:tailEnd type="arrow"/>
              </a:ln>
              <a:effectLst/>
            </p:spPr>
          </p:cxnSp>
          <p:sp>
            <p:nvSpPr>
              <p:cNvPr id="11" name="Circular Arrow 38">
                <a:extLst>
                  <a:ext uri="{FF2B5EF4-FFF2-40B4-BE49-F238E27FC236}">
                    <a16:creationId xmlns:a16="http://schemas.microsoft.com/office/drawing/2014/main" id="{D429E9BF-CDEB-312D-BCF8-B64822255D2C}"/>
                  </a:ext>
                </a:extLst>
              </p:cNvPr>
              <p:cNvSpPr/>
              <p:nvPr/>
            </p:nvSpPr>
            <p:spPr>
              <a:xfrm rot="9536570" flipV="1">
                <a:off x="4846339" y="3369278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2" name="Circular Arrow 39">
                <a:extLst>
                  <a:ext uri="{FF2B5EF4-FFF2-40B4-BE49-F238E27FC236}">
                    <a16:creationId xmlns:a16="http://schemas.microsoft.com/office/drawing/2014/main" id="{D90E7580-0D4C-21A6-7B17-59E76F0AD607}"/>
                  </a:ext>
                </a:extLst>
              </p:cNvPr>
              <p:cNvSpPr/>
              <p:nvPr/>
            </p:nvSpPr>
            <p:spPr>
              <a:xfrm rot="20022896" flipV="1">
                <a:off x="6922488" y="4589253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B46463FE-A746-E6EB-4FB4-E786AD105409}"/>
              </a:ext>
            </a:extLst>
          </p:cNvPr>
          <p:cNvSpPr txBox="1"/>
          <p:nvPr/>
        </p:nvSpPr>
        <p:spPr>
          <a:xfrm>
            <a:off x="6553200" y="5751020"/>
            <a:ext cx="3429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http://dictionary.reference.com/browse/pivoted?s=t</a:t>
            </a:r>
          </a:p>
        </p:txBody>
      </p:sp>
    </p:spTree>
    <p:extLst>
      <p:ext uri="{BB962C8B-B14F-4D97-AF65-F5344CB8AC3E}">
        <p14:creationId xmlns:p14="http://schemas.microsoft.com/office/powerpoint/2010/main" val="18131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89D5A030-437E-423F-609E-E904112E0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437" y="1485900"/>
            <a:ext cx="5191125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BAF5A9-1307-66DD-C2AD-078AA040A7E4}"/>
              </a:ext>
            </a:extLst>
          </p:cNvPr>
          <p:cNvSpPr txBox="1"/>
          <p:nvPr/>
        </p:nvSpPr>
        <p:spPr>
          <a:xfrm>
            <a:off x="2662237" y="5019546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Pivot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758C99-5B4D-314F-BBFB-F6D5A5830910}"/>
              </a:ext>
            </a:extLst>
          </p:cNvPr>
          <p:cNvSpPr txBox="1"/>
          <p:nvPr/>
        </p:nvSpPr>
        <p:spPr>
          <a:xfrm>
            <a:off x="8224837" y="2978532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Torque / Force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251641-ABEE-27F3-493B-B6333E833020}"/>
              </a:ext>
            </a:extLst>
          </p:cNvPr>
          <p:cNvCxnSpPr/>
          <p:nvPr/>
        </p:nvCxnSpPr>
        <p:spPr>
          <a:xfrm flipV="1">
            <a:off x="5570861" y="2185636"/>
            <a:ext cx="685800" cy="236800"/>
          </a:xfrm>
          <a:prstGeom prst="line">
            <a:avLst/>
          </a:prstGeom>
          <a:ln w="254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lar Arrow 10">
            <a:extLst>
              <a:ext uri="{FF2B5EF4-FFF2-40B4-BE49-F238E27FC236}">
                <a16:creationId xmlns:a16="http://schemas.microsoft.com/office/drawing/2014/main" id="{2DFAD092-C6DC-76D5-4E86-8B5EE5EE8F3C}"/>
              </a:ext>
            </a:extLst>
          </p:cNvPr>
          <p:cNvSpPr/>
          <p:nvPr/>
        </p:nvSpPr>
        <p:spPr>
          <a:xfrm rot="17343314">
            <a:off x="2543496" y="1757338"/>
            <a:ext cx="2080101" cy="2154974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8170595"/>
              <a:gd name="adj5" fmla="val 19282"/>
            </a:avLst>
          </a:prstGeom>
          <a:solidFill>
            <a:schemeClr val="accent2">
              <a:lumMod val="75000"/>
            </a:schemeClr>
          </a:solidFill>
          <a:ln w="254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03F0C2-6492-85AB-635C-3AE87F25DCEA}"/>
              </a:ext>
            </a:extLst>
          </p:cNvPr>
          <p:cNvCxnSpPr/>
          <p:nvPr/>
        </p:nvCxnSpPr>
        <p:spPr>
          <a:xfrm flipV="1">
            <a:off x="3080023" y="2844364"/>
            <a:ext cx="1030014" cy="218832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2DDA36D-28AD-BBC2-2DEB-1929B112C71F}"/>
              </a:ext>
            </a:extLst>
          </p:cNvPr>
          <p:cNvCxnSpPr/>
          <p:nvPr/>
        </p:nvCxnSpPr>
        <p:spPr>
          <a:xfrm flipV="1">
            <a:off x="2738437" y="2874264"/>
            <a:ext cx="1371600" cy="473600"/>
          </a:xfrm>
          <a:prstGeom prst="line">
            <a:avLst/>
          </a:prstGeom>
          <a:ln w="254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4B50279-326B-72D4-3782-7577F097F08B}"/>
              </a:ext>
            </a:extLst>
          </p:cNvPr>
          <p:cNvCxnSpPr/>
          <p:nvPr/>
        </p:nvCxnSpPr>
        <p:spPr>
          <a:xfrm>
            <a:off x="7996237" y="2254632"/>
            <a:ext cx="0" cy="1447800"/>
          </a:xfrm>
          <a:prstGeom prst="straightConnector1">
            <a:avLst/>
          </a:prstGeom>
          <a:ln w="1301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866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F358AC7-44BC-1CCC-3A59-04559E710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560388"/>
            <a:ext cx="8763000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“Imagine” how this would apply to data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27AFBB4-1CA4-79A1-5596-7AAB49565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9400" y="2173844"/>
            <a:ext cx="962025" cy="2718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BBCD2F47-9DE5-3965-F8AD-8420C7BD7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400" y="2935844"/>
            <a:ext cx="1733550" cy="151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965D23-098E-536D-18DC-C75A1ACAE1EA}"/>
              </a:ext>
            </a:extLst>
          </p:cNvPr>
          <p:cNvSpPr txBox="1"/>
          <p:nvPr/>
        </p:nvSpPr>
        <p:spPr>
          <a:xfrm>
            <a:off x="2590800" y="5250418"/>
            <a:ext cx="2009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Vertical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DCAF3D-6FDF-C882-61EC-C8A5F17DCBA9}"/>
              </a:ext>
            </a:extLst>
          </p:cNvPr>
          <p:cNvSpPr txBox="1"/>
          <p:nvPr/>
        </p:nvSpPr>
        <p:spPr>
          <a:xfrm>
            <a:off x="7331849" y="5250417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Horizontal data</a:t>
            </a:r>
          </a:p>
        </p:txBody>
      </p:sp>
      <p:sp>
        <p:nvSpPr>
          <p:cNvPr id="10" name="Circular Arrow 16">
            <a:extLst>
              <a:ext uri="{FF2B5EF4-FFF2-40B4-BE49-F238E27FC236}">
                <a16:creationId xmlns:a16="http://schemas.microsoft.com/office/drawing/2014/main" id="{9A39CDA8-9C3E-95AB-52EC-519B5F2661FF}"/>
              </a:ext>
            </a:extLst>
          </p:cNvPr>
          <p:cNvSpPr/>
          <p:nvPr/>
        </p:nvSpPr>
        <p:spPr>
          <a:xfrm rot="8828843">
            <a:off x="3785043" y="2743332"/>
            <a:ext cx="986467" cy="988941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87966"/>
              <a:gd name="adj5" fmla="val 19282"/>
            </a:avLst>
          </a:prstGeom>
          <a:solidFill>
            <a:schemeClr val="accent2">
              <a:lumMod val="75000"/>
            </a:schemeClr>
          </a:solidFill>
          <a:ln w="254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919FC1-D36C-311B-4768-3F7A136593F0}"/>
              </a:ext>
            </a:extLst>
          </p:cNvPr>
          <p:cNvSpPr txBox="1"/>
          <p:nvPr/>
        </p:nvSpPr>
        <p:spPr>
          <a:xfrm>
            <a:off x="7331849" y="1885462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</a:rPr>
              <a:t>Less rows, more columns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8A8504-5886-02DB-F735-19C66E4037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225" y="2156493"/>
            <a:ext cx="3152775" cy="3114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7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5FD7D53-AEC0-A027-7D42-9E7809E80833}"/>
              </a:ext>
            </a:extLst>
          </p:cNvPr>
          <p:cNvGrpSpPr/>
          <p:nvPr/>
        </p:nvGrpSpPr>
        <p:grpSpPr>
          <a:xfrm>
            <a:off x="8441653" y="3752850"/>
            <a:ext cx="1159547" cy="1609967"/>
            <a:chOff x="1126092" y="2200033"/>
            <a:chExt cx="1159547" cy="160996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1F2CB2F-7F7C-4EE3-7A9D-C5421BD97E16}"/>
                </a:ext>
              </a:extLst>
            </p:cNvPr>
            <p:cNvCxnSpPr/>
            <p:nvPr/>
          </p:nvCxnSpPr>
          <p:spPr>
            <a:xfrm>
              <a:off x="1295400" y="2362200"/>
              <a:ext cx="0" cy="1447800"/>
            </a:xfrm>
            <a:prstGeom prst="line">
              <a:avLst/>
            </a:prstGeom>
            <a:ln w="12382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ircular Arrow 3">
              <a:extLst>
                <a:ext uri="{FF2B5EF4-FFF2-40B4-BE49-F238E27FC236}">
                  <a16:creationId xmlns:a16="http://schemas.microsoft.com/office/drawing/2014/main" id="{C639FEF0-94EE-195F-3A71-C12C59AD1686}"/>
                </a:ext>
              </a:extLst>
            </p:cNvPr>
            <p:cNvSpPr/>
            <p:nvPr/>
          </p:nvSpPr>
          <p:spPr>
            <a:xfrm rot="9108731">
              <a:off x="1126092" y="2200033"/>
              <a:ext cx="1159547" cy="1127789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8796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4B1C4E0-005A-2021-EB5D-08655E0F717B}"/>
              </a:ext>
            </a:extLst>
          </p:cNvPr>
          <p:cNvSpPr txBox="1"/>
          <p:nvPr/>
        </p:nvSpPr>
        <p:spPr>
          <a:xfrm>
            <a:off x="2555575" y="861289"/>
            <a:ext cx="5257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The PIVOT operator promotes data to column headers</a:t>
            </a:r>
          </a:p>
        </p:txBody>
      </p:sp>
      <p:sp>
        <p:nvSpPr>
          <p:cNvPr id="9" name="Circular Arrow 8">
            <a:extLst>
              <a:ext uri="{FF2B5EF4-FFF2-40B4-BE49-F238E27FC236}">
                <a16:creationId xmlns:a16="http://schemas.microsoft.com/office/drawing/2014/main" id="{D5FDBA09-1AA1-00D1-E711-43E6CAF019B5}"/>
              </a:ext>
            </a:extLst>
          </p:cNvPr>
          <p:cNvSpPr/>
          <p:nvPr/>
        </p:nvSpPr>
        <p:spPr>
          <a:xfrm rot="14468456">
            <a:off x="7680692" y="1453402"/>
            <a:ext cx="1651741" cy="1669883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87966"/>
              <a:gd name="adj5" fmla="val 1928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DA04164-220C-F372-548E-62AF36FAE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893" y="3715398"/>
            <a:ext cx="5071807" cy="1884317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8350A3F-A0E2-548E-9B04-EC96F010E472}"/>
              </a:ext>
            </a:extLst>
          </p:cNvPr>
          <p:cNvGrpSpPr/>
          <p:nvPr/>
        </p:nvGrpSpPr>
        <p:grpSpPr>
          <a:xfrm>
            <a:off x="3092824" y="4182035"/>
            <a:ext cx="4155141" cy="1246715"/>
            <a:chOff x="3092824" y="4182035"/>
            <a:chExt cx="4155141" cy="141768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7D89A84-0ED4-C511-1B48-37EF732CCD8F}"/>
                </a:ext>
              </a:extLst>
            </p:cNvPr>
            <p:cNvSpPr/>
            <p:nvPr/>
          </p:nvSpPr>
          <p:spPr>
            <a:xfrm>
              <a:off x="3092824" y="4182035"/>
              <a:ext cx="1385047" cy="141768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9E9F49F-D736-A3BA-9667-45685CE7FE73}"/>
                </a:ext>
              </a:extLst>
            </p:cNvPr>
            <p:cNvSpPr/>
            <p:nvPr/>
          </p:nvSpPr>
          <p:spPr>
            <a:xfrm>
              <a:off x="4477871" y="4182035"/>
              <a:ext cx="1385047" cy="141768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5B2F8DE-5750-B9AF-F442-377C5855C328}"/>
                </a:ext>
              </a:extLst>
            </p:cNvPr>
            <p:cNvSpPr/>
            <p:nvPr/>
          </p:nvSpPr>
          <p:spPr>
            <a:xfrm>
              <a:off x="5862918" y="4182035"/>
              <a:ext cx="1385047" cy="141768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46F613-A98C-6F92-8BAB-EAF5D8810D9A}"/>
              </a:ext>
            </a:extLst>
          </p:cNvPr>
          <p:cNvGrpSpPr/>
          <p:nvPr/>
        </p:nvGrpSpPr>
        <p:grpSpPr>
          <a:xfrm>
            <a:off x="2289412" y="3725046"/>
            <a:ext cx="5129661" cy="1901563"/>
            <a:chOff x="2304893" y="3715398"/>
            <a:chExt cx="5124330" cy="1903831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99D7004-B03B-6EFB-C8F9-8CD917D74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04893" y="3715398"/>
              <a:ext cx="5124330" cy="1903831"/>
            </a:xfrm>
            <a:prstGeom prst="rect">
              <a:avLst/>
            </a:prstGeom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A66541C-226C-926D-6FA8-E5953F98C22A}"/>
                </a:ext>
              </a:extLst>
            </p:cNvPr>
            <p:cNvSpPr/>
            <p:nvPr/>
          </p:nvSpPr>
          <p:spPr>
            <a:xfrm>
              <a:off x="2393195" y="4563631"/>
              <a:ext cx="4854770" cy="45688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4B492E-0F4B-8E07-E219-1DE9B2E2DCC4}"/>
                </a:ext>
              </a:extLst>
            </p:cNvPr>
            <p:cNvSpPr/>
            <p:nvPr/>
          </p:nvSpPr>
          <p:spPr>
            <a:xfrm>
              <a:off x="2393195" y="5020513"/>
              <a:ext cx="4854770" cy="45688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6F93D49-95D5-4310-F09E-60F68CE378C6}"/>
              </a:ext>
            </a:extLst>
          </p:cNvPr>
          <p:cNvGrpSpPr/>
          <p:nvPr/>
        </p:nvGrpSpPr>
        <p:grpSpPr>
          <a:xfrm>
            <a:off x="2292980" y="3718588"/>
            <a:ext cx="5118225" cy="1901563"/>
            <a:chOff x="2304893" y="3717666"/>
            <a:chExt cx="5118225" cy="19015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1CBD523-A799-9836-6871-570E64225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04893" y="3717666"/>
              <a:ext cx="5118225" cy="190156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F378C3-8817-45A6-2A96-8DE374F711EA}"/>
                </a:ext>
              </a:extLst>
            </p:cNvPr>
            <p:cNvSpPr/>
            <p:nvPr/>
          </p:nvSpPr>
          <p:spPr>
            <a:xfrm>
              <a:off x="2412241" y="4197067"/>
              <a:ext cx="674478" cy="347049"/>
            </a:xfrm>
            <a:prstGeom prst="rect">
              <a:avLst/>
            </a:prstGeom>
            <a:noFill/>
            <a:ln w="635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3808F2E-F6A4-F032-ED29-7C68CA7110AF}"/>
              </a:ext>
            </a:extLst>
          </p:cNvPr>
          <p:cNvGrpSpPr/>
          <p:nvPr/>
        </p:nvGrpSpPr>
        <p:grpSpPr>
          <a:xfrm>
            <a:off x="2398794" y="4034118"/>
            <a:ext cx="1164677" cy="1129552"/>
            <a:chOff x="660576" y="2937026"/>
            <a:chExt cx="817726" cy="80654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1A5F1ED-CBC4-DA1D-DCE0-2DDFC6C3AEF0}"/>
                </a:ext>
              </a:extLst>
            </p:cNvPr>
            <p:cNvSpPr/>
            <p:nvPr/>
          </p:nvSpPr>
          <p:spPr>
            <a:xfrm>
              <a:off x="660576" y="3065123"/>
              <a:ext cx="501518" cy="239352"/>
            </a:xfrm>
            <a:prstGeom prst="rect">
              <a:avLst/>
            </a:prstGeom>
            <a:noFill/>
            <a:ln w="635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ircular Arrow 10">
              <a:extLst>
                <a:ext uri="{FF2B5EF4-FFF2-40B4-BE49-F238E27FC236}">
                  <a16:creationId xmlns:a16="http://schemas.microsoft.com/office/drawing/2014/main" id="{0AAF63DA-CC0D-4E57-566B-6A238D345162}"/>
                </a:ext>
              </a:extLst>
            </p:cNvPr>
            <p:cNvSpPr/>
            <p:nvPr/>
          </p:nvSpPr>
          <p:spPr>
            <a:xfrm rot="18396935">
              <a:off x="673544" y="2938809"/>
              <a:ext cx="806541" cy="802975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640082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09656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26BFA871-6082-1F10-8C4D-316EA8E1C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0405" y="2085533"/>
            <a:ext cx="5029200" cy="101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F1F3DD-7141-D089-60AC-CAA6E8F453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9034" y="2243095"/>
            <a:ext cx="1343025" cy="256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67CDB98-72A3-CABF-00C2-972C4705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560388"/>
            <a:ext cx="8229600" cy="1143000"/>
          </a:xfrm>
        </p:spPr>
        <p:txBody>
          <a:bodyPr/>
          <a:lstStyle/>
          <a:p>
            <a:r>
              <a:rPr lang="en-US" dirty="0"/>
              <a:t>How a T-SQL PIVOT works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0D4FD-1CF5-D483-B573-7607B9F1A212}"/>
              </a:ext>
            </a:extLst>
          </p:cNvPr>
          <p:cNvSpPr txBox="1"/>
          <p:nvPr/>
        </p:nvSpPr>
        <p:spPr>
          <a:xfrm>
            <a:off x="3360323" y="5624297"/>
            <a:ext cx="5638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But what is ultimately presented back to the client?</a:t>
            </a:r>
          </a:p>
        </p:txBody>
      </p:sp>
      <p:sp>
        <p:nvSpPr>
          <p:cNvPr id="8" name="Circular Arrow 7">
            <a:extLst>
              <a:ext uri="{FF2B5EF4-FFF2-40B4-BE49-F238E27FC236}">
                <a16:creationId xmlns:a16="http://schemas.microsoft.com/office/drawing/2014/main" id="{C22B5C10-291D-CB37-3D45-EDA78B46B43B}"/>
              </a:ext>
            </a:extLst>
          </p:cNvPr>
          <p:cNvSpPr/>
          <p:nvPr/>
        </p:nvSpPr>
        <p:spPr>
          <a:xfrm rot="14468456">
            <a:off x="2131765" y="3007944"/>
            <a:ext cx="1159547" cy="1183154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87966"/>
              <a:gd name="adj5" fmla="val 1928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E2D045F-A3A7-6067-A3B9-672532B64BED}"/>
              </a:ext>
            </a:extLst>
          </p:cNvPr>
          <p:cNvGrpSpPr/>
          <p:nvPr/>
        </p:nvGrpSpPr>
        <p:grpSpPr>
          <a:xfrm>
            <a:off x="4724400" y="2876550"/>
            <a:ext cx="2895600" cy="1878221"/>
            <a:chOff x="3200400" y="2590800"/>
            <a:chExt cx="2895600" cy="1878221"/>
          </a:xfrm>
        </p:grpSpPr>
        <p:pic>
          <p:nvPicPr>
            <p:cNvPr id="10" name="Picture 7">
              <a:extLst>
                <a:ext uri="{FF2B5EF4-FFF2-40B4-BE49-F238E27FC236}">
                  <a16:creationId xmlns:a16="http://schemas.microsoft.com/office/drawing/2014/main" id="{A17F772A-9091-D64D-8FE6-8FF7BE824A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1230" y="3745121"/>
              <a:ext cx="2400300" cy="723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F0A6E18-77D2-E4B9-F8A7-1AF2AE11A28B}"/>
                </a:ext>
              </a:extLst>
            </p:cNvPr>
            <p:cNvCxnSpPr/>
            <p:nvPr/>
          </p:nvCxnSpPr>
          <p:spPr>
            <a:xfrm>
              <a:off x="4686300" y="2847913"/>
              <a:ext cx="0" cy="781091"/>
            </a:xfrm>
            <a:prstGeom prst="straightConnector1">
              <a:avLst/>
            </a:prstGeom>
            <a:ln w="4762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C8FA99A-C5F0-25C0-4B31-93C64035DB7A}"/>
                </a:ext>
              </a:extLst>
            </p:cNvPr>
            <p:cNvCxnSpPr/>
            <p:nvPr/>
          </p:nvCxnSpPr>
          <p:spPr>
            <a:xfrm>
              <a:off x="3200400" y="2667000"/>
              <a:ext cx="1314450" cy="152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8A8523E-C234-0C60-8AA8-7132A86F19CB}"/>
                </a:ext>
              </a:extLst>
            </p:cNvPr>
            <p:cNvCxnSpPr/>
            <p:nvPr/>
          </p:nvCxnSpPr>
          <p:spPr>
            <a:xfrm flipH="1" flipV="1">
              <a:off x="3810000" y="2590800"/>
              <a:ext cx="98138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E9C6E5-887C-3483-C410-FEF50E48EE53}"/>
                </a:ext>
              </a:extLst>
            </p:cNvPr>
            <p:cNvCxnSpPr/>
            <p:nvPr/>
          </p:nvCxnSpPr>
          <p:spPr>
            <a:xfrm flipV="1">
              <a:off x="5029200" y="2667000"/>
              <a:ext cx="609600" cy="152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331E3A5-5ACA-224A-460A-91923622B7E6}"/>
                </a:ext>
              </a:extLst>
            </p:cNvPr>
            <p:cNvCxnSpPr/>
            <p:nvPr/>
          </p:nvCxnSpPr>
          <p:spPr>
            <a:xfrm flipV="1">
              <a:off x="3962400" y="2590800"/>
              <a:ext cx="72390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649FC9B-903B-E533-05E6-FE6DAAE743CC}"/>
                </a:ext>
              </a:extLst>
            </p:cNvPr>
            <p:cNvCxnSpPr/>
            <p:nvPr/>
          </p:nvCxnSpPr>
          <p:spPr>
            <a:xfrm flipV="1">
              <a:off x="4114800" y="2590800"/>
              <a:ext cx="198120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67FD789-9DAA-BD63-748F-1F8DC573098A}"/>
                </a:ext>
              </a:extLst>
            </p:cNvPr>
            <p:cNvCxnSpPr/>
            <p:nvPr/>
          </p:nvCxnSpPr>
          <p:spPr>
            <a:xfrm>
              <a:off x="4300690" y="2590800"/>
              <a:ext cx="110951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2EFE3E9-6398-9BB3-C730-9DADA0E08230}"/>
                </a:ext>
              </a:extLst>
            </p:cNvPr>
            <p:cNvCxnSpPr/>
            <p:nvPr/>
          </p:nvCxnSpPr>
          <p:spPr>
            <a:xfrm>
              <a:off x="5257800" y="2590800"/>
              <a:ext cx="38100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49157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E760BE-10BC-E37D-6BB7-2C5260C3A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012" y="531256"/>
            <a:ext cx="6858000" cy="1143000"/>
          </a:xfrm>
        </p:spPr>
        <p:txBody>
          <a:bodyPr>
            <a:normAutofit/>
          </a:bodyPr>
          <a:lstStyle/>
          <a:p>
            <a:r>
              <a:rPr lang="en-US" dirty="0"/>
              <a:t>Aggregates refresher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2E0771-418E-48CF-0090-F043C03F9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545464"/>
              </p:ext>
            </p:extLst>
          </p:nvPr>
        </p:nvGraphicFramePr>
        <p:xfrm>
          <a:off x="1775012" y="2135432"/>
          <a:ext cx="8821270" cy="296862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5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725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515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Aggregate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Alphanumerics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/>
                          <a:ea typeface="Calibri"/>
                          <a:cs typeface="Times New Roman"/>
                        </a:rPr>
                        <a:t>Dates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Numerics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Datarows</a:t>
                      </a:r>
                      <a:r>
                        <a:rPr lang="en-US" sz="1200" dirty="0">
                          <a:effectLst/>
                        </a:rPr>
                        <a:t> with NULLs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NULL-only records, or record-less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COUNT()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Not counted towards final result</a:t>
                      </a:r>
                      <a:endParaRPr lang="en-US" sz="14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0</a:t>
                      </a:r>
                      <a:endParaRPr lang="en-US" sz="14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53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COUNT_BIG()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Not counted towards final result</a:t>
                      </a:r>
                      <a:endParaRPr lang="en-US" sz="14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0</a:t>
                      </a:r>
                      <a:endParaRPr lang="en-US" sz="14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MIN()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Not counted towards final result</a:t>
                      </a:r>
                      <a:endParaRPr lang="en-US" sz="14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NULL</a:t>
                      </a:r>
                      <a:endParaRPr lang="en-US" sz="14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MAX()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Not counted towards final result</a:t>
                      </a:r>
                      <a:endParaRPr lang="en-US" sz="14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NULL</a:t>
                      </a:r>
                      <a:endParaRPr lang="en-US" sz="14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SUM()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Not counted towards final result</a:t>
                      </a:r>
                      <a:endParaRPr lang="en-US" sz="14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NULL</a:t>
                      </a:r>
                      <a:endParaRPr lang="en-US" sz="14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7652581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AVG()</a:t>
                      </a:r>
                      <a:endParaRPr lang="en-US" sz="12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Not counted towards final result</a:t>
                      </a:r>
                      <a:endParaRPr lang="en-US" sz="14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NULL</a:t>
                      </a:r>
                      <a:endParaRPr lang="en-US" sz="14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556571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F40C0F-960F-02A3-1461-6073FC8754C0}"/>
              </a:ext>
            </a:extLst>
          </p:cNvPr>
          <p:cNvSpPr txBox="1"/>
          <p:nvPr/>
        </p:nvSpPr>
        <p:spPr>
          <a:xfrm>
            <a:off x="1775012" y="5665786"/>
            <a:ext cx="9009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Books Online for additional aggregates, as well as any aggregate-to-datatype limitations.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49756-9A22-D753-3E44-26F23C138FBF}"/>
              </a:ext>
            </a:extLst>
          </p:cNvPr>
          <p:cNvSpPr txBox="1"/>
          <p:nvPr/>
        </p:nvSpPr>
        <p:spPr>
          <a:xfrm>
            <a:off x="1775012" y="1674256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aggregate value is a solitary value that summarizes a list of 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9D8E7-5039-19D5-14B7-DE4505934406}"/>
              </a:ext>
            </a:extLst>
          </p:cNvPr>
          <p:cNvSpPr txBox="1"/>
          <p:nvPr/>
        </p:nvSpPr>
        <p:spPr>
          <a:xfrm>
            <a:off x="1775012" y="5178424"/>
            <a:ext cx="4800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 See Books Online for additional aggregates</a:t>
            </a:r>
          </a:p>
        </p:txBody>
      </p:sp>
    </p:spTree>
    <p:extLst>
      <p:ext uri="{BB962C8B-B14F-4D97-AF65-F5344CB8AC3E}">
        <p14:creationId xmlns:p14="http://schemas.microsoft.com/office/powerpoint/2010/main" val="1695958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4E40B85F-9A79-C2DA-08FD-EB2668B30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675640"/>
            <a:ext cx="1333500" cy="258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D65CE386-2AE7-3797-5A11-A5A78CFCA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704850"/>
            <a:ext cx="443865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17453CBE-58C3-C2A8-FAD1-51EBADC56D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8350" y="4572000"/>
            <a:ext cx="8317777" cy="15170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24610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E6C9671-B483-5D5C-C5A9-FFEC9DDF5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8425" y="253663"/>
            <a:ext cx="6915150" cy="1143000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PIVOT()</a:t>
            </a:r>
            <a:r>
              <a:rPr lang="en-US" sz="4000" b="1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4000" b="1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LIKE/!=</a:t>
            </a:r>
            <a:r>
              <a:rPr lang="en-US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40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GROUP BY</a:t>
            </a:r>
            <a:endParaRPr lang="en-US" sz="4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D1F8A9C-5CE4-F138-BEC7-C8B131DFF7DA}"/>
              </a:ext>
            </a:extLst>
          </p:cNvPr>
          <p:cNvGrpSpPr/>
          <p:nvPr/>
        </p:nvGrpSpPr>
        <p:grpSpPr>
          <a:xfrm>
            <a:off x="1965771" y="4457700"/>
            <a:ext cx="8068815" cy="2078460"/>
            <a:chOff x="441771" y="4419600"/>
            <a:chExt cx="8068815" cy="207846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5BE044A-24DB-B35B-B34D-E66C93327C05}"/>
                </a:ext>
              </a:extLst>
            </p:cNvPr>
            <p:cNvCxnSpPr/>
            <p:nvPr/>
          </p:nvCxnSpPr>
          <p:spPr>
            <a:xfrm>
              <a:off x="4476750" y="4419600"/>
              <a:ext cx="0" cy="207846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4593D1CF-628D-A53D-646C-26F3F365C1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771" y="5342836"/>
              <a:ext cx="3914775" cy="904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8" name="Picture 3">
              <a:extLst>
                <a:ext uri="{FF2B5EF4-FFF2-40B4-BE49-F238E27FC236}">
                  <a16:creationId xmlns:a16="http://schemas.microsoft.com/office/drawing/2014/main" id="{B291B93C-3E2C-B72A-232F-D0F174E6A4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5811" y="5342836"/>
              <a:ext cx="3914775" cy="9239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F97A57D-13B4-50BD-900F-8D0EFF4D2CA1}"/>
              </a:ext>
            </a:extLst>
          </p:cNvPr>
          <p:cNvGrpSpPr/>
          <p:nvPr/>
        </p:nvGrpSpPr>
        <p:grpSpPr>
          <a:xfrm>
            <a:off x="2133600" y="1409700"/>
            <a:ext cx="7710488" cy="2292013"/>
            <a:chOff x="609600" y="1371600"/>
            <a:chExt cx="7710488" cy="229201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F102AC6-C526-15CE-01D2-CFA317091BD7}"/>
                </a:ext>
              </a:extLst>
            </p:cNvPr>
            <p:cNvSpPr txBox="1"/>
            <p:nvPr/>
          </p:nvSpPr>
          <p:spPr>
            <a:xfrm>
              <a:off x="1371600" y="1371600"/>
              <a:ext cx="838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PIVOT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AFD481-CDE4-13F8-AF16-8CE2A74C5959}"/>
                </a:ext>
              </a:extLst>
            </p:cNvPr>
            <p:cNvSpPr txBox="1"/>
            <p:nvPr/>
          </p:nvSpPr>
          <p:spPr>
            <a:xfrm>
              <a:off x="609600" y="1955453"/>
              <a:ext cx="3048000" cy="1708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sz="1050" dirty="0">
                  <a:latin typeface="Lucida Console" pitchFamily="49" charset="0"/>
                </a:rPr>
                <a:t> PivotResults.*</a:t>
              </a:r>
            </a:p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sz="1050" dirty="0">
                  <a:latin typeface="Lucida Console" pitchFamily="49" charset="0"/>
                </a:rPr>
                <a:t> (</a:t>
              </a:r>
            </a:p>
            <a:p>
              <a:r>
                <a:rPr lang="en-US" sz="1050" dirty="0">
                  <a:latin typeface="Lucida Console" pitchFamily="49" charset="0"/>
                </a:rPr>
                <a:t> 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sz="1050" dirty="0">
                  <a:latin typeface="Lucida Console" pitchFamily="49" charset="0"/>
                </a:rPr>
                <a:t> ID, Col1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sz="1050" dirty="0">
                  <a:latin typeface="Lucida Console" pitchFamily="49" charset="0"/>
                </a:rPr>
                <a:t> dbo.Table_1</a:t>
              </a:r>
            </a:p>
            <a:p>
              <a:r>
                <a:rPr lang="en-US" sz="1050" dirty="0">
                  <a:latin typeface="Lucida Console" pitchFamily="49" charset="0"/>
                </a:rPr>
                <a:t>  )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sz="1050" dirty="0">
                  <a:latin typeface="Lucida Console" pitchFamily="49" charset="0"/>
                </a:rPr>
                <a:t> </a:t>
              </a:r>
              <a:r>
                <a:rPr lang="en-US" sz="1050" dirty="0" err="1">
                  <a:latin typeface="Lucida Console" pitchFamily="49" charset="0"/>
                </a:rPr>
                <a:t>RawData</a:t>
              </a:r>
              <a:r>
                <a:rPr lang="en-US" sz="1050" dirty="0">
                  <a:latin typeface="Lucida Console" pitchFamily="49" charset="0"/>
                </a:rPr>
                <a:t>  </a:t>
              </a:r>
            </a:p>
            <a:p>
              <a:r>
                <a:rPr lang="en-US" sz="1050" b="1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PIVOT</a:t>
              </a:r>
              <a:r>
                <a:rPr lang="en-US" sz="1050" dirty="0">
                  <a:latin typeface="Lucida Console" pitchFamily="49" charset="0"/>
                </a:rPr>
                <a:t> (</a:t>
              </a:r>
            </a:p>
            <a:p>
              <a:r>
                <a:rPr lang="en-US" sz="1050" dirty="0">
                  <a:latin typeface="Lucida Console" pitchFamily="49" charset="0"/>
                </a:rPr>
                <a:t>  </a:t>
              </a:r>
              <a:r>
                <a:rPr lang="en-US" sz="1050" dirty="0">
                  <a:solidFill>
                    <a:srgbClr val="FF66FF"/>
                  </a:solidFill>
                  <a:latin typeface="Lucida Console" pitchFamily="49" charset="0"/>
                </a:rPr>
                <a:t>SUM</a:t>
              </a:r>
              <a:r>
                <a:rPr lang="en-US" sz="1050" dirty="0">
                  <a:latin typeface="Lucida Console" pitchFamily="49" charset="0"/>
                </a:rPr>
                <a:t>(Col1) </a:t>
              </a:r>
            </a:p>
            <a:p>
              <a:r>
                <a:rPr lang="en-US" sz="1050" dirty="0">
                  <a:latin typeface="Lucida Console" pitchFamily="49" charset="0"/>
                </a:rPr>
                <a:t> 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FOR</a:t>
              </a:r>
              <a:r>
                <a:rPr lang="en-US" sz="1050" dirty="0">
                  <a:latin typeface="Lucida Console" pitchFamily="49" charset="0"/>
                </a:rPr>
                <a:t> [ID] </a:t>
              </a:r>
            </a:p>
            <a:p>
              <a:r>
                <a:rPr lang="en-US" sz="1050" dirty="0">
                  <a:latin typeface="Lucida Console" pitchFamily="49" charset="0"/>
                </a:rPr>
                <a:t>    </a:t>
              </a:r>
              <a:r>
                <a:rPr lang="en-US" sz="1050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IN</a:t>
              </a:r>
              <a:r>
                <a:rPr lang="en-US" sz="1050" dirty="0">
                  <a:latin typeface="Lucida Console" pitchFamily="49" charset="0"/>
                </a:rPr>
                <a:t> ([  </a:t>
              </a:r>
              <a:r>
                <a:rPr lang="en-US" sz="500" dirty="0">
                  <a:latin typeface="Lucida Console" pitchFamily="49" charset="0"/>
                </a:rPr>
                <a:t> </a:t>
              </a:r>
              <a:r>
                <a:rPr lang="en-US" sz="1050" dirty="0">
                  <a:latin typeface="Lucida Console" pitchFamily="49" charset="0"/>
                </a:rPr>
                <a:t>],[  </a:t>
              </a:r>
              <a:r>
                <a:rPr lang="en-US" sz="400" dirty="0">
                  <a:latin typeface="Lucida Console" pitchFamily="49" charset="0"/>
                </a:rPr>
                <a:t> </a:t>
              </a:r>
              <a:r>
                <a:rPr lang="en-US" sz="1050" dirty="0">
                  <a:latin typeface="Lucida Console" pitchFamily="49" charset="0"/>
                </a:rPr>
                <a:t>],[  </a:t>
              </a:r>
              <a:r>
                <a:rPr lang="en-US" sz="100" dirty="0">
                  <a:latin typeface="Lucida Console" pitchFamily="49" charset="0"/>
                </a:rPr>
                <a:t> </a:t>
              </a:r>
              <a:r>
                <a:rPr lang="en-US" sz="1050" dirty="0">
                  <a:latin typeface="Lucida Console" pitchFamily="49" charset="0"/>
                </a:rPr>
                <a:t>])</a:t>
              </a:r>
            </a:p>
            <a:p>
              <a:r>
                <a:rPr lang="en-US" sz="1050" dirty="0">
                  <a:latin typeface="Lucida Console" pitchFamily="49" charset="0"/>
                </a:rPr>
                <a:t> )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sz="1050" dirty="0">
                  <a:latin typeface="Lucida Console" pitchFamily="49" charset="0"/>
                </a:rPr>
                <a:t> </a:t>
              </a:r>
              <a:r>
                <a:rPr lang="en-US" sz="1050" dirty="0" err="1">
                  <a:latin typeface="Lucida Console" pitchFamily="49" charset="0"/>
                </a:rPr>
                <a:t>PivotResults</a:t>
              </a:r>
              <a:endParaRPr lang="en-US" sz="1050" dirty="0">
                <a:latin typeface="Lucida Console" pitchFamily="49" charset="0"/>
              </a:endParaRPr>
            </a:p>
            <a:p>
              <a:endParaRPr lang="en-US" sz="105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67E6A29-AE4B-EEBF-3FD2-0A4E6FE6FE94}"/>
                </a:ext>
              </a:extLst>
            </p:cNvPr>
            <p:cNvSpPr txBox="1"/>
            <p:nvPr/>
          </p:nvSpPr>
          <p:spPr>
            <a:xfrm>
              <a:off x="6553200" y="1371600"/>
              <a:ext cx="1295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GROUP BY 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6B10C0B-2D46-3A83-2836-556D258D1ABA}"/>
                </a:ext>
              </a:extLst>
            </p:cNvPr>
            <p:cNvSpPr txBox="1"/>
            <p:nvPr/>
          </p:nvSpPr>
          <p:spPr>
            <a:xfrm>
              <a:off x="5943600" y="1955453"/>
              <a:ext cx="2376488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sz="1050" dirty="0">
                  <a:latin typeface="Lucida Console" pitchFamily="49" charset="0"/>
                </a:rPr>
                <a:t> ID</a:t>
              </a:r>
            </a:p>
            <a:p>
              <a:r>
                <a:rPr lang="en-US" sz="1050" dirty="0">
                  <a:latin typeface="Lucida Console" pitchFamily="49" charset="0"/>
                </a:rPr>
                <a:t> , </a:t>
              </a:r>
              <a:r>
                <a:rPr lang="en-US" sz="1050" dirty="0">
                  <a:solidFill>
                    <a:srgbClr val="FF66FF"/>
                  </a:solidFill>
                  <a:latin typeface="Lucida Console" pitchFamily="49" charset="0"/>
                </a:rPr>
                <a:t>SUM</a:t>
              </a:r>
              <a:r>
                <a:rPr lang="en-US" sz="1050" dirty="0">
                  <a:latin typeface="Lucida Console" pitchFamily="49" charset="0"/>
                </a:rPr>
                <a:t>(Col1)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 AS</a:t>
              </a:r>
              <a:r>
                <a:rPr lang="en-US" sz="1050" dirty="0">
                  <a:latin typeface="Lucida Console" pitchFamily="49" charset="0"/>
                </a:rPr>
                <a:t> Col1</a:t>
              </a:r>
            </a:p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sz="1050" dirty="0">
                  <a:latin typeface="Lucida Console" pitchFamily="49" charset="0"/>
                </a:rPr>
                <a:t> dbo.Table_1</a:t>
              </a:r>
            </a:p>
            <a:p>
              <a:r>
                <a:rPr lang="en-US" sz="1050" b="1" dirty="0">
                  <a:solidFill>
                    <a:srgbClr val="0070C0"/>
                  </a:solidFill>
                  <a:latin typeface="Lucida Console" pitchFamily="49" charset="0"/>
                </a:rPr>
                <a:t>GROUP BY</a:t>
              </a:r>
              <a:r>
                <a:rPr lang="en-US" sz="1050" dirty="0">
                  <a:latin typeface="Lucida Console" pitchFamily="49" charset="0"/>
                </a:rPr>
                <a:t> ID</a:t>
              </a:r>
            </a:p>
          </p:txBody>
        </p:sp>
        <p:pic>
          <p:nvPicPr>
            <p:cNvPr id="14" name="Picture 13" descr="http://www.iconsdb.com/icons/preview/royal-blue/circle-m.png">
              <a:extLst>
                <a:ext uri="{FF2B5EF4-FFF2-40B4-BE49-F238E27FC236}">
                  <a16:creationId xmlns:a16="http://schemas.microsoft.com/office/drawing/2014/main" id="{4DBBBF09-E728-9FFC-077C-E3A0B6CDD061}"/>
                </a:ext>
              </a:extLst>
            </p:cNvPr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0180" y="3127340"/>
              <a:ext cx="161925" cy="161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Picture 14" descr="http://www.iconsdb.com/icons/preview/green/triangle-m.png">
              <a:extLst>
                <a:ext uri="{FF2B5EF4-FFF2-40B4-BE49-F238E27FC236}">
                  <a16:creationId xmlns:a16="http://schemas.microsoft.com/office/drawing/2014/main" id="{C0E6016A-F439-AA89-FC57-B2325566F187}"/>
                </a:ext>
              </a:extLst>
            </p:cNvPr>
            <p:cNvPicPr/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6425" y="3106032"/>
              <a:ext cx="180975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" name="Picture 15" descr="http://www.iconsdb.com/icons/preview/red/square-rounded-m.png">
              <a:extLst>
                <a:ext uri="{FF2B5EF4-FFF2-40B4-BE49-F238E27FC236}">
                  <a16:creationId xmlns:a16="http://schemas.microsoft.com/office/drawing/2014/main" id="{B8658585-3506-AC05-1766-2BAB46BE4E68}"/>
                </a:ext>
              </a:extLst>
            </p:cNvPr>
            <p:cNvPicPr/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25370" y="3127340"/>
              <a:ext cx="147576" cy="14926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7" name="Picture 2">
            <a:extLst>
              <a:ext uri="{FF2B5EF4-FFF2-40B4-BE49-F238E27FC236}">
                <a16:creationId xmlns:a16="http://schemas.microsoft.com/office/drawing/2014/main" id="{37BDAB34-15C3-40E8-6164-3A04784265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9237" y="1680455"/>
            <a:ext cx="1343025" cy="256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F8526BD-D1E9-E3E4-A176-53AC14E76A2F}"/>
              </a:ext>
            </a:extLst>
          </p:cNvPr>
          <p:cNvGrpSpPr/>
          <p:nvPr/>
        </p:nvGrpSpPr>
        <p:grpSpPr>
          <a:xfrm>
            <a:off x="2733675" y="3738206"/>
            <a:ext cx="6296025" cy="1266825"/>
            <a:chOff x="1209675" y="3700106"/>
            <a:chExt cx="6296025" cy="1266825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62253A9B-3A92-8530-B6CF-31AFE41D19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9675" y="4248150"/>
              <a:ext cx="1847850" cy="61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" name="Picture 4">
              <a:extLst>
                <a:ext uri="{FF2B5EF4-FFF2-40B4-BE49-F238E27FC236}">
                  <a16:creationId xmlns:a16="http://schemas.microsoft.com/office/drawing/2014/main" id="{FCD81680-CE81-8394-7A89-1C8FAC3987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2200" y="3700106"/>
              <a:ext cx="1333500" cy="1266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85844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54CE11-2F7D-FD57-21B9-544320CA6B9A}"/>
              </a:ext>
            </a:extLst>
          </p:cNvPr>
          <p:cNvSpPr txBox="1"/>
          <p:nvPr/>
        </p:nvSpPr>
        <p:spPr>
          <a:xfrm>
            <a:off x="2209800" y="2628900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AAA430-A9DC-CDB7-7B0B-80D612F57011}"/>
              </a:ext>
            </a:extLst>
          </p:cNvPr>
          <p:cNvSpPr txBox="1"/>
          <p:nvPr/>
        </p:nvSpPr>
        <p:spPr>
          <a:xfrm>
            <a:off x="4114800" y="3386609"/>
            <a:ext cx="3733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Exactly one column’s values can be </a:t>
            </a:r>
          </a:p>
          <a:p>
            <a:r>
              <a:rPr lang="en-US" dirty="0"/>
              <a:t>    pivoted into a column header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CD3DED-E352-C2B9-DDF4-A4F6E0A11327}"/>
              </a:ext>
            </a:extLst>
          </p:cNvPr>
          <p:cNvCxnSpPr>
            <a:endCxn id="5" idx="1"/>
          </p:cNvCxnSpPr>
          <p:nvPr/>
        </p:nvCxnSpPr>
        <p:spPr>
          <a:xfrm flipV="1">
            <a:off x="3733800" y="3709775"/>
            <a:ext cx="381000" cy="7479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22AE178-3489-67F2-6FDF-BA3B4DAF1ACD}"/>
              </a:ext>
            </a:extLst>
          </p:cNvPr>
          <p:cNvSpPr txBox="1"/>
          <p:nvPr/>
        </p:nvSpPr>
        <p:spPr>
          <a:xfrm>
            <a:off x="3810000" y="2533409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Exactly one column can be aggregated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F232DB-1625-1DE6-A485-D46B105A84AF}"/>
              </a:ext>
            </a:extLst>
          </p:cNvPr>
          <p:cNvCxnSpPr>
            <a:endCxn id="7" idx="1"/>
          </p:cNvCxnSpPr>
          <p:nvPr/>
        </p:nvCxnSpPr>
        <p:spPr>
          <a:xfrm flipV="1">
            <a:off x="3429000" y="2718075"/>
            <a:ext cx="381000" cy="12820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C2FF69-276D-290C-7180-DBCB2A28400D}"/>
              </a:ext>
            </a:extLst>
          </p:cNvPr>
          <p:cNvCxnSpPr/>
          <p:nvPr/>
        </p:nvCxnSpPr>
        <p:spPr>
          <a:xfrm>
            <a:off x="3200400" y="4958833"/>
            <a:ext cx="4038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96C10C0-CB68-AF36-1081-A494E384CC92}"/>
              </a:ext>
            </a:extLst>
          </p:cNvPr>
          <p:cNvCxnSpPr/>
          <p:nvPr/>
        </p:nvCxnSpPr>
        <p:spPr>
          <a:xfrm>
            <a:off x="3446827" y="4958833"/>
            <a:ext cx="172673" cy="3370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E41EEE9-AB1D-CAAD-F2EF-A347DC961B42}"/>
              </a:ext>
            </a:extLst>
          </p:cNvPr>
          <p:cNvSpPr txBox="1"/>
          <p:nvPr/>
        </p:nvSpPr>
        <p:spPr>
          <a:xfrm>
            <a:off x="3619500" y="5146063"/>
            <a:ext cx="68199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“value-turned-column” (VTC)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Must be explicitly requested at compile-time.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Sub-queries are not allowed here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en-US" dirty="0"/>
              <a:t>“But what if I don’t know them at compile-time?” </a:t>
            </a:r>
            <a:r>
              <a:rPr lang="en-US" i="1" dirty="0"/>
              <a:t>Stay tuned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Must be enclosed in braces, if data contains spaces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A3C0ABC4-1A96-336A-0F7A-44E95090E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4651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(1/4)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FEAC-AD04-09A6-4086-1E88875BAAEC}"/>
              </a:ext>
            </a:extLst>
          </p:cNvPr>
          <p:cNvSpPr txBox="1"/>
          <p:nvPr/>
        </p:nvSpPr>
        <p:spPr>
          <a:xfrm>
            <a:off x="3200400" y="1714739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Exactly one aggregate can be applied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1A5BD6-FE44-AA08-9380-C93F823C1396}"/>
              </a:ext>
            </a:extLst>
          </p:cNvPr>
          <p:cNvCxnSpPr>
            <a:endCxn id="13" idx="1"/>
          </p:cNvCxnSpPr>
          <p:nvPr/>
        </p:nvCxnSpPr>
        <p:spPr>
          <a:xfrm flipV="1">
            <a:off x="2819400" y="1899405"/>
            <a:ext cx="381000" cy="21006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A1BBE-B055-7CA8-BAEC-0428C1219FD4}"/>
              </a:ext>
            </a:extLst>
          </p:cNvPr>
          <p:cNvSpPr txBox="1"/>
          <p:nvPr/>
        </p:nvSpPr>
        <p:spPr>
          <a:xfrm>
            <a:off x="8936368" y="375594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/>
              <a:t>Table_1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178121-80A9-D81D-FF9E-5554C4F35F5B}"/>
              </a:ext>
            </a:extLst>
          </p:cNvPr>
          <p:cNvSpPr txBox="1"/>
          <p:nvPr/>
        </p:nvSpPr>
        <p:spPr>
          <a:xfrm>
            <a:off x="8775962" y="491571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/>
              <a:t>PivotResults</a:t>
            </a:r>
            <a:endParaRPr lang="en-US" sz="1050" b="1" dirty="0"/>
          </a:p>
        </p:txBody>
      </p:sp>
      <p:pic>
        <p:nvPicPr>
          <p:cNvPr id="17" name="Picture 3">
            <a:extLst>
              <a:ext uri="{FF2B5EF4-FFF2-40B4-BE49-F238E27FC236}">
                <a16:creationId xmlns:a16="http://schemas.microsoft.com/office/drawing/2014/main" id="{EC5B1B6D-EA58-E0BC-9D04-4EE9392F2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427" y="430530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Picture 2">
            <a:extLst>
              <a:ext uri="{FF2B5EF4-FFF2-40B4-BE49-F238E27FC236}">
                <a16:creationId xmlns:a16="http://schemas.microsoft.com/office/drawing/2014/main" id="{31726D90-2DA1-6EE1-017B-2FAD75D743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9938" y="152485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92623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774EEC-8D61-72EA-4064-9A2B5BC956E5}"/>
              </a:ext>
            </a:extLst>
          </p:cNvPr>
          <p:cNvSpPr txBox="1"/>
          <p:nvPr/>
        </p:nvSpPr>
        <p:spPr>
          <a:xfrm>
            <a:off x="2209800" y="2634377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SELECT </a:t>
            </a:r>
          </a:p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b="1" dirty="0">
                <a:latin typeface="Lucida Console" pitchFamily="49" charset="0"/>
              </a:rPr>
              <a:t> (</a:t>
            </a:r>
          </a:p>
          <a:p>
            <a:r>
              <a:rPr lang="en-US" b="1" dirty="0">
                <a:latin typeface="Lucida Console" pitchFamily="49" charset="0"/>
              </a:rPr>
              <a:t> 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b="1" dirty="0">
                <a:latin typeface="Lucida Console" pitchFamily="49" charset="0"/>
              </a:rPr>
              <a:t> ID, Col1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b="1" dirty="0">
                <a:latin typeface="Lucida Console" pitchFamily="49" charset="0"/>
              </a:rPr>
              <a:t> dbo.Table_1</a:t>
            </a:r>
          </a:p>
          <a:p>
            <a:r>
              <a:rPr lang="en-US" b="1" dirty="0">
                <a:latin typeface="Lucida Console" pitchFamily="49" charset="0"/>
              </a:rPr>
              <a:t>  )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 </a:t>
            </a:r>
            <a:r>
              <a:rPr lang="en-US" dirty="0">
                <a:latin typeface="Lucida Console" pitchFamily="49" charset="0"/>
              </a:rPr>
              <a:t>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E9442F-7553-4F24-CABC-192B44EF05A6}"/>
              </a:ext>
            </a:extLst>
          </p:cNvPr>
          <p:cNvSpPr txBox="1"/>
          <p:nvPr/>
        </p:nvSpPr>
        <p:spPr>
          <a:xfrm>
            <a:off x="5029200" y="3848100"/>
            <a:ext cx="476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dataset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092787F-6E1D-9694-BE4B-C116E15F9EAE}"/>
              </a:ext>
            </a:extLst>
          </p:cNvPr>
          <p:cNvCxnSpPr/>
          <p:nvPr/>
        </p:nvCxnSpPr>
        <p:spPr>
          <a:xfrm>
            <a:off x="2819400" y="3548778"/>
            <a:ext cx="4191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D8A2F7-2C47-D23F-F805-6F4317DD0672}"/>
              </a:ext>
            </a:extLst>
          </p:cNvPr>
          <p:cNvCxnSpPr>
            <a:endCxn id="5" idx="1"/>
          </p:cNvCxnSpPr>
          <p:nvPr/>
        </p:nvCxnSpPr>
        <p:spPr>
          <a:xfrm>
            <a:off x="4153220" y="3552066"/>
            <a:ext cx="875980" cy="4807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95EB6E9-7E55-6875-4699-F5E99F9A8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4651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(2/4)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A25ECE-FC99-57A2-0BA2-046D63EC1957}"/>
              </a:ext>
            </a:extLst>
          </p:cNvPr>
          <p:cNvSpPr txBox="1"/>
          <p:nvPr/>
        </p:nvSpPr>
        <p:spPr>
          <a:xfrm>
            <a:off x="8936368" y="375594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CEDC37-AD60-3A38-00AF-3814C1EE6C3F}"/>
              </a:ext>
            </a:extLst>
          </p:cNvPr>
          <p:cNvSpPr txBox="1"/>
          <p:nvPr/>
        </p:nvSpPr>
        <p:spPr>
          <a:xfrm>
            <a:off x="8775962" y="491571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D119773C-7994-7B8A-F646-684ECF8B2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427" y="430530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DE9311CF-8E1A-CA3B-EAD0-499AAB216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9938" y="152485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2912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285B26-9F86-E808-CD65-D6479889044C}"/>
              </a:ext>
            </a:extLst>
          </p:cNvPr>
          <p:cNvSpPr txBox="1"/>
          <p:nvPr/>
        </p:nvSpPr>
        <p:spPr>
          <a:xfrm>
            <a:off x="2209800" y="2558177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 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ID, Col1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 err="1">
                <a:latin typeface="Lucida Console" pitchFamily="49" charset="0"/>
              </a:rPr>
              <a:t>RawData</a:t>
            </a:r>
            <a:r>
              <a:rPr lang="en-US" b="1" dirty="0">
                <a:latin typeface="Lucida Console" pitchFamily="49" charset="0"/>
              </a:rPr>
              <a:t>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 err="1">
                <a:latin typeface="Lucida Console" pitchFamily="49" charset="0"/>
              </a:rPr>
              <a:t>PivotResults</a:t>
            </a:r>
            <a:endParaRPr lang="en-US" b="1" dirty="0">
              <a:latin typeface="Lucida Console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1FA3D-B214-CDAC-E9EF-58FDB82BD07B}"/>
              </a:ext>
            </a:extLst>
          </p:cNvPr>
          <p:cNvSpPr txBox="1"/>
          <p:nvPr/>
        </p:nvSpPr>
        <p:spPr>
          <a:xfrm>
            <a:off x="5600700" y="3852720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Both predicates must be named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6C7055-9DDE-AFA0-5984-92E7BB75838C}"/>
              </a:ext>
            </a:extLst>
          </p:cNvPr>
          <p:cNvCxnSpPr/>
          <p:nvPr/>
        </p:nvCxnSpPr>
        <p:spPr>
          <a:xfrm>
            <a:off x="4343400" y="3624977"/>
            <a:ext cx="1257300" cy="4124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0569CE3-CBA4-B5D2-8941-FE31A28B8058}"/>
              </a:ext>
            </a:extLst>
          </p:cNvPr>
          <p:cNvCxnSpPr/>
          <p:nvPr/>
        </p:nvCxnSpPr>
        <p:spPr>
          <a:xfrm flipV="1">
            <a:off x="4876800" y="4037386"/>
            <a:ext cx="723900" cy="882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91311976-D702-4FD0-97D7-54D8842B6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889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(3/4)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93FD5-FF30-10B6-E5F5-E6D01D6292CE}"/>
              </a:ext>
            </a:extLst>
          </p:cNvPr>
          <p:cNvSpPr txBox="1"/>
          <p:nvPr/>
        </p:nvSpPr>
        <p:spPr>
          <a:xfrm>
            <a:off x="8936368" y="367974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241EF5-26C0-13AF-0DDF-CA3A93E37BBA}"/>
              </a:ext>
            </a:extLst>
          </p:cNvPr>
          <p:cNvSpPr txBox="1"/>
          <p:nvPr/>
        </p:nvSpPr>
        <p:spPr>
          <a:xfrm>
            <a:off x="8775962" y="483951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E2BEDE61-A2EC-8D0B-A710-1D1FE6C55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427" y="422910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6908C7CE-E125-3833-5448-F0305CC31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9938" y="144865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74365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42439B-B172-B31A-ECBE-4E3EF7C9C83D}"/>
              </a:ext>
            </a:extLst>
          </p:cNvPr>
          <p:cNvSpPr txBox="1"/>
          <p:nvPr/>
        </p:nvSpPr>
        <p:spPr>
          <a:xfrm>
            <a:off x="2209800" y="2577227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b="1" dirty="0">
                <a:latin typeface="Lucida Console" pitchFamily="49" charset="0"/>
              </a:rPr>
              <a:t>PivotResults.*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ID, Col1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RawData</a:t>
            </a:r>
            <a:r>
              <a:rPr lang="en-US" dirty="0">
                <a:latin typeface="Lucida Console" pitchFamily="49" charset="0"/>
              </a:rPr>
              <a:t>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PivotResults</a:t>
            </a:r>
            <a:endParaRPr lang="en-US" dirty="0">
              <a:latin typeface="Lucida Console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5A2BE-20AF-583F-EBAD-543D9EE04889}"/>
              </a:ext>
            </a:extLst>
          </p:cNvPr>
          <p:cNvSpPr txBox="1"/>
          <p:nvPr/>
        </p:nvSpPr>
        <p:spPr>
          <a:xfrm>
            <a:off x="5636260" y="3878818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then select the correct predicate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E314240-FAFB-EC51-B636-584DD84A88C5}"/>
              </a:ext>
            </a:extLst>
          </p:cNvPr>
          <p:cNvCxnSpPr>
            <a:stCxn id="5" idx="1"/>
          </p:cNvCxnSpPr>
          <p:nvPr/>
        </p:nvCxnSpPr>
        <p:spPr>
          <a:xfrm flipH="1" flipV="1">
            <a:off x="4876800" y="2882030"/>
            <a:ext cx="759460" cy="11814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DFE085-79FE-ACC4-35FB-8DA82B19C89C}"/>
              </a:ext>
            </a:extLst>
          </p:cNvPr>
          <p:cNvCxnSpPr>
            <a:endCxn id="5" idx="1"/>
          </p:cNvCxnSpPr>
          <p:nvPr/>
        </p:nvCxnSpPr>
        <p:spPr>
          <a:xfrm flipV="1">
            <a:off x="4876800" y="4063484"/>
            <a:ext cx="759460" cy="9521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A2FFDE6-29D4-DCDE-CD29-E9CFC1726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40798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(4/4)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4416382-CD74-6655-6663-740A873E2B99}"/>
              </a:ext>
            </a:extLst>
          </p:cNvPr>
          <p:cNvGrpSpPr/>
          <p:nvPr/>
        </p:nvGrpSpPr>
        <p:grpSpPr>
          <a:xfrm>
            <a:off x="4267200" y="3653903"/>
            <a:ext cx="5701004" cy="2459778"/>
            <a:chOff x="2743200" y="3520553"/>
            <a:chExt cx="5701004" cy="245977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5D7D9F7-C65E-B66E-C4AE-ED9A304AB341}"/>
                </a:ext>
              </a:extLst>
            </p:cNvPr>
            <p:cNvSpPr txBox="1"/>
            <p:nvPr/>
          </p:nvSpPr>
          <p:spPr>
            <a:xfrm>
              <a:off x="4572000" y="5334000"/>
              <a:ext cx="38722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You cannot select this predicate, but its values will be part of the pivot results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5C8062-8F1B-7271-17DD-194313DDC7EB}"/>
                </a:ext>
              </a:extLst>
            </p:cNvPr>
            <p:cNvCxnSpPr>
              <a:stCxn id="10" idx="1"/>
            </p:cNvCxnSpPr>
            <p:nvPr/>
          </p:nvCxnSpPr>
          <p:spPr>
            <a:xfrm flipH="1" flipV="1">
              <a:off x="2743200" y="3520553"/>
              <a:ext cx="1828800" cy="2136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C2B6614-0FD5-9D5E-9FCE-AA9A3C9278B1}"/>
              </a:ext>
            </a:extLst>
          </p:cNvPr>
          <p:cNvSpPr txBox="1"/>
          <p:nvPr/>
        </p:nvSpPr>
        <p:spPr>
          <a:xfrm>
            <a:off x="8936368" y="369879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F3F4A4-AB72-E8A9-A88D-455716133C72}"/>
              </a:ext>
            </a:extLst>
          </p:cNvPr>
          <p:cNvSpPr txBox="1"/>
          <p:nvPr/>
        </p:nvSpPr>
        <p:spPr>
          <a:xfrm>
            <a:off x="8775962" y="485856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0A693EF8-B2F8-E56F-DF61-D448617A1C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427" y="424815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CE2B8489-E50A-CDD7-CFA6-6266D7E2EB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9938" y="146770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77ECF92-301F-9B21-44DD-BA2917B1AABC}"/>
              </a:ext>
            </a:extLst>
          </p:cNvPr>
          <p:cNvSpPr txBox="1"/>
          <p:nvPr/>
        </p:nvSpPr>
        <p:spPr>
          <a:xfrm>
            <a:off x="3200400" y="2595086"/>
            <a:ext cx="2590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latin typeface="Lucida Console" pitchFamily="49" charset="0"/>
              </a:rPr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56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7">
            <a:extLst>
              <a:ext uri="{FF2B5EF4-FFF2-40B4-BE49-F238E27FC236}">
                <a16:creationId xmlns:a16="http://schemas.microsoft.com/office/drawing/2014/main" id="{68A6585A-C6C5-AE45-D37D-E9EDF9355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a 2-column PIVOT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94750E42-D1A2-92EC-BA18-86DD7DFB8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</p:spTree>
    <p:extLst>
      <p:ext uri="{BB962C8B-B14F-4D97-AF65-F5344CB8AC3E}">
        <p14:creationId xmlns:p14="http://schemas.microsoft.com/office/powerpoint/2010/main" val="12034065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F0CE1-2DD0-A77E-FEB9-37996A4D4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933" y="3302720"/>
            <a:ext cx="2317798" cy="1984289"/>
          </a:xfrm>
          <a:prstGeom prst="rect">
            <a:avLst/>
          </a:prstGeom>
        </p:spPr>
      </p:pic>
      <p:pic>
        <p:nvPicPr>
          <p:cNvPr id="5" name="Picture 17">
            <a:extLst>
              <a:ext uri="{FF2B5EF4-FFF2-40B4-BE49-F238E27FC236}">
                <a16:creationId xmlns:a16="http://schemas.microsoft.com/office/drawing/2014/main" id="{9A49815F-402D-0026-BF73-42B1122B7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583" y="3505200"/>
            <a:ext cx="2419350" cy="2533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50CDA54-249C-EA1C-2F41-BB438B396C28}"/>
              </a:ext>
            </a:extLst>
          </p:cNvPr>
          <p:cNvGrpSpPr/>
          <p:nvPr/>
        </p:nvGrpSpPr>
        <p:grpSpPr>
          <a:xfrm>
            <a:off x="2010408" y="3662145"/>
            <a:ext cx="2295525" cy="2476500"/>
            <a:chOff x="810258" y="3738345"/>
            <a:chExt cx="2295525" cy="2476500"/>
          </a:xfrm>
        </p:grpSpPr>
        <p:pic>
          <p:nvPicPr>
            <p:cNvPr id="7" name="Picture 20">
              <a:extLst>
                <a:ext uri="{FF2B5EF4-FFF2-40B4-BE49-F238E27FC236}">
                  <a16:creationId xmlns:a16="http://schemas.microsoft.com/office/drawing/2014/main" id="{08E31362-AEE4-52C7-9FFF-B2CEB716C5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258" y="3738345"/>
              <a:ext cx="2295525" cy="2476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Circular Arrow 28">
              <a:extLst>
                <a:ext uri="{FF2B5EF4-FFF2-40B4-BE49-F238E27FC236}">
                  <a16:creationId xmlns:a16="http://schemas.microsoft.com/office/drawing/2014/main" id="{DB7552BE-D5AC-4310-AD27-C8023105435B}"/>
                </a:ext>
              </a:extLst>
            </p:cNvPr>
            <p:cNvSpPr/>
            <p:nvPr/>
          </p:nvSpPr>
          <p:spPr>
            <a:xfrm rot="14468456">
              <a:off x="2111111" y="4267216"/>
              <a:ext cx="674168" cy="704330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8796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Circular Arrow 27">
              <a:extLst>
                <a:ext uri="{FF2B5EF4-FFF2-40B4-BE49-F238E27FC236}">
                  <a16:creationId xmlns:a16="http://schemas.microsoft.com/office/drawing/2014/main" id="{C07FAD0C-57FA-FEE2-BA0B-B73AF7500F61}"/>
                </a:ext>
              </a:extLst>
            </p:cNvPr>
            <p:cNvSpPr/>
            <p:nvPr/>
          </p:nvSpPr>
          <p:spPr>
            <a:xfrm rot="14468456">
              <a:off x="2111112" y="5476241"/>
              <a:ext cx="674168" cy="704330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8796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10" name="Picture 14">
            <a:extLst>
              <a:ext uri="{FF2B5EF4-FFF2-40B4-BE49-F238E27FC236}">
                <a16:creationId xmlns:a16="http://schemas.microsoft.com/office/drawing/2014/main" id="{257C07D1-CEEA-1830-3125-B69456FB0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7510" y="1162677"/>
            <a:ext cx="5785477" cy="5077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A2384C7-C439-6C06-62C8-A909D59E1C39}"/>
              </a:ext>
            </a:extLst>
          </p:cNvPr>
          <p:cNvGrpSpPr/>
          <p:nvPr/>
        </p:nvGrpSpPr>
        <p:grpSpPr>
          <a:xfrm>
            <a:off x="7057064" y="3662145"/>
            <a:ext cx="3048000" cy="1323930"/>
            <a:chOff x="5856914" y="3738345"/>
            <a:chExt cx="3048000" cy="132393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CAF39EE-8226-54E6-F443-4E724012D65E}"/>
                </a:ext>
              </a:extLst>
            </p:cNvPr>
            <p:cNvSpPr txBox="1"/>
            <p:nvPr/>
          </p:nvSpPr>
          <p:spPr>
            <a:xfrm>
              <a:off x="5856914" y="4138945"/>
              <a:ext cx="3048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Notice this additional column (Name) is NOT in the PIVOT predicate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E68D538-BE0E-C483-787C-8FB50EE5E686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5943600" y="3738345"/>
              <a:ext cx="1437314" cy="400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4">
            <a:extLst>
              <a:ext uri="{FF2B5EF4-FFF2-40B4-BE49-F238E27FC236}">
                <a16:creationId xmlns:a16="http://schemas.microsoft.com/office/drawing/2014/main" id="{37B2D52D-4744-A8FE-A781-3F3F66B12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6550" y="3609975"/>
            <a:ext cx="3248025" cy="1647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0E5997DC-B733-98F8-2B7E-B02BBFCB9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0" y="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a 3-column PIVOT works…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B3CB9E-5A32-8301-179B-35EC934052E1}"/>
              </a:ext>
            </a:extLst>
          </p:cNvPr>
          <p:cNvSpPr/>
          <p:nvPr/>
        </p:nvSpPr>
        <p:spPr>
          <a:xfrm>
            <a:off x="4629150" y="1126345"/>
            <a:ext cx="54864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PivotResults.*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[Name</a:t>
            </a:r>
            <a:r>
              <a:rPr lang="en-US" b="1" dirty="0">
                <a:latin typeface="Lucida Console" pitchFamily="49" charset="0"/>
              </a:rPr>
              <a:t>]</a:t>
            </a:r>
            <a:r>
              <a:rPr lang="en-US" dirty="0">
                <a:latin typeface="Lucida Console" pitchFamily="49" charset="0"/>
              </a:rPr>
              <a:t>, Miles, </a:t>
            </a:r>
            <a:r>
              <a:rPr lang="en-US" dirty="0" err="1">
                <a:latin typeface="Lucida Console" pitchFamily="49" charset="0"/>
              </a:rPr>
              <a:t>Mins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 </a:t>
            </a:r>
            <a:r>
              <a:rPr lang="en-US" b="1" dirty="0">
                <a:latin typeface="Lucida Console" pitchFamily="49" charset="0"/>
              </a:rPr>
              <a:t>...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RawData</a:t>
            </a:r>
            <a:r>
              <a:rPr lang="en-US" dirty="0">
                <a:latin typeface="Lucida Console" pitchFamily="49" charset="0"/>
              </a:rPr>
              <a:t>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MIN</a:t>
            </a:r>
            <a:r>
              <a:rPr lang="en-US" dirty="0">
                <a:latin typeface="Lucida Console" pitchFamily="49" charset="0"/>
              </a:rPr>
              <a:t>(</a:t>
            </a:r>
            <a:r>
              <a:rPr lang="en-US" dirty="0" err="1">
                <a:latin typeface="Lucida Console" pitchFamily="49" charset="0"/>
              </a:rPr>
              <a:t>Mins</a:t>
            </a:r>
            <a:r>
              <a:rPr lang="en-US" dirty="0">
                <a:latin typeface="Lucida Console" pitchFamily="49" charset="0"/>
              </a:rPr>
              <a:t>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[Miles]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([3], [5], [10])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PivotResults</a:t>
            </a:r>
            <a:endParaRPr lang="en-US" dirty="0">
              <a:latin typeface="Lucida Console" pitchFamily="49" charset="0"/>
            </a:endParaRPr>
          </a:p>
        </p:txBody>
      </p:sp>
      <p:pic>
        <p:nvPicPr>
          <p:cNvPr id="17" name="Picture 9">
            <a:extLst>
              <a:ext uri="{FF2B5EF4-FFF2-40B4-BE49-F238E27FC236}">
                <a16:creationId xmlns:a16="http://schemas.microsoft.com/office/drawing/2014/main" id="{7EB14945-60E6-574D-94FB-F047B9898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804" y="4370204"/>
            <a:ext cx="2247900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Picture 2">
            <a:extLst>
              <a:ext uri="{FF2B5EF4-FFF2-40B4-BE49-F238E27FC236}">
                <a16:creationId xmlns:a16="http://schemas.microsoft.com/office/drawing/2014/main" id="{F0097DC9-DCF9-4C85-02CB-0CF4537A2F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3350" y="5035491"/>
            <a:ext cx="1819275" cy="619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13">
            <a:extLst>
              <a:ext uri="{FF2B5EF4-FFF2-40B4-BE49-F238E27FC236}">
                <a16:creationId xmlns:a16="http://schemas.microsoft.com/office/drawing/2014/main" id="{1B6EC421-42BF-D3C9-6955-8BCFC84622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804" y="4370204"/>
            <a:ext cx="24479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15">
            <a:extLst>
              <a:ext uri="{FF2B5EF4-FFF2-40B4-BE49-F238E27FC236}">
                <a16:creationId xmlns:a16="http://schemas.microsoft.com/office/drawing/2014/main" id="{7841A775-4DE0-6CC5-AE1A-270BE6E4A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6937" y="1162677"/>
            <a:ext cx="1866900" cy="163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53736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DF90D03-18CA-E3BB-F4B3-DD120F2DD70D}"/>
              </a:ext>
            </a:extLst>
          </p:cNvPr>
          <p:cNvSpPr txBox="1"/>
          <p:nvPr/>
        </p:nvSpPr>
        <p:spPr>
          <a:xfrm>
            <a:off x="1047749" y="1104901"/>
            <a:ext cx="567577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PivotResults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Miles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Mins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...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RawData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PIVOT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MIN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Mins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[Miles]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[3]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[5]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[10]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PivotResults</a:t>
            </a:r>
            <a:endParaRPr lang="en-US" sz="20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2AAB85D-F2F2-4CA3-D16C-0C093D928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272" y="3429000"/>
            <a:ext cx="3349159" cy="1139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65A7BD-155E-F624-20FB-05F1D22F3D75}"/>
              </a:ext>
            </a:extLst>
          </p:cNvPr>
          <p:cNvSpPr txBox="1"/>
          <p:nvPr/>
        </p:nvSpPr>
        <p:spPr>
          <a:xfrm>
            <a:off x="1048871" y="1111675"/>
            <a:ext cx="4061011" cy="132343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PivotResults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PivotResults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[3]</a:t>
            </a:r>
          </a:p>
          <a:p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PivotResults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[5]</a:t>
            </a:r>
          </a:p>
          <a:p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PivotResults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[10]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5FB4D46-AE5B-5331-04EB-724C8CAAD4ED}"/>
              </a:ext>
            </a:extLst>
          </p:cNvPr>
          <p:cNvGrpSpPr/>
          <p:nvPr/>
        </p:nvGrpSpPr>
        <p:grpSpPr>
          <a:xfrm>
            <a:off x="1047749" y="1104901"/>
            <a:ext cx="10055082" cy="3463865"/>
            <a:chOff x="1047749" y="1104901"/>
            <a:chExt cx="10055082" cy="34638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EB84DD-5873-7C82-2415-CCD710C51A0F}"/>
                </a:ext>
              </a:extLst>
            </p:cNvPr>
            <p:cNvSpPr txBox="1"/>
            <p:nvPr/>
          </p:nvSpPr>
          <p:spPr>
            <a:xfrm>
              <a:off x="1047749" y="1104901"/>
              <a:ext cx="9526682" cy="132343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Consolas" panose="020B0609020204030204" pitchFamily="49" charset="0"/>
                </a:rPr>
                <a:t>PivotResults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.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[Name]</a:t>
              </a:r>
            </a:p>
            <a:p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CONVERT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0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varchar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Consolas" panose="020B0609020204030204" pitchFamily="49" charset="0"/>
                </a:rPr>
                <a:t>PivotResults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.[3]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+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 min'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[3-mile]</a:t>
              </a:r>
            </a:p>
            <a:p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CONVERT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0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varchar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Consolas" panose="020B0609020204030204" pitchFamily="49" charset="0"/>
                </a:rPr>
                <a:t>PivotResults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.[5]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+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 min'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[5-mile]</a:t>
              </a:r>
            </a:p>
            <a:p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CONVERT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0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varchar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Consolas" panose="020B0609020204030204" pitchFamily="49" charset="0"/>
                </a:rPr>
                <a:t>PivotResults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.[10]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)+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 min'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0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[10-mile]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FE0499-AC73-70E9-E656-752FC2202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96870" y="3429000"/>
              <a:ext cx="4405961" cy="11397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46066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2FFB69-21EA-D235-6605-E156286BF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510956"/>
              </p:ext>
            </p:extLst>
          </p:nvPr>
        </p:nvGraphicFramePr>
        <p:xfrm>
          <a:off x="2971800" y="556265"/>
          <a:ext cx="6982984" cy="5745469"/>
        </p:xfrm>
        <a:graphic>
          <a:graphicData uri="http://schemas.openxmlformats.org/drawingml/2006/table">
            <a:tbl>
              <a:tblPr/>
              <a:tblGrid>
                <a:gridCol w="97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63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66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6781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sng" strike="noStrike" dirty="0" err="1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StoreID</a:t>
                      </a:r>
                      <a:endParaRPr lang="en-US" sz="1600" b="1" i="0" u="sng" strike="noStrike" dirty="0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sng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[Quarter]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i="0" u="sng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[Year]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i="0" u="sng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Sales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1" i="0" u="sng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sng" strike="noStrike" dirty="0" err="1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DataEnteredBy</a:t>
                      </a:r>
                      <a:endParaRPr lang="en-US" sz="1600" b="1" i="0" u="sng" strike="noStrike" dirty="0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17500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18000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22000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Bob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60000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38000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32000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Bob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50000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Kim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Kim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Kim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8000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Lee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FF0000"/>
                          </a:solidFill>
                          <a:effectLst/>
                          <a:latin typeface="Verdana"/>
                        </a:rPr>
                        <a:t>-3000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FF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FF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50000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Jerry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Jerry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50000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Bill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14507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7">
            <a:extLst>
              <a:ext uri="{FF2B5EF4-FFF2-40B4-BE49-F238E27FC236}">
                <a16:creationId xmlns:a16="http://schemas.microsoft.com/office/drawing/2014/main" id="{B5C011A3-92A3-209D-729A-51EA9A6C0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a 3-column PIVOT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64E3913E-4ACE-CCBE-13E5-8D5C56071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382000" cy="4525963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</p:spTree>
    <p:extLst>
      <p:ext uri="{BB962C8B-B14F-4D97-AF65-F5344CB8AC3E}">
        <p14:creationId xmlns:p14="http://schemas.microsoft.com/office/powerpoint/2010/main" val="22265811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A9A8E2-4290-9882-3B38-FF9B93A73771}"/>
              </a:ext>
            </a:extLst>
          </p:cNvPr>
          <p:cNvSpPr txBox="1"/>
          <p:nvPr/>
        </p:nvSpPr>
        <p:spPr>
          <a:xfrm>
            <a:off x="1653990" y="2596681"/>
            <a:ext cx="4569759" cy="3792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[Primary Contact]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[Secondary Contact]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[Tertiary Contact]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[Access Approver]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[Patching Approver]</a:t>
            </a:r>
            <a:endParaRPr lang="en-US" sz="700" b="1" dirty="0">
              <a:solidFill>
                <a:srgbClr val="0000FF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DISTINCT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'Primary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base.ServerName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'Secondary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Tertiary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Access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Patching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CF4AC6-5838-9AF0-6EF1-447B77E21FCA}"/>
              </a:ext>
            </a:extLst>
          </p:cNvPr>
          <p:cNvSpPr/>
          <p:nvPr/>
        </p:nvSpPr>
        <p:spPr>
          <a:xfrm>
            <a:off x="7325091" y="2602115"/>
            <a:ext cx="2706414" cy="31700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PivotResults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.*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RawData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PIVOT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FF00FF"/>
                </a:solidFill>
                <a:latin typeface="Consolas"/>
                <a:ea typeface="Calibri"/>
                <a:cs typeface="Times New Roman"/>
              </a:rPr>
              <a:t>MAX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FOR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]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IN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[Primary Contact]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[Secondary Contact]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[Tertiary Contact]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[Access Approver]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[Patching Approver]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PivotResults</a:t>
            </a:r>
            <a:endParaRPr lang="en-US" sz="1100" dirty="0">
              <a:ea typeface="Calibri"/>
              <a:cs typeface="Times New Roman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583D995-C750-C8F6-FAC5-32B9F69ECC5C}"/>
              </a:ext>
            </a:extLst>
          </p:cNvPr>
          <p:cNvCxnSpPr/>
          <p:nvPr/>
        </p:nvCxnSpPr>
        <p:spPr>
          <a:xfrm>
            <a:off x="5838744" y="1312209"/>
            <a:ext cx="376352" cy="0"/>
          </a:xfrm>
          <a:prstGeom prst="straightConnector1">
            <a:avLst/>
          </a:prstGeom>
          <a:ln w="44450"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726B5B0-0B90-A727-7278-AE2DC20F21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4654737"/>
              </p:ext>
            </p:extLst>
          </p:nvPr>
        </p:nvGraphicFramePr>
        <p:xfrm>
          <a:off x="1627088" y="666750"/>
          <a:ext cx="3684800" cy="12551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7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69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MAZSQLWPS001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MAZSQLWPS001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Ann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MAZSQLWPS001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Tertiary Contact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Chris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MAZSQLWPS001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Access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Dan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MAZSQLWPS001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Patching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Joanne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BBE48D1-4F5E-3635-38CB-76B5E524E85C}"/>
              </a:ext>
            </a:extLst>
          </p:cNvPr>
          <p:cNvSpPr txBox="1"/>
          <p:nvPr/>
        </p:nvSpPr>
        <p:spPr>
          <a:xfrm>
            <a:off x="1596183" y="2269938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FULL OUTER JOIN method…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CE45E-F547-4CA5-64C0-E421672B573A}"/>
              </a:ext>
            </a:extLst>
          </p:cNvPr>
          <p:cNvSpPr txBox="1"/>
          <p:nvPr/>
        </p:nvSpPr>
        <p:spPr>
          <a:xfrm>
            <a:off x="7059705" y="2273113"/>
            <a:ext cx="289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PIVOT method…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70BA27A-F5F2-EF50-07BC-16367C062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689" y="2556403"/>
            <a:ext cx="1182205" cy="9623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89B97C-797B-B8FC-1D71-916EC79FE1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744" y="2590681"/>
            <a:ext cx="1096402" cy="949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8B3B3E7-2512-AC44-D0DD-33EE247D5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159" y="608661"/>
            <a:ext cx="4545855" cy="1255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7927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C49A96-F3D0-EB75-FE37-3310D77D45B1}"/>
              </a:ext>
            </a:extLst>
          </p:cNvPr>
          <p:cNvSpPr txBox="1"/>
          <p:nvPr/>
        </p:nvSpPr>
        <p:spPr>
          <a:xfrm>
            <a:off x="1990725" y="1078468"/>
            <a:ext cx="7086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1: Explicitly request the ones of interest; Provision for extras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857CA8-870A-12CF-E9D7-657FF4CCEE59}"/>
              </a:ext>
            </a:extLst>
          </p:cNvPr>
          <p:cNvSpPr txBox="1"/>
          <p:nvPr/>
        </p:nvSpPr>
        <p:spPr>
          <a:xfrm>
            <a:off x="2113269" y="1747536"/>
            <a:ext cx="3582681" cy="2349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PIVOT (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SUM(Sales)    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FOR [Year]</a:t>
            </a:r>
          </a:p>
          <a:p>
            <a:r>
              <a:rPr lang="it-IT" dirty="0">
                <a:latin typeface="Consolas" panose="020B0609020204030204" pitchFamily="49" charset="0"/>
                <a:cs typeface="Consolas" panose="020B0609020204030204" pitchFamily="49" charset="0"/>
              </a:rPr>
              <a:t>  IN (</a:t>
            </a:r>
            <a:r>
              <a:rPr lang="fr-FR" dirty="0">
                <a:latin typeface="Consolas" panose="020B0609020204030204" pitchFamily="49" charset="0"/>
                <a:cs typeface="Consolas" panose="020B0609020204030204" pitchFamily="49" charset="0"/>
              </a:rPr>
              <a:t>[20XX]</a:t>
            </a:r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,</a:t>
            </a:r>
          </a:p>
          <a:p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[20XY],</a:t>
            </a:r>
          </a:p>
          <a:p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[20XZ],</a:t>
            </a:r>
          </a:p>
          <a:p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[20YX]</a:t>
            </a:r>
            <a:endParaRPr lang="en-US" dirty="0"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8E1B6AE-DF82-090A-FB2F-68D0D88125B0}"/>
              </a:ext>
            </a:extLst>
          </p:cNvPr>
          <p:cNvSpPr txBox="1">
            <a:spLocks/>
          </p:cNvSpPr>
          <p:nvPr/>
        </p:nvSpPr>
        <p:spPr>
          <a:xfrm>
            <a:off x="1809750" y="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do I manage my VTCs? (1/4)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EDE84D-140E-F619-EDF0-60FC4B735818}"/>
              </a:ext>
            </a:extLst>
          </p:cNvPr>
          <p:cNvSpPr/>
          <p:nvPr/>
        </p:nvSpPr>
        <p:spPr>
          <a:xfrm>
            <a:off x="6610350" y="5581154"/>
            <a:ext cx="349909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/>
              <a:buChar char="þ"/>
            </a:pPr>
            <a:r>
              <a:rPr lang="en-US" dirty="0"/>
              <a:t>Supported by ad-hoc queries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stored procedures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views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0BB8D845-AA61-76CF-97C4-DE832436D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50" y="1676400"/>
            <a:ext cx="4175312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96142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3E6A32-E163-92D1-7543-A7153D5689B9}"/>
              </a:ext>
            </a:extLst>
          </p:cNvPr>
          <p:cNvSpPr txBox="1"/>
          <p:nvPr/>
        </p:nvSpPr>
        <p:spPr>
          <a:xfrm>
            <a:off x="2133600" y="1701948"/>
            <a:ext cx="5257800" cy="507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7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900" dirty="0">
              <a:solidFill>
                <a:srgbClr val="0000FF"/>
              </a:solidFill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SELECT PivotResults.*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FROM ( ... ) AS </a:t>
            </a:r>
            <a:r>
              <a:rPr lang="en-US" sz="9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RawData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PIVOT (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SUM(Sales)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FOR [Year]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IN ('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')'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) AS </a:t>
            </a:r>
            <a:r>
              <a:rPr lang="en-US" sz="9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PivotResults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ORDER BY 1 ASC;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EXEC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AFCB8-9BAF-776E-89F9-11E8D1FBBDA8}"/>
              </a:ext>
            </a:extLst>
          </p:cNvPr>
          <p:cNvSpPr txBox="1"/>
          <p:nvPr/>
        </p:nvSpPr>
        <p:spPr>
          <a:xfrm>
            <a:off x="2133600" y="1906630"/>
            <a:ext cx="3962400" cy="2906180"/>
          </a:xfrm>
          <a:prstGeom prst="rect">
            <a:avLst/>
          </a:prstGeom>
          <a:solidFill>
            <a:srgbClr val="FFFFCB"/>
          </a:solidFill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CURSOR LOCAL FAST_FORWARD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FOR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SELECT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DISTINCT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[Year]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...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ORDER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BY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[Year]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50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integer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0</a:t>
            </a: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OPEN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FETCH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NEXT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INTO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WHILE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@@FETCH_STATUS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0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BEGIN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1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IF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&gt;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1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','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'['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']'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FETCH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NEXT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INTO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END</a:t>
            </a:r>
          </a:p>
          <a:p>
            <a:pPr>
              <a:lnSpc>
                <a:spcPct val="115000"/>
              </a:lnSpc>
            </a:pPr>
            <a:endParaRPr lang="en-US" sz="600" dirty="0">
              <a:solidFill>
                <a:srgbClr val="0000FF"/>
              </a:solidFill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CLOSE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DEALLOCATE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A21D8E-5E46-A780-75AE-40D39A31753F}"/>
              </a:ext>
            </a:extLst>
          </p:cNvPr>
          <p:cNvSpPr txBox="1"/>
          <p:nvPr/>
        </p:nvSpPr>
        <p:spPr>
          <a:xfrm>
            <a:off x="6781800" y="1690453"/>
            <a:ext cx="304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Organize your columns into a logical order, affects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EFE54-BC09-DEA3-7DF8-3F682D667EFD}"/>
              </a:ext>
            </a:extLst>
          </p:cNvPr>
          <p:cNvSpPr txBox="1"/>
          <p:nvPr/>
        </p:nvSpPr>
        <p:spPr>
          <a:xfrm>
            <a:off x="6801010" y="3892162"/>
            <a:ext cx="3009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Ensures the first column is sorted, regardless of </a:t>
            </a:r>
            <a:r>
              <a:rPr lang="en-US" dirty="0" err="1"/>
              <a:t>datatype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1E8CCB-BAD4-42D9-FC09-9E16F51B411E}"/>
              </a:ext>
            </a:extLst>
          </p:cNvPr>
          <p:cNvCxnSpPr/>
          <p:nvPr/>
        </p:nvCxnSpPr>
        <p:spPr>
          <a:xfrm flipV="1">
            <a:off x="5791200" y="4190477"/>
            <a:ext cx="1042630" cy="2261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C10F5A-9DBE-4FFC-F973-20234A1A3CD2}"/>
              </a:ext>
            </a:extLst>
          </p:cNvPr>
          <p:cNvCxnSpPr/>
          <p:nvPr/>
        </p:nvCxnSpPr>
        <p:spPr>
          <a:xfrm>
            <a:off x="3962400" y="6451584"/>
            <a:ext cx="182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4910BF2-7E07-2C6A-C61F-1F24497CB7FC}"/>
              </a:ext>
            </a:extLst>
          </p:cNvPr>
          <p:cNvSpPr txBox="1"/>
          <p:nvPr/>
        </p:nvSpPr>
        <p:spPr>
          <a:xfrm>
            <a:off x="6801010" y="2565384"/>
            <a:ext cx="304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unique data to become columns in the output</a:t>
            </a:r>
          </a:p>
          <a:p>
            <a:r>
              <a:rPr lang="en-US" dirty="0"/>
              <a:t>(Probably should be indexed)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F00550-DD8A-3481-C1A4-79275680FA5F}"/>
              </a:ext>
            </a:extLst>
          </p:cNvPr>
          <p:cNvCxnSpPr/>
          <p:nvPr/>
        </p:nvCxnSpPr>
        <p:spPr>
          <a:xfrm>
            <a:off x="2829385" y="2260584"/>
            <a:ext cx="10163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762C011D-8384-8269-A619-A964E21A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9384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do I manage my VTCs? (2/4)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692935-4BBC-F80C-2C09-3114CD03C92B}"/>
              </a:ext>
            </a:extLst>
          </p:cNvPr>
          <p:cNvSpPr txBox="1"/>
          <p:nvPr/>
        </p:nvSpPr>
        <p:spPr>
          <a:xfrm>
            <a:off x="2133600" y="1269984"/>
            <a:ext cx="419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2: Use dynamic SQL (with cursor)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A27E8D-E2D9-4D32-A44A-509B2469DCD2}"/>
              </a:ext>
            </a:extLst>
          </p:cNvPr>
          <p:cNvSpPr/>
          <p:nvPr/>
        </p:nvSpPr>
        <p:spPr>
          <a:xfrm>
            <a:off x="6781800" y="5850562"/>
            <a:ext cx="349909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/>
              <a:buChar char="þ"/>
            </a:pPr>
            <a:r>
              <a:rPr lang="en-US" dirty="0"/>
              <a:t>Supported by ad-hoc queries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stored procedures</a:t>
            </a:r>
          </a:p>
          <a:p>
            <a:pPr marL="285750" indent="-285750">
              <a:buFont typeface="Wingdings"/>
              <a:buChar char="ý"/>
            </a:pPr>
            <a:r>
              <a:rPr lang="en-US" dirty="0">
                <a:solidFill>
                  <a:srgbClr val="FF0000"/>
                </a:solidFill>
                <a:latin typeface="+mj-lt"/>
              </a:rPr>
              <a:t>Not supported by views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01504A-18AE-7B0A-495D-BEFCDAB579EF}"/>
              </a:ext>
            </a:extLst>
          </p:cNvPr>
          <p:cNvCxnSpPr>
            <a:endCxn id="6" idx="1"/>
          </p:cNvCxnSpPr>
          <p:nvPr/>
        </p:nvCxnSpPr>
        <p:spPr>
          <a:xfrm flipV="1">
            <a:off x="5638800" y="2013619"/>
            <a:ext cx="1143000" cy="1707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0609459-0A63-4A70-D41C-FF0E5107BE73}"/>
              </a:ext>
            </a:extLst>
          </p:cNvPr>
          <p:cNvCxnSpPr/>
          <p:nvPr/>
        </p:nvCxnSpPr>
        <p:spPr>
          <a:xfrm>
            <a:off x="3810000" y="2260584"/>
            <a:ext cx="3010220" cy="457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523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16AB9-D762-618D-6CB8-14B57FAE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AE81E-CC6F-7037-EA90-234F9B1A0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049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56F1C1-8F4F-D38E-935F-65A7DED47E75}"/>
              </a:ext>
            </a:extLst>
          </p:cNvPr>
          <p:cNvSpPr txBox="1"/>
          <p:nvPr/>
        </p:nvSpPr>
        <p:spPr>
          <a:xfrm>
            <a:off x="1990725" y="1211818"/>
            <a:ext cx="7086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3: Don’t. Pivot for items that grow slowly over time.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7B9794-59D3-F65D-E3A7-299200E26969}"/>
              </a:ext>
            </a:extLst>
          </p:cNvPr>
          <p:cNvSpPr txBox="1"/>
          <p:nvPr/>
        </p:nvSpPr>
        <p:spPr>
          <a:xfrm>
            <a:off x="2113269" y="1880886"/>
            <a:ext cx="3582681" cy="2052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PIVOT (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SUM(Sales)    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FOR 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StoreID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it-IT" dirty="0">
                <a:latin typeface="Consolas" panose="020B0609020204030204" pitchFamily="49" charset="0"/>
                <a:cs typeface="Consolas" panose="020B0609020204030204" pitchFamily="49" charset="0"/>
              </a:rPr>
              <a:t>  IN (</a:t>
            </a:r>
            <a:r>
              <a:rPr lang="fr-FR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1], [2],</a:t>
            </a:r>
          </a:p>
          <a:p>
            <a:r>
              <a:rPr lang="en-US" dirty="0"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[3], [4],</a:t>
            </a:r>
          </a:p>
          <a:p>
            <a:r>
              <a:rPr lang="en-US" dirty="0"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[5])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989CFCA-D5D4-6B72-CF3E-34238862B7F6}"/>
              </a:ext>
            </a:extLst>
          </p:cNvPr>
          <p:cNvSpPr txBox="1">
            <a:spLocks/>
          </p:cNvSpPr>
          <p:nvPr/>
        </p:nvSpPr>
        <p:spPr>
          <a:xfrm>
            <a:off x="1809750" y="13335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do I manage my VTCs? (4/4)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37A802-0171-61DF-5B02-DD6F6E74F537}"/>
              </a:ext>
            </a:extLst>
          </p:cNvPr>
          <p:cNvSpPr/>
          <p:nvPr/>
        </p:nvSpPr>
        <p:spPr>
          <a:xfrm>
            <a:off x="6610350" y="5714504"/>
            <a:ext cx="349909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/>
              <a:buChar char="þ"/>
            </a:pPr>
            <a:r>
              <a:rPr lang="en-US" dirty="0"/>
              <a:t>Supported by ad-hoc queries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stored procedures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views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9C1AA6-868B-D9D2-D164-FDB367E43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312" y="2108596"/>
            <a:ext cx="4993519" cy="92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9518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2522CBA-5882-75C9-77D2-D1D08F5FDA89}"/>
              </a:ext>
            </a:extLst>
          </p:cNvPr>
          <p:cNvSpPr txBox="1">
            <a:spLocks/>
          </p:cNvSpPr>
          <p:nvPr/>
        </p:nvSpPr>
        <p:spPr>
          <a:xfrm>
            <a:off x="1981200" y="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a </a:t>
            </a:r>
            <a:r>
              <a:rPr lang="en-US" i="1" dirty="0"/>
              <a:t>n</a:t>
            </a:r>
            <a:r>
              <a:rPr lang="en-US" dirty="0"/>
              <a:t>-column PIVOT works…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011EDF-5FE9-4D83-3CF7-6C9D9DFFA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1" y="1180672"/>
            <a:ext cx="2808904" cy="339132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E0195F2-A2E8-F15E-DC94-838571964018}"/>
              </a:ext>
            </a:extLst>
          </p:cNvPr>
          <p:cNvGrpSpPr/>
          <p:nvPr/>
        </p:nvGrpSpPr>
        <p:grpSpPr>
          <a:xfrm>
            <a:off x="5334000" y="1170398"/>
            <a:ext cx="4648200" cy="2862322"/>
            <a:chOff x="3810000" y="1246598"/>
            <a:chExt cx="4648200" cy="286232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FA0F427-50C9-512E-39F5-90A90E452467}"/>
                </a:ext>
              </a:extLst>
            </p:cNvPr>
            <p:cNvSpPr/>
            <p:nvPr/>
          </p:nvSpPr>
          <p:spPr>
            <a:xfrm>
              <a:off x="3810000" y="1246598"/>
              <a:ext cx="4648200" cy="28623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dirty="0">
                  <a:latin typeface="Lucida Console" pitchFamily="49" charset="0"/>
                </a:rPr>
                <a:t> PivotResults.*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dirty="0">
                  <a:latin typeface="Lucida Console" pitchFamily="49" charset="0"/>
                </a:rPr>
                <a:t> (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dirty="0">
                  <a:latin typeface="Lucida Console" pitchFamily="49" charset="0"/>
                </a:rPr>
                <a:t> Col1, Col2, Col3, Col4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  FROM </a:t>
              </a:r>
              <a:r>
                <a:rPr lang="en-US" b="1" dirty="0">
                  <a:latin typeface="Lucida Console" pitchFamily="49" charset="0"/>
                </a:rPr>
                <a:t>...</a:t>
              </a:r>
              <a:endParaRPr lang="en-US" dirty="0">
                <a:latin typeface="Lucida Console" pitchFamily="49" charset="0"/>
              </a:endParaRPr>
            </a:p>
            <a:p>
              <a:r>
                <a:rPr lang="en-US" dirty="0">
                  <a:latin typeface="Lucida Console" pitchFamily="49" charset="0"/>
                </a:rPr>
                <a:t>  )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dirty="0">
                  <a:latin typeface="Lucida Console" pitchFamily="49" charset="0"/>
                </a:rPr>
                <a:t> </a:t>
              </a:r>
              <a:r>
                <a:rPr lang="en-US" dirty="0" err="1">
                  <a:latin typeface="Lucida Console" pitchFamily="49" charset="0"/>
                </a:rPr>
                <a:t>RawData</a:t>
              </a:r>
              <a:r>
                <a:rPr lang="en-US" dirty="0">
                  <a:latin typeface="Lucida Console" pitchFamily="49" charset="0"/>
                </a:rPr>
                <a:t>  </a:t>
              </a:r>
            </a:p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PIVOT</a:t>
              </a:r>
              <a:r>
                <a:rPr lang="en-US" dirty="0">
                  <a:latin typeface="Lucida Console" pitchFamily="49" charset="0"/>
                </a:rPr>
                <a:t> (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rgbClr val="FF66FF"/>
                  </a:solidFill>
                  <a:latin typeface="Lucida Console" pitchFamily="49" charset="0"/>
                </a:rPr>
                <a:t>SUM</a:t>
              </a:r>
              <a:r>
                <a:rPr lang="en-US" dirty="0">
                  <a:latin typeface="Lucida Console" pitchFamily="49" charset="0"/>
                </a:rPr>
                <a:t>(Col3) 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FOR</a:t>
              </a:r>
              <a:r>
                <a:rPr lang="en-US" dirty="0">
                  <a:latin typeface="Lucida Console" pitchFamily="49" charset="0"/>
                </a:rPr>
                <a:t> [Col2] 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IN</a:t>
              </a:r>
              <a:r>
                <a:rPr lang="en-US" dirty="0">
                  <a:latin typeface="Lucida Console" pitchFamily="49" charset="0"/>
                </a:rPr>
                <a:t> (   ,   ,    )</a:t>
              </a:r>
            </a:p>
            <a:p>
              <a:r>
                <a:rPr lang="en-US" dirty="0">
                  <a:latin typeface="Lucida Console" pitchFamily="49" charset="0"/>
                </a:rPr>
                <a:t> )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dirty="0">
                  <a:latin typeface="Lucida Console" pitchFamily="49" charset="0"/>
                </a:rPr>
                <a:t> </a:t>
              </a:r>
              <a:r>
                <a:rPr lang="en-US" dirty="0" err="1">
                  <a:latin typeface="Lucida Console" pitchFamily="49" charset="0"/>
                </a:rPr>
                <a:t>PivotResults</a:t>
              </a:r>
              <a:endParaRPr lang="en-US" dirty="0">
                <a:latin typeface="Lucida Console" pitchFamily="49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73312C-CEF6-5E6E-77CF-CB36B41F3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00600" y="3543300"/>
              <a:ext cx="352425" cy="1905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E3C54FC-ED96-E74C-CF53-D13C179756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47317" y="3539144"/>
              <a:ext cx="367683" cy="19465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794FBE5-DE58-E4AD-CCB9-ED391ECDE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80717" y="3539144"/>
              <a:ext cx="367684" cy="19465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30B9F2D-76DB-8902-FD15-4D08C3FDFAE4}"/>
              </a:ext>
            </a:extLst>
          </p:cNvPr>
          <p:cNvGrpSpPr/>
          <p:nvPr/>
        </p:nvGrpSpPr>
        <p:grpSpPr>
          <a:xfrm>
            <a:off x="2895600" y="1066054"/>
            <a:ext cx="4267200" cy="3734545"/>
            <a:chOff x="1371600" y="1142254"/>
            <a:chExt cx="4267200" cy="3734545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04664D-982E-EFC2-4807-2076F1A156F6}"/>
                </a:ext>
              </a:extLst>
            </p:cNvPr>
            <p:cNvSpPr/>
            <p:nvPr/>
          </p:nvSpPr>
          <p:spPr>
            <a:xfrm>
              <a:off x="1371600" y="1142254"/>
              <a:ext cx="1447800" cy="3734545"/>
            </a:xfrm>
            <a:prstGeom prst="rect">
              <a:avLst/>
            </a:prstGeom>
            <a:noFill/>
            <a:ln w="635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B62A299-7894-1B79-43A2-F5221206649D}"/>
                </a:ext>
              </a:extLst>
            </p:cNvPr>
            <p:cNvSpPr/>
            <p:nvPr/>
          </p:nvSpPr>
          <p:spPr>
            <a:xfrm>
              <a:off x="4572000" y="2895600"/>
              <a:ext cx="1066800" cy="643544"/>
            </a:xfrm>
            <a:prstGeom prst="rect">
              <a:avLst/>
            </a:prstGeom>
            <a:noFill/>
            <a:ln w="635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E799E4A-31E5-B517-33EC-148A66CC4BBA}"/>
                </a:ext>
              </a:extLst>
            </p:cNvPr>
            <p:cNvCxnSpPr>
              <a:stCxn id="13" idx="1"/>
            </p:cNvCxnSpPr>
            <p:nvPr/>
          </p:nvCxnSpPr>
          <p:spPr>
            <a:xfrm flipH="1" flipV="1">
              <a:off x="2819400" y="2438400"/>
              <a:ext cx="1752600" cy="778972"/>
            </a:xfrm>
            <a:prstGeom prst="line">
              <a:avLst/>
            </a:prstGeom>
            <a:ln w="635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EED428FD-6EED-1005-822F-920A524C2C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830" y="1180672"/>
            <a:ext cx="2809875" cy="33909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BBC0D50-269A-B859-CB5B-937010FE58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2095" y="1180672"/>
            <a:ext cx="2943225" cy="34004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718DC39-74DD-37E1-3246-AB09B6B546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6958" y="1180244"/>
            <a:ext cx="2981325" cy="38671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58A2B90-C6B0-C41D-D76E-9E2422771362}"/>
              </a:ext>
            </a:extLst>
          </p:cNvPr>
          <p:cNvSpPr txBox="1"/>
          <p:nvPr/>
        </p:nvSpPr>
        <p:spPr>
          <a:xfrm>
            <a:off x="2393520" y="981417"/>
            <a:ext cx="244049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65000"/>
                  </a:schemeClr>
                </a:solidFill>
              </a:rPr>
              <a:t>Non-pivots  </a:t>
            </a:r>
            <a:r>
              <a:rPr lang="en-US" sz="1400" b="1" dirty="0">
                <a:solidFill>
                  <a:schemeClr val="bg1">
                    <a:lumMod val="65000"/>
                  </a:schemeClr>
                </a:solidFill>
                <a:sym typeface="Wingdings" panose="05000000000000000000" pitchFamily="2" charset="2"/>
              </a:rPr>
              <a:t>                Pivots</a:t>
            </a:r>
            <a:endParaRPr lang="en-US" sz="1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5103812-1E3D-C54B-937E-C9202CCBF4E8}"/>
              </a:ext>
            </a:extLst>
          </p:cNvPr>
          <p:cNvGrpSpPr/>
          <p:nvPr/>
        </p:nvGrpSpPr>
        <p:grpSpPr>
          <a:xfrm>
            <a:off x="4061075" y="1710062"/>
            <a:ext cx="689549" cy="3204088"/>
            <a:chOff x="2537075" y="1786262"/>
            <a:chExt cx="689549" cy="320408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F3CDC73-C2E9-C7FE-6CF8-CE24E9C74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538791" y="1786262"/>
              <a:ext cx="687833" cy="678601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CC850AE-7CCF-5825-E449-D9E06FCBF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538791" y="2795047"/>
              <a:ext cx="687833" cy="678601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358815D-59A4-66A3-D186-27AE3A505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538790" y="3544148"/>
              <a:ext cx="687833" cy="678601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A1EC2E7-E490-DE5F-8815-44A356D25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537075" y="4311749"/>
              <a:ext cx="687833" cy="678601"/>
            </a:xfrm>
            <a:prstGeom prst="rect">
              <a:avLst/>
            </a:prstGeom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B15E566A-B4B6-5409-71D7-B8C66A1295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76925" y="4032720"/>
            <a:ext cx="3619500" cy="2571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5886541-E68E-8E3F-9F66-0D0B150FE13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9731" y="4032720"/>
            <a:ext cx="3590925" cy="2552700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2D97EB6-7C16-33E9-220A-ACAC68873EF2}"/>
              </a:ext>
            </a:extLst>
          </p:cNvPr>
          <p:cNvGrpSpPr/>
          <p:nvPr/>
        </p:nvGrpSpPr>
        <p:grpSpPr>
          <a:xfrm>
            <a:off x="1981200" y="2019730"/>
            <a:ext cx="1906573" cy="4429469"/>
            <a:chOff x="457200" y="2095930"/>
            <a:chExt cx="1906573" cy="4429469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E7A9BAE-97E5-31FA-665E-7FD6811273D9}"/>
                </a:ext>
              </a:extLst>
            </p:cNvPr>
            <p:cNvCxnSpPr/>
            <p:nvPr/>
          </p:nvCxnSpPr>
          <p:spPr>
            <a:xfrm flipH="1" flipV="1">
              <a:off x="479072" y="2125563"/>
              <a:ext cx="15160" cy="2998031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FFC75B3-4655-A99B-BAC7-C8783F37A745}"/>
                </a:ext>
              </a:extLst>
            </p:cNvPr>
            <p:cNvSpPr txBox="1"/>
            <p:nvPr/>
          </p:nvSpPr>
          <p:spPr>
            <a:xfrm>
              <a:off x="511528" y="5325070"/>
              <a:ext cx="185224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Horizontal separation of “DISTINCT” combos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292B239-7E0E-4A89-FA71-AE22B7B8F3FE}"/>
                </a:ext>
              </a:extLst>
            </p:cNvPr>
            <p:cNvCxnSpPr/>
            <p:nvPr/>
          </p:nvCxnSpPr>
          <p:spPr>
            <a:xfrm flipH="1">
              <a:off x="457200" y="3074147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D455E63-EA7F-0931-7AA5-E162A93B0349}"/>
                </a:ext>
              </a:extLst>
            </p:cNvPr>
            <p:cNvCxnSpPr/>
            <p:nvPr/>
          </p:nvCxnSpPr>
          <p:spPr>
            <a:xfrm flipH="1">
              <a:off x="457200" y="3823248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89E34AB-9291-89E9-48E9-B8ACAD4026F1}"/>
                </a:ext>
              </a:extLst>
            </p:cNvPr>
            <p:cNvCxnSpPr/>
            <p:nvPr/>
          </p:nvCxnSpPr>
          <p:spPr>
            <a:xfrm flipH="1">
              <a:off x="472360" y="4597097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022CA9-34FF-8769-C1B6-8E81F4855682}"/>
                </a:ext>
              </a:extLst>
            </p:cNvPr>
            <p:cNvCxnSpPr/>
            <p:nvPr/>
          </p:nvCxnSpPr>
          <p:spPr>
            <a:xfrm flipH="1" flipV="1">
              <a:off x="472360" y="5063394"/>
              <a:ext cx="197333" cy="261675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4A6A56D-61DC-52B2-D3B1-010B2AF02D0A}"/>
                </a:ext>
              </a:extLst>
            </p:cNvPr>
            <p:cNvCxnSpPr/>
            <p:nvPr/>
          </p:nvCxnSpPr>
          <p:spPr>
            <a:xfrm flipH="1">
              <a:off x="461115" y="2095930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F18985D1-8AC7-B2CD-3F09-34268984FBE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88561" y="4035854"/>
            <a:ext cx="3599213" cy="256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1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8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7">
            <a:extLst>
              <a:ext uri="{FF2B5EF4-FFF2-40B4-BE49-F238E27FC236}">
                <a16:creationId xmlns:a16="http://schemas.microsoft.com/office/drawing/2014/main" id="{49127079-AF4B-F423-E94C-E9CEA5CAB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Questions about the PIVOT operator?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2D05FD-CB2C-DF13-8949-07F77FBEC7CF}"/>
              </a:ext>
            </a:extLst>
          </p:cNvPr>
          <p:cNvSpPr txBox="1"/>
          <p:nvPr/>
        </p:nvSpPr>
        <p:spPr>
          <a:xfrm>
            <a:off x="1143000" y="3048000"/>
            <a:ext cx="6629400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Coming up next 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UNPIVOT operator…</a:t>
            </a:r>
          </a:p>
        </p:txBody>
      </p:sp>
    </p:spTree>
    <p:extLst>
      <p:ext uri="{BB962C8B-B14F-4D97-AF65-F5344CB8AC3E}">
        <p14:creationId xmlns:p14="http://schemas.microsoft.com/office/powerpoint/2010/main" val="420054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A2B3593-FA3C-8516-022C-8CCF0FD16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90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Converting Horizontal Data to Vertical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7B52F67-61F4-B100-D660-C04AB3217E2C}"/>
              </a:ext>
            </a:extLst>
          </p:cNvPr>
          <p:cNvCxnSpPr/>
          <p:nvPr/>
        </p:nvCxnSpPr>
        <p:spPr>
          <a:xfrm flipH="1">
            <a:off x="5897528" y="1562100"/>
            <a:ext cx="480236" cy="0"/>
          </a:xfrm>
          <a:prstGeom prst="straightConnector1">
            <a:avLst/>
          </a:prstGeom>
          <a:ln w="44450"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4F2D8FC-ADA1-B5A4-7B2D-B587F2FA6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225432"/>
              </p:ext>
            </p:extLst>
          </p:nvPr>
        </p:nvGraphicFramePr>
        <p:xfrm>
          <a:off x="2057400" y="1351169"/>
          <a:ext cx="3739007" cy="4218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6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6783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Primary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Secondary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LOUSISWPS130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6628C8F-BC14-CDD9-5F28-39CB81098E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399250"/>
              </p:ext>
            </p:extLst>
          </p:nvPr>
        </p:nvGraphicFramePr>
        <p:xfrm>
          <a:off x="6477000" y="1310913"/>
          <a:ext cx="3507535" cy="6321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F8E7E676-F820-05D3-B780-1ED89DF70242}"/>
              </a:ext>
            </a:extLst>
          </p:cNvPr>
          <p:cNvGrpSpPr/>
          <p:nvPr/>
        </p:nvGrpSpPr>
        <p:grpSpPr>
          <a:xfrm>
            <a:off x="1905000" y="1579604"/>
            <a:ext cx="8545409" cy="3843009"/>
            <a:chOff x="381000" y="1541504"/>
            <a:chExt cx="8545409" cy="384300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FFEA165-BDC3-808A-F116-FFAEA2B17D54}"/>
                </a:ext>
              </a:extLst>
            </p:cNvPr>
            <p:cNvSpPr txBox="1"/>
            <p:nvPr/>
          </p:nvSpPr>
          <p:spPr>
            <a:xfrm>
              <a:off x="381000" y="2602469"/>
              <a:ext cx="5638800" cy="27820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  SELECT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  </a:t>
              </a: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'Primary Contact'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  </a:t>
              </a: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[Primary Contact]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  </a:t>
              </a:r>
            </a:p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  FROM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[Table2]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008080"/>
                  </a:solidFill>
                  <a:highlight>
                    <a:srgbClr val="FFFF00"/>
                  </a:highlight>
                  <a:latin typeface="Consolas"/>
                  <a:ea typeface="Calibri"/>
                  <a:cs typeface="Times New Roman"/>
                </a:rPr>
                <a:t>UNION ALL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  </a:t>
              </a: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'Secondary Contact'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    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[Secondary Contact]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[Table2]</a:t>
              </a:r>
              <a:endParaRPr lang="en-US" sz="1700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CB740BF-60B2-033A-5840-B29B658C9830}"/>
                </a:ext>
              </a:extLst>
            </p:cNvPr>
            <p:cNvGrpSpPr/>
            <p:nvPr/>
          </p:nvGrpSpPr>
          <p:grpSpPr>
            <a:xfrm>
              <a:off x="4787877" y="1541504"/>
              <a:ext cx="4138532" cy="3511033"/>
              <a:chOff x="4819075" y="1518166"/>
              <a:chExt cx="4138532" cy="3511033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9B01DAC-F83D-C321-C2B7-2A8C8CBFAD2F}"/>
                  </a:ext>
                </a:extLst>
              </p:cNvPr>
              <p:cNvSpPr txBox="1"/>
              <p:nvPr/>
            </p:nvSpPr>
            <p:spPr>
              <a:xfrm>
                <a:off x="7086600" y="3589090"/>
                <a:ext cx="4572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+</a:t>
                </a:r>
                <a:endParaRPr lang="en-US" dirty="0"/>
              </a:p>
            </p:txBody>
          </p:sp>
          <p:pic>
            <p:nvPicPr>
              <p:cNvPr id="12" name="Picture 2">
                <a:extLst>
                  <a:ext uri="{FF2B5EF4-FFF2-40B4-BE49-F238E27FC236}">
                    <a16:creationId xmlns:a16="http://schemas.microsoft.com/office/drawing/2014/main" id="{9B1E3D12-CDA4-629F-6FCD-A522CDE0BE8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2932" y="2847974"/>
                <a:ext cx="3076575" cy="7334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pic>
            <p:nvPicPr>
              <p:cNvPr id="13" name="Picture 3">
                <a:extLst>
                  <a:ext uri="{FF2B5EF4-FFF2-40B4-BE49-F238E27FC236}">
                    <a16:creationId xmlns:a16="http://schemas.microsoft.com/office/drawing/2014/main" id="{45E926A7-80D1-6FFE-76FF-C41D2807D1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2932" y="4295774"/>
                <a:ext cx="3114675" cy="7334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5ABCF2CB-940D-0BE1-5FA8-4068780F46E3}"/>
                  </a:ext>
                </a:extLst>
              </p:cNvPr>
              <p:cNvCxnSpPr/>
              <p:nvPr/>
            </p:nvCxnSpPr>
            <p:spPr>
              <a:xfrm flipV="1">
                <a:off x="7445100" y="2139434"/>
                <a:ext cx="1425298" cy="1289566"/>
              </a:xfrm>
              <a:prstGeom prst="line">
                <a:avLst/>
              </a:prstGeom>
              <a:ln w="158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C346B51-642C-85A5-931F-6EA47867A9B7}"/>
                  </a:ext>
                </a:extLst>
              </p:cNvPr>
              <p:cNvCxnSpPr/>
              <p:nvPr/>
            </p:nvCxnSpPr>
            <p:spPr>
              <a:xfrm flipH="1">
                <a:off x="8534400" y="1528326"/>
                <a:ext cx="335998" cy="0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367BB7F-2312-335E-7716-CA7A94B772E8}"/>
                  </a:ext>
                </a:extLst>
              </p:cNvPr>
              <p:cNvCxnSpPr/>
              <p:nvPr/>
            </p:nvCxnSpPr>
            <p:spPr>
              <a:xfrm flipV="1">
                <a:off x="8870398" y="1518166"/>
                <a:ext cx="0" cy="621268"/>
              </a:xfrm>
              <a:prstGeom prst="line">
                <a:avLst/>
              </a:prstGeom>
              <a:ln w="2222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1299C5C-1504-A771-9D9E-C190E5427AE7}"/>
                  </a:ext>
                </a:extLst>
              </p:cNvPr>
              <p:cNvCxnSpPr/>
              <p:nvPr/>
            </p:nvCxnSpPr>
            <p:spPr>
              <a:xfrm>
                <a:off x="4819075" y="1805462"/>
                <a:ext cx="165123" cy="0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1BF063E-0F3E-6115-7189-D9E817A551FD}"/>
                  </a:ext>
                </a:extLst>
              </p:cNvPr>
              <p:cNvCxnSpPr/>
              <p:nvPr/>
            </p:nvCxnSpPr>
            <p:spPr>
              <a:xfrm flipV="1">
                <a:off x="4819075" y="1805462"/>
                <a:ext cx="0" cy="304800"/>
              </a:xfrm>
              <a:prstGeom prst="line">
                <a:avLst/>
              </a:prstGeom>
              <a:ln w="2222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13FA7A2-6D1D-9BEB-BEE5-0BE41C902D1D}"/>
                  </a:ext>
                </a:extLst>
              </p:cNvPr>
              <p:cNvCxnSpPr/>
              <p:nvPr/>
            </p:nvCxnSpPr>
            <p:spPr>
              <a:xfrm flipH="1" flipV="1">
                <a:off x="4819075" y="2110262"/>
                <a:ext cx="1023858" cy="2552226"/>
              </a:xfrm>
              <a:prstGeom prst="line">
                <a:avLst/>
              </a:prstGeom>
              <a:ln w="158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97D55B7-68AB-88B5-2C4C-1DE086091177}"/>
                  </a:ext>
                </a:extLst>
              </p14:cNvPr>
              <p14:cNvContentPartPr/>
              <p14:nvPr/>
            </p14:nvContentPartPr>
            <p14:xfrm>
              <a:off x="8555520" y="5716020"/>
              <a:ext cx="360" cy="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97D55B7-68AB-88B5-2C4C-1DE08609117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546160" y="5706660"/>
                <a:ext cx="19080" cy="1908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28878A52-7E3B-8664-2020-1EB5EB3E924D}"/>
              </a:ext>
            </a:extLst>
          </p:cNvPr>
          <p:cNvSpPr txBox="1"/>
          <p:nvPr/>
        </p:nvSpPr>
        <p:spPr>
          <a:xfrm>
            <a:off x="1905000" y="5378886"/>
            <a:ext cx="1749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UNION ALL...</a:t>
            </a:r>
            <a:endParaRPr lang="en-US" dirty="0">
              <a:ea typeface="Calibri"/>
              <a:cs typeface="Times New Roman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0FD763-F737-E6E9-0735-23CD61ADA9B9}"/>
              </a:ext>
            </a:extLst>
          </p:cNvPr>
          <p:cNvSpPr txBox="1"/>
          <p:nvPr/>
        </p:nvSpPr>
        <p:spPr>
          <a:xfrm>
            <a:off x="1905000" y="5748218"/>
            <a:ext cx="1749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UNION ALL...</a:t>
            </a:r>
            <a:endParaRPr lang="en-US" dirty="0">
              <a:ea typeface="Calibri"/>
              <a:cs typeface="Times New Roman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97599C-79B0-5407-48F8-9C43701F9F3D}"/>
              </a:ext>
            </a:extLst>
          </p:cNvPr>
          <p:cNvSpPr txBox="1"/>
          <p:nvPr/>
        </p:nvSpPr>
        <p:spPr>
          <a:xfrm>
            <a:off x="1905000" y="6108155"/>
            <a:ext cx="1749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UNION ALL...</a:t>
            </a:r>
            <a:endParaRPr lang="en-US" dirty="0"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70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D2CACC7-96EA-8E61-C063-CC0BBFCDD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8325" y="560826"/>
            <a:ext cx="8515350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“Imagine” how this would apply to data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D49653A-5597-3E16-C641-FB0C64BDF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7896" y="2444194"/>
            <a:ext cx="826503" cy="2335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9C1C5F-CFE8-6BF6-898A-6D67C641C4B1}"/>
              </a:ext>
            </a:extLst>
          </p:cNvPr>
          <p:cNvSpPr txBox="1"/>
          <p:nvPr/>
        </p:nvSpPr>
        <p:spPr>
          <a:xfrm>
            <a:off x="7359147" y="4964745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Vertical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C0CD8A-CC12-2AC9-C5AB-18EC69031FD2}"/>
              </a:ext>
            </a:extLst>
          </p:cNvPr>
          <p:cNvSpPr txBox="1"/>
          <p:nvPr/>
        </p:nvSpPr>
        <p:spPr>
          <a:xfrm>
            <a:off x="3631758" y="4940855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Horizontal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2DA78E-625D-0810-BF8A-06E0F75C85B7}"/>
              </a:ext>
            </a:extLst>
          </p:cNvPr>
          <p:cNvSpPr txBox="1"/>
          <p:nvPr/>
        </p:nvSpPr>
        <p:spPr>
          <a:xfrm>
            <a:off x="6937876" y="1898650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</a:rPr>
              <a:t>More rows, less columns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810BD8-CD10-FDBA-CE83-EB01414D2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816" y="2025250"/>
            <a:ext cx="3000375" cy="27813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5FF69B-E949-B24C-83E0-62A473B4C6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225" y="3277155"/>
            <a:ext cx="1552575" cy="1114425"/>
          </a:xfrm>
          <a:prstGeom prst="rect">
            <a:avLst/>
          </a:prstGeom>
        </p:spPr>
      </p:pic>
      <p:sp>
        <p:nvSpPr>
          <p:cNvPr id="11" name="Circular Arrow 11">
            <a:extLst>
              <a:ext uri="{FF2B5EF4-FFF2-40B4-BE49-F238E27FC236}">
                <a16:creationId xmlns:a16="http://schemas.microsoft.com/office/drawing/2014/main" id="{A1DB1405-8618-CA7F-5633-CA26B660CE48}"/>
              </a:ext>
            </a:extLst>
          </p:cNvPr>
          <p:cNvSpPr/>
          <p:nvPr/>
        </p:nvSpPr>
        <p:spPr>
          <a:xfrm rot="6094343" flipV="1">
            <a:off x="2754214" y="2708402"/>
            <a:ext cx="1683257" cy="1720974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46719"/>
              <a:gd name="adj5" fmla="val 21268"/>
            </a:avLst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7149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ircular Arrow 8">
            <a:extLst>
              <a:ext uri="{FF2B5EF4-FFF2-40B4-BE49-F238E27FC236}">
                <a16:creationId xmlns:a16="http://schemas.microsoft.com/office/drawing/2014/main" id="{870E20FF-E571-056C-8255-0C6C66FE77A5}"/>
              </a:ext>
            </a:extLst>
          </p:cNvPr>
          <p:cNvSpPr/>
          <p:nvPr/>
        </p:nvSpPr>
        <p:spPr>
          <a:xfrm rot="18036419" flipV="1">
            <a:off x="7782792" y="1593663"/>
            <a:ext cx="1683257" cy="1716708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46719"/>
              <a:gd name="adj5" fmla="val 2126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D6D9619-56A4-E4DA-99F0-981F48BEB5BA}"/>
              </a:ext>
            </a:extLst>
          </p:cNvPr>
          <p:cNvGrpSpPr/>
          <p:nvPr/>
        </p:nvGrpSpPr>
        <p:grpSpPr>
          <a:xfrm>
            <a:off x="8401050" y="3895340"/>
            <a:ext cx="1486365" cy="1748550"/>
            <a:chOff x="513663" y="2412194"/>
            <a:chExt cx="1486365" cy="1748550"/>
          </a:xfrm>
        </p:grpSpPr>
        <p:sp>
          <p:nvSpPr>
            <p:cNvPr id="6" name="Circular Arrow 9">
              <a:extLst>
                <a:ext uri="{FF2B5EF4-FFF2-40B4-BE49-F238E27FC236}">
                  <a16:creationId xmlns:a16="http://schemas.microsoft.com/office/drawing/2014/main" id="{7132AD30-D180-D9F5-DAAD-BE3F06FA0A98}"/>
                </a:ext>
              </a:extLst>
            </p:cNvPr>
            <p:cNvSpPr/>
            <p:nvPr/>
          </p:nvSpPr>
          <p:spPr>
            <a:xfrm rot="18036419" flipV="1">
              <a:off x="493601" y="2654317"/>
              <a:ext cx="1526489" cy="1486365"/>
            </a:xfrm>
            <a:prstGeom prst="circularArrow">
              <a:avLst>
                <a:gd name="adj1" fmla="val 11239"/>
                <a:gd name="adj2" fmla="val 749802"/>
                <a:gd name="adj3" fmla="val 17590145"/>
                <a:gd name="adj4" fmla="val 7303518"/>
                <a:gd name="adj5" fmla="val 2142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A6C281-E3C7-02BC-0ADB-D56733D75F5E}"/>
                </a:ext>
              </a:extLst>
            </p:cNvPr>
            <p:cNvCxnSpPr/>
            <p:nvPr/>
          </p:nvCxnSpPr>
          <p:spPr>
            <a:xfrm>
              <a:off x="842157" y="2412194"/>
              <a:ext cx="0" cy="914400"/>
            </a:xfrm>
            <a:prstGeom prst="line">
              <a:avLst/>
            </a:prstGeom>
            <a:ln w="17462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D135389-48E0-4857-A666-74E8C8CE8460}"/>
                </a:ext>
              </a:extLst>
            </p:cNvPr>
            <p:cNvCxnSpPr/>
            <p:nvPr/>
          </p:nvCxnSpPr>
          <p:spPr>
            <a:xfrm>
              <a:off x="1680357" y="2412194"/>
              <a:ext cx="0" cy="914400"/>
            </a:xfrm>
            <a:prstGeom prst="line">
              <a:avLst/>
            </a:prstGeom>
            <a:ln w="17462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C010C01-4473-1714-4BAF-F2CBF7FCB385}"/>
              </a:ext>
            </a:extLst>
          </p:cNvPr>
          <p:cNvSpPr txBox="1"/>
          <p:nvPr/>
        </p:nvSpPr>
        <p:spPr>
          <a:xfrm>
            <a:off x="3118277" y="1120676"/>
            <a:ext cx="5257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An UNPIVOT demotes column headers into data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03F6F6A-A46D-0AA7-9D0A-171D6C8887BE}"/>
              </a:ext>
            </a:extLst>
          </p:cNvPr>
          <p:cNvGrpSpPr/>
          <p:nvPr/>
        </p:nvGrpSpPr>
        <p:grpSpPr>
          <a:xfrm>
            <a:off x="2965600" y="4183548"/>
            <a:ext cx="4961876" cy="1174683"/>
            <a:chOff x="1098700" y="3846731"/>
            <a:chExt cx="4961876" cy="1174683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9A46DFD9-02A7-8F13-801A-CC734CF0CF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8700" y="3846731"/>
              <a:ext cx="4961876" cy="11026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43C940F-1262-63A3-26BE-804091B72FD1}"/>
                </a:ext>
              </a:extLst>
            </p:cNvPr>
            <p:cNvSpPr/>
            <p:nvPr/>
          </p:nvSpPr>
          <p:spPr>
            <a:xfrm>
              <a:off x="1197955" y="4190322"/>
              <a:ext cx="492867" cy="279358"/>
            </a:xfrm>
            <a:prstGeom prst="rect">
              <a:avLst/>
            </a:prstGeom>
            <a:noFill/>
            <a:ln w="635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ircular Arrow 19">
              <a:extLst>
                <a:ext uri="{FF2B5EF4-FFF2-40B4-BE49-F238E27FC236}">
                  <a16:creationId xmlns:a16="http://schemas.microsoft.com/office/drawing/2014/main" id="{8A4DD21B-FC26-B33B-5781-9B4F920FCEFF}"/>
                </a:ext>
              </a:extLst>
            </p:cNvPr>
            <p:cNvSpPr/>
            <p:nvPr/>
          </p:nvSpPr>
          <p:spPr>
            <a:xfrm rot="2245769" flipV="1">
              <a:off x="1106781" y="4083179"/>
              <a:ext cx="900850" cy="938235"/>
            </a:xfrm>
            <a:prstGeom prst="circularArrow">
              <a:avLst>
                <a:gd name="adj1" fmla="val 12348"/>
                <a:gd name="adj2" fmla="val 995287"/>
                <a:gd name="adj3" fmla="val 20037110"/>
                <a:gd name="adj4" fmla="val 5965823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13219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1840</TotalTime>
  <Words>3252</Words>
  <Application>Microsoft Office PowerPoint</Application>
  <PresentationFormat>Widescreen</PresentationFormat>
  <Paragraphs>725</Paragraphs>
  <Slides>34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Calibri</vt:lpstr>
      <vt:lpstr>Calibri Light</vt:lpstr>
      <vt:lpstr>Consolas</vt:lpstr>
      <vt:lpstr>Lucida Console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Converting Vertical Data to Horizontal</vt:lpstr>
      <vt:lpstr>Converting Vertical Data to Horizontal</vt:lpstr>
      <vt:lpstr>PowerPoint Presentation</vt:lpstr>
      <vt:lpstr>What is a pivot?</vt:lpstr>
      <vt:lpstr>PowerPoint Presentation</vt:lpstr>
      <vt:lpstr>“Imagine” how this would apply to data</vt:lpstr>
      <vt:lpstr>PowerPoint Presentation</vt:lpstr>
      <vt:lpstr>How a T-SQL PIVOT works</vt:lpstr>
      <vt:lpstr>Aggregates refresher</vt:lpstr>
      <vt:lpstr>PowerPoint Presentation</vt:lpstr>
      <vt:lpstr>PIVOT() LIKE/!= GROUP BY</vt:lpstr>
      <vt:lpstr>Breakdown of PIVOT statement (1/4)</vt:lpstr>
      <vt:lpstr>Breakdown of PIVOT statement (2/4)</vt:lpstr>
      <vt:lpstr>Breakdown of PIVOT statement (3/4)</vt:lpstr>
      <vt:lpstr>Breakdown of PIVOT statement (4/4)</vt:lpstr>
      <vt:lpstr>Demo of a 2-column PIVOT</vt:lpstr>
      <vt:lpstr>How a 3-column PIVOT works…</vt:lpstr>
      <vt:lpstr>PowerPoint Presentation</vt:lpstr>
      <vt:lpstr>PowerPoint Presentation</vt:lpstr>
      <vt:lpstr>Demo of a 3-column PIVOT</vt:lpstr>
      <vt:lpstr>PowerPoint Presentation</vt:lpstr>
      <vt:lpstr>PowerPoint Presentation</vt:lpstr>
      <vt:lpstr>How do I manage my VTCs? (2/4)</vt:lpstr>
      <vt:lpstr>PowerPoint Presentation</vt:lpstr>
      <vt:lpstr>PowerPoint Presentation</vt:lpstr>
      <vt:lpstr>PowerPoint Presentation</vt:lpstr>
      <vt:lpstr>Questions about the PIVOT operator?</vt:lpstr>
      <vt:lpstr>Converting Horizontal Data to Vertical</vt:lpstr>
      <vt:lpstr>“Imagine” how this would apply to data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5</cp:revision>
  <dcterms:created xsi:type="dcterms:W3CDTF">2024-01-27T18:54:49Z</dcterms:created>
  <dcterms:modified xsi:type="dcterms:W3CDTF">2024-01-29T01:34:57Z</dcterms:modified>
</cp:coreProperties>
</file>