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60" r:id="rId3"/>
    <p:sldId id="259" r:id="rId4"/>
    <p:sldId id="285" r:id="rId5"/>
    <p:sldId id="270" r:id="rId6"/>
    <p:sldId id="258" r:id="rId7"/>
    <p:sldId id="257" r:id="rId8"/>
    <p:sldId id="280" r:id="rId9"/>
    <p:sldId id="281" r:id="rId10"/>
    <p:sldId id="284" r:id="rId11"/>
    <p:sldId id="275" r:id="rId12"/>
    <p:sldId id="261" r:id="rId13"/>
    <p:sldId id="271" r:id="rId14"/>
    <p:sldId id="273" r:id="rId15"/>
    <p:sldId id="279" r:id="rId16"/>
    <p:sldId id="264" r:id="rId17"/>
    <p:sldId id="266" r:id="rId18"/>
    <p:sldId id="262" r:id="rId19"/>
    <p:sldId id="272" r:id="rId20"/>
    <p:sldId id="265" r:id="rId21"/>
    <p:sldId id="277" r:id="rId22"/>
    <p:sldId id="278" r:id="rId23"/>
    <p:sldId id="267" r:id="rId24"/>
    <p:sldId id="283" r:id="rId25"/>
    <p:sldId id="268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eff F" initials="JF" lastIdx="1" clrIdx="0">
    <p:extLst>
      <p:ext uri="{19B8F6BF-5375-455C-9EA6-DF929625EA0E}">
        <p15:presenceInfo xmlns:p15="http://schemas.microsoft.com/office/powerpoint/2012/main" userId="f003630136abceb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90" d="100"/>
          <a:sy n="90" d="100"/>
        </p:scale>
        <p:origin x="3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B00C-6380-78AC-C7E5-285F31392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5AE862-B255-14BA-C744-45C557826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F975E-FDF3-0474-72F3-E61F9A67E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6B7D-7D82-48D6-8AB3-37C5B82E400B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F3660-E789-9732-3655-C3058058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238DA7-E856-7E9E-01B6-DCBAE9DDC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F8F4-A79E-44AB-B65C-0412648F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44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675E1-0D9F-C8BC-3967-F88021C42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1A9A4-416C-803A-49C9-44EB49614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71147-638E-BB1F-984F-7DD36B20E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6B7D-7D82-48D6-8AB3-37C5B82E400B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D75AB-5372-7DF9-2B6D-10E1B847E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A2FB7-64CF-E747-57F5-1AD9AA04F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F8F4-A79E-44AB-B65C-0412648F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957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F2EBD-AD16-1295-3B40-03C90E169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5F31FD-340B-8066-03A9-2EB0D5B59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702F4-7888-1468-6DEE-CE3C62D2B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6B7D-7D82-48D6-8AB3-37C5B82E400B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F259F-4C5B-6A75-7B96-5B65FE94C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3A4B4-7334-959B-6B43-773443EEA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F8F4-A79E-44AB-B65C-0412648F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015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B9312-CB10-326C-C997-E9EEF5B6A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8FBA9-64A1-5D9A-A713-7F962F75DC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3D0661-588E-E6C2-213C-805A52977A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B87D5-3C5D-3759-4E71-B959AF470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6B7D-7D82-48D6-8AB3-37C5B82E400B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C63E8F-A7F4-250D-606E-C7E3555A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36F8F-20F5-0C1D-5707-519C64A66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F8F4-A79E-44AB-B65C-0412648F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91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21755-DB6C-C859-AABD-A2873BDE0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179EC1-7ADB-DE42-43DD-9807FEFAB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8301DE-69B9-E71F-32E5-0979CD9880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378627F-4858-3360-EEB9-D0EEDC6B68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25ECAC-323C-91C4-DB35-D39ABE2BBB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73B89B-A98C-711B-8758-706484AB4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6B7D-7D82-48D6-8AB3-37C5B82E400B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5AE05-FD65-6E1E-E587-F2E22907A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9B1C23-AD82-3763-E176-A2044ED26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F8F4-A79E-44AB-B65C-0412648F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2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87094-1FAC-D08B-53DE-AD9448046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7873A8-0AEB-4A0D-7447-5DFB31EBE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6B7D-7D82-48D6-8AB3-37C5B82E400B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E9C4F-74FA-12CA-9E9F-29D6A68BE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64311-5031-C88D-D0E0-98B382AF0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F8F4-A79E-44AB-B65C-0412648F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7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EE2B2A-3557-15CA-80D3-481F26E04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6B7D-7D82-48D6-8AB3-37C5B82E400B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CAF940-8F16-F2B2-FC71-2D16430EF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58D9E-5DCE-030F-A734-72712A217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F8F4-A79E-44AB-B65C-0412648F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247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C735D-9B1C-AA63-B05C-89DAB61A6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3EE9D1-3822-5F0F-757E-1B1544BF8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4D9532-F49F-0124-AB2B-084186C9D0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7BB99E-447E-A7F9-63B3-F5669329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6B7D-7D82-48D6-8AB3-37C5B82E400B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89660-0575-ADA7-0C1B-5AAB22B3E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DCB49-2379-404F-B8C6-C8E3D00B9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F8F4-A79E-44AB-B65C-0412648F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789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6B3E4-1943-F0EC-6E30-05519D643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52BBC5-4FE0-674F-42E7-64209D0EA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EB3DE-73EA-A319-830F-DA1DF9BC97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6C07D6-F9D9-6121-3745-E9390BB2E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6B7D-7D82-48D6-8AB3-37C5B82E400B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62C7D-5630-09C7-7658-877BF6F22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A5B90E-63FB-B262-DDED-E3C10F31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F8F4-A79E-44AB-B65C-0412648F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7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71BED-3C13-D24E-CF68-FD1B4405C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8240C2-56D6-9328-6C6D-C800E9476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BAC869-1FE6-FFE9-D4F3-378B1C0EF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6B7D-7D82-48D6-8AB3-37C5B82E400B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AAC24-350F-1B63-B0AF-2211EF98D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4302C7-29AC-9714-780C-A19FE73FB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F8F4-A79E-44AB-B65C-0412648F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364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3B0831-51FA-8B24-0DAE-AF8AC3B1C7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7CA4D-A666-18B5-1E77-E2A91C8AF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46727-3071-1BD1-0076-C476CBC93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C6B7D-7D82-48D6-8AB3-37C5B82E400B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3C78B-BC6A-A8A7-63D9-F85F5CDB1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F39D1-4600-A73B-A5E2-EC298E915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1DF8F4-A79E-44AB-B65C-0412648F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40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818430-0953-430A-5375-331252F74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70B653-0365-52C9-C04C-9B5E2D00E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9F484-5754-AB73-A4D5-C3102062ED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C6B7D-7D82-48D6-8AB3-37C5B82E400B}" type="datetimeFigureOut">
              <a:rPr lang="en-US" smtClean="0"/>
              <a:t>7/18/2023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1A84B-45A9-5D60-B543-E7821B8A0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59175-4AFE-7222-CB5B-7B4BF571C6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1DF8F4-A79E-44AB-B65C-0412648FB5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073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0763E9-3668-A82B-CBE4-8BD58BFADD6C}"/>
              </a:ext>
            </a:extLst>
          </p:cNvPr>
          <p:cNvSpPr txBox="1"/>
          <p:nvPr/>
        </p:nvSpPr>
        <p:spPr>
          <a:xfrm>
            <a:off x="729916" y="2105527"/>
            <a:ext cx="10623884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'My text '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8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IntColumn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' : '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FF00FF"/>
                </a:solidFill>
                <a:latin typeface="Consolas" panose="020B0609020204030204" pitchFamily="49" charset="0"/>
              </a:rPr>
              <a:t>IsNull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TextColumn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4000" dirty="0">
                <a:solidFill>
                  <a:srgbClr val="FF0000"/>
                </a:solidFill>
                <a:latin typeface="Consolas" panose="020B0609020204030204" pitchFamily="49" charset="0"/>
              </a:rPr>
              <a:t> ''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   </a:t>
            </a:r>
            <a:r>
              <a:rPr lang="en-US" sz="4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CombinedValue</a:t>
            </a:r>
            <a:endParaRPr 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4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4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F99F07D-B870-9C95-06E1-67076A9A8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1. Overuse of  </a:t>
            </a:r>
            <a:r>
              <a:rPr lang="en-US" sz="6000" b="1" dirty="0"/>
              <a:t>+</a:t>
            </a:r>
            <a:r>
              <a:rPr lang="en-US" dirty="0"/>
              <a:t>  for string concatenation</a:t>
            </a:r>
          </a:p>
        </p:txBody>
      </p:sp>
    </p:spTree>
    <p:extLst>
      <p:ext uri="{BB962C8B-B14F-4D97-AF65-F5344CB8AC3E}">
        <p14:creationId xmlns:p14="http://schemas.microsoft.com/office/powerpoint/2010/main" val="1796872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stringable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stringable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, ...)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mytext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NULL</a:t>
            </a:r>
            <a:endParaRPr lang="en-US" sz="2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mytext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NULL)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mytext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3			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Conversion error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mytext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3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3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5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5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5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DE04A-81A6-F2E9-30C6-4BFFF15E5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381" y="1825625"/>
            <a:ext cx="2097756" cy="9205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CD76CD-EDFA-17E8-156E-BD6EF1932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381" y="3898372"/>
            <a:ext cx="2033183" cy="696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24E1E3-6AD1-49E9-8D9B-3324BCFB94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381" y="5185459"/>
            <a:ext cx="1995293" cy="81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84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</a:t>
            </a:r>
            <a:r>
              <a:rPr lang="en-US" dirty="0"/>
              <a:t>(what, how [, locale]) -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75600" cy="44862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Locale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[PRIMARY]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'$'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'$'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Convert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'$'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'$'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LEFT(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'$'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'00'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CHARINDEX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'.'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3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[2Digit]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Round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POWER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FLOOR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LOG10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'E+0'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FLOOR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LOG10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SciNotation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E3BC0F-256B-7D6A-F50F-0F3C6F23C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512" y="2308225"/>
            <a:ext cx="2604937" cy="275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231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</a:t>
            </a:r>
            <a:r>
              <a:rPr lang="en-US" dirty="0"/>
              <a:t>(what, how [, locale]) - Currency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975600" cy="448627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TABLE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Locale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5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[PRIMARY]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'$'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'$'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Convert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'$'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'$'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00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LEFT(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'$'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'00'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CHARINDEX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'.'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3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[2Digit]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Round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POWER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FLOOR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LOG10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'E+0'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FLOOR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LOG10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SciNotation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E3BC0F-256B-7D6A-F50F-0F3C6F23C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6512" y="2308225"/>
            <a:ext cx="2604937" cy="2759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37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</a:t>
            </a:r>
            <a:r>
              <a:rPr lang="en-US" sz="4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what</a:t>
            </a:r>
            <a:r>
              <a:rPr lang="en-US" sz="4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4000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</a:t>
            </a:r>
            <a:r>
              <a:rPr lang="en-US" sz="4000" i="1" dirty="0" err="1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</a:t>
            </a:r>
            <a:r>
              <a:rPr lang="en-US" sz="40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</a:t>
            </a:r>
            <a:r>
              <a:rPr lang="en-US" sz="4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8000" dirty="0"/>
              <a:t> </a:t>
            </a:r>
            <a:r>
              <a:rPr lang="en-US" dirty="0"/>
              <a:t>– Scientific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7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CONCAT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Round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POWER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FLOOR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LOG10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2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'E+0'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FLOOR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LOG10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SciNotation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MyNumber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'G3'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[FORMAT(G3)]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FormatNumber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0DB6CE-135F-23EF-5DC2-F45A1D56D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3312" y="1825625"/>
            <a:ext cx="1741488" cy="40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574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</a:t>
            </a:r>
            <a:r>
              <a:rPr lang="en-US" dirty="0"/>
              <a:t>(what, how [, locale]) - Dates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@_date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datetime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getdate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@_date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@_date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'd'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FORMAT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@_date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'D'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0101FD"/>
                </a:solidFill>
                <a:effectLst/>
                <a:latin typeface="SFMono-Regular"/>
              </a:rPr>
              <a:t>SELECT FORMAT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( @d, </a:t>
            </a:r>
            <a:r>
              <a:rPr lang="en-US" b="0" i="0" dirty="0">
                <a:solidFill>
                  <a:srgbClr val="A31515"/>
                </a:solidFill>
                <a:effectLst/>
                <a:latin typeface="SFMono-Regular"/>
              </a:rPr>
              <a:t>'dd/MM/</a:t>
            </a:r>
            <a:r>
              <a:rPr lang="en-US" b="0" i="0" dirty="0" err="1">
                <a:solidFill>
                  <a:srgbClr val="A31515"/>
                </a:solidFill>
                <a:effectLst/>
                <a:latin typeface="SFMono-Regular"/>
              </a:rPr>
              <a:t>yyyy</a:t>
            </a:r>
            <a:r>
              <a:rPr lang="en-US" b="0" i="0" dirty="0">
                <a:solidFill>
                  <a:srgbClr val="A31515"/>
                </a:solidFill>
                <a:effectLst/>
                <a:latin typeface="SFMono-Regular"/>
              </a:rPr>
              <a:t>'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, </a:t>
            </a:r>
            <a:r>
              <a:rPr lang="en-US" b="0" i="0" dirty="0">
                <a:solidFill>
                  <a:srgbClr val="A31515"/>
                </a:solidFill>
                <a:effectLst/>
                <a:latin typeface="SFMono-Regular"/>
              </a:rPr>
              <a:t>'</a:t>
            </a:r>
            <a:r>
              <a:rPr lang="en-US" b="0" i="0" dirty="0" err="1">
                <a:solidFill>
                  <a:srgbClr val="A31515"/>
                </a:solidFill>
                <a:effectLst/>
                <a:latin typeface="SFMono-Regular"/>
              </a:rPr>
              <a:t>en</a:t>
            </a:r>
            <a:r>
              <a:rPr lang="en-US" b="0" i="0" dirty="0">
                <a:solidFill>
                  <a:srgbClr val="A31515"/>
                </a:solidFill>
                <a:effectLst/>
                <a:latin typeface="SFMono-Regular"/>
              </a:rPr>
              <a:t>-US'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) </a:t>
            </a:r>
            <a:r>
              <a:rPr lang="en-US" b="0" i="0" dirty="0">
                <a:solidFill>
                  <a:srgbClr val="0101FD"/>
                </a:solidFill>
                <a:effectLst/>
                <a:latin typeface="SFMono-Regular"/>
              </a:rPr>
              <a:t>AS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r>
              <a:rPr lang="en-US" b="0" i="0" dirty="0">
                <a:solidFill>
                  <a:srgbClr val="A31515"/>
                </a:solidFill>
                <a:effectLst/>
                <a:latin typeface="SFMono-Regular"/>
              </a:rPr>
              <a:t>'Date'</a:t>
            </a:r>
            <a:r>
              <a:rPr lang="en-US" b="0" i="0" dirty="0">
                <a:solidFill>
                  <a:srgbClr val="161616"/>
                </a:solidFill>
                <a:effectLst/>
                <a:latin typeface="SFMono-Regular"/>
              </a:rPr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381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to_datatype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input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numeric_culture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@_culture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tinyint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1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@_answer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@_culture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255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BEGIN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BEGIN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    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@_answer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(),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@_culture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    PRINT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@_culture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': 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@_answer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END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TRY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BEGIN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END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CATCH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SET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@_culture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+=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1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END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7845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to_datatype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input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numeric_culture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32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87F0F87-9FFB-5E0A-0A7C-870688F91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054356"/>
              </p:ext>
            </p:extLst>
          </p:nvPr>
        </p:nvGraphicFramePr>
        <p:xfrm>
          <a:off x="838200" y="2083712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97784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4671750"/>
                    </a:ext>
                  </a:extLst>
                </a:gridCol>
              </a:tblGrid>
              <a:tr h="4245738">
                <a:tc>
                  <a:txBody>
                    <a:bodyPr/>
                    <a:lstStyle/>
                    <a:p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1:  05/12/23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2:  23.05.12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3:  12/05/23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4:  12.05.23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5:  12-05-23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6:  12 May 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7:  May 12, 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8:  13:38:43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9:  May 12 2023  1:38:43:837PM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10:  05-12-23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11:  23/05/12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12:  230512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13:  12 May 2023 13:38:43:837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14:  13:38:43:837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20:  2023-05-12 13:38:43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21:  2023-05-12 13:38:43.837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22:  05/12/23  1:38:43 PM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23:  2023-05-12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24:  13:38:43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25:  2023-05-12 13:38:43.837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26:  2023-12-05 13:38:43.837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27:  05-12-2023 13:38:43.837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28:  05-2023-12 13:38:43.837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29:  12-05-2023 13:38:43.837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30:  12-2023-05 13:38:43.837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31:  2023-12-05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32:  05-12-2023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33:  05-2023-12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34:  12-05-2023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35:  12-2023-05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5072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764722-9B6A-8733-DBBE-51D9D223EAE4}"/>
              </a:ext>
            </a:extLst>
          </p:cNvPr>
          <p:cNvSpPr txBox="1"/>
          <p:nvPr/>
        </p:nvSpPr>
        <p:spPr>
          <a:xfrm>
            <a:off x="838200" y="1684923"/>
            <a:ext cx="657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de-DE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de-DE" sz="1800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de-D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sz="18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(),</a:t>
            </a:r>
            <a:r>
              <a:rPr lang="de-DE" sz="1800" dirty="0">
                <a:solidFill>
                  <a:srgbClr val="000000"/>
                </a:solidFill>
                <a:latin typeface="Consolas" panose="020B0609020204030204" pitchFamily="49" charset="0"/>
              </a:rPr>
              <a:t> @_culture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689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to_datatype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input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numeric_culture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32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87F0F87-9FFB-5E0A-0A7C-870688F91D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5168301"/>
              </p:ext>
            </p:extLst>
          </p:nvPr>
        </p:nvGraphicFramePr>
        <p:xfrm>
          <a:off x="838200" y="2083712"/>
          <a:ext cx="105156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79778405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4671750"/>
                    </a:ext>
                  </a:extLst>
                </a:gridCol>
              </a:tblGrid>
              <a:tr h="4245738"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100:  May 12 2023  1:38PM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101:  05/12/2023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102:  2023.05.12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103:  12/05/2023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104:  12.05.2023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105:  12-05-2023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106:  12 May 2023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107:  May 12, 2023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108:  13:38:43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109:  May 12 2023  1:38:43:837PM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110:  05-12-2023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111:  2023/05/12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112:  20230512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113:  12 May 2023 13:38:43:837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114:  13:38:43:837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115:  133843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120:  2023-05-12 13:38:43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121:  2023-05-12 13:38:43.837</a:t>
                      </a:r>
                    </a:p>
                    <a:p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126:  2023-05-12T13:38:43.837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127:  2023-05-12T13:38:43.837</a:t>
                      </a:r>
                    </a:p>
                    <a:p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130:  22 ???? 1444  1:38:43:837PM</a:t>
                      </a:r>
                    </a:p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131:  22/10/1444  1:38:43:837PM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45072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764722-9B6A-8733-DBBE-51D9D223EAE4}"/>
              </a:ext>
            </a:extLst>
          </p:cNvPr>
          <p:cNvSpPr txBox="1"/>
          <p:nvPr/>
        </p:nvSpPr>
        <p:spPr>
          <a:xfrm>
            <a:off x="838200" y="1684923"/>
            <a:ext cx="6576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800" dirty="0">
                <a:solidFill>
                  <a:srgbClr val="FF00FF"/>
                </a:solidFill>
                <a:latin typeface="Consolas" panose="020B0609020204030204" pitchFamily="49" charset="0"/>
              </a:rPr>
              <a:t>Convert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de-DE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de-DE" sz="1800" dirty="0">
                <a:solidFill>
                  <a:srgbClr val="000000"/>
                </a:solidFill>
                <a:latin typeface="Consolas" panose="020B0609020204030204" pitchFamily="49" charset="0"/>
              </a:rPr>
              <a:t>50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de-DE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de-DE" sz="18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(),</a:t>
            </a:r>
            <a:r>
              <a:rPr lang="de-DE" sz="1800" dirty="0">
                <a:solidFill>
                  <a:srgbClr val="000000"/>
                </a:solidFill>
                <a:latin typeface="Consolas" panose="020B0609020204030204" pitchFamily="49" charset="0"/>
              </a:rPr>
              <a:t> @_culture</a:t>
            </a:r>
            <a:r>
              <a:rPr lang="de-DE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9990529-5377-A146-692C-1F48E3817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830" y="137024"/>
            <a:ext cx="8578949" cy="6583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2D9FE1F-3626-91F2-804F-F5CD0694F7B6}"/>
              </a:ext>
            </a:extLst>
          </p:cNvPr>
          <p:cNvSpPr txBox="1"/>
          <p:nvPr/>
        </p:nvSpPr>
        <p:spPr>
          <a:xfrm>
            <a:off x="9484242" y="1807535"/>
            <a:ext cx="2335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“this twenty-fifth day of June in the year of our Lord, Two thousand nine.”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C8F5AE-F7DF-3838-ED54-35ADD6DF8CA3}"/>
              </a:ext>
            </a:extLst>
          </p:cNvPr>
          <p:cNvCxnSpPr>
            <a:cxnSpLocks/>
          </p:cNvCxnSpPr>
          <p:nvPr/>
        </p:nvCxnSpPr>
        <p:spPr>
          <a:xfrm flipV="1">
            <a:off x="7050505" y="2732567"/>
            <a:ext cx="2433737" cy="224850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0B3AE8F-BA36-0482-F1BE-4157411299E9}"/>
              </a:ext>
            </a:extLst>
          </p:cNvPr>
          <p:cNvSpPr txBox="1"/>
          <p:nvPr/>
        </p:nvSpPr>
        <p:spPr>
          <a:xfrm>
            <a:off x="9484242" y="1819536"/>
            <a:ext cx="23352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</a:t>
            </a:r>
            <a:r>
              <a:rPr lang="en-US" dirty="0">
                <a:latin typeface="Old English Text MT" panose="03040902040508030806" pitchFamily="66" charset="0"/>
              </a:rPr>
              <a:t>this twenty-fifth day of June in the year of our Lord, Two thousand nine</a:t>
            </a:r>
            <a:r>
              <a:rPr lang="en-US" dirty="0"/>
              <a:t>.”</a:t>
            </a:r>
          </a:p>
        </p:txBody>
      </p:sp>
    </p:spTree>
    <p:extLst>
      <p:ext uri="{BB962C8B-B14F-4D97-AF65-F5344CB8AC3E}">
        <p14:creationId xmlns:p14="http://schemas.microsoft.com/office/powerpoint/2010/main" val="289247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B93C08-8E8C-15CC-188D-D75F3B9CA1E9}"/>
              </a:ext>
            </a:extLst>
          </p:cNvPr>
          <p:cNvSpPr txBox="1"/>
          <p:nvPr/>
        </p:nvSpPr>
        <p:spPr>
          <a:xfrm>
            <a:off x="838200" y="1979635"/>
            <a:ext cx="1012530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600" dirty="0" err="1">
                <a:solidFill>
                  <a:srgbClr val="FF00FF"/>
                </a:solidFill>
                <a:latin typeface="Consolas" panose="020B0609020204030204" pitchFamily="49" charset="0"/>
              </a:rPr>
              <a:t>IsNull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		  </a:t>
            </a:r>
            <a:r>
              <a:rPr lang="en-US" sz="3600" dirty="0" err="1">
                <a:solidFill>
                  <a:srgbClr val="FF00FF"/>
                </a:solidFill>
                <a:latin typeface="Consolas" panose="020B0609020204030204" pitchFamily="49" charset="0"/>
              </a:rPr>
              <a:t>IsNull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			  </a:t>
            </a:r>
            <a:r>
              <a:rPr lang="en-US" sz="3600" dirty="0" err="1">
                <a:solidFill>
                  <a:srgbClr val="FF00FF"/>
                </a:solidFill>
                <a:latin typeface="Consolas" panose="020B0609020204030204" pitchFamily="49" charset="0"/>
              </a:rPr>
              <a:t>IsNull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Column1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Column2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		  ,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Column3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	   ,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Column4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36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600" dirty="0">
                <a:solidFill>
                  <a:srgbClr val="808080"/>
                </a:solidFill>
                <a:latin typeface="Consolas" panose="020B0609020204030204" pitchFamily="49" charset="0"/>
              </a:rPr>
              <a:t>...</a:t>
            </a:r>
            <a:endParaRPr lang="en-US" sz="36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A1EB00F-22C0-E541-DFC3-EB72E2289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2. Nested </a:t>
            </a:r>
            <a:r>
              <a:rPr lang="en-US" sz="4400" dirty="0" err="1">
                <a:solidFill>
                  <a:srgbClr val="FF00FF"/>
                </a:solidFill>
                <a:latin typeface="Consolas" panose="020B0609020204030204" pitchFamily="49" charset="0"/>
              </a:rPr>
              <a:t>IsNull</a:t>
            </a:r>
            <a:r>
              <a:rPr lang="en-US" sz="4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dirty="0"/>
              <a:t> functions</a:t>
            </a:r>
          </a:p>
        </p:txBody>
      </p:sp>
    </p:spTree>
    <p:extLst>
      <p:ext uri="{BB962C8B-B14F-4D97-AF65-F5344CB8AC3E}">
        <p14:creationId xmlns:p14="http://schemas.microsoft.com/office/powerpoint/2010/main" val="1060876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00FF"/>
                </a:solidFill>
                <a:latin typeface="Consolas" panose="020B0609020204030204" pitchFamily="49" charset="0"/>
              </a:rPr>
              <a:t>COALESCE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option1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option2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...)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@_nullable1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@_nullable2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@_nullable3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10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'something'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IsNull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en-US" sz="1800" dirty="0" err="1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IsNull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@_nullable1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@_nullable2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@_nullable3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COALESCE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@_nullable1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@_nullable2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@_nullable3</a:t>
            </a: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800" dirty="0">
              <a:solidFill>
                <a:srgbClr val="80808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Must be agreeable datatypes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Put the largest datatype in front</a:t>
            </a: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2397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B93C08-8E8C-15CC-188D-D75F3B9CA1E9}"/>
              </a:ext>
            </a:extLst>
          </p:cNvPr>
          <p:cNvSpPr txBox="1"/>
          <p:nvPr/>
        </p:nvSpPr>
        <p:spPr>
          <a:xfrm>
            <a:off x="838200" y="1690688"/>
            <a:ext cx="10125307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Column-based:</a:t>
            </a:r>
          </a:p>
          <a:p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   SELECT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ColumnName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Value1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808080"/>
                </a:solidFill>
                <a:latin typeface="Consolas" panose="020B0609020204030204" pitchFamily="49" charset="0"/>
              </a:rPr>
              <a:t>...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Value2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808080"/>
                </a:solidFill>
                <a:latin typeface="Consolas" panose="020B0609020204030204" pitchFamily="49" charset="0"/>
              </a:rPr>
              <a:t>...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808080"/>
                </a:solidFill>
                <a:latin typeface="Consolas" panose="020B0609020204030204" pitchFamily="49" charset="0"/>
              </a:rPr>
              <a:t>...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</a:p>
          <a:p>
            <a:endParaRPr lang="en-US" sz="21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latin typeface="Calibri" panose="020F0502020204030204" pitchFamily="34" charset="0"/>
                <a:cs typeface="Calibri" panose="020F0502020204030204" pitchFamily="34" charset="0"/>
              </a:rPr>
              <a:t>Open-Ended:</a:t>
            </a:r>
          </a:p>
          <a:p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   SELECT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ColumnName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808080"/>
                </a:solidFill>
                <a:latin typeface="Consolas" panose="020B0609020204030204" pitchFamily="49" charset="0"/>
              </a:rPr>
              <a:t>IS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808080"/>
                </a:solidFill>
                <a:latin typeface="Consolas" panose="020B0609020204030204" pitchFamily="49" charset="0"/>
              </a:rPr>
              <a:t>NULL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808080"/>
                </a:solidFill>
                <a:latin typeface="Consolas" panose="020B0609020204030204" pitchFamily="49" charset="0"/>
              </a:rPr>
              <a:t>...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Consolas" panose="020B0609020204030204" pitchFamily="49" charset="0"/>
              </a:rPr>
              <a:t>AnotherColumn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= 1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808080"/>
                </a:solidFill>
                <a:latin typeface="Consolas" panose="020B0609020204030204" pitchFamily="49" charset="0"/>
              </a:rPr>
              <a:t>...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>
                <a:solidFill>
                  <a:srgbClr val="808080"/>
                </a:solidFill>
                <a:latin typeface="Consolas" panose="020B0609020204030204" pitchFamily="49" charset="0"/>
              </a:rPr>
              <a:t>...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00"/>
                </a:solidFill>
                <a:latin typeface="Consolas" panose="020B0609020204030204" pitchFamily="49" charset="0"/>
              </a:rPr>
              <a:t>          </a:t>
            </a:r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sz="21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0000FF"/>
                </a:solidFill>
                <a:latin typeface="Consolas" panose="020B0609020204030204" pitchFamily="49" charset="0"/>
              </a:rPr>
              <a:t>   FROM</a:t>
            </a:r>
            <a:endParaRPr lang="en-US" sz="21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6652D0-3968-7AB1-2D38-F3167FC6E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dirty="0"/>
              <a:t> of </a:t>
            </a:r>
            <a:r>
              <a:rPr 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dirty="0"/>
              <a:t>/</a:t>
            </a:r>
            <a:r>
              <a:rPr lang="en-US" sz="44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F648B2C-C2F7-D832-1607-9FDB30B3DA94}"/>
              </a:ext>
            </a:extLst>
          </p:cNvPr>
          <p:cNvGrpSpPr/>
          <p:nvPr/>
        </p:nvGrpSpPr>
        <p:grpSpPr>
          <a:xfrm>
            <a:off x="5125457" y="2273968"/>
            <a:ext cx="5958371" cy="772830"/>
            <a:chOff x="4824663" y="2273968"/>
            <a:chExt cx="5958371" cy="77283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F0F3929-005F-5CE1-A342-684410DEA654}"/>
                </a:ext>
              </a:extLst>
            </p:cNvPr>
            <p:cNvSpPr txBox="1"/>
            <p:nvPr/>
          </p:nvSpPr>
          <p:spPr>
            <a:xfrm>
              <a:off x="6752455" y="2677466"/>
              <a:ext cx="40305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[WHEN</a:t>
              </a:r>
              <a:r>
                <a:rPr lang="en-US" sz="1800" dirty="0">
                  <a:solidFill>
                    <a:srgbClr val="000000"/>
                  </a:solidFill>
                  <a:latin typeface="Consolas" panose="020B0609020204030204" pitchFamily="49" charset="0"/>
                </a:rPr>
                <a:t> NULL </a:t>
              </a:r>
              <a:r>
                <a:rPr lang="en-US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THEN</a:t>
              </a:r>
              <a:r>
                <a:rPr lang="en-US" sz="1800" dirty="0">
                  <a:solidFill>
                    <a:schemeClr val="bg1">
                      <a:lumMod val="65000"/>
                    </a:schemeClr>
                  </a:solidFill>
                  <a:latin typeface="Consolas" panose="020B0609020204030204" pitchFamily="49" charset="0"/>
                </a:rPr>
                <a:t>...</a:t>
              </a:r>
              <a:r>
                <a:rPr lang="en-US" sz="18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] </a:t>
              </a:r>
              <a:r>
                <a:rPr 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not an option</a:t>
              </a:r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DB899D16-5343-5BB0-82DE-E91DC2C5DE2D}"/>
                </a:ext>
              </a:extLst>
            </p:cNvPr>
            <p:cNvCxnSpPr>
              <a:stCxn id="2" idx="1"/>
            </p:cNvCxnSpPr>
            <p:nvPr/>
          </p:nvCxnSpPr>
          <p:spPr>
            <a:xfrm flipH="1" flipV="1">
              <a:off x="4824663" y="2273968"/>
              <a:ext cx="1927792" cy="5881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31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ABS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NumericCol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NumericCol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ELSE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NumericCol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PositiveNumeric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</a:p>
          <a:p>
            <a:pPr marL="0" indent="0"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ABS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NumericCol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PositiveNumeric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,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ABS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NumericCol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NegativeNumeric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</a:p>
          <a:p>
            <a:pPr marL="0" indent="0"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PROC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usp_SubtractDays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@days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smallint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@_days </a:t>
            </a:r>
            <a:r>
              <a:rPr lang="en-US" sz="1800" dirty="0" err="1">
                <a:solidFill>
                  <a:srgbClr val="0000FF"/>
                </a:solidFill>
                <a:latin typeface="Consolas" panose="020B0609020204030204" pitchFamily="49" charset="0"/>
              </a:rPr>
              <a:t>smallint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ABS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@days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854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SIGN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number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NumericCol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0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WHEN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NumericCol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&lt; 0 THEN -1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ELSE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END AS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IsPositive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</a:p>
          <a:p>
            <a:pPr marL="0" indent="0"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SIGN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NumericCol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IsPositive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</a:p>
          <a:p>
            <a:pPr marL="0" indent="0"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WITH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#Data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 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b="1" dirty="0">
                <a:solidFill>
                  <a:srgbClr val="808080"/>
                </a:solidFill>
                <a:latin typeface="Consolas" panose="020B0609020204030204" pitchFamily="49" charset="0"/>
              </a:rPr>
              <a:t>-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4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0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UNION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100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SIGN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[SIGN(Value)]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#Data</a:t>
            </a:r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EF66BC-F100-9D00-624E-F59877241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254" y="4762611"/>
            <a:ext cx="2466893" cy="141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902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FF00FF"/>
                </a:solidFill>
                <a:latin typeface="Consolas" panose="020B0609020204030204" pitchFamily="49" charset="0"/>
              </a:rPr>
              <a:t>IIF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bool_condition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value_if_true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value_else</a:t>
            </a:r>
            <a:r>
              <a:rPr lang="en-US" sz="32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6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BitColumn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,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BitColumn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1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'Yes'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'No'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BitTable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BitColumn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IIF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BitColumn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1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'Yes'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'No'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24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2400" dirty="0" err="1">
                <a:solidFill>
                  <a:srgbClr val="000000"/>
                </a:solidFill>
                <a:latin typeface="Consolas" panose="020B0609020204030204" pitchFamily="49" charset="0"/>
              </a:rPr>
              <a:t>BitTable</a:t>
            </a:r>
            <a:endParaRPr lang="en-US" sz="3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E2C8DF-FC00-50BC-F553-2C63101C1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5724" y="2068512"/>
            <a:ext cx="3814037" cy="1500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6330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CHOOSE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index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list_opt1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...)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074"/>
            <a:ext cx="10515600" cy="46375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Placement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1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'Gold'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WHEN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'Silver'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WHEN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3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'Bronze’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END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...</a:t>
            </a:r>
          </a:p>
          <a:p>
            <a:pPr marL="0" indent="0">
              <a:buNone/>
            </a:pPr>
            <a:endParaRPr lang="en-US" sz="1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CHOOSE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'Gold'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'Silver'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'Bronze'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BitColumn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 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CHOOSE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BitColumn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1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'No'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'Yes'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BitTable</a:t>
            </a:r>
            <a:endParaRPr lang="en-US" sz="18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F49C4B-8C60-A782-8EF9-F4A9B6713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250" y="4787122"/>
            <a:ext cx="2294781" cy="12732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921AF4-9203-30C4-0780-FB1A9391A4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7081" y="3846988"/>
            <a:ext cx="1337117" cy="69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692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00FF"/>
                </a:solidFill>
                <a:latin typeface="Consolas" panose="020B0609020204030204" pitchFamily="49" charset="0"/>
              </a:rPr>
              <a:t>GREATEST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/</a:t>
            </a:r>
            <a:r>
              <a:rPr lang="en-US" sz="4000" dirty="0">
                <a:solidFill>
                  <a:srgbClr val="FF00FF"/>
                </a:solidFill>
                <a:latin typeface="Consolas" panose="020B0609020204030204" pitchFamily="49" charset="0"/>
              </a:rPr>
              <a:t>LEAST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opt1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opt2</a:t>
            </a:r>
            <a:r>
              <a:rPr lang="en-US" sz="4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…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      (SQL 2022)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Column1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Column2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Column1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  ELSE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Column2 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      END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[Greatest]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[Greatest]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GREATEST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GREATEST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Column1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Column2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Column3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[Greatest]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[Greatest]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LEAST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Column1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Column2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Column3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[Least]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[Greatest]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35382E-AC73-4E0C-C6C5-06F817C801CF}"/>
              </a:ext>
            </a:extLst>
          </p:cNvPr>
          <p:cNvSpPr txBox="1"/>
          <p:nvPr/>
        </p:nvSpPr>
        <p:spPr>
          <a:xfrm>
            <a:off x="9344722" y="5992297"/>
            <a:ext cx="2252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(SQL 2022 required)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52D951-AB33-107A-57D4-9A4102E16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7606" y="3324175"/>
            <a:ext cx="1441283" cy="77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852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B93C08-8E8C-15CC-188D-D75F3B9CA1E9}"/>
              </a:ext>
            </a:extLst>
          </p:cNvPr>
          <p:cNvSpPr txBox="1"/>
          <p:nvPr/>
        </p:nvSpPr>
        <p:spPr>
          <a:xfrm>
            <a:off x="838200" y="2136045"/>
            <a:ext cx="1012530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   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     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       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ColumnName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'['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	 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']'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	    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'('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       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')'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6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EB111-9BBD-D4F2-844E-2F6A2501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3. </a:t>
            </a:r>
            <a:r>
              <a:rPr lang="en-US" sz="44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44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4400" i="1" baseline="300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081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input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bad_list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good_list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'[]()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ñé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“”'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@_aftermap  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s-E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10</a:t>
            </a:r>
            <a:r>
              <a:rPr lang="es-E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>
                <a:solidFill>
                  <a:srgbClr val="FF0000"/>
                </a:solidFill>
                <a:latin typeface="Consolas" panose="020B0609020204030204" pitchFamily="49" charset="0"/>
              </a:rPr>
              <a:t>'    </a:t>
            </a:r>
            <a:r>
              <a:rPr lang="es-E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ne</a:t>
            </a:r>
            <a:r>
              <a:rPr lang="es-ES" sz="2000" dirty="0">
                <a:solidFill>
                  <a:srgbClr val="FF0000"/>
                </a:solidFill>
                <a:latin typeface="Consolas" panose="020B0609020204030204" pitchFamily="49" charset="0"/>
              </a:rPr>
              <a:t>""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héllo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()'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@_aftermap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Value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CC5FFF-C9C9-B7A2-0C53-2D7B3DBE3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890" y="4802855"/>
            <a:ext cx="1837742" cy="996366"/>
          </a:xfrm>
          <a:prstGeom prst="rect">
            <a:avLst/>
          </a:prstGeom>
        </p:spPr>
      </p:pic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992DB48F-08FF-0761-B4A7-A2DE5AB22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732334"/>
              </p:ext>
            </p:extLst>
          </p:nvPr>
        </p:nvGraphicFramePr>
        <p:xfrm>
          <a:off x="1263315" y="3429000"/>
          <a:ext cx="671362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4264">
                  <a:extLst>
                    <a:ext uri="{9D8B030D-6E8A-4147-A177-3AD203B41FA5}">
                      <a16:colId xmlns:a16="http://schemas.microsoft.com/office/drawing/2014/main" val="2523046961"/>
                    </a:ext>
                  </a:extLst>
                </a:gridCol>
                <a:gridCol w="601579">
                  <a:extLst>
                    <a:ext uri="{9D8B030D-6E8A-4147-A177-3AD203B41FA5}">
                      <a16:colId xmlns:a16="http://schemas.microsoft.com/office/drawing/2014/main" val="2611898031"/>
                    </a:ext>
                  </a:extLst>
                </a:gridCol>
                <a:gridCol w="649705">
                  <a:extLst>
                    <a:ext uri="{9D8B030D-6E8A-4147-A177-3AD203B41FA5}">
                      <a16:colId xmlns:a16="http://schemas.microsoft.com/office/drawing/2014/main" val="1105414317"/>
                    </a:ext>
                  </a:extLst>
                </a:gridCol>
                <a:gridCol w="673769">
                  <a:extLst>
                    <a:ext uri="{9D8B030D-6E8A-4147-A177-3AD203B41FA5}">
                      <a16:colId xmlns:a16="http://schemas.microsoft.com/office/drawing/2014/main" val="42069502"/>
                    </a:ext>
                  </a:extLst>
                </a:gridCol>
                <a:gridCol w="601579">
                  <a:extLst>
                    <a:ext uri="{9D8B030D-6E8A-4147-A177-3AD203B41FA5}">
                      <a16:colId xmlns:a16="http://schemas.microsoft.com/office/drawing/2014/main" val="32723628"/>
                    </a:ext>
                  </a:extLst>
                </a:gridCol>
                <a:gridCol w="661736">
                  <a:extLst>
                    <a:ext uri="{9D8B030D-6E8A-4147-A177-3AD203B41FA5}">
                      <a16:colId xmlns:a16="http://schemas.microsoft.com/office/drawing/2014/main" val="1993664768"/>
                    </a:ext>
                  </a:extLst>
                </a:gridCol>
                <a:gridCol w="673769">
                  <a:extLst>
                    <a:ext uri="{9D8B030D-6E8A-4147-A177-3AD203B41FA5}">
                      <a16:colId xmlns:a16="http://schemas.microsoft.com/office/drawing/2014/main" val="2180007242"/>
                    </a:ext>
                  </a:extLst>
                </a:gridCol>
                <a:gridCol w="613610">
                  <a:extLst>
                    <a:ext uri="{9D8B030D-6E8A-4147-A177-3AD203B41FA5}">
                      <a16:colId xmlns:a16="http://schemas.microsoft.com/office/drawing/2014/main" val="2879221713"/>
                    </a:ext>
                  </a:extLst>
                </a:gridCol>
                <a:gridCol w="613609">
                  <a:extLst>
                    <a:ext uri="{9D8B030D-6E8A-4147-A177-3AD203B41FA5}">
                      <a16:colId xmlns:a16="http://schemas.microsoft.com/office/drawing/2014/main" val="2166799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Replace these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[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]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(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)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ñ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é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“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”</a:t>
                      </a:r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265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With these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563011"/>
                  </a:ext>
                </a:extLst>
              </a:tr>
            </a:tbl>
          </a:graphicData>
        </a:graphic>
      </p:graphicFrame>
      <p:grpSp>
        <p:nvGrpSpPr>
          <p:cNvPr id="22" name="Group 21">
            <a:extLst>
              <a:ext uri="{FF2B5EF4-FFF2-40B4-BE49-F238E27FC236}">
                <a16:creationId xmlns:a16="http://schemas.microsoft.com/office/drawing/2014/main" id="{832DF65C-48E8-50D6-0DC4-D05A89D1BE5B}"/>
              </a:ext>
            </a:extLst>
          </p:cNvPr>
          <p:cNvGrpSpPr/>
          <p:nvPr/>
        </p:nvGrpSpPr>
        <p:grpSpPr>
          <a:xfrm>
            <a:off x="5020174" y="1597554"/>
            <a:ext cx="2138615" cy="1163945"/>
            <a:chOff x="5020174" y="1597554"/>
            <a:chExt cx="2138615" cy="1163945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527229C-5257-FAB9-BEE9-9D118BCB771F}"/>
                </a:ext>
              </a:extLst>
            </p:cNvPr>
            <p:cNvSpPr txBox="1"/>
            <p:nvPr/>
          </p:nvSpPr>
          <p:spPr>
            <a:xfrm>
              <a:off x="5020174" y="1597554"/>
              <a:ext cx="213861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Lengths must match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BE51778-085A-BBA1-291E-46B6CF6391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90240" y="1966886"/>
              <a:ext cx="170593" cy="391303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6E4EE8D-28C0-3EA1-9F6D-E4F46B493A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75537" y="1966886"/>
              <a:ext cx="304630" cy="794613"/>
            </a:xfrm>
            <a:prstGeom prst="straightConnector1">
              <a:avLst/>
            </a:prstGeom>
            <a:ln w="412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76C2388-9846-E112-BDD8-7026C9E44400}"/>
              </a:ext>
            </a:extLst>
          </p:cNvPr>
          <p:cNvGrpSpPr/>
          <p:nvPr/>
        </p:nvGrpSpPr>
        <p:grpSpPr>
          <a:xfrm>
            <a:off x="5320989" y="4170680"/>
            <a:ext cx="2809374" cy="1628541"/>
            <a:chOff x="5320989" y="4170680"/>
            <a:chExt cx="2809374" cy="1628541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98ECE55-17B6-557F-3937-2063FC1DB40A}"/>
                </a:ext>
              </a:extLst>
            </p:cNvPr>
            <p:cNvSpPr txBox="1"/>
            <p:nvPr/>
          </p:nvSpPr>
          <p:spPr>
            <a:xfrm>
              <a:off x="5320989" y="5429889"/>
              <a:ext cx="28093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Characters may be re-used</a:t>
              </a:r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318B767-025B-8F68-7538-BE8C8FEB1281}"/>
                </a:ext>
              </a:extLst>
            </p:cNvPr>
            <p:cNvCxnSpPr/>
            <p:nvPr/>
          </p:nvCxnSpPr>
          <p:spPr>
            <a:xfrm flipV="1">
              <a:off x="6533147" y="4170680"/>
              <a:ext cx="360948" cy="113035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86E3B7B-D820-A786-D6FB-D0F32D74B868}"/>
                </a:ext>
              </a:extLst>
            </p:cNvPr>
            <p:cNvCxnSpPr/>
            <p:nvPr/>
          </p:nvCxnSpPr>
          <p:spPr>
            <a:xfrm flipV="1">
              <a:off x="7074568" y="4170680"/>
              <a:ext cx="385011" cy="112427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18557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00FF"/>
                </a:solidFill>
                <a:latin typeface="Consolas" panose="020B0609020204030204" pitchFamily="49" charset="0"/>
              </a:rPr>
              <a:t>REPLICATE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stringable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 count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b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</a:br>
            <a:r>
              <a:rPr lang="en-US" sz="4000" dirty="0">
                <a:solidFill>
                  <a:srgbClr val="FF00FF"/>
                </a:solidFill>
                <a:latin typeface="Consolas" panose="020B0609020204030204" pitchFamily="49" charset="0"/>
              </a:rPr>
              <a:t>SPACE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count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REPLICATE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'-!'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20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'['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SPACE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']'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36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REPLICATE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 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20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  ==  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SPACE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20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662144-B1CF-A7DA-83E1-D93A88A91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038" y="2794868"/>
            <a:ext cx="3394821" cy="8586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3DAEE3-541C-AD77-0C25-DFB5D45F7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38" y="4622801"/>
            <a:ext cx="2687053" cy="813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394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5335F-BD36-FF60-9589-F69DED5C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input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bad_list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good_list</a:t>
            </a:r>
            <a:r>
              <a:rPr lang="en-US" sz="4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C4446-111C-602D-98C7-7AFA37DAD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16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CONCAT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2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ABCDEFGabcdefg</a:t>
            </a:r>
            <a:r>
              <a:rPr lang="es-ES" sz="20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s-ES" sz="2000" dirty="0">
                <a:latin typeface="Consolas" panose="020B0609020204030204" pitchFamily="49" charset="0"/>
              </a:rPr>
              <a:t>10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),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s-ES" sz="2000" dirty="0">
                <a:latin typeface="Consolas" panose="020B0609020204030204" pitchFamily="49" charset="0"/>
              </a:rPr>
              <a:t>13</a:t>
            </a:r>
            <a:r>
              <a:rPr lang="es-ES" sz="20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))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@_aftermap  </a:t>
            </a:r>
            <a:r>
              <a:rPr lang="es-ES" sz="2000" dirty="0" err="1">
                <a:solidFill>
                  <a:srgbClr val="0000FF"/>
                </a:solidFill>
                <a:latin typeface="Consolas" panose="020B0609020204030204" pitchFamily="49" charset="0"/>
              </a:rPr>
              <a:t>char</a:t>
            </a:r>
            <a:r>
              <a:rPr lang="es-E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16</a:t>
            </a:r>
            <a:r>
              <a:rPr lang="es-E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s-E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s-ES" sz="2000" dirty="0">
                <a:solidFill>
                  <a:srgbClr val="FF0000"/>
                </a:solidFill>
                <a:latin typeface="Consolas" panose="020B0609020204030204" pitchFamily="49" charset="0"/>
              </a:rPr>
              <a:t>'             '</a:t>
            </a:r>
            <a:endParaRPr lang="es-E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SomeValue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@_aftermap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SomeValue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SPACE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LEN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@_beforemap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)) )</a:t>
            </a:r>
          </a:p>
          <a:p>
            <a:pPr marL="0" indent="0">
              <a:buNone/>
            </a:pPr>
            <a:endParaRPr lang="en-US" sz="20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	 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TRANSLATE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SomeValue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@_beforemap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SPACE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 panose="020B0609020204030204" pitchFamily="49" charset="0"/>
              </a:rPr>
              <a:t>LEN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@_beforemap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	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 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''</a:t>
            </a:r>
            <a:r>
              <a:rPr lang="en-US" sz="20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32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BBE17AE-C0A6-8B93-120F-E6F3200C24AA}"/>
              </a:ext>
            </a:extLst>
          </p:cNvPr>
          <p:cNvGrpSpPr/>
          <p:nvPr/>
        </p:nvGrpSpPr>
        <p:grpSpPr>
          <a:xfrm>
            <a:off x="838200" y="2418348"/>
            <a:ext cx="8161421" cy="830179"/>
            <a:chOff x="838200" y="2406316"/>
            <a:chExt cx="8161421" cy="830179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D7662F7-B067-825B-2480-3D03B6A5B3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200" y="3236495"/>
              <a:ext cx="774031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521B68B3-8F08-86E0-7515-E8F045F020C1}"/>
                </a:ext>
              </a:extLst>
            </p:cNvPr>
            <p:cNvCxnSpPr/>
            <p:nvPr/>
          </p:nvCxnSpPr>
          <p:spPr>
            <a:xfrm>
              <a:off x="838200" y="2406316"/>
              <a:ext cx="8161421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9833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450EC-39C4-D900-F76A-CA4E9884F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 / REPLICATE</a:t>
            </a:r>
          </a:p>
        </p:txBody>
      </p:sp>
    </p:spTree>
    <p:extLst>
      <p:ext uri="{BB962C8B-B14F-4D97-AF65-F5344CB8AC3E}">
        <p14:creationId xmlns:p14="http://schemas.microsoft.com/office/powerpoint/2010/main" val="34134232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9B93C08-8E8C-15CC-188D-D75F3B9CA1E9}"/>
              </a:ext>
            </a:extLst>
          </p:cNvPr>
          <p:cNvSpPr txBox="1"/>
          <p:nvPr/>
        </p:nvSpPr>
        <p:spPr>
          <a:xfrm>
            <a:off x="838200" y="2136045"/>
            <a:ext cx="101253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LTRIM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RTRIM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ColumnName1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LTRIM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RTRIM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ColumnName2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LTRIM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RTRIM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ColumnName3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LTRIM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FF00FF"/>
                </a:solidFill>
                <a:latin typeface="Consolas" panose="020B0609020204030204" pitchFamily="49" charset="0"/>
              </a:rPr>
              <a:t>RTRIM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>
                <a:solidFill>
                  <a:srgbClr val="000000"/>
                </a:solidFill>
                <a:latin typeface="Consolas" panose="020B0609020204030204" pitchFamily="49" charset="0"/>
              </a:rPr>
              <a:t>ColumnName4</a:t>
            </a:r>
            <a:r>
              <a:rPr lang="en-US" sz="2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8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FEB111-9BBD-D4F2-844E-2F6A2501A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LTRIM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RTRIM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())</a:t>
            </a:r>
            <a:r>
              <a:rPr lang="en-US" i="1" baseline="30000" dirty="0">
                <a:solidFill>
                  <a:srgbClr val="808080"/>
                </a:solidFill>
                <a:latin typeface="Consolas" panose="020B0609020204030204" pitchFamily="49" charset="0"/>
              </a:rPr>
              <a:t>n</a:t>
            </a:r>
            <a:endParaRPr lang="en-US" sz="8800" i="1" baseline="30000" dirty="0"/>
          </a:p>
        </p:txBody>
      </p:sp>
    </p:spTree>
    <p:extLst>
      <p:ext uri="{BB962C8B-B14F-4D97-AF65-F5344CB8AC3E}">
        <p14:creationId xmlns:p14="http://schemas.microsoft.com/office/powerpoint/2010/main" val="2188703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63FF7-6405-C0DB-B0F9-32C72ED35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TRIM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)            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(SQL 2016)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10410-0A4F-9287-3247-CDB055A0A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LTRIM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RTRIM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 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mytext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FF00FF"/>
                </a:solidFill>
                <a:latin typeface="Consolas" panose="020B0609020204030204" pitchFamily="49" charset="0"/>
              </a:rPr>
              <a:t>TRIM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 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mytext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  '</a:t>
            </a:r>
            <a:r>
              <a:rPr lang="en-US" sz="24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6001516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63FF7-6405-C0DB-B0F9-32C72ED35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FF"/>
                </a:solidFill>
                <a:latin typeface="Consolas" panose="020B0609020204030204" pitchFamily="49" charset="0"/>
              </a:rPr>
              <a:t>TRIM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)            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(SQL 2022)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10410-0A4F-9287-3247-CDB055A0A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TRIM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   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'.,! 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     #     test    .'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Result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TRIM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BOTH 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'.,! 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     #     test    .'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Result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TRIM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LEADING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'.,! 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     #     test    .'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Result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TRIM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TRAILING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'.,! 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     #     test    .'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Result</a:t>
            </a: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TRIM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LEADING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 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ColumnName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LTRIM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ColumnName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TRIM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TRAILING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 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ColumnName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RTRIM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ColumnName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732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12536</TotalTime>
  <Words>1753</Words>
  <Application>Microsoft Office PowerPoint</Application>
  <PresentationFormat>Widescreen</PresentationFormat>
  <Paragraphs>339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Old English Text MT</vt:lpstr>
      <vt:lpstr>SFMono-Regular</vt:lpstr>
      <vt:lpstr>Office Theme</vt:lpstr>
      <vt:lpstr>1. Overuse of  +  for string concatenation</vt:lpstr>
      <vt:lpstr>CONCAT(stringable, stringable, ...)</vt:lpstr>
      <vt:lpstr>FORMAT(what, how [, locale]) - Numbers</vt:lpstr>
      <vt:lpstr>FORMAT(what, how [, locale]) - Currency</vt:lpstr>
      <vt:lpstr>FORMAT(what, 'Gn') – Scientific Notation</vt:lpstr>
      <vt:lpstr>FORMAT(what, how [, locale]) - Dates</vt:lpstr>
      <vt:lpstr>CONVERT(to_datatype, input, numeric_culture)</vt:lpstr>
      <vt:lpstr>CONVERT(to_datatype, input, numeric_culture)</vt:lpstr>
      <vt:lpstr>CONVERT(to_datatype, input, numeric_culture)</vt:lpstr>
      <vt:lpstr>PowerPoint Presentation</vt:lpstr>
      <vt:lpstr>2. Nested IsNull() functions</vt:lpstr>
      <vt:lpstr>COALESCE(option1, option2...)</vt:lpstr>
      <vt:lpstr>The CASE of WHEN/THEN</vt:lpstr>
      <vt:lpstr>ABS(number)</vt:lpstr>
      <vt:lpstr>SIGN(number)</vt:lpstr>
      <vt:lpstr>IIF(bool_condition, value_if_true, value_else)</vt:lpstr>
      <vt:lpstr>CHOOSE(index, list_opt1...)</vt:lpstr>
      <vt:lpstr>GREATEST/LEAST(opt1, opt2…)      (SQL 2022)</vt:lpstr>
      <vt:lpstr>3. REPLACE()n</vt:lpstr>
      <vt:lpstr>TRANSLATE(input, bad_list, good_list)</vt:lpstr>
      <vt:lpstr>REPLICATE(stringable, count) SPACE(count)</vt:lpstr>
      <vt:lpstr>TRANSLATE(input, bad_list, good_list)</vt:lpstr>
      <vt:lpstr>LEFT / REPLICATE</vt:lpstr>
      <vt:lpstr>LTRIM(RTRIM())n</vt:lpstr>
      <vt:lpstr>TRIM(string)             (SQL 2016)</vt:lpstr>
      <vt:lpstr>TRIM(string)             (SQL 2022)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FORMAT(what, how [, locale]) - Numbers</dc:title>
  <dc:creator>Jeff F</dc:creator>
  <cp:lastModifiedBy>Jeff F</cp:lastModifiedBy>
  <cp:revision>11</cp:revision>
  <dcterms:created xsi:type="dcterms:W3CDTF">2023-03-02T14:56:35Z</dcterms:created>
  <dcterms:modified xsi:type="dcterms:W3CDTF">2023-07-20T00:42:30Z</dcterms:modified>
</cp:coreProperties>
</file>