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316" r:id="rId3"/>
    <p:sldId id="257" r:id="rId4"/>
    <p:sldId id="258" r:id="rId5"/>
    <p:sldId id="315" r:id="rId6"/>
    <p:sldId id="259" r:id="rId7"/>
    <p:sldId id="260" r:id="rId8"/>
    <p:sldId id="322" r:id="rId9"/>
    <p:sldId id="282" r:id="rId10"/>
    <p:sldId id="318" r:id="rId11"/>
    <p:sldId id="319" r:id="rId12"/>
    <p:sldId id="320" r:id="rId13"/>
    <p:sldId id="321" r:id="rId14"/>
    <p:sldId id="277" r:id="rId15"/>
    <p:sldId id="295" r:id="rId16"/>
    <p:sldId id="287" r:id="rId17"/>
    <p:sldId id="288" r:id="rId18"/>
    <p:sldId id="296" r:id="rId19"/>
    <p:sldId id="289" r:id="rId20"/>
    <p:sldId id="278" r:id="rId21"/>
    <p:sldId id="290" r:id="rId22"/>
    <p:sldId id="280" r:id="rId23"/>
    <p:sldId id="301" r:id="rId24"/>
    <p:sldId id="302" r:id="rId25"/>
    <p:sldId id="300" r:id="rId26"/>
    <p:sldId id="297" r:id="rId27"/>
    <p:sldId id="299" r:id="rId28"/>
    <p:sldId id="31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 autoAdjust="0"/>
    <p:restoredTop sz="86370" autoAdjust="0"/>
  </p:normalViewPr>
  <p:slideViewPr>
    <p:cSldViewPr snapToGrid="0">
      <p:cViewPr varScale="1">
        <p:scale>
          <a:sx n="78" d="100"/>
          <a:sy n="78" d="100"/>
        </p:scale>
        <p:origin x="93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with the prevalence of Autocorrect, smart-quotes and diacritics are becoming more commonplace within free-form data.</a:t>
            </a:r>
          </a:p>
          <a:p>
            <a:r>
              <a:rPr lang="en-US" dirty="0"/>
              <a:t>And they’re not forgiving when you search upon them.</a:t>
            </a:r>
          </a:p>
          <a:p>
            <a:r>
              <a:rPr lang="en-US" dirty="0"/>
              <a:t>With the examples I have here, these represent at least 10 REPLACE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similar functions in DB2, Oracle, and PostgreSQL.</a:t>
            </a:r>
          </a:p>
          <a:p>
            <a:endParaRPr lang="en-US" dirty="0"/>
          </a:p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case-sensitive version represents more than 78 REPLACE statements:</a:t>
            </a:r>
          </a:p>
          <a:p>
            <a:r>
              <a:rPr lang="en-US" dirty="0"/>
              <a:t>A replace to transfer lowercase to an emoji character</a:t>
            </a:r>
          </a:p>
          <a:p>
            <a:r>
              <a:rPr lang="en-US" dirty="0"/>
              <a:t>- Nested within a replace to transfer uppercase to lowercase version</a:t>
            </a:r>
          </a:p>
          <a:p>
            <a:r>
              <a:rPr lang="en-US" dirty="0"/>
              <a:t>- Nested within a replace to transfer emoji to upper case version</a:t>
            </a:r>
          </a:p>
          <a:p>
            <a:endParaRPr lang="en-US" dirty="0"/>
          </a:p>
          <a:p>
            <a:r>
              <a:rPr lang="en-US" dirty="0"/>
              <a:t>If you used 52 REPLACE statements to attempt to re-enact this:</a:t>
            </a:r>
          </a:p>
          <a:p>
            <a:r>
              <a:rPr lang="en-US" dirty="0"/>
              <a:t>A replace to transfer lowercase to uppercase</a:t>
            </a:r>
          </a:p>
          <a:p>
            <a:r>
              <a:rPr lang="en-US" dirty="0"/>
              <a:t>- Nested within a replace to transfer uppercase to lowercase</a:t>
            </a:r>
          </a:p>
          <a:p>
            <a:r>
              <a:rPr lang="en-US" dirty="0"/>
              <a:t>Every letter would wind-up lowercase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960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</a:t>
            </a:r>
            <a:r>
              <a:rPr lang="en-US"/>
              <a:t>promoted datatypes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62380748-2FEE-D864-81E8-29094577C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4660900"/>
            <a:ext cx="1574189" cy="1614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2457"/>
            <a:chOff x="3589020" y="1554398"/>
            <a:chExt cx="6469381" cy="15624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61209"/>
              <a:ext cx="742950" cy="105516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1210"/>
              <a:ext cx="651510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61209"/>
              <a:ext cx="588346" cy="105516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61209"/>
              <a:ext cx="668954" cy="1055646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92290" y="2059782"/>
              <a:ext cx="714076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06366" y="2059781"/>
              <a:ext cx="680384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86750" y="2059305"/>
              <a:ext cx="640080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59304"/>
              <a:ext cx="560070" cy="105612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59305"/>
              <a:ext cx="571501" cy="105469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57772F-3EC1-B3DB-B492-14ABFE8C82B5}"/>
              </a:ext>
            </a:extLst>
          </p:cNvPr>
          <p:cNvSpPr txBox="1"/>
          <p:nvPr/>
        </p:nvSpPr>
        <p:spPr>
          <a:xfrm>
            <a:off x="1092895" y="1488828"/>
            <a:ext cx="97045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@_beforemap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'$.,'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@_aftermap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'€,.'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@_amount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'$2,345.34'</a:t>
            </a:r>
          </a:p>
          <a:p>
            <a:endParaRPr lang="en-US" sz="20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@_amount</a:t>
            </a: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@_amount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@_beforemap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@_aftermap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E6594B-04DE-D927-A606-6F7B3419A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23" y="4596070"/>
            <a:ext cx="2739765" cy="773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83E39D-01BE-CFBE-15B0-1252865F7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423" y="3429000"/>
            <a:ext cx="2739765" cy="77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732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MS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E3141-A63E-884B-2AD4-9DD5BDE0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462" y="1562100"/>
            <a:ext cx="5648325" cy="449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53F0D2-EDE0-117B-D759-20EFC0A40B80}"/>
              </a:ext>
            </a:extLst>
          </p:cNvPr>
          <p:cNvSpPr txBox="1"/>
          <p:nvPr/>
        </p:nvSpPr>
        <p:spPr>
          <a:xfrm>
            <a:off x="1216916" y="3121223"/>
            <a:ext cx="3818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SERVERPROPERTY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34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C1E75-96EE-AE71-EB80-364BD32CD2B1}"/>
              </a:ext>
            </a:extLst>
          </p:cNvPr>
          <p:cNvSpPr txBox="1"/>
          <p:nvPr/>
        </p:nvSpPr>
        <p:spPr>
          <a:xfrm>
            <a:off x="1280992" y="3867597"/>
            <a:ext cx="39353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	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sz="14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[name]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sys.databases</a:t>
            </a:r>
            <a:endParaRPr lang="en-US" sz="1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A301E4-7435-5DB7-B34C-9A5230A20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218" y="1841326"/>
            <a:ext cx="5956582" cy="285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748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C365DF-CA11-3A1D-7F7A-AD180571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32" y="2164491"/>
            <a:ext cx="4800600" cy="2657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3BBBC-860B-7462-E006-437B6656733C}"/>
              </a:ext>
            </a:extLst>
          </p:cNvPr>
          <p:cNvSpPr txBox="1"/>
          <p:nvPr/>
        </p:nvSpPr>
        <p:spPr>
          <a:xfrm>
            <a:off x="1335376" y="4637349"/>
            <a:ext cx="6098058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DATA_TYPE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COLLATION_NAME</a:t>
            </a:r>
          </a:p>
          <a:p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CASE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05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 err="1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05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'*'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Not_DB_Collation</a:t>
            </a:r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INFORMATION_SCHEMA.COLUMNS</a:t>
            </a:r>
          </a:p>
          <a:p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05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05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  <a:endParaRPr lang="en-US" sz="105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3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8AFCA-8F9E-FDA2-5AA6-6252AEAA4D13}"/>
              </a:ext>
            </a:extLst>
          </p:cNvPr>
          <p:cNvSpPr txBox="1"/>
          <p:nvPr/>
        </p:nvSpPr>
        <p:spPr>
          <a:xfrm>
            <a:off x="2133598" y="4225969"/>
            <a:ext cx="3617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Query-level – temporarily treat it differently for calculation purposes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31693-F528-5FD2-0B05-D3A2F61A521D}"/>
              </a:ext>
            </a:extLst>
          </p:cNvPr>
          <p:cNvSpPr txBox="1"/>
          <p:nvPr/>
        </p:nvSpPr>
        <p:spPr>
          <a:xfrm>
            <a:off x="6112703" y="4075331"/>
            <a:ext cx="49133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1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Cannot resolve the collation conflict between "SQL_Latin1_General_CP1_CI_AS" and "Latin1_General_CI_AS" in the equal to operation.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5825F3-9331-6164-FD25-0B6153355097}"/>
              </a:ext>
            </a:extLst>
          </p:cNvPr>
          <p:cNvSpPr txBox="1"/>
          <p:nvPr/>
        </p:nvSpPr>
        <p:spPr>
          <a:xfrm>
            <a:off x="6096000" y="2625056"/>
            <a:ext cx="525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AC6CB-BA0C-C066-3766-66035BDA4E15}"/>
              </a:ext>
            </a:extLst>
          </p:cNvPr>
          <p:cNvSpPr txBox="1"/>
          <p:nvPr/>
        </p:nvSpPr>
        <p:spPr>
          <a:xfrm>
            <a:off x="6041720" y="1905506"/>
            <a:ext cx="5366359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COLLATE</a:t>
            </a:r>
          </a:p>
          <a:p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SQL_Latin1_General_CP1_CI_AS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7821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090" y="1655504"/>
            <a:ext cx="9859027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989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789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109835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539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577876"/>
            <a:ext cx="96663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max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 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2000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@_mybigtext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E9F364-41B9-91DC-174E-B6C9FF8B2D3E}"/>
              </a:ext>
            </a:extLst>
          </p:cNvPr>
          <p:cNvGrpSpPr/>
          <p:nvPr/>
        </p:nvGrpSpPr>
        <p:grpSpPr>
          <a:xfrm>
            <a:off x="963522" y="2967563"/>
            <a:ext cx="10359856" cy="3011518"/>
            <a:chOff x="963522" y="2967563"/>
            <a:chExt cx="10359856" cy="301151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43F126A-26CD-C59F-0D9E-03E4B6255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21722" y="2967563"/>
              <a:ext cx="4701656" cy="2811463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F51898-0056-0438-0AA3-4901FFF1029C}"/>
                </a:ext>
              </a:extLst>
            </p:cNvPr>
            <p:cNvSpPr/>
            <p:nvPr/>
          </p:nvSpPr>
          <p:spPr>
            <a:xfrm>
              <a:off x="7557339" y="3993296"/>
              <a:ext cx="3371850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C9B985-240D-9F99-08B7-E36E00DEA90A}"/>
                </a:ext>
              </a:extLst>
            </p:cNvPr>
            <p:cNvSpPr/>
            <p:nvPr/>
          </p:nvSpPr>
          <p:spPr>
            <a:xfrm>
              <a:off x="7529603" y="4686106"/>
              <a:ext cx="351322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578971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759200" y="4559300"/>
              <a:ext cx="3492500" cy="1219726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E6E3BE-ABDD-F27C-C2A5-E77B845CDD87}"/>
                </a:ext>
              </a:extLst>
            </p:cNvPr>
            <p:cNvSpPr/>
            <p:nvPr/>
          </p:nvSpPr>
          <p:spPr>
            <a:xfrm>
              <a:off x="7557338" y="5378916"/>
              <a:ext cx="3766039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can cast the resulting value into a larger datatype,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</a:t>
            </a:r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/jeff-foushee/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27246</TotalTime>
  <Words>1751</Words>
  <Application>Microsoft Office PowerPoint</Application>
  <PresentationFormat>Widescreen</PresentationFormat>
  <Paragraphs>271</Paragraphs>
  <Slides>28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-apple-system</vt:lpstr>
      <vt:lpstr>Arial</vt:lpstr>
      <vt:lpstr>Calibri</vt:lpstr>
      <vt:lpstr>Calibri Light</vt:lpstr>
      <vt:lpstr>Cascadia Mono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Collation (Case-Sensitivity) Hierarchy</vt:lpstr>
      <vt:lpstr>The Collation (Case-Sensitivity) Hierarchy</vt:lpstr>
      <vt:lpstr>The Collation (Case-Sensitivity) Hierarchy</vt:lpstr>
      <vt:lpstr>The Collation (Case-Sensitivity) Hierarchy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26</cp:revision>
  <dcterms:created xsi:type="dcterms:W3CDTF">2023-07-18T22:41:59Z</dcterms:created>
  <dcterms:modified xsi:type="dcterms:W3CDTF">2024-04-13T01:14:40Z</dcterms:modified>
</cp:coreProperties>
</file>