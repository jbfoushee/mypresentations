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316" r:id="rId3"/>
    <p:sldId id="257" r:id="rId4"/>
    <p:sldId id="258" r:id="rId5"/>
    <p:sldId id="283" r:id="rId6"/>
    <p:sldId id="315" r:id="rId7"/>
    <p:sldId id="259" r:id="rId8"/>
    <p:sldId id="260" r:id="rId9"/>
    <p:sldId id="282" r:id="rId10"/>
    <p:sldId id="277" r:id="rId11"/>
    <p:sldId id="295" r:id="rId12"/>
    <p:sldId id="287" r:id="rId13"/>
    <p:sldId id="288" r:id="rId14"/>
    <p:sldId id="296" r:id="rId15"/>
    <p:sldId id="289" r:id="rId16"/>
    <p:sldId id="278" r:id="rId17"/>
    <p:sldId id="290" r:id="rId18"/>
    <p:sldId id="280" r:id="rId19"/>
    <p:sldId id="301" r:id="rId20"/>
    <p:sldId id="302" r:id="rId21"/>
    <p:sldId id="300" r:id="rId22"/>
    <p:sldId id="297" r:id="rId23"/>
    <p:sldId id="299" r:id="rId24"/>
    <p:sldId id="31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84593" autoAdjust="0"/>
  </p:normalViewPr>
  <p:slideViewPr>
    <p:cSldViewPr snapToGrid="0">
      <p:cViewPr varScale="1">
        <p:scale>
          <a:sx n="76" d="100"/>
          <a:sy n="76" d="100"/>
        </p:scale>
        <p:origin x="11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is a very versatile function in TSQL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gets overused.</a:t>
            </a:r>
          </a:p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I go into some SSIS package and don’t get the benefit of fixed-width formatting, so I get this rat’s nest of a statement knowing somewhere in here is a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445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with the prevalence of Autocorrect, smart-quotes and diacritics are becoming more commonplace within free-form data.</a:t>
            </a:r>
          </a:p>
          <a:p>
            <a:r>
              <a:rPr lang="en-US" dirty="0"/>
              <a:t>And they’re not forgiving when you search upon them.</a:t>
            </a:r>
          </a:p>
          <a:p>
            <a:r>
              <a:rPr lang="en-US" dirty="0"/>
              <a:t>With the examples I have here, these represent at least 10 REPLACE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It’s also perfectly fine to re-use characters as source. However, the logic exits out on the first match from left-to-right.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case-sensitive version represents more than 78 REPLACE statements:</a:t>
            </a:r>
          </a:p>
          <a:p>
            <a:r>
              <a:rPr lang="en-US" dirty="0"/>
              <a:t>A replace to transfer lowercase to an emoji character</a:t>
            </a:r>
          </a:p>
          <a:p>
            <a:r>
              <a:rPr lang="en-US" dirty="0"/>
              <a:t>- Nested within a replace to transfer uppercase to lowercase version</a:t>
            </a:r>
          </a:p>
          <a:p>
            <a:r>
              <a:rPr lang="en-US" dirty="0"/>
              <a:t>- Nested within a replace to transfer emoji to upper case version</a:t>
            </a:r>
          </a:p>
          <a:p>
            <a:endParaRPr lang="en-US" dirty="0"/>
          </a:p>
          <a:p>
            <a:r>
              <a:rPr lang="en-US" dirty="0"/>
              <a:t>If you used 52 REPLACE statements to attempt to re-enact this:</a:t>
            </a:r>
          </a:p>
          <a:p>
            <a:r>
              <a:rPr lang="en-US" dirty="0"/>
              <a:t>A replace to transfer lowercase to uppercase</a:t>
            </a:r>
          </a:p>
          <a:p>
            <a:r>
              <a:rPr lang="en-US" dirty="0"/>
              <a:t>- Nested within a replace to transfer uppercase to lowercase</a:t>
            </a:r>
          </a:p>
          <a:p>
            <a:r>
              <a:rPr lang="en-US" dirty="0"/>
              <a:t>Every letter would wind-up lowercase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96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Bonus: Try this exercise again with CHAR(0), the NULL character. What happens?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633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“Translated” turns into a varchar(8000), and truncates beyond the 8000-character 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0" y="2967335"/>
            <a:ext cx="55634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 alternative to nested-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2088358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have to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28E7AE-EB38-9B1C-ABDD-912D6602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4" y="3048421"/>
            <a:ext cx="3132723" cy="8692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257DC0-E182-BE6A-F00D-9AFF85521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3" y="4912043"/>
            <a:ext cx="3202061" cy="91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SELECT REPLACE(REPLACE(REPLACE(REPLACE(</a:t>
            </a:r>
            <a:r>
              <a:rPr lang="en-US" sz="2800" dirty="0" err="1"/>
              <a:t>ColumnName</a:t>
            </a:r>
            <a:r>
              <a:rPr lang="en-US" sz="2800" dirty="0"/>
              <a:t>, '[', ''), ']', ''), '(', ''), ')', '')</a:t>
            </a:r>
          </a:p>
          <a:p>
            <a:r>
              <a:rPr lang="en-US" sz="2800" dirty="0"/>
              <a:t>FROM ...</a:t>
            </a:r>
            <a:endParaRPr lang="en-US" sz="6000" dirty="0"/>
          </a:p>
        </p:txBody>
      </p:sp>
      <p:pic>
        <p:nvPicPr>
          <p:cNvPr id="1026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53842593-F887-410E-5AE8-1A45AA75A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3669030"/>
            <a:ext cx="2541492" cy="2606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05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24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24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0076"/>
            <a:chOff x="3589020" y="1554398"/>
            <a:chExt cx="6469381" cy="156007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57400"/>
              <a:ext cx="742950" cy="105707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883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53590"/>
              <a:ext cx="588346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53590"/>
              <a:ext cx="651510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74846" y="2053590"/>
              <a:ext cx="760394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3524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7532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61210"/>
              <a:ext cx="56007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68830"/>
              <a:ext cx="571501" cy="104183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3285826" cy="1592397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79838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F7641-FEE5-2DF0-4ACD-B1E9978FD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14" y="4267200"/>
            <a:ext cx="3126468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7344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523513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594661"/>
            <a:ext cx="4251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as targets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MS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50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02FA-F060-9FC7-0047-7D24AD78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561" y="3429000"/>
            <a:ext cx="2232025" cy="1057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417494-9E8B-E8A0-1EDB-0B48BBBA8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5361" y="4903657"/>
            <a:ext cx="2322229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EAAA29-BE03-136B-952B-BAA96411D324}"/>
              </a:ext>
            </a:extLst>
          </p:cNvPr>
          <p:cNvSpPr txBox="1"/>
          <p:nvPr/>
        </p:nvSpPr>
        <p:spPr>
          <a:xfrm>
            <a:off x="10385407" y="4022366"/>
            <a:ext cx="139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(Mixed-case)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37E974-D5CA-3F70-BDC6-574ADFF9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24" y="1141412"/>
            <a:ext cx="10295831" cy="401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5EFDD0-7025-6182-DC7F-F036D52F0F66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540982-242D-BFE5-C796-46FA0E3335F3}"/>
                </a:ext>
              </a:extLst>
            </p:cNvPr>
            <p:cNvSpPr/>
            <p:nvPr/>
          </p:nvSpPr>
          <p:spPr>
            <a:xfrm>
              <a:off x="3860800" y="4497855"/>
              <a:ext cx="1460500" cy="4499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79EF7B-E04F-2981-B1D2-0E7837A4F849}"/>
              </a:ext>
            </a:extLst>
          </p:cNvPr>
          <p:cNvGrpSpPr/>
          <p:nvPr/>
        </p:nvGrpSpPr>
        <p:grpSpPr>
          <a:xfrm>
            <a:off x="8933043" y="1257276"/>
            <a:ext cx="2247900" cy="2171724"/>
            <a:chOff x="8933043" y="1257276"/>
            <a:chExt cx="2247900" cy="2171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D2B1B6B-ABDB-C155-E617-8503CAAC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043" y="1257276"/>
              <a:ext cx="2247900" cy="1762125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4AD0C74-E43E-5D75-FAD8-739E01DB3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58450" y="2846070"/>
              <a:ext cx="160020" cy="582930"/>
            </a:xfrm>
            <a:prstGeom prst="straightConnector1">
              <a:avLst/>
            </a:prstGeom>
            <a:ln w="41275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611481-75A9-1696-088D-9C683713C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7" y="1558280"/>
            <a:ext cx="7649286" cy="268352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7106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CA3F68A-CC00-CE9B-E92A-6F48FB113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0" y="991239"/>
            <a:ext cx="3380942" cy="195738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C8F22E0E-5243-6436-9E54-101DB9722829}"/>
              </a:ext>
            </a:extLst>
          </p:cNvPr>
          <p:cNvGrpSpPr/>
          <p:nvPr/>
        </p:nvGrpSpPr>
        <p:grpSpPr>
          <a:xfrm>
            <a:off x="963522" y="3122681"/>
            <a:ext cx="10264956" cy="2357498"/>
            <a:chOff x="963522" y="3122681"/>
            <a:chExt cx="10264956" cy="235749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6075168-B32E-BBBB-C3A2-9BC376CD9D8B}"/>
                </a:ext>
              </a:extLst>
            </p:cNvPr>
            <p:cNvGrpSpPr/>
            <p:nvPr/>
          </p:nvGrpSpPr>
          <p:grpSpPr>
            <a:xfrm>
              <a:off x="7049190" y="3122681"/>
              <a:ext cx="4179288" cy="2009389"/>
              <a:chOff x="7049190" y="3122681"/>
              <a:chExt cx="4179288" cy="2009389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314EA51-99A6-2CD6-93A6-4DE2E61094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9190" y="3122681"/>
                <a:ext cx="4179288" cy="1957388"/>
              </a:xfrm>
              <a:prstGeom prst="rect">
                <a:avLst/>
              </a:prstGeom>
            </p:spPr>
          </p:pic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9F51898-0056-0438-0AA3-4901FFF1029C}"/>
                  </a:ext>
                </a:extLst>
              </p:cNvPr>
              <p:cNvSpPr/>
              <p:nvPr/>
            </p:nvSpPr>
            <p:spPr>
              <a:xfrm>
                <a:off x="7715250" y="4080510"/>
                <a:ext cx="3371850" cy="400110"/>
              </a:xfrm>
              <a:prstGeom prst="rect">
                <a:avLst/>
              </a:prstGeom>
              <a:noFill/>
              <a:ln w="508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C9B985-240D-9F99-08B7-E36E00DEA90A}"/>
                  </a:ext>
                </a:extLst>
              </p:cNvPr>
              <p:cNvSpPr/>
              <p:nvPr/>
            </p:nvSpPr>
            <p:spPr>
              <a:xfrm>
                <a:off x="7715250" y="4731960"/>
                <a:ext cx="3513228" cy="400110"/>
              </a:xfrm>
              <a:prstGeom prst="rect">
                <a:avLst/>
              </a:prstGeom>
              <a:noFill/>
              <a:ln w="508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294FEE9-A18D-5A96-7A35-38B84934B539}"/>
                </a:ext>
              </a:extLst>
            </p:cNvPr>
            <p:cNvSpPr/>
            <p:nvPr/>
          </p:nvSpPr>
          <p:spPr>
            <a:xfrm>
              <a:off x="963522" y="5080069"/>
              <a:ext cx="279567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84BE5CA-8AC8-2284-695D-F850372CA2F9}"/>
                </a:ext>
              </a:extLst>
            </p:cNvPr>
            <p:cNvCxnSpPr>
              <a:stCxn id="3" idx="3"/>
            </p:cNvCxnSpPr>
            <p:nvPr/>
          </p:nvCxnSpPr>
          <p:spPr>
            <a:xfrm flipV="1">
              <a:off x="3759200" y="4731960"/>
              <a:ext cx="3556000" cy="548164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85EC1A-558F-757C-350B-E03BB2206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720" y="3964326"/>
            <a:ext cx="3784580" cy="18242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 - Fixed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574D58-D8CE-5C43-7AF1-0E78ECF85E02}"/>
              </a:ext>
            </a:extLst>
          </p:cNvPr>
          <p:cNvSpPr/>
          <p:nvPr/>
        </p:nvSpPr>
        <p:spPr>
          <a:xfrm>
            <a:off x="8394700" y="4863737"/>
            <a:ext cx="22733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2474D6-8C29-4D2D-7490-08AE10C8CCC3}"/>
              </a:ext>
            </a:extLst>
          </p:cNvPr>
          <p:cNvSpPr/>
          <p:nvPr/>
        </p:nvSpPr>
        <p:spPr>
          <a:xfrm>
            <a:off x="8420100" y="5460637"/>
            <a:ext cx="29972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used for “one-for-one” character-for-character replacement.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inherently case-insensitive unless forced otherwise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fails at character removal. Use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for those cases.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casts the resulting value into a varchar(8000), potentially </a:t>
            </a:r>
          </a:p>
          <a:p>
            <a:r>
              <a:rPr lang="en-US" sz="2400" dirty="0"/>
              <a:t>      slowing down ETL.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26686</TotalTime>
  <Words>1402</Words>
  <Application>Microsoft Office PowerPoint</Application>
  <PresentationFormat>Widescreen</PresentationFormat>
  <Paragraphs>216</Paragraphs>
  <Slides>24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Consolas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Putting it all together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17</cp:revision>
  <dcterms:created xsi:type="dcterms:W3CDTF">2023-07-18T22:41:59Z</dcterms:created>
  <dcterms:modified xsi:type="dcterms:W3CDTF">2024-01-25T22:58:05Z</dcterms:modified>
</cp:coreProperties>
</file>