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1"/>
  </p:notesMasterIdLst>
  <p:sldIdLst>
    <p:sldId id="263" r:id="rId2"/>
    <p:sldId id="350" r:id="rId3"/>
    <p:sldId id="351" r:id="rId4"/>
    <p:sldId id="347" r:id="rId5"/>
    <p:sldId id="348" r:id="rId6"/>
    <p:sldId id="328" r:id="rId7"/>
    <p:sldId id="346" r:id="rId8"/>
    <p:sldId id="349" r:id="rId9"/>
    <p:sldId id="303" r:id="rId10"/>
    <p:sldId id="264" r:id="rId11"/>
    <p:sldId id="265" r:id="rId12"/>
    <p:sldId id="257" r:id="rId13"/>
    <p:sldId id="258" r:id="rId14"/>
    <p:sldId id="359" r:id="rId15"/>
    <p:sldId id="304" r:id="rId16"/>
    <p:sldId id="273" r:id="rId17"/>
    <p:sldId id="335" r:id="rId18"/>
    <p:sldId id="278" r:id="rId19"/>
    <p:sldId id="279" r:id="rId20"/>
    <p:sldId id="327" r:id="rId21"/>
    <p:sldId id="322" r:id="rId22"/>
    <p:sldId id="280" r:id="rId23"/>
    <p:sldId id="283" r:id="rId24"/>
    <p:sldId id="284" r:id="rId25"/>
    <p:sldId id="285" r:id="rId26"/>
    <p:sldId id="286" r:id="rId27"/>
    <p:sldId id="287" r:id="rId28"/>
    <p:sldId id="299" r:id="rId29"/>
    <p:sldId id="295" r:id="rId30"/>
    <p:sldId id="282" r:id="rId31"/>
    <p:sldId id="266" r:id="rId32"/>
    <p:sldId id="288" r:id="rId33"/>
    <p:sldId id="256" r:id="rId34"/>
    <p:sldId id="321" r:id="rId35"/>
    <p:sldId id="262" r:id="rId36"/>
    <p:sldId id="324" r:id="rId37"/>
    <p:sldId id="323" r:id="rId38"/>
    <p:sldId id="298" r:id="rId39"/>
    <p:sldId id="259" r:id="rId40"/>
    <p:sldId id="260" r:id="rId41"/>
    <p:sldId id="325" r:id="rId42"/>
    <p:sldId id="292" r:id="rId43"/>
    <p:sldId id="267" r:id="rId44"/>
    <p:sldId id="269" r:id="rId45"/>
    <p:sldId id="274" r:id="rId46"/>
    <p:sldId id="275" r:id="rId47"/>
    <p:sldId id="326" r:id="rId48"/>
    <p:sldId id="291" r:id="rId49"/>
    <p:sldId id="290" r:id="rId50"/>
    <p:sldId id="276" r:id="rId51"/>
    <p:sldId id="277" r:id="rId52"/>
    <p:sldId id="289" r:id="rId53"/>
    <p:sldId id="293" r:id="rId54"/>
    <p:sldId id="300" r:id="rId55"/>
    <p:sldId id="270" r:id="rId56"/>
    <p:sldId id="271" r:id="rId57"/>
    <p:sldId id="272" r:id="rId58"/>
    <p:sldId id="301" r:id="rId59"/>
    <p:sldId id="317" r:id="rId60"/>
    <p:sldId id="316" r:id="rId61"/>
    <p:sldId id="315" r:id="rId62"/>
    <p:sldId id="318" r:id="rId63"/>
    <p:sldId id="319" r:id="rId64"/>
    <p:sldId id="302" r:id="rId65"/>
    <p:sldId id="320" r:id="rId66"/>
    <p:sldId id="268" r:id="rId67"/>
    <p:sldId id="336" r:id="rId68"/>
    <p:sldId id="311" r:id="rId69"/>
    <p:sldId id="355" r:id="rId70"/>
    <p:sldId id="342" r:id="rId71"/>
    <p:sldId id="345" r:id="rId72"/>
    <p:sldId id="296" r:id="rId73"/>
    <p:sldId id="297" r:id="rId74"/>
    <p:sldId id="360" r:id="rId75"/>
    <p:sldId id="361" r:id="rId76"/>
    <p:sldId id="362" r:id="rId77"/>
    <p:sldId id="305" r:id="rId78"/>
    <p:sldId id="306" r:id="rId79"/>
    <p:sldId id="307" r:id="rId80"/>
    <p:sldId id="308" r:id="rId81"/>
    <p:sldId id="343" r:id="rId82"/>
    <p:sldId id="309" r:id="rId83"/>
    <p:sldId id="341" r:id="rId84"/>
    <p:sldId id="310" r:id="rId85"/>
    <p:sldId id="330" r:id="rId86"/>
    <p:sldId id="331" r:id="rId87"/>
    <p:sldId id="353" r:id="rId88"/>
    <p:sldId id="354" r:id="rId89"/>
    <p:sldId id="356" r:id="rId90"/>
    <p:sldId id="332" r:id="rId91"/>
    <p:sldId id="334" r:id="rId92"/>
    <p:sldId id="313" r:id="rId93"/>
    <p:sldId id="314" r:id="rId94"/>
    <p:sldId id="357" r:id="rId95"/>
    <p:sldId id="338" r:id="rId96"/>
    <p:sldId id="339" r:id="rId97"/>
    <p:sldId id="358" r:id="rId98"/>
    <p:sldId id="340" r:id="rId99"/>
    <p:sldId id="337" r:id="rId10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703" autoAdjust="0"/>
    <p:restoredTop sz="86815" autoAdjust="0"/>
  </p:normalViewPr>
  <p:slideViewPr>
    <p:cSldViewPr snapToGrid="0">
      <p:cViewPr varScale="1">
        <p:scale>
          <a:sx n="78" d="100"/>
          <a:sy n="78" d="100"/>
        </p:scale>
        <p:origin x="10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87" Type="http://schemas.openxmlformats.org/officeDocument/2006/relationships/slide" Target="slides/slide86.xml"/><Relationship Id="rId102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103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0C881A-D32E-42E8-9070-7EB713AA357F}" type="datetimeFigureOut">
              <a:rPr lang="en-US" smtClean="0"/>
              <a:t>4/5/2024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6B6EA1-B038-4F2A-86A0-5554CC981C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8545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My manager tells me to work with Jason, an outsider, who has an import for me. </a:t>
            </a:r>
          </a:p>
          <a:p>
            <a:r>
              <a:rPr lang="en-US" dirty="0"/>
              <a:t>I ask him for details about the import and immediately start a rough-draft of normalization in my head while he explains the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243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way he describes it is odd, but I have an idea how the data should be arranged. </a:t>
            </a:r>
          </a:p>
          <a:p>
            <a:r>
              <a:rPr lang="en-US" dirty="0"/>
              <a:t>Nonetheless, I ask him to send the import so I can review the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06009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is this…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2570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 it comes to pulling JSON data in SSMS, you’re not going to be happy.</a:t>
            </a:r>
          </a:p>
          <a:p>
            <a:r>
              <a:rPr lang="en-US" dirty="0"/>
              <a:t>On the one side, you want to see all the data. </a:t>
            </a:r>
          </a:p>
          <a:p>
            <a:r>
              <a:rPr lang="en-US" dirty="0"/>
              <a:t>On the other side, you cannot conceptualize all the data on one line anyway.</a:t>
            </a:r>
          </a:p>
          <a:p>
            <a:r>
              <a:rPr lang="en-US" dirty="0"/>
              <a:t>Then you have a limit how many characters you can see.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38237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can copy this data from SSMS, and paste into Notepad.</a:t>
            </a:r>
          </a:p>
          <a:p>
            <a:r>
              <a:rPr lang="en-US" dirty="0"/>
              <a:t>But depending how it was stored, I’m not in control if I want to scroll left-to-right across I-64, or up-and-down across I-65.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56232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Notepad++ is a free tool that has a JSON plug-in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538167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 allows you to “pretty-print” or indent your JSON, and the option is compress or minify your 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0562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JSON tree viewer helps you navigate the indentation of the document object model, locating values and reciting the address in JSON notation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7156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want to store JSON in SQL Server. Do I use varchar or </a:t>
            </a:r>
            <a:r>
              <a:rPr lang="en-US" dirty="0" err="1"/>
              <a:t>nvarchar</a:t>
            </a:r>
            <a:r>
              <a:rPr lang="en-US" dirty="0"/>
              <a:t>?</a:t>
            </a:r>
          </a:p>
          <a:p>
            <a:r>
              <a:rPr lang="en-US" dirty="0"/>
              <a:t>If your characters cannot be represented by the ones in red, you need </a:t>
            </a:r>
            <a:r>
              <a:rPr lang="en-US" dirty="0" err="1"/>
              <a:t>nvarchar</a:t>
            </a:r>
            <a:r>
              <a:rPr lang="en-US" dirty="0"/>
              <a:t>.</a:t>
            </a:r>
          </a:p>
          <a:p>
            <a:r>
              <a:rPr lang="en-US" dirty="0"/>
              <a:t>Notice the selection of a variety of foreign accented letters, and grammar-corrected punctuation.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95395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you choose incorrectly, you could face issues of character demotion, substitution, or loss.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7567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Let’s look at some rules of JSON formatting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08633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Whatever character starts must have a finishing character. Since these are curly braces, there is only one entry.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348955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outside brackets are boxed, meaning that this is an array. </a:t>
            </a:r>
          </a:p>
          <a:p>
            <a:r>
              <a:rPr lang="en-US" dirty="0"/>
              <a:t>APIs may return all JSON </a:t>
            </a:r>
            <a:r>
              <a:rPr lang="en-US" dirty="0" err="1"/>
              <a:t>resultsets</a:t>
            </a:r>
            <a:r>
              <a:rPr lang="en-US" dirty="0"/>
              <a:t> as an array even if one item was requested.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172219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Furthermore, the array may start with a property name, even something as trivial as “data” or “response”.</a:t>
            </a:r>
          </a:p>
          <a:p>
            <a:r>
              <a:rPr lang="en-US" dirty="0"/>
              <a:t>Notice this pushes all the data down one level lower by indention.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19238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51293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 are enough rules that you could make a game show out of it, but thankfully we can let SQL Server do the heavy thinking for 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185094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smallest JSON you can make is 2 characters: curly brackets or square brackets.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81438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testing various values, some JSON formatting rules have appeared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213259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SQL Server 2022 has improved ISJSON with a second parameter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66178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Things to note: </a:t>
            </a:r>
          </a:p>
          <a:p>
            <a:pPr marL="171450" indent="-171450">
              <a:buFontTx/>
              <a:buChar char="-"/>
            </a:pPr>
            <a:r>
              <a:rPr lang="en-US" dirty="0"/>
              <a:t>TSQL NULL is not JSON</a:t>
            </a:r>
          </a:p>
          <a:p>
            <a:pPr marL="171450" indent="-171450">
              <a:buFontTx/>
              <a:buChar char="-"/>
            </a:pPr>
            <a:r>
              <a:rPr lang="en-US" dirty="0"/>
              <a:t>Text needs to be in quotes</a:t>
            </a:r>
          </a:p>
          <a:p>
            <a:pPr marL="171450" indent="-171450">
              <a:buFontTx/>
              <a:buChar char="-"/>
            </a:pPr>
            <a:r>
              <a:rPr lang="en-US" dirty="0"/>
              <a:t>The default for ISJSON is an XOR of OBJECT|ARRAY</a:t>
            </a:r>
          </a:p>
          <a:p>
            <a:pPr marL="171450" indent="-171450">
              <a:buFontTx/>
              <a:buChar char="-"/>
            </a:pPr>
            <a:r>
              <a:rPr lang="en-US" dirty="0"/>
              <a:t>JSON null is lowercase, without quotes, and is not a scalar 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098568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can add a column-level constraint to a table, where the text must agree to the ISJSON function before it can settle in the table data.</a:t>
            </a:r>
          </a:p>
          <a:p>
            <a:r>
              <a:rPr lang="en-US" dirty="0"/>
              <a:t>However, if you add data in a batch, all the rows’ values for that column must agree or they all get rejected as a unit-of-work.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50711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that the SQL engine is smart enough to know that there is no extra positions of parents beyond 0 and 1,</a:t>
            </a:r>
          </a:p>
          <a:p>
            <a:r>
              <a:rPr lang="en-US" dirty="0"/>
              <a:t>And that a hyphenated property name is enclosed with double-quotes.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797390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“$” doesn’t even exist, you have bad 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150950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However, I’d probably use ISJSON to test for valid JSON, and JSON_PATH_EXISTS for optional properties such as “feature-flag”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34443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 is quite unfortunate that these two functions would never intersect, but determine whether you get results or not.</a:t>
            </a:r>
          </a:p>
          <a:p>
            <a:r>
              <a:rPr lang="en-US" dirty="0"/>
              <a:t>Even I will mix them up so don’t get frustrated.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377351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root ($) moves perspective as you navigate with JSON_QUERY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343131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can prefix the $ with keywords lax and strict.</a:t>
            </a:r>
          </a:p>
          <a:p>
            <a:r>
              <a:rPr lang="en-US" dirty="0"/>
              <a:t>Lax (default) prevents errors and results with NULL when no value is found.</a:t>
            </a:r>
          </a:p>
          <a:p>
            <a:r>
              <a:rPr lang="en-US" dirty="0"/>
              <a:t>Strict throws errors only when no value is found.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121051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326829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can take away from the CROSS JOIN that “for each” row in Table1, we get rows of Table2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79966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Also known as a “lateral join”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99497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While the top query is syntactically correct, force yourself to write in the style of the bottom query.</a:t>
            </a:r>
          </a:p>
          <a:p>
            <a:r>
              <a:rPr lang="en-US" dirty="0"/>
              <a:t>The CROSS APPLY should form a reliance on the source above.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90925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could not write this query without CROSS APPLY reliance.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600006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JSON_OBJECT can be nested, can be combined with JSON_ARRAY which we will discuss soon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649237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JSON_ARRAY can be nested, can be combined with JSON_OBJECT.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Notice the defaults of ABSENT ON NULL and NULL ON NULL switch between the two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590745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JSON_ARRAY sounds like CONCAT, but a lot less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481461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Earlier we talked about how many characters to show in the Query Results pane. It said “Non-XML data”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9701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But here, this is considered “XML data.” </a:t>
            </a:r>
          </a:p>
          <a:p>
            <a:r>
              <a:rPr lang="en-US" dirty="0"/>
              <a:t>2MB is roughly </a:t>
            </a:r>
            <a:r>
              <a:rPr lang="en-US" b="0" i="0" dirty="0">
                <a:solidFill>
                  <a:srgbClr val="111111"/>
                </a:solidFill>
                <a:effectLst/>
                <a:highlight>
                  <a:srgbClr val="FFFFFF"/>
                </a:highlight>
                <a:latin typeface="-apple-system"/>
              </a:rPr>
              <a:t>2097152 characters, so don’t go overboard. SSMS aims to please at the expense of your 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46844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can get around the limit of 65K characters by re-casting the JSON as AUTO JSON to view in an XML window.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069370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Since Parents are a one-to-many relationship, I will build a one-to-many relationship table.</a:t>
            </a:r>
          </a:p>
          <a:p>
            <a:r>
              <a:rPr lang="en-US" dirty="0"/>
              <a:t>I will then build a trigger to monitor the incoming JSON and rebuild this </a:t>
            </a:r>
            <a:r>
              <a:rPr lang="en-US" dirty="0" err="1"/>
              <a:t>Persons_x_Parents</a:t>
            </a:r>
            <a:r>
              <a:rPr lang="en-US" dirty="0"/>
              <a:t> table data for the affected 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4544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4EC4A-B344-177E-CC0F-717252058E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2BB4024-58B8-9BC6-C2C4-E9C54B14BC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9C38E6-A0DA-9688-EB50-1DC647FF02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4/5/2024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DBF55A-110F-FF25-534F-F063740636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01A57F-1E45-9D38-A20B-E60067BD8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16634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5A4A3-8B10-1820-0106-8BF5D8839A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68A35C-1E1D-1C22-1F0B-8F88F44DE8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F82D6-3EF8-28BF-2AD6-9050AE801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4/5/2024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DC5F3-06C6-DB44-F891-39D658F8C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EDC52E-32A0-FB45-7307-7028FC4CB2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3454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8A072-6728-C613-6033-FB4947C69F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2DC38D-988B-A127-F769-3AE21D0CEC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267F9E-1AE5-454A-4A86-E3420EF737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4/5/2024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A1201B-D8FF-8187-4FFD-6D4AD973E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90856F-3824-A9C6-2F6A-78A2EDFC8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54264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23E20D-4651-F3EE-0A25-C281FCAFB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05FBE7-4C7C-B9EE-6185-72336952A3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1AF380-5DB2-71C2-DA4F-66A6218DCA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A78C2E-26CC-DA3D-F3EF-C5BD2BE1D2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4/5/2024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77F571-7E9B-2E29-AE8E-414906A9B7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BB1F2E-A479-9AFC-96DF-FBD26094B1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2872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E4196-BAF8-6485-4498-3877345888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4FE994-3765-BC47-8265-CEA8F6055E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2C7D38-6CD7-8ED4-B038-3E2C030EFA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256361-2E03-B2E3-D5D3-30B24335CF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6AEFC40-DE09-F4B2-21C3-01D818FE79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FE965F-3995-03F1-C065-D9004E87A0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4/5/2024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29C6EE2-3777-C129-37E2-88BBF63484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D3C1FC7-8BF4-F1E5-E954-AF558EF63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9094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EF2E29-0571-040E-5983-62230B53D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D0DDE7-C51C-580C-911E-FC2756547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4/5/2024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51CDDA-4D46-4496-2E59-EC80ABA25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97D504-0FA4-487E-A556-1399760D7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6700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3612729-688D-3CD1-5893-1D4EC72260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4/5/2024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B70233-7D41-DA8F-A8EB-CF56B75995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37AAA9-E287-490B-08A6-E7137954A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31162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C1230E-E491-894F-4E99-0FF09AEDA3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63BFB9-0CA8-8C7E-64FC-C4D25B4A74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2F32E1-2E6E-5729-CE34-2933CBF608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4C136C-ABF5-5313-2E64-AD7125B664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4/5/2024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883D6B-B489-DF3D-C33C-F61F64C04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954372-D4DC-B102-8825-E719788DAE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0135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E0B1B-D61C-39F8-F2BE-022F8A5F04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036128C-D559-89C5-9304-300E4BD18DF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96BEBD-DE7E-0A5A-C361-876EC06C9A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7449A7-DE39-4323-4F3B-79D5BF48C3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4/5/2024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DFACA8-9144-A263-F50A-B3788A125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C63EDD-7299-9462-8CFD-F1F0D2361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71718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34708-7E9B-A1B8-D203-F864C0E37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E5E9B5F-F6C7-D532-024F-C087874B31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3A7CB0-AACC-72A1-6164-0F9AFB570A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4/5/2024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534C05-05CC-148F-9549-AE59E7EB0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937AEB-0CBB-C9FD-4D34-ACBFFD5FE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6281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A11D8B1-35E5-FE9E-14BB-B63977163D2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F99F59-8FFB-27A4-537F-1FB44AA768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7721C5-FCE8-8496-07D7-200C84A8F1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4/5/2024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0FBC29-C3A0-3AE4-10F2-8B812A2BD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296BF5-DFF7-46B6-815F-4BEC388300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03552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8B1CEBB-A314-72EB-4E82-E664E935E8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49815-D47F-8E8B-4DCE-6CF8B83242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C77C57-7585-6B1F-3866-BBE4706F8B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3727D6-2A34-4C60-8A36-E80BB1BFD15E}" type="datetimeFigureOut">
              <a:rPr lang="en-US" smtClean="0"/>
              <a:t>4/5/2024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674E81-6DEA-4A24-C969-5237F84FFD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040C6-0A46-D0FE-0D61-ABED4EBEE9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93269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jpe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8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8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3.png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9.png"/><Relationship Id="rId4" Type="http://schemas.openxmlformats.org/officeDocument/2006/relationships/image" Target="../media/image67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9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9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9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6.png"/><Relationship Id="rId4" Type="http://schemas.openxmlformats.org/officeDocument/2006/relationships/image" Target="../media/image85.png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9.png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1.png"/><Relationship Id="rId4" Type="http://schemas.openxmlformats.org/officeDocument/2006/relationships/image" Target="../media/image85.png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4.png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7.png"/><Relationship Id="rId4" Type="http://schemas.openxmlformats.org/officeDocument/2006/relationships/image" Target="../media/image96.png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7" Type="http://schemas.openxmlformats.org/officeDocument/2006/relationships/image" Target="../media/image85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9.png"/><Relationship Id="rId5" Type="http://schemas.openxmlformats.org/officeDocument/2006/relationships/image" Target="../media/image91.png"/><Relationship Id="rId4" Type="http://schemas.openxmlformats.org/officeDocument/2006/relationships/image" Target="../media/image96.png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ive Instructor-Led SQL Querying Advanced Training - Hands-on Course">
            <a:extLst>
              <a:ext uri="{FF2B5EF4-FFF2-40B4-BE49-F238E27FC236}">
                <a16:creationId xmlns:a16="http://schemas.microsoft.com/office/drawing/2014/main" id="{CBDA142E-B6AA-0CE4-512D-E046762D82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42063" y="4829875"/>
            <a:ext cx="1698570" cy="17879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69FBDC4-6B90-0B55-CFD0-525E83D440FA}"/>
              </a:ext>
            </a:extLst>
          </p:cNvPr>
          <p:cNvSpPr txBox="1"/>
          <p:nvPr/>
        </p:nvSpPr>
        <p:spPr>
          <a:xfrm>
            <a:off x="2682240" y="1612626"/>
            <a:ext cx="692959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The </a:t>
            </a:r>
            <a:r>
              <a:rPr lang="en-US" sz="4800" dirty="0">
                <a:solidFill>
                  <a:srgbClr val="FF00FF"/>
                </a:solidFill>
                <a:latin typeface="Consolas" panose="020B0609020204030204" pitchFamily="49" charset="0"/>
              </a:rPr>
              <a:t>JSON</a:t>
            </a:r>
            <a:r>
              <a:rPr lang="en-US" sz="3600" b="1" dirty="0"/>
              <a:t>  </a:t>
            </a:r>
            <a:r>
              <a:rPr lang="en-US" sz="4800" b="1" dirty="0"/>
              <a:t>T-SQL Operators</a:t>
            </a:r>
            <a:endParaRPr lang="en-US" sz="4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D0ADC9-0801-A08A-74F5-830AB9857B57}"/>
              </a:ext>
            </a:extLst>
          </p:cNvPr>
          <p:cNvSpPr txBox="1"/>
          <p:nvPr/>
        </p:nvSpPr>
        <p:spPr>
          <a:xfrm>
            <a:off x="1255776" y="3178289"/>
            <a:ext cx="314553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FOR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AUTO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FOR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PATH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JSON_ARRAY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JSON_OBJECT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JSON_QUERY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1026" name="Picture 2" descr="Image result for json icon">
            <a:extLst>
              <a:ext uri="{FF2B5EF4-FFF2-40B4-BE49-F238E27FC236}">
                <a16:creationId xmlns:a16="http://schemas.microsoft.com/office/drawing/2014/main" id="{6E43A857-1D75-6FE1-B5A1-A8D445D06B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60604" y="4995522"/>
            <a:ext cx="1451229" cy="14581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380754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3B94EAC-4A16-27D3-9C5B-8724180E38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799" y="1206029"/>
            <a:ext cx="5502402" cy="4445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17530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114734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2FBE6F42-CBBA-9B00-8E31-2D1476ADC6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9750" y="1047750"/>
            <a:ext cx="8572500" cy="47625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993B86B-BAA3-F2B0-BC92-7EF43B5794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5532" y="1903228"/>
            <a:ext cx="3067826" cy="4572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F07C7B6-4ED5-5794-2ECD-DB3C8133D8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5532" y="2330894"/>
            <a:ext cx="3067826" cy="23155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07CB3C9-FD08-9250-047E-D882A6B85B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5532" y="2562448"/>
            <a:ext cx="3067826" cy="231554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3E02F2AE-3BD6-A768-3990-567B09A3FA0B}"/>
              </a:ext>
            </a:extLst>
          </p:cNvPr>
          <p:cNvGrpSpPr/>
          <p:nvPr/>
        </p:nvGrpSpPr>
        <p:grpSpPr>
          <a:xfrm>
            <a:off x="1907713" y="1646202"/>
            <a:ext cx="3706278" cy="1660524"/>
            <a:chOff x="1897080" y="1646202"/>
            <a:chExt cx="3706278" cy="1660524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FBDD4519-9BAD-1B0A-5146-46514ACCF51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535532" y="2788094"/>
              <a:ext cx="3067826" cy="518632"/>
            </a:xfrm>
            <a:prstGeom prst="rect">
              <a:avLst/>
            </a:prstGeom>
          </p:spPr>
        </p:pic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FAF9D22C-687E-1053-C876-2DB1BD70E61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897080" y="1646202"/>
              <a:ext cx="419100" cy="139065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048526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FD522D4-D48E-1667-FF3A-2DC12A13EB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9750" y="1047750"/>
            <a:ext cx="8572500" cy="47625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E0624E7-FC4F-1642-72D6-8B9B2C2201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047750"/>
            <a:ext cx="4438650" cy="2505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60970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DF04AD8D-5098-CD00-29B4-4498D752EC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9750" y="1047750"/>
            <a:ext cx="8572500" cy="476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95411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1C42EA2-AB66-BFE8-1633-89D834BE9BCA}"/>
              </a:ext>
            </a:extLst>
          </p:cNvPr>
          <p:cNvSpPr txBox="1"/>
          <p:nvPr/>
        </p:nvSpPr>
        <p:spPr>
          <a:xfrm>
            <a:off x="676053" y="197346"/>
            <a:ext cx="6968331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CD39AD-3376-4763-5C53-79CF772302E4}"/>
              </a:ext>
            </a:extLst>
          </p:cNvPr>
          <p:cNvSpPr txBox="1"/>
          <p:nvPr/>
        </p:nvSpPr>
        <p:spPr>
          <a:xfrm>
            <a:off x="7897333" y="6200186"/>
            <a:ext cx="38835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https://en.wikipedia.org/wiki/JSON</a:t>
            </a:r>
          </a:p>
        </p:txBody>
      </p:sp>
    </p:spTree>
    <p:extLst>
      <p:ext uri="{BB962C8B-B14F-4D97-AF65-F5344CB8AC3E}">
        <p14:creationId xmlns:p14="http://schemas.microsoft.com/office/powerpoint/2010/main" val="59136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60B561-9B3E-A968-2B4E-7319150C79C4}"/>
              </a:ext>
            </a:extLst>
          </p:cNvPr>
          <p:cNvSpPr txBox="1"/>
          <p:nvPr/>
        </p:nvSpPr>
        <p:spPr>
          <a:xfrm>
            <a:off x="1510146" y="5437227"/>
            <a:ext cx="680258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>
                <a:latin typeface="Verdana" panose="020B0604030504040204" pitchFamily="34" charset="0"/>
                <a:ea typeface="Verdana" panose="020B0604030504040204" pitchFamily="34" charset="0"/>
              </a:rPr>
              <a:t>https://github.com/jbfoushee/MyPresentations/</a:t>
            </a:r>
            <a:endParaRPr lang="en-US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F7E1BF-9545-970E-5C17-B09523F51437}"/>
              </a:ext>
            </a:extLst>
          </p:cNvPr>
          <p:cNvSpPr txBox="1"/>
          <p:nvPr/>
        </p:nvSpPr>
        <p:spPr>
          <a:xfrm>
            <a:off x="1510146" y="4895212"/>
            <a:ext cx="74398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Verdana" panose="020B0604030504040204" pitchFamily="34" charset="0"/>
                <a:ea typeface="Verdana" panose="020B0604030504040204" pitchFamily="34" charset="0"/>
              </a:rPr>
              <a:t>https://www.linkedin.com/in/jeff-foushee-13b80a100/</a:t>
            </a:r>
          </a:p>
        </p:txBody>
      </p:sp>
      <p:pic>
        <p:nvPicPr>
          <p:cNvPr id="1026" name="Picture 2" descr="Linkedin-logo | myCloudDoor - Expertise for Cloud Transition">
            <a:extLst>
              <a:ext uri="{FF2B5EF4-FFF2-40B4-BE49-F238E27FC236}">
                <a16:creationId xmlns:a16="http://schemas.microsoft.com/office/drawing/2014/main" id="{7541C2E9-3409-6A8C-14FE-E2F786407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3" y="4897215"/>
            <a:ext cx="678873" cy="3818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GitHub Logo, symbol, meaning, history, PNG, brand">
            <a:extLst>
              <a:ext uri="{FF2B5EF4-FFF2-40B4-BE49-F238E27FC236}">
                <a16:creationId xmlns:a16="http://schemas.microsoft.com/office/drawing/2014/main" id="{4A4A3218-5674-2C67-8D76-BCC0445E30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2" y="5451764"/>
            <a:ext cx="678874" cy="381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EF63783-B000-A4BC-CCBD-ECC8D1236D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090" y="1578919"/>
            <a:ext cx="2228212" cy="222821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8A32F5C-E514-95A5-9E67-696F9A1524ED}"/>
              </a:ext>
            </a:extLst>
          </p:cNvPr>
          <p:cNvSpPr txBox="1"/>
          <p:nvPr/>
        </p:nvSpPr>
        <p:spPr>
          <a:xfrm>
            <a:off x="4225637" y="1020663"/>
            <a:ext cx="6442363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Verdana" panose="020B0604030504040204" pitchFamily="34" charset="0"/>
                <a:ea typeface="Verdana" panose="020B0604030504040204" pitchFamily="34" charset="0"/>
              </a:rPr>
              <a:t>Jeff Foushee</a:t>
            </a:r>
          </a:p>
          <a:p>
            <a:endParaRPr lang="en-US" sz="2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Server Database Admin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Programmer</a:t>
            </a:r>
          </a:p>
          <a:p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Saturday speaker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Blackjack dealer</a:t>
            </a:r>
          </a:p>
        </p:txBody>
      </p:sp>
    </p:spTree>
    <p:extLst>
      <p:ext uri="{BB962C8B-B14F-4D97-AF65-F5344CB8AC3E}">
        <p14:creationId xmlns:p14="http://schemas.microsoft.com/office/powerpoint/2010/main" val="16917376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AB87BC-FC35-CA96-FEC8-DD4A00DB9A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Preparing for JSON (client tools)</a:t>
            </a:r>
          </a:p>
        </p:txBody>
      </p:sp>
    </p:spTree>
    <p:extLst>
      <p:ext uri="{BB962C8B-B14F-4D97-AF65-F5344CB8AC3E}">
        <p14:creationId xmlns:p14="http://schemas.microsoft.com/office/powerpoint/2010/main" val="24120065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9CB5D10-CB03-B334-F1EE-7B88307F4E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0906" y="2547717"/>
            <a:ext cx="9544050" cy="387667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8571653-AE10-33CD-275C-3198E447428E}"/>
              </a:ext>
            </a:extLst>
          </p:cNvPr>
          <p:cNvSpPr txBox="1"/>
          <p:nvPr/>
        </p:nvSpPr>
        <p:spPr>
          <a:xfrm>
            <a:off x="8399722" y="1507004"/>
            <a:ext cx="28830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How many characters do you want to see on the screen?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4FE876-E85C-0487-DA58-8593D3A629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278" y="582320"/>
            <a:ext cx="5518258" cy="4537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C07566C-241A-1A23-A506-997010010F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278" y="1141582"/>
            <a:ext cx="7439025" cy="1104900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9EF6833-8803-70E5-B6D5-DF910DB09705}"/>
              </a:ext>
            </a:extLst>
          </p:cNvPr>
          <p:cNvCxnSpPr>
            <a:cxnSpLocks/>
            <a:endCxn id="10" idx="1"/>
          </p:cNvCxnSpPr>
          <p:nvPr/>
        </p:nvCxnSpPr>
        <p:spPr>
          <a:xfrm flipV="1">
            <a:off x="8114303" y="1830170"/>
            <a:ext cx="285419" cy="300008"/>
          </a:xfrm>
          <a:prstGeom prst="line">
            <a:avLst/>
          </a:prstGeom>
          <a:ln w="508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5185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DDB9B34-A1EC-64CA-7D74-3E2D1DA89A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278" y="433608"/>
            <a:ext cx="7439025" cy="1971675"/>
          </a:xfrm>
          <a:prstGeom prst="rect">
            <a:avLst/>
          </a:prstGeom>
        </p:spPr>
      </p:pic>
      <p:pic>
        <p:nvPicPr>
          <p:cNvPr id="1026" name="Picture 2" descr="copy Vector Icons free download in SVG, PNG Format">
            <a:extLst>
              <a:ext uri="{FF2B5EF4-FFF2-40B4-BE49-F238E27FC236}">
                <a16:creationId xmlns:a16="http://schemas.microsoft.com/office/drawing/2014/main" id="{7C25E6DA-C179-8E50-2C24-9DD7DE84E9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4303" y="1609344"/>
            <a:ext cx="531816" cy="5318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1723199E-8B8B-9934-4477-B75149C55D2E}"/>
              </a:ext>
            </a:extLst>
          </p:cNvPr>
          <p:cNvGrpSpPr/>
          <p:nvPr/>
        </p:nvGrpSpPr>
        <p:grpSpPr>
          <a:xfrm>
            <a:off x="862584" y="2800067"/>
            <a:ext cx="7467600" cy="1652650"/>
            <a:chOff x="862584" y="2800067"/>
            <a:chExt cx="7467600" cy="165265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D7BAA7DD-AFA1-C3C7-F2D1-4BA84B6B781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62584" y="3043017"/>
              <a:ext cx="7467600" cy="1409700"/>
            </a:xfrm>
            <a:prstGeom prst="rect">
              <a:avLst/>
            </a:prstGeom>
          </p:spPr>
        </p:pic>
        <p:pic>
          <p:nvPicPr>
            <p:cNvPr id="1028" name="Picture 4" descr="Image result for paste icon clipart">
              <a:extLst>
                <a:ext uri="{FF2B5EF4-FFF2-40B4-BE49-F238E27FC236}">
                  <a16:creationId xmlns:a16="http://schemas.microsoft.com/office/drawing/2014/main" id="{567D78F5-5648-7596-572B-82335B79C4D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11424" y="2800067"/>
              <a:ext cx="518293" cy="4859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04BC9049-CBE5-6A82-E715-5FC4DD8C166D}"/>
              </a:ext>
            </a:extLst>
          </p:cNvPr>
          <p:cNvGrpSpPr/>
          <p:nvPr/>
        </p:nvGrpSpPr>
        <p:grpSpPr>
          <a:xfrm>
            <a:off x="3960495" y="2800067"/>
            <a:ext cx="7562850" cy="3200463"/>
            <a:chOff x="3960495" y="2800067"/>
            <a:chExt cx="7562850" cy="3200463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A6EF85C4-A0F6-AD5E-99B5-D3367383074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960495" y="2904905"/>
              <a:ext cx="7562850" cy="3095625"/>
            </a:xfrm>
            <a:prstGeom prst="rect">
              <a:avLst/>
            </a:prstGeom>
          </p:spPr>
        </p:pic>
        <p:pic>
          <p:nvPicPr>
            <p:cNvPr id="2" name="Picture 4" descr="Image result for paste icon clipart">
              <a:extLst>
                <a:ext uri="{FF2B5EF4-FFF2-40B4-BE49-F238E27FC236}">
                  <a16:creationId xmlns:a16="http://schemas.microsoft.com/office/drawing/2014/main" id="{2E34ADF1-6344-7AC7-F3EC-54559DF9597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96400" y="2800067"/>
              <a:ext cx="518293" cy="4859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31046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69AC732-664C-A660-BD98-7B68234B94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386" y="567844"/>
            <a:ext cx="5188532" cy="152676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BF24335-30B9-35A7-0A4B-D2564CAA5F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0348" y="1653694"/>
            <a:ext cx="6524625" cy="17335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BD00801-AE63-ABAD-8406-B699E18261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92731" y="3063394"/>
            <a:ext cx="5572125" cy="2819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84882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B3C9F4CB-173E-A4C8-BA30-24175A4970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348" y="551121"/>
            <a:ext cx="10220325" cy="19526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74163A4-6547-A728-BF66-3F74C058BA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823" y="2854067"/>
            <a:ext cx="10229850" cy="3000375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D1B6BED-88E9-3614-486E-EB9AAB89448B}"/>
              </a:ext>
            </a:extLst>
          </p:cNvPr>
          <p:cNvCxnSpPr/>
          <p:nvPr/>
        </p:nvCxnSpPr>
        <p:spPr>
          <a:xfrm flipH="1">
            <a:off x="7325833" y="1297172"/>
            <a:ext cx="2296632" cy="3242930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6F6D6CE7-0DD0-E3AF-9237-30F1F26C5DBE}"/>
              </a:ext>
            </a:extLst>
          </p:cNvPr>
          <p:cNvGrpSpPr/>
          <p:nvPr/>
        </p:nvGrpSpPr>
        <p:grpSpPr>
          <a:xfrm>
            <a:off x="4547616" y="1385491"/>
            <a:ext cx="6499057" cy="3003629"/>
            <a:chOff x="4547616" y="1385491"/>
            <a:chExt cx="6499057" cy="3003629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801EE4FC-DC44-264F-DB53-CA26F7AA1A8E}"/>
                </a:ext>
              </a:extLst>
            </p:cNvPr>
            <p:cNvSpPr/>
            <p:nvPr/>
          </p:nvSpPr>
          <p:spPr>
            <a:xfrm>
              <a:off x="7144512" y="1385491"/>
              <a:ext cx="3902161" cy="219456"/>
            </a:xfrm>
            <a:prstGeom prst="rect">
              <a:avLst/>
            </a:prstGeom>
            <a:noFill/>
            <a:ln w="50800"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B9FEFA88-1225-E011-37B4-6C5C9FF9E24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547616" y="1669028"/>
              <a:ext cx="2596896" cy="2720092"/>
            </a:xfrm>
            <a:prstGeom prst="straightConnector1">
              <a:avLst/>
            </a:prstGeom>
            <a:ln w="50800">
              <a:solidFill>
                <a:schemeClr val="accent5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12499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2140F3D-C024-85E5-C0DA-F63B63C4BE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101" y="561587"/>
            <a:ext cx="8439150" cy="244792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77C5F91-BDF7-C278-762B-2C24BB8519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7518" y="3149943"/>
            <a:ext cx="8239125" cy="3276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78134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49CA9-A37E-7C13-A64D-1F3ADF008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Preparing for JSON (table architecture)</a:t>
            </a:r>
          </a:p>
        </p:txBody>
      </p:sp>
    </p:spTree>
    <p:extLst>
      <p:ext uri="{BB962C8B-B14F-4D97-AF65-F5344CB8AC3E}">
        <p14:creationId xmlns:p14="http://schemas.microsoft.com/office/powerpoint/2010/main" val="34814716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932DF6F-2782-6F8F-F136-52885939B545}"/>
              </a:ext>
            </a:extLst>
          </p:cNvPr>
          <p:cNvSpPr txBox="1"/>
          <p:nvPr/>
        </p:nvSpPr>
        <p:spPr>
          <a:xfrm>
            <a:off x="1085088" y="2393942"/>
            <a:ext cx="271881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dirty="0" err="1">
                <a:solidFill>
                  <a:srgbClr val="161616"/>
                </a:solidFill>
                <a:latin typeface="Segoe UI" panose="020B0502040204020203" pitchFamily="34" charset="0"/>
              </a:rPr>
              <a:t>n</a:t>
            </a:r>
            <a:r>
              <a:rPr lang="en-US" b="1" i="0" dirty="0" err="1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varchar</a:t>
            </a:r>
            <a:r>
              <a:rPr lang="en-US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(</a:t>
            </a:r>
            <a:r>
              <a:rPr lang="en-US" b="1" i="0" dirty="0" err="1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n|MAX</a:t>
            </a:r>
            <a:r>
              <a:rPr lang="en-US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) : </a:t>
            </a:r>
          </a:p>
          <a:p>
            <a:pPr algn="l"/>
            <a:r>
              <a:rPr lang="en-US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The storage size is </a:t>
            </a:r>
          </a:p>
          <a:p>
            <a:pPr algn="l"/>
            <a:r>
              <a:rPr lang="en-US" dirty="0">
                <a:solidFill>
                  <a:srgbClr val="161616"/>
                </a:solidFill>
                <a:latin typeface="Segoe UI" panose="020B0502040204020203" pitchFamily="34" charset="0"/>
              </a:rPr>
              <a:t>[#(</a:t>
            </a:r>
            <a:r>
              <a:rPr lang="en-US" i="1" dirty="0">
                <a:solidFill>
                  <a:srgbClr val="161616"/>
                </a:solidFill>
                <a:latin typeface="Segoe UI" panose="020B0502040204020203" pitchFamily="34" charset="0"/>
              </a:rPr>
              <a:t>chars</a:t>
            </a:r>
            <a:r>
              <a:rPr lang="en-US" dirty="0">
                <a:solidFill>
                  <a:srgbClr val="161616"/>
                </a:solidFill>
                <a:latin typeface="Segoe UI" panose="020B0502040204020203" pitchFamily="34" charset="0"/>
              </a:rPr>
              <a:t>) * 2] + </a:t>
            </a:r>
            <a:r>
              <a:rPr lang="en-US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2 bytes.</a:t>
            </a:r>
            <a:endParaRPr lang="en-US" b="1" i="0" dirty="0">
              <a:solidFill>
                <a:srgbClr val="161616"/>
              </a:solidFill>
              <a:effectLst/>
              <a:latin typeface="Segoe U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E85F44-4BD9-DB9B-6BBA-7853C3B95FB9}"/>
              </a:ext>
            </a:extLst>
          </p:cNvPr>
          <p:cNvSpPr txBox="1"/>
          <p:nvPr/>
        </p:nvSpPr>
        <p:spPr>
          <a:xfrm>
            <a:off x="1085088" y="1156454"/>
            <a:ext cx="262804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dirty="0">
                <a:solidFill>
                  <a:srgbClr val="161616"/>
                </a:solidFill>
                <a:latin typeface="Segoe UI" panose="020B0502040204020203" pitchFamily="34" charset="0"/>
              </a:rPr>
              <a:t>v</a:t>
            </a:r>
            <a:r>
              <a:rPr lang="en-US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archar(</a:t>
            </a:r>
            <a:r>
              <a:rPr lang="en-US" b="1" i="0" dirty="0" err="1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n|MAX</a:t>
            </a:r>
            <a:r>
              <a:rPr lang="en-US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) : </a:t>
            </a:r>
          </a:p>
          <a:p>
            <a:pPr algn="l"/>
            <a:r>
              <a:rPr lang="en-US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The storage size is </a:t>
            </a:r>
            <a:r>
              <a:rPr lang="en-US" b="0" i="1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#(chars) </a:t>
            </a:r>
            <a:r>
              <a:rPr lang="en-US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+ 2 bytes.</a:t>
            </a:r>
            <a:endParaRPr lang="en-US" b="1" i="0" dirty="0">
              <a:solidFill>
                <a:srgbClr val="161616"/>
              </a:solidFill>
              <a:effectLst/>
              <a:latin typeface="Segoe UI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504133D-95A2-9F86-93A3-48307ABD667E}"/>
              </a:ext>
            </a:extLst>
          </p:cNvPr>
          <p:cNvSpPr txBox="1"/>
          <p:nvPr/>
        </p:nvSpPr>
        <p:spPr>
          <a:xfrm>
            <a:off x="1085087" y="5650098"/>
            <a:ext cx="60390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Refresher:</a:t>
            </a:r>
          </a:p>
          <a:p>
            <a:r>
              <a:rPr lang="en-US" dirty="0"/>
              <a:t>FF (hex) = 255 (decimal) = 1111 1111 (binary)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4C6B92B-BFFE-ECA9-8CD0-8EB3E52D22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4533" y="5579098"/>
            <a:ext cx="1200150" cy="4572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86EAC03-D63B-4D91-0BDD-5A13DC205F54}"/>
              </a:ext>
            </a:extLst>
          </p:cNvPr>
          <p:cNvSpPr txBox="1"/>
          <p:nvPr/>
        </p:nvSpPr>
        <p:spPr>
          <a:xfrm>
            <a:off x="3713131" y="5280766"/>
            <a:ext cx="10958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 byte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A988A3D-5DFF-48F1-C4C8-606AE223D7B5}"/>
              </a:ext>
            </a:extLst>
          </p:cNvPr>
          <p:cNvSpPr txBox="1"/>
          <p:nvPr/>
        </p:nvSpPr>
        <p:spPr>
          <a:xfrm>
            <a:off x="1039700" y="3576215"/>
            <a:ext cx="314215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char(n) : </a:t>
            </a:r>
          </a:p>
          <a:p>
            <a:pPr algn="l"/>
            <a:r>
              <a:rPr lang="en-US" b="0" i="0" dirty="0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The storage size is </a:t>
            </a:r>
            <a:r>
              <a:rPr lang="en-US" i="1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</a:rPr>
              <a:t>n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</a:rPr>
              <a:t> </a:t>
            </a:r>
            <a:r>
              <a:rPr lang="en-US" b="0" i="0" dirty="0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bytes.</a:t>
            </a:r>
            <a:endParaRPr lang="en-US" b="1" i="0" dirty="0">
              <a:solidFill>
                <a:schemeClr val="bg1">
                  <a:lumMod val="50000"/>
                </a:schemeClr>
              </a:solidFill>
              <a:effectLst/>
              <a:latin typeface="Segoe UI" panose="020B0502040204020203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B603B99-97C9-83E8-50E8-34AC138009AC}"/>
              </a:ext>
            </a:extLst>
          </p:cNvPr>
          <p:cNvSpPr txBox="1"/>
          <p:nvPr/>
        </p:nvSpPr>
        <p:spPr>
          <a:xfrm>
            <a:off x="1039699" y="4375492"/>
            <a:ext cx="314215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 err="1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nchar</a:t>
            </a:r>
            <a:r>
              <a:rPr lang="en-US" b="1" i="0" dirty="0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(n) : </a:t>
            </a:r>
          </a:p>
          <a:p>
            <a:pPr algn="l"/>
            <a:r>
              <a:rPr lang="en-US" b="0" i="0" dirty="0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The storage size is 2</a:t>
            </a:r>
            <a:r>
              <a:rPr lang="en-US" i="1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</a:rPr>
              <a:t>n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</a:rPr>
              <a:t> </a:t>
            </a:r>
            <a:r>
              <a:rPr lang="en-US" b="0" i="0" dirty="0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bytes.</a:t>
            </a:r>
            <a:endParaRPr lang="en-US" b="1" i="0" dirty="0">
              <a:solidFill>
                <a:schemeClr val="bg1">
                  <a:lumMod val="50000"/>
                </a:schemeClr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F0E913E8-592A-276C-14DA-23656EA1E3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4208" y="354245"/>
            <a:ext cx="6039040" cy="6149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9001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D0E9301-0D69-C561-3524-FF3DF6F9811F}"/>
              </a:ext>
            </a:extLst>
          </p:cNvPr>
          <p:cNvSpPr txBox="1"/>
          <p:nvPr/>
        </p:nvSpPr>
        <p:spPr>
          <a:xfrm>
            <a:off x="1036320" y="1247894"/>
            <a:ext cx="9192768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@_text 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nvarchar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20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N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'ĀāĂăĄąĆćĈĉƐƑƩɪʸ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●♫'</a:t>
            </a: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CONVERT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nvarchar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20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@_text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CONVERT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20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@_text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33DFF64-174F-B0B9-738C-372C788593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8677" y="5198016"/>
            <a:ext cx="4803739" cy="116454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0D4C19F-F7BE-0677-C505-F31D58A9EB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8677" y="2956054"/>
            <a:ext cx="4784172" cy="1164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62986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1C42EA2-AB66-BFE8-1633-89D834BE9BCA}"/>
              </a:ext>
            </a:extLst>
          </p:cNvPr>
          <p:cNvSpPr txBox="1"/>
          <p:nvPr/>
        </p:nvSpPr>
        <p:spPr>
          <a:xfrm>
            <a:off x="676053" y="197346"/>
            <a:ext cx="6968331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CD39AD-3376-4763-5C53-79CF772302E4}"/>
              </a:ext>
            </a:extLst>
          </p:cNvPr>
          <p:cNvSpPr txBox="1"/>
          <p:nvPr/>
        </p:nvSpPr>
        <p:spPr>
          <a:xfrm>
            <a:off x="7897333" y="6200186"/>
            <a:ext cx="38835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https://en.wikipedia.org/wiki/JSON</a:t>
            </a:r>
          </a:p>
        </p:txBody>
      </p:sp>
    </p:spTree>
    <p:extLst>
      <p:ext uri="{BB962C8B-B14F-4D97-AF65-F5344CB8AC3E}">
        <p14:creationId xmlns:p14="http://schemas.microsoft.com/office/powerpoint/2010/main" val="26544249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CCFB8-F509-2BD1-4838-DCAECC31A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3153CF8-C4BA-F2DA-DD65-CE339498C856}"/>
              </a:ext>
            </a:extLst>
          </p:cNvPr>
          <p:cNvSpPr txBox="1"/>
          <p:nvPr/>
        </p:nvSpPr>
        <p:spPr>
          <a:xfrm>
            <a:off x="676053" y="197346"/>
            <a:ext cx="6956139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b="1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b="1" dirty="0"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07E6F9F-4112-EBF3-1F2E-B33A50880288}"/>
              </a:ext>
            </a:extLst>
          </p:cNvPr>
          <p:cNvGrpSpPr/>
          <p:nvPr/>
        </p:nvGrpSpPr>
        <p:grpSpPr>
          <a:xfrm>
            <a:off x="1133856" y="414528"/>
            <a:ext cx="2596896" cy="6028944"/>
            <a:chOff x="1133856" y="414528"/>
            <a:chExt cx="2596896" cy="6028944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7CC55481-A17B-D08B-E84E-C97FA984E2D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33856" y="414528"/>
              <a:ext cx="2596896" cy="0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CA61019C-7EA8-40D6-ACF8-086263FD86B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33856" y="6443472"/>
              <a:ext cx="2596896" cy="0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4FD575B8-39E9-EA68-A44C-074F5B1F08F8}"/>
              </a:ext>
            </a:extLst>
          </p:cNvPr>
          <p:cNvSpPr txBox="1"/>
          <p:nvPr/>
        </p:nvSpPr>
        <p:spPr>
          <a:xfrm>
            <a:off x="8093677" y="2174789"/>
            <a:ext cx="23972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$.</a:t>
            </a:r>
            <a:r>
              <a:rPr lang="en-US" dirty="0" err="1">
                <a:solidFill>
                  <a:schemeClr val="bg1">
                    <a:lumMod val="6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address.state</a:t>
            </a:r>
            <a:endParaRPr lang="en-US" dirty="0">
              <a:solidFill>
                <a:schemeClr val="bg1">
                  <a:lumMod val="6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FF42BF7-88E4-7517-208D-CB843AA2ED1D}"/>
              </a:ext>
            </a:extLst>
          </p:cNvPr>
          <p:cNvCxnSpPr>
            <a:cxnSpLocks/>
          </p:cNvCxnSpPr>
          <p:nvPr/>
        </p:nvCxnSpPr>
        <p:spPr>
          <a:xfrm flipH="1">
            <a:off x="5496781" y="2358658"/>
            <a:ext cx="2596896" cy="0"/>
          </a:xfrm>
          <a:prstGeom prst="straightConnector1">
            <a:avLst/>
          </a:prstGeom>
          <a:ln w="47625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31500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2ADA3-8614-7823-89CF-B27455C09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5A75DDC-3B43-EB16-0BC8-FB361C3D6047}"/>
              </a:ext>
            </a:extLst>
          </p:cNvPr>
          <p:cNvSpPr txBox="1"/>
          <p:nvPr/>
        </p:nvSpPr>
        <p:spPr>
          <a:xfrm>
            <a:off x="676053" y="197346"/>
            <a:ext cx="6956139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[{</a:t>
            </a:r>
            <a:endParaRPr lang="en-US" sz="1800" b="1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}]</a:t>
            </a:r>
            <a:endParaRPr lang="en-US" b="1" dirty="0"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5966187-3E7C-B46C-9622-CE9C6EC63409}"/>
              </a:ext>
            </a:extLst>
          </p:cNvPr>
          <p:cNvGrpSpPr/>
          <p:nvPr/>
        </p:nvGrpSpPr>
        <p:grpSpPr>
          <a:xfrm>
            <a:off x="2696842" y="414528"/>
            <a:ext cx="2596896" cy="6028944"/>
            <a:chOff x="1133856" y="414528"/>
            <a:chExt cx="2596896" cy="6028944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922A265B-CB84-6900-4B95-52A5015CA15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33856" y="414528"/>
              <a:ext cx="2596896" cy="0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B59C7A8B-6D68-E463-36BF-D51CE4A32AD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33856" y="6443472"/>
              <a:ext cx="2596896" cy="0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D7B3403-E04B-B0BE-9BFD-89D9D1A06D4B}"/>
              </a:ext>
            </a:extLst>
          </p:cNvPr>
          <p:cNvSpPr txBox="1"/>
          <p:nvPr/>
        </p:nvSpPr>
        <p:spPr>
          <a:xfrm>
            <a:off x="8093677" y="2174789"/>
            <a:ext cx="34222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$[0].</a:t>
            </a:r>
            <a:r>
              <a:rPr lang="en-US" dirty="0" err="1">
                <a:solidFill>
                  <a:schemeClr val="bg1">
                    <a:lumMod val="6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address.state</a:t>
            </a:r>
            <a:endParaRPr lang="en-US" dirty="0">
              <a:solidFill>
                <a:schemeClr val="bg1">
                  <a:lumMod val="6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A8C98F58-BABA-2BD7-C8A6-A66887BBEBD7}"/>
              </a:ext>
            </a:extLst>
          </p:cNvPr>
          <p:cNvCxnSpPr>
            <a:cxnSpLocks/>
          </p:cNvCxnSpPr>
          <p:nvPr/>
        </p:nvCxnSpPr>
        <p:spPr>
          <a:xfrm flipH="1">
            <a:off x="5496781" y="2358658"/>
            <a:ext cx="2596896" cy="0"/>
          </a:xfrm>
          <a:prstGeom prst="straightConnector1">
            <a:avLst/>
          </a:prstGeom>
          <a:ln w="47625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87237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2ADA3-8614-7823-89CF-B27455C09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5A75DDC-3B43-EB16-0BC8-FB361C3D6047}"/>
              </a:ext>
            </a:extLst>
          </p:cNvPr>
          <p:cNvSpPr txBox="1"/>
          <p:nvPr/>
        </p:nvSpPr>
        <p:spPr>
          <a:xfrm>
            <a:off x="676053" y="58846"/>
            <a:ext cx="6956139" cy="66325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7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{ "data":</a:t>
            </a:r>
          </a:p>
          <a:p>
            <a:r>
              <a:rPr lang="en-US" sz="17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[{</a:t>
            </a:r>
            <a:endParaRPr lang="en-US" sz="1700" b="1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7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7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7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"age"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"address"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</a:t>
            </a:r>
            <a:r>
              <a:rPr lang="en-US" sz="17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"state"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</a:t>
            </a:r>
            <a:r>
              <a:rPr lang="en-US" sz="17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7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{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"number": "212 555-1234", 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"type": "home"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},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{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"number": "646 555-4567", 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"type": "office"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}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]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"children"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"spouse"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}]</a:t>
            </a:r>
          </a:p>
          <a:p>
            <a:r>
              <a:rPr lang="en-US" sz="17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sz="1700" b="1" dirty="0"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5966187-3E7C-B46C-9622-CE9C6EC63409}"/>
              </a:ext>
            </a:extLst>
          </p:cNvPr>
          <p:cNvGrpSpPr/>
          <p:nvPr/>
        </p:nvGrpSpPr>
        <p:grpSpPr>
          <a:xfrm>
            <a:off x="2696842" y="414528"/>
            <a:ext cx="2596896" cy="6028944"/>
            <a:chOff x="1133856" y="414528"/>
            <a:chExt cx="2596896" cy="6028944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922A265B-CB84-6900-4B95-52A5015CA15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33856" y="414528"/>
              <a:ext cx="2596896" cy="0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B59C7A8B-6D68-E463-36BF-D51CE4A32AD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33856" y="6443472"/>
              <a:ext cx="2596896" cy="0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B0B2640D-AB29-E277-4F60-5F91A1C0375A}"/>
              </a:ext>
            </a:extLst>
          </p:cNvPr>
          <p:cNvSpPr txBox="1"/>
          <p:nvPr/>
        </p:nvSpPr>
        <p:spPr>
          <a:xfrm>
            <a:off x="8093677" y="2173992"/>
            <a:ext cx="3476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$.data[0].</a:t>
            </a:r>
            <a:r>
              <a:rPr lang="en-US" dirty="0" err="1">
                <a:solidFill>
                  <a:schemeClr val="bg1">
                    <a:lumMod val="6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address.state</a:t>
            </a:r>
            <a:endParaRPr lang="en-US" dirty="0">
              <a:solidFill>
                <a:schemeClr val="bg1">
                  <a:lumMod val="6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40B2B38B-F83D-38E3-CA98-32ABACAFF94F}"/>
              </a:ext>
            </a:extLst>
          </p:cNvPr>
          <p:cNvCxnSpPr>
            <a:cxnSpLocks/>
          </p:cNvCxnSpPr>
          <p:nvPr/>
        </p:nvCxnSpPr>
        <p:spPr>
          <a:xfrm flipH="1">
            <a:off x="5496781" y="2358658"/>
            <a:ext cx="2596896" cy="0"/>
          </a:xfrm>
          <a:prstGeom prst="straightConnector1">
            <a:avLst/>
          </a:prstGeom>
          <a:ln w="47625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424287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84DC93-08AF-8CD3-A97F-F9A108E97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1C58E91E-E11A-6790-4EEC-C775B09E1625}"/>
              </a:ext>
            </a:extLst>
          </p:cNvPr>
          <p:cNvSpPr txBox="1"/>
          <p:nvPr/>
        </p:nvSpPr>
        <p:spPr>
          <a:xfrm>
            <a:off x="676053" y="197346"/>
            <a:ext cx="7004907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"646 555-4567",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989B15-5266-B927-833D-BEC70E0D6306}"/>
              </a:ext>
            </a:extLst>
          </p:cNvPr>
          <p:cNvSpPr txBox="1"/>
          <p:nvPr/>
        </p:nvSpPr>
        <p:spPr>
          <a:xfrm>
            <a:off x="6974958" y="1297172"/>
            <a:ext cx="440187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Text values are enclosed in double-quotes</a:t>
            </a:r>
          </a:p>
          <a:p>
            <a:endParaRPr lang="en-US" dirty="0"/>
          </a:p>
          <a:p>
            <a:r>
              <a:rPr lang="en-US" dirty="0"/>
              <a:t>Numbers are not enclosed in quotes</a:t>
            </a:r>
          </a:p>
          <a:p>
            <a:endParaRPr lang="en-US" dirty="0"/>
          </a:p>
          <a:p>
            <a:r>
              <a:rPr lang="en-US" dirty="0"/>
              <a:t>Boolean/null values are lowercase</a:t>
            </a:r>
          </a:p>
        </p:txBody>
      </p:sp>
    </p:spTree>
    <p:extLst>
      <p:ext uri="{BB962C8B-B14F-4D97-AF65-F5344CB8AC3E}">
        <p14:creationId xmlns:p14="http://schemas.microsoft.com/office/powerpoint/2010/main" val="22444908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CB05E2-D3D3-D0B4-2BE8-595EC73289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F97122E-019F-C7E3-D4CE-2E7E78541B76}"/>
              </a:ext>
            </a:extLst>
          </p:cNvPr>
          <p:cNvSpPr txBox="1"/>
          <p:nvPr/>
        </p:nvSpPr>
        <p:spPr>
          <a:xfrm>
            <a:off x="676053" y="197346"/>
            <a:ext cx="6761067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"age"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"address"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"state"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"number":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"212 555-1234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"type":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"number":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"646 555-4567",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"type":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"children"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"spouse"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64BB514-CA1F-AA42-4D46-187E4BA88381}"/>
              </a:ext>
            </a:extLst>
          </p:cNvPr>
          <p:cNvSpPr txBox="1"/>
          <p:nvPr/>
        </p:nvSpPr>
        <p:spPr>
          <a:xfrm>
            <a:off x="6974958" y="1297172"/>
            <a:ext cx="440187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Properties (keys) must be enclosed in quotes</a:t>
            </a:r>
          </a:p>
          <a:p>
            <a:endParaRPr lang="en-US" dirty="0"/>
          </a:p>
          <a:p>
            <a:r>
              <a:rPr lang="en-US" dirty="0"/>
              <a:t>No restrictions on property naming:</a:t>
            </a:r>
          </a:p>
          <a:p>
            <a:r>
              <a:rPr lang="en-US" dirty="0"/>
              <a:t>- uniqueness*</a:t>
            </a:r>
          </a:p>
          <a:p>
            <a:r>
              <a:rPr lang="en-US" dirty="0"/>
              <a:t>- characters used</a:t>
            </a:r>
          </a:p>
          <a:p>
            <a:r>
              <a:rPr lang="en-US" dirty="0"/>
              <a:t>- blanks</a:t>
            </a:r>
          </a:p>
        </p:txBody>
      </p:sp>
    </p:spTree>
    <p:extLst>
      <p:ext uri="{BB962C8B-B14F-4D97-AF65-F5344CB8AC3E}">
        <p14:creationId xmlns:p14="http://schemas.microsoft.com/office/powerpoint/2010/main" val="40888712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36A13-2A82-5DFE-A085-FA7DF77F8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6F5808E-72D0-8EA1-3FE9-520CF4CCBFF0}"/>
              </a:ext>
            </a:extLst>
          </p:cNvPr>
          <p:cNvSpPr txBox="1"/>
          <p:nvPr/>
        </p:nvSpPr>
        <p:spPr>
          <a:xfrm>
            <a:off x="676053" y="197346"/>
            <a:ext cx="7004907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b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54D5DED-A8D6-3909-267E-614390D0765A}"/>
              </a:ext>
            </a:extLst>
          </p:cNvPr>
          <p:cNvSpPr txBox="1"/>
          <p:nvPr/>
        </p:nvSpPr>
        <p:spPr>
          <a:xfrm>
            <a:off x="6974958" y="1297172"/>
            <a:ext cx="4401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Values are paired to the right of the property</a:t>
            </a:r>
          </a:p>
        </p:txBody>
      </p:sp>
    </p:spTree>
    <p:extLst>
      <p:ext uri="{BB962C8B-B14F-4D97-AF65-F5344CB8AC3E}">
        <p14:creationId xmlns:p14="http://schemas.microsoft.com/office/powerpoint/2010/main" val="6246509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CD3F75-0B72-B39E-0C0D-FAE5295D3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236ACEC-7FD9-157D-EE3D-1632E3AD96ED}"/>
              </a:ext>
            </a:extLst>
          </p:cNvPr>
          <p:cNvSpPr txBox="1"/>
          <p:nvPr/>
        </p:nvSpPr>
        <p:spPr>
          <a:xfrm>
            <a:off x="676053" y="197346"/>
            <a:ext cx="6992715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b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"Smith"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"212 555-1234"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"646 555-4567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3108090-8F93-A97E-8BC6-52DCFF09351A}"/>
              </a:ext>
            </a:extLst>
          </p:cNvPr>
          <p:cNvSpPr txBox="1"/>
          <p:nvPr/>
        </p:nvSpPr>
        <p:spPr>
          <a:xfrm>
            <a:off x="6974958" y="1297172"/>
            <a:ext cx="440187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Values are paired to the right of the property</a:t>
            </a:r>
          </a:p>
          <a:p>
            <a:endParaRPr lang="en-US" dirty="0"/>
          </a:p>
          <a:p>
            <a:r>
              <a:rPr lang="en-US" dirty="0"/>
              <a:t>They can be scalar (number or string).</a:t>
            </a:r>
          </a:p>
        </p:txBody>
      </p:sp>
    </p:spTree>
    <p:extLst>
      <p:ext uri="{BB962C8B-B14F-4D97-AF65-F5344CB8AC3E}">
        <p14:creationId xmlns:p14="http://schemas.microsoft.com/office/powerpoint/2010/main" val="13693347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F79EC-1877-1150-F9B2-79672A226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0B33AB0-727E-CEF2-04FC-2DBD1149138E}"/>
              </a:ext>
            </a:extLst>
          </p:cNvPr>
          <p:cNvSpPr txBox="1"/>
          <p:nvPr/>
        </p:nvSpPr>
        <p:spPr>
          <a:xfrm>
            <a:off x="676053" y="197346"/>
            <a:ext cx="6956139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b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93E52A9-404D-83DE-4DA8-1D3B3C3C4A4C}"/>
              </a:ext>
            </a:extLst>
          </p:cNvPr>
          <p:cNvSpPr txBox="1"/>
          <p:nvPr/>
        </p:nvSpPr>
        <p:spPr>
          <a:xfrm>
            <a:off x="6974958" y="1297172"/>
            <a:ext cx="440187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Values are paired to the right of the property</a:t>
            </a:r>
          </a:p>
          <a:p>
            <a:endParaRPr lang="en-US" dirty="0"/>
          </a:p>
          <a:p>
            <a:r>
              <a:rPr lang="en-US" dirty="0"/>
              <a:t>They can be JSON object </a:t>
            </a:r>
            <a:r>
              <a:rPr lang="en-US" dirty="0">
                <a:latin typeface="Cascadia Mono" panose="020B0609020000020004" pitchFamily="49" charset="0"/>
                <a:cs typeface="Cascadia Mono" panose="020B0609020000020004" pitchFamily="49" charset="0"/>
              </a:rPr>
              <a:t>{}</a:t>
            </a:r>
            <a:r>
              <a:rPr lang="en-US" dirty="0"/>
              <a:t>, of which you only get one</a:t>
            </a:r>
          </a:p>
        </p:txBody>
      </p:sp>
    </p:spTree>
    <p:extLst>
      <p:ext uri="{BB962C8B-B14F-4D97-AF65-F5344CB8AC3E}">
        <p14:creationId xmlns:p14="http://schemas.microsoft.com/office/powerpoint/2010/main" val="72451949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0C7703-4D56-C777-BAE6-F9F50D634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F9CDA12-021D-62BA-50B5-1C33B5408533}"/>
              </a:ext>
            </a:extLst>
          </p:cNvPr>
          <p:cNvSpPr txBox="1"/>
          <p:nvPr/>
        </p:nvSpPr>
        <p:spPr>
          <a:xfrm>
            <a:off x="676053" y="197346"/>
            <a:ext cx="7041483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b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 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ECF460-DD6E-73B0-197A-9E95FDF5BC99}"/>
              </a:ext>
            </a:extLst>
          </p:cNvPr>
          <p:cNvSpPr txBox="1"/>
          <p:nvPr/>
        </p:nvSpPr>
        <p:spPr>
          <a:xfrm>
            <a:off x="6974958" y="1297172"/>
            <a:ext cx="440187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Values are paired to the right of the property.</a:t>
            </a:r>
          </a:p>
          <a:p>
            <a:endParaRPr lang="en-US" dirty="0"/>
          </a:p>
          <a:p>
            <a:r>
              <a:rPr lang="en-US" dirty="0"/>
              <a:t>Or they can be a JSON Array </a:t>
            </a:r>
            <a:r>
              <a:rPr lang="en-US" dirty="0">
                <a:latin typeface="Cascadia Mono" panose="020B0609020000020004" pitchFamily="49" charset="0"/>
                <a:cs typeface="Cascadia Mono" panose="020B0609020000020004" pitchFamily="49" charset="0"/>
              </a:rPr>
              <a:t>[]</a:t>
            </a:r>
            <a:r>
              <a:rPr lang="en-US" dirty="0"/>
              <a:t>, identifying an unordered list of values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6D93C10-21CA-A73F-6A73-55A60B183C76}"/>
              </a:ext>
            </a:extLst>
          </p:cNvPr>
          <p:cNvSpPr txBox="1"/>
          <p:nvPr/>
        </p:nvSpPr>
        <p:spPr>
          <a:xfrm>
            <a:off x="5231502" y="3824820"/>
            <a:ext cx="2486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(Array of JSON objects)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3D2766-C037-35FE-4466-4E160DBCF09D}"/>
              </a:ext>
            </a:extLst>
          </p:cNvPr>
          <p:cNvSpPr txBox="1"/>
          <p:nvPr/>
        </p:nvSpPr>
        <p:spPr>
          <a:xfrm>
            <a:off x="6353166" y="5203865"/>
            <a:ext cx="17667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(Array of strings)</a:t>
            </a:r>
          </a:p>
        </p:txBody>
      </p:sp>
    </p:spTree>
    <p:extLst>
      <p:ext uri="{BB962C8B-B14F-4D97-AF65-F5344CB8AC3E}">
        <p14:creationId xmlns:p14="http://schemas.microsoft.com/office/powerpoint/2010/main" val="376888490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3C062-CC08-F542-55E1-71927EBB88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Inspecting JSON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8E68EB-6822-F844-989C-F1BAEE7046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US" dirty="0"/>
              <a:t> </a:t>
            </a:r>
            <a:r>
              <a:rPr lang="en-US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/>
              <a:t> </a:t>
            </a:r>
            <a:r>
              <a:rPr lang="en-US" dirty="0">
                <a:solidFill>
                  <a:srgbClr val="FF00FF"/>
                </a:solidFill>
                <a:latin typeface="Consolas" panose="020B0609020204030204" pitchFamily="49" charset="0"/>
              </a:rPr>
              <a:t>JSON_PATH_EXISTS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284777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CD57A83-5B76-9863-3EBD-34394061E1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428625"/>
            <a:ext cx="11430000" cy="6000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249980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A85293D-4C41-225F-9D44-15AEAC28F575}"/>
              </a:ext>
            </a:extLst>
          </p:cNvPr>
          <p:cNvSpPr txBox="1"/>
          <p:nvPr/>
        </p:nvSpPr>
        <p:spPr>
          <a:xfrm>
            <a:off x="816048" y="1011220"/>
            <a:ext cx="5680445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@_json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2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400" b="1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{}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@_json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@_json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2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400" b="1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[]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@_json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@_json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2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--DECLARE @_json char(2) = '['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--DECLARE @_json char(2) = '.'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@_json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1D5A764A-D124-5790-79A7-6B0FF10B28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7671" y="5018150"/>
            <a:ext cx="3163253" cy="894969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9D4E6507-8C86-0B2E-13FE-7F1F904C32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77671" y="2815971"/>
            <a:ext cx="3140242" cy="894969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9F0345CD-D82D-EBBC-C0E4-679539E9BE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77671" y="996329"/>
            <a:ext cx="3140242" cy="894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800658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920636E-11AD-7BF3-8097-9CD4053110CC}"/>
              </a:ext>
            </a:extLst>
          </p:cNvPr>
          <p:cNvSpPr txBox="1"/>
          <p:nvPr/>
        </p:nvSpPr>
        <p:spPr>
          <a:xfrm>
            <a:off x="901109" y="646629"/>
            <a:ext cx="624397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(what)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6E19F4-8F02-541B-A38F-7A77B7C0E31C}"/>
              </a:ext>
            </a:extLst>
          </p:cNvPr>
          <p:cNvSpPr txBox="1"/>
          <p:nvPr/>
        </p:nvSpPr>
        <p:spPr>
          <a:xfrm>
            <a:off x="1275907" y="1233647"/>
            <a:ext cx="89951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Tests for a valid JSON object or array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280BCF-82E6-D74F-0616-80EC1B3597DC}"/>
              </a:ext>
            </a:extLst>
          </p:cNvPr>
          <p:cNvSpPr txBox="1"/>
          <p:nvPr/>
        </p:nvSpPr>
        <p:spPr>
          <a:xfrm>
            <a:off x="1275907" y="1756876"/>
            <a:ext cx="5273749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'[]'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'{}'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'[{}]'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'{[]}'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'{"key":[]}'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'[{"key":{}}]'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'[1,2]'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'"key":[1,2]'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'{[1,2]}'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--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</a:p>
          <a:p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'{},{}'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--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'[{},{}]'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-- 1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'{[],[]}'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</a:p>
          <a:p>
            <a:endParaRPr lang="en-US" sz="1600" dirty="0">
              <a:solidFill>
                <a:srgbClr val="008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(NULL)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600" dirty="0">
                <a:solidFill>
                  <a:srgbClr val="00B0F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'NULL'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'null'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906B04-4EC0-023F-32FB-F3CE12CA24DA}"/>
              </a:ext>
            </a:extLst>
          </p:cNvPr>
          <p:cNvSpPr txBox="1"/>
          <p:nvPr/>
        </p:nvSpPr>
        <p:spPr>
          <a:xfrm>
            <a:off x="8789723" y="5293513"/>
            <a:ext cx="29626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  <a:p>
            <a:r>
              <a:rPr lang="en-US" sz="1200" dirty="0"/>
              <a:t>SQL analytics endpoint in Microsoft Fabric</a:t>
            </a:r>
          </a:p>
          <a:p>
            <a:r>
              <a:rPr lang="en-US" sz="1200" dirty="0"/>
              <a:t>Warehouse in Microsoft Fabric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D5A5D17-D173-98F3-0228-842BFE7BEBF4}"/>
              </a:ext>
            </a:extLst>
          </p:cNvPr>
          <p:cNvSpPr txBox="1"/>
          <p:nvPr/>
        </p:nvSpPr>
        <p:spPr>
          <a:xfrm>
            <a:off x="7532914" y="1666777"/>
            <a:ext cx="3586463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Arrays must be accompanied by a property name, unless the JSON originally starts with square brackets. In this case, property name is disallowed.</a:t>
            </a:r>
          </a:p>
          <a:p>
            <a:endParaRPr lang="en-US" sz="1200" dirty="0"/>
          </a:p>
          <a:p>
            <a:r>
              <a:rPr lang="en-US" dirty="0"/>
              <a:t>Property names require outer JSON objects to contain them</a:t>
            </a:r>
          </a:p>
          <a:p>
            <a:endParaRPr lang="en-US" sz="1400" dirty="0"/>
          </a:p>
          <a:p>
            <a:r>
              <a:rPr lang="en-US" dirty="0"/>
              <a:t>JSON objects signify only one, unless part of an array</a:t>
            </a:r>
          </a:p>
          <a:p>
            <a:endParaRPr lang="en-US" sz="1400" dirty="0"/>
          </a:p>
          <a:p>
            <a:r>
              <a:rPr lang="en-US" dirty="0"/>
              <a:t>NULLs are not JSON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04DA0F7-DC3A-D644-5712-056B82987029}"/>
              </a:ext>
            </a:extLst>
          </p:cNvPr>
          <p:cNvCxnSpPr/>
          <p:nvPr/>
        </p:nvCxnSpPr>
        <p:spPr>
          <a:xfrm flipV="1">
            <a:off x="5845629" y="2013857"/>
            <a:ext cx="1687286" cy="8490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FCD77C1-80D0-9112-138D-B83BDFB5E5C7}"/>
              </a:ext>
            </a:extLst>
          </p:cNvPr>
          <p:cNvCxnSpPr>
            <a:cxnSpLocks/>
          </p:cNvCxnSpPr>
          <p:nvPr/>
        </p:nvCxnSpPr>
        <p:spPr>
          <a:xfrm flipV="1">
            <a:off x="5845629" y="2013857"/>
            <a:ext cx="1687286" cy="18396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1C11FB2-F24E-E6EF-522D-A6429743ED08}"/>
              </a:ext>
            </a:extLst>
          </p:cNvPr>
          <p:cNvCxnSpPr>
            <a:cxnSpLocks/>
            <a:endCxn id="2" idx="1"/>
          </p:cNvCxnSpPr>
          <p:nvPr/>
        </p:nvCxnSpPr>
        <p:spPr>
          <a:xfrm>
            <a:off x="5845628" y="3166472"/>
            <a:ext cx="1687286" cy="27002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5E47B4D-67A2-26E5-C4CD-9EF49165DA01}"/>
              </a:ext>
            </a:extLst>
          </p:cNvPr>
          <p:cNvCxnSpPr>
            <a:cxnSpLocks/>
            <a:endCxn id="2" idx="1"/>
          </p:cNvCxnSpPr>
          <p:nvPr/>
        </p:nvCxnSpPr>
        <p:spPr>
          <a:xfrm flipV="1">
            <a:off x="5845629" y="3436492"/>
            <a:ext cx="1687285" cy="6725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A068AED-9A58-55E5-D4C1-265DB9402342}"/>
              </a:ext>
            </a:extLst>
          </p:cNvPr>
          <p:cNvCxnSpPr>
            <a:cxnSpLocks/>
          </p:cNvCxnSpPr>
          <p:nvPr/>
        </p:nvCxnSpPr>
        <p:spPr>
          <a:xfrm flipV="1">
            <a:off x="5845629" y="4350058"/>
            <a:ext cx="1668148" cy="4940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35A8A95-67E2-07F3-BFD8-584366AA15DF}"/>
              </a:ext>
            </a:extLst>
          </p:cNvPr>
          <p:cNvCxnSpPr>
            <a:cxnSpLocks/>
          </p:cNvCxnSpPr>
          <p:nvPr/>
        </p:nvCxnSpPr>
        <p:spPr>
          <a:xfrm flipV="1">
            <a:off x="5845628" y="4366653"/>
            <a:ext cx="1668149" cy="72433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1794027-DFF7-4E58-074D-B81E36330EDE}"/>
              </a:ext>
            </a:extLst>
          </p:cNvPr>
          <p:cNvCxnSpPr>
            <a:cxnSpLocks/>
          </p:cNvCxnSpPr>
          <p:nvPr/>
        </p:nvCxnSpPr>
        <p:spPr>
          <a:xfrm flipV="1">
            <a:off x="6197643" y="4963934"/>
            <a:ext cx="1335270" cy="7946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D530032-CECE-3D9E-CA4B-530F454AC6C6}"/>
              </a:ext>
            </a:extLst>
          </p:cNvPr>
          <p:cNvCxnSpPr>
            <a:cxnSpLocks/>
          </p:cNvCxnSpPr>
          <p:nvPr/>
        </p:nvCxnSpPr>
        <p:spPr>
          <a:xfrm flipV="1">
            <a:off x="5845628" y="4968592"/>
            <a:ext cx="1700110" cy="114590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4CC9A94-29AB-E565-D87D-677B5D3B7F8F}"/>
              </a:ext>
            </a:extLst>
          </p:cNvPr>
          <p:cNvCxnSpPr>
            <a:cxnSpLocks/>
          </p:cNvCxnSpPr>
          <p:nvPr/>
        </p:nvCxnSpPr>
        <p:spPr>
          <a:xfrm flipV="1">
            <a:off x="5994358" y="4988301"/>
            <a:ext cx="1551380" cy="13105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DE019F0A-24F2-3941-ACCF-53ADA0DB001E}"/>
              </a:ext>
            </a:extLst>
          </p:cNvPr>
          <p:cNvCxnSpPr>
            <a:cxnSpLocks/>
          </p:cNvCxnSpPr>
          <p:nvPr/>
        </p:nvCxnSpPr>
        <p:spPr>
          <a:xfrm flipV="1">
            <a:off x="5845628" y="2013857"/>
            <a:ext cx="1687285" cy="209523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838099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EDD89-8B8B-5DD5-B969-A2CFD1C4A4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F5A6C07-BD41-6AEA-0A58-AB45F3954924}"/>
              </a:ext>
            </a:extLst>
          </p:cNvPr>
          <p:cNvSpPr txBox="1"/>
          <p:nvPr/>
        </p:nvSpPr>
        <p:spPr>
          <a:xfrm>
            <a:off x="901109" y="646629"/>
            <a:ext cx="1001498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(what [, </a:t>
            </a:r>
            <a:r>
              <a:rPr lang="en-US" sz="2800" i="1" dirty="0" err="1">
                <a:solidFill>
                  <a:srgbClr val="808080"/>
                </a:solidFill>
                <a:latin typeface="Consolas" panose="020B0609020204030204" pitchFamily="49" charset="0"/>
              </a:rPr>
              <a:t>json_type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] = (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OBJECT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|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ARRAY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)] 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8B5C55-03D6-C599-A935-3F560886CAF8}"/>
              </a:ext>
            </a:extLst>
          </p:cNvPr>
          <p:cNvSpPr txBox="1"/>
          <p:nvPr/>
        </p:nvSpPr>
        <p:spPr>
          <a:xfrm>
            <a:off x="1275907" y="1233647"/>
            <a:ext cx="89951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Tests for a valid JSON value. This can be a JSON object, array, number, string or</a:t>
            </a: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one of the three literal values of (false, true, null)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03C4FE-1715-F424-733B-758B393D1B51}"/>
              </a:ext>
            </a:extLst>
          </p:cNvPr>
          <p:cNvSpPr txBox="1"/>
          <p:nvPr/>
        </p:nvSpPr>
        <p:spPr>
          <a:xfrm>
            <a:off x="8789723" y="6211371"/>
            <a:ext cx="29626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2022+</a:t>
            </a:r>
          </a:p>
        </p:txBody>
      </p:sp>
      <p:sp>
        <p:nvSpPr>
          <p:cNvPr id="8" name="Star: 10 Points 7">
            <a:extLst>
              <a:ext uri="{FF2B5EF4-FFF2-40B4-BE49-F238E27FC236}">
                <a16:creationId xmlns:a16="http://schemas.microsoft.com/office/drawing/2014/main" id="{C14F43F0-B609-148B-9D22-48E9DA5D6038}"/>
              </a:ext>
            </a:extLst>
          </p:cNvPr>
          <p:cNvSpPr/>
          <p:nvPr/>
        </p:nvSpPr>
        <p:spPr>
          <a:xfrm rot="20706229">
            <a:off x="9082864" y="1403245"/>
            <a:ext cx="2083981" cy="1919177"/>
          </a:xfrm>
          <a:prstGeom prst="star10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New for SQL Server 2022!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0C48B69D-E770-DE16-0D9E-6E5C7AD302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5116700"/>
              </p:ext>
            </p:extLst>
          </p:nvPr>
        </p:nvGraphicFramePr>
        <p:xfrm>
          <a:off x="999744" y="2834242"/>
          <a:ext cx="7721209" cy="239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8670">
                  <a:extLst>
                    <a:ext uri="{9D8B030D-6E8A-4147-A177-3AD203B41FA5}">
                      <a16:colId xmlns:a16="http://schemas.microsoft.com/office/drawing/2014/main" val="52433680"/>
                    </a:ext>
                  </a:extLst>
                </a:gridCol>
                <a:gridCol w="5412539">
                  <a:extLst>
                    <a:ext uri="{9D8B030D-6E8A-4147-A177-3AD203B41FA5}">
                      <a16:colId xmlns:a16="http://schemas.microsoft.com/office/drawing/2014/main" val="30044025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JSON_type</a:t>
                      </a:r>
                      <a:r>
                        <a:rPr lang="en-US" dirty="0"/>
                        <a:t> 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6040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ARRAY</a:t>
                      </a:r>
                      <a:endParaRPr lang="en-US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Tests for a valid JSON array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6263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OBJECT</a:t>
                      </a:r>
                      <a:endParaRPr lang="en-US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dirty="0">
                          <a:effectLst/>
                        </a:rPr>
                        <a:t>Tests for a valid JSON object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33382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SCALAR</a:t>
                      </a:r>
                      <a:endParaRPr lang="en-US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Tests for a valid JSON scalar – number or string</a:t>
                      </a:r>
                      <a:endParaRPr lang="en-US" dirty="0"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80539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VALUE</a:t>
                      </a:r>
                      <a:endParaRPr lang="en-US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Tests for a valid JSON value of a key/value pair. This can be a JSON object, array, number, string or one of the three literal values in (false, true, null)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1963873"/>
                  </a:ext>
                </a:extLst>
              </a:tr>
            </a:tbl>
          </a:graphicData>
        </a:graphic>
      </p:graphicFrame>
      <p:sp>
        <p:nvSpPr>
          <p:cNvPr id="2" name="Star: 10 Points 1">
            <a:extLst>
              <a:ext uri="{FF2B5EF4-FFF2-40B4-BE49-F238E27FC236}">
                <a16:creationId xmlns:a16="http://schemas.microsoft.com/office/drawing/2014/main" id="{43F5F796-6F83-F31A-BAA8-1E4A4FC9C2FA}"/>
              </a:ext>
            </a:extLst>
          </p:cNvPr>
          <p:cNvSpPr/>
          <p:nvPr/>
        </p:nvSpPr>
        <p:spPr>
          <a:xfrm rot="20706229">
            <a:off x="2202458" y="4330606"/>
            <a:ext cx="561987" cy="432085"/>
          </a:xfrm>
          <a:prstGeom prst="star10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" dirty="0"/>
              <a:t>New for SQL Server 2022!</a:t>
            </a:r>
          </a:p>
        </p:txBody>
      </p:sp>
      <p:sp>
        <p:nvSpPr>
          <p:cNvPr id="3" name="Star: 10 Points 2">
            <a:extLst>
              <a:ext uri="{FF2B5EF4-FFF2-40B4-BE49-F238E27FC236}">
                <a16:creationId xmlns:a16="http://schemas.microsoft.com/office/drawing/2014/main" id="{434CF406-CB01-CA11-D1F9-B15F64189BE5}"/>
              </a:ext>
            </a:extLst>
          </p:cNvPr>
          <p:cNvSpPr/>
          <p:nvPr/>
        </p:nvSpPr>
        <p:spPr>
          <a:xfrm rot="20706229">
            <a:off x="2202457" y="3926269"/>
            <a:ext cx="561987" cy="432085"/>
          </a:xfrm>
          <a:prstGeom prst="star10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" dirty="0"/>
              <a:t>New for SQL Server 2022!</a:t>
            </a:r>
          </a:p>
        </p:txBody>
      </p:sp>
    </p:spTree>
    <p:extLst>
      <p:ext uri="{BB962C8B-B14F-4D97-AF65-F5344CB8AC3E}">
        <p14:creationId xmlns:p14="http://schemas.microsoft.com/office/powerpoint/2010/main" val="69567354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920636E-11AD-7BF3-8097-9CD4053110CC}"/>
              </a:ext>
            </a:extLst>
          </p:cNvPr>
          <p:cNvSpPr txBox="1"/>
          <p:nvPr/>
        </p:nvSpPr>
        <p:spPr>
          <a:xfrm>
            <a:off x="901108" y="646629"/>
            <a:ext cx="901906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(what [, </a:t>
            </a:r>
            <a:r>
              <a:rPr lang="en-US" sz="2800" i="1" dirty="0" err="1">
                <a:solidFill>
                  <a:srgbClr val="808080"/>
                </a:solidFill>
                <a:latin typeface="Consolas" panose="020B0609020204030204" pitchFamily="49" charset="0"/>
              </a:rPr>
              <a:t>json_type</a:t>
            </a:r>
            <a:r>
              <a:rPr lang="en-US" sz="2800" i="1" dirty="0">
                <a:solidFill>
                  <a:srgbClr val="80808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= (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OBJECT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|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ARRAY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)] )</a:t>
            </a:r>
            <a:endParaRPr lang="en-US" sz="2800" dirty="0">
              <a:latin typeface="Consolas" panose="020B0609020204030204" pitchFamily="49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75E55BF-ACA8-7CAD-430C-4FDD62C7CA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5709946"/>
              </p:ext>
            </p:extLst>
          </p:nvPr>
        </p:nvGraphicFramePr>
        <p:xfrm>
          <a:off x="1441148" y="1366493"/>
          <a:ext cx="9309703" cy="505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0439">
                  <a:extLst>
                    <a:ext uri="{9D8B030D-6E8A-4147-A177-3AD203B41FA5}">
                      <a16:colId xmlns:a16="http://schemas.microsoft.com/office/drawing/2014/main" val="1962960265"/>
                    </a:ext>
                  </a:extLst>
                </a:gridCol>
                <a:gridCol w="1404748">
                  <a:extLst>
                    <a:ext uri="{9D8B030D-6E8A-4147-A177-3AD203B41FA5}">
                      <a16:colId xmlns:a16="http://schemas.microsoft.com/office/drawing/2014/main" val="1960977839"/>
                    </a:ext>
                  </a:extLst>
                </a:gridCol>
                <a:gridCol w="1482811">
                  <a:extLst>
                    <a:ext uri="{9D8B030D-6E8A-4147-A177-3AD203B41FA5}">
                      <a16:colId xmlns:a16="http://schemas.microsoft.com/office/drawing/2014/main" val="1657064559"/>
                    </a:ext>
                  </a:extLst>
                </a:gridCol>
                <a:gridCol w="1495168">
                  <a:extLst>
                    <a:ext uri="{9D8B030D-6E8A-4147-A177-3AD203B41FA5}">
                      <a16:colId xmlns:a16="http://schemas.microsoft.com/office/drawing/2014/main" val="2559841676"/>
                    </a:ext>
                  </a:extLst>
                </a:gridCol>
                <a:gridCol w="1507524">
                  <a:extLst>
                    <a:ext uri="{9D8B030D-6E8A-4147-A177-3AD203B41FA5}">
                      <a16:colId xmlns:a16="http://schemas.microsoft.com/office/drawing/2014/main" val="791409100"/>
                    </a:ext>
                  </a:extLst>
                </a:gridCol>
                <a:gridCol w="989013">
                  <a:extLst>
                    <a:ext uri="{9D8B030D-6E8A-4147-A177-3AD203B41FA5}">
                      <a16:colId xmlns:a16="http://schemas.microsoft.com/office/drawing/2014/main" val="2936314179"/>
                    </a:ext>
                  </a:extLst>
                </a:gridCol>
              </a:tblGrid>
              <a:tr h="351064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kumimoji="0" 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FF"/>
                          </a:solidFill>
                          <a:effectLst/>
                          <a:uLnTx/>
                          <a:uFillTx/>
                          <a:latin typeface="Cascadia Mono" panose="020B0609020000020004" pitchFamily="49" charset="0"/>
                          <a:ea typeface="+mn-ea"/>
                          <a:cs typeface="Cascadia Mono" panose="020B0609020000020004" pitchFamily="49" charset="0"/>
                        </a:rPr>
                        <a:t>ISJSON</a:t>
                      </a:r>
                      <a:r>
                        <a:rPr lang="en-US" sz="18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kumimoji="0" 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Cascadia Mono" panose="020B0609020000020004" pitchFamily="49" charset="0"/>
                          <a:ea typeface="+mn-ea"/>
                          <a:cs typeface="Cascadia Mono" panose="020B0609020000020004" pitchFamily="49" charset="0"/>
                        </a:rPr>
                        <a:t>VALUE</a:t>
                      </a:r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SCALAR</a:t>
                      </a:r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OBJECT</a:t>
                      </a:r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ARRAY</a:t>
                      </a:r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1811667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/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1692602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'NULL'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4084534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'null'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4434742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'a'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607793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'"a"'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1634560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'2'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3704714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'"2"'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6047043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'false'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348471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'"false"'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8320358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'[]'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0079796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'[1,2,4]'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901048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'{}'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970081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'{"</a:t>
                      </a:r>
                      <a:r>
                        <a:rPr lang="en-US" sz="1600" dirty="0" err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key":"value</a:t>
                      </a: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"}'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794606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/>
                        <a:t>(malformed JSON)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27685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790965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128375B-FE41-84DB-DBCD-2F6E5273B05D}"/>
              </a:ext>
            </a:extLst>
          </p:cNvPr>
          <p:cNvSpPr txBox="1"/>
          <p:nvPr/>
        </p:nvSpPr>
        <p:spPr>
          <a:xfrm>
            <a:off x="1316736" y="966430"/>
            <a:ext cx="672998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ALTER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TABLE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20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[Table_1]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WITH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CHECK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ADD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CONSTRAINT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[chk_dbo.Table1_JsonCheck] </a:t>
            </a:r>
          </a:p>
          <a:p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CHECK 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((</a:t>
            </a:r>
            <a:r>
              <a:rPr lang="en-US" sz="20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20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JsonColumn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)=(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1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)))</a:t>
            </a:r>
            <a:endParaRPr lang="en-US" sz="20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2DC66A8-FE89-8C27-21F5-3338417991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6987" y="2274703"/>
            <a:ext cx="9746316" cy="3701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5217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34D13C6-5314-7759-BA83-15D245790A58}"/>
              </a:ext>
            </a:extLst>
          </p:cNvPr>
          <p:cNvSpPr txBox="1"/>
          <p:nvPr/>
        </p:nvSpPr>
        <p:spPr>
          <a:xfrm>
            <a:off x="1028697" y="1825827"/>
            <a:ext cx="8444911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'$.parents[0].name'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'$.parents[10]'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'$."bogus-field"'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069AAA-642C-24E7-2DF8-6921B768BAF8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JSON_PATH_EXISTS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 path)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D02F32-77B5-C37E-0CF9-5739455591A0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Returns confirmation if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 path exists to an array or value inside the valid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-apple-system"/>
              </a:rPr>
              <a:t>json</a:t>
            </a:r>
            <a:endParaRPr lang="en-US" dirty="0"/>
          </a:p>
        </p:txBody>
      </p:sp>
      <p:sp>
        <p:nvSpPr>
          <p:cNvPr id="9" name="Star: 10 Points 8">
            <a:extLst>
              <a:ext uri="{FF2B5EF4-FFF2-40B4-BE49-F238E27FC236}">
                <a16:creationId xmlns:a16="http://schemas.microsoft.com/office/drawing/2014/main" id="{60145506-C846-1185-B0A4-40B15B23F448}"/>
              </a:ext>
            </a:extLst>
          </p:cNvPr>
          <p:cNvSpPr/>
          <p:nvPr/>
        </p:nvSpPr>
        <p:spPr>
          <a:xfrm rot="20706229">
            <a:off x="9082864" y="1403245"/>
            <a:ext cx="2083981" cy="1919177"/>
          </a:xfrm>
          <a:prstGeom prst="star10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New for SQL Server 2022!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C96DB4A-1739-666A-5125-9EB7D470190C}"/>
              </a:ext>
            </a:extLst>
          </p:cNvPr>
          <p:cNvSpPr txBox="1"/>
          <p:nvPr/>
        </p:nvSpPr>
        <p:spPr>
          <a:xfrm>
            <a:off x="8871202" y="5690370"/>
            <a:ext cx="29626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2022+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</p:txBody>
      </p:sp>
    </p:spTree>
    <p:extLst>
      <p:ext uri="{BB962C8B-B14F-4D97-AF65-F5344CB8AC3E}">
        <p14:creationId xmlns:p14="http://schemas.microsoft.com/office/powerpoint/2010/main" val="300385851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6C7709-3427-AD7D-C798-1401B1A87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8C38BED-ACFC-216F-1FD1-7466B8EB79D8}"/>
              </a:ext>
            </a:extLst>
          </p:cNvPr>
          <p:cNvSpPr txBox="1"/>
          <p:nvPr/>
        </p:nvSpPr>
        <p:spPr>
          <a:xfrm>
            <a:off x="1028697" y="1825827"/>
            <a:ext cx="8827683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'{'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or other malformed JSON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'$."bogus-field"'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3643BD-8192-128E-1384-BFF93E157F39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JSON_PATH_EXISTS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 path)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FD39BE-FC4B-EC80-17AA-D1C70029B2FB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Returns confirmation if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 path exists inside the valid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-apple-system"/>
              </a:rPr>
              <a:t>json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B2BDB42-D629-7ACE-EF32-E09BB0D2E342}"/>
              </a:ext>
            </a:extLst>
          </p:cNvPr>
          <p:cNvSpPr/>
          <p:nvPr/>
        </p:nvSpPr>
        <p:spPr>
          <a:xfrm>
            <a:off x="1028697" y="3429000"/>
            <a:ext cx="7756957" cy="364524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051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E08F4-BCF5-BACB-924E-9D551FA32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AF40FD7-94AE-B543-CFCE-44371B0D910B}"/>
              </a:ext>
            </a:extLst>
          </p:cNvPr>
          <p:cNvSpPr txBox="1"/>
          <p:nvPr/>
        </p:nvSpPr>
        <p:spPr>
          <a:xfrm>
            <a:off x="1028697" y="1825827"/>
            <a:ext cx="9093498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IF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BEGIN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IF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'$."feature-flag"'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BEGIN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...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END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END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ELSE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PRINT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'Not JSON-formatted'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5DE166-B732-9217-5FF5-BD153ACD96FB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JSON_PATH_EXISTS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 path)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A5FBE7-BB22-E20C-9E26-09355A778CFB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Returns confirmation if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 path exists inside the valid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-apple-system"/>
              </a:rPr>
              <a:t>json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531983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0256E7-BA56-CD7A-8E29-839436B413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Querying JSON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763B48-5628-4BB1-9E16-5B6049E785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/>
              <a:t> 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JSON_QUERY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endParaRPr lang="en-US" sz="2800" dirty="0">
              <a:latin typeface="Consolas" panose="020B0609020204030204" pitchFamily="49" charset="0"/>
            </a:endParaRPr>
          </a:p>
          <a:p>
            <a:r>
              <a:rPr lang="en-US" dirty="0"/>
              <a:t> 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JSON_VALUE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endParaRPr lang="en-US" sz="2800" dirty="0">
              <a:solidFill>
                <a:srgbClr val="FF00FF"/>
              </a:solidFill>
              <a:latin typeface="Consolas" panose="020B0609020204030204" pitchFamily="49" charset="0"/>
            </a:endParaRPr>
          </a:p>
          <a:p>
            <a:r>
              <a:rPr lang="en-US" dirty="0"/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OPENJSON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811542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028698" y="1826613"/>
            <a:ext cx="10723681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JSON_QUERY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{entire contents of @_json}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JSON_QUERY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[{"</a:t>
            </a:r>
            <a:r>
              <a:rPr lang="en-US" sz="1800" dirty="0" err="1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JSON_QUERY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[{"</a:t>
            </a:r>
            <a:r>
              <a:rPr lang="en-US" sz="1800" dirty="0" err="1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JSON_QUERY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'$.parents[1]'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[{"</a:t>
            </a:r>
            <a:r>
              <a:rPr lang="en-US" sz="1800" dirty="0" err="1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JSON_QUERY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800" i="1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i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JSON_QUERY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[, </a:t>
            </a:r>
            <a:r>
              <a:rPr lang="en-US" sz="2800" i="1" dirty="0">
                <a:solidFill>
                  <a:srgbClr val="808080"/>
                </a:solidFill>
                <a:latin typeface="Consolas" panose="020B0609020204030204" pitchFamily="49" charset="0"/>
              </a:rPr>
              <a:t>path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'$'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])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1" y="1233647"/>
            <a:ext cx="87505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Returns a well-formatted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JSON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</a:t>
            </a:r>
            <a:r>
              <a:rPr lang="en-US" b="0" i="0" dirty="0">
                <a:solidFill>
                  <a:srgbClr val="111111"/>
                </a:solidFill>
                <a:effectLst/>
                <a:highlight>
                  <a:srgbClr val="FFFF00"/>
                </a:highlight>
                <a:latin typeface="-apple-system"/>
              </a:rPr>
              <a:t>array or object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from the original JSON , </a:t>
            </a:r>
            <a:r>
              <a:rPr lang="en-US" b="0" i="0" dirty="0">
                <a:solidFill>
                  <a:srgbClr val="111111"/>
                </a:solidFill>
                <a:effectLst/>
                <a:highlight>
                  <a:srgbClr val="FFFF00"/>
                </a:highlight>
                <a:latin typeface="-apple-system"/>
              </a:rPr>
              <a:t>but not values</a:t>
            </a:r>
            <a:endParaRPr lang="en-US" dirty="0">
              <a:highlight>
                <a:srgbClr val="FFFF00"/>
              </a:highlight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5A96AEB-6343-5E6A-23C8-32DF36550836}"/>
              </a:ext>
            </a:extLst>
          </p:cNvPr>
          <p:cNvSpPr txBox="1"/>
          <p:nvPr/>
        </p:nvSpPr>
        <p:spPr>
          <a:xfrm>
            <a:off x="8789723" y="5605066"/>
            <a:ext cx="29626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  </a:t>
            </a:r>
          </a:p>
          <a:p>
            <a:r>
              <a:rPr lang="en-US" sz="1200" dirty="0"/>
              <a:t>Azure SQL Managed Instance  </a:t>
            </a:r>
          </a:p>
          <a:p>
            <a:r>
              <a:rPr lang="en-US" sz="1200" dirty="0"/>
              <a:t>Azure Synapse Analytics</a:t>
            </a:r>
          </a:p>
        </p:txBody>
      </p:sp>
    </p:spTree>
    <p:extLst>
      <p:ext uri="{BB962C8B-B14F-4D97-AF65-F5344CB8AC3E}">
        <p14:creationId xmlns:p14="http://schemas.microsoft.com/office/powerpoint/2010/main" val="12484176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028699" y="1826613"/>
            <a:ext cx="9348677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</a:p>
          <a:p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800" i="1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i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800" i="1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i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Jeff Foushee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'$.parents[0].name'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Mom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800" i="1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i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'$.parents[1].name'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Dad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false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JSON_VALUE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 path)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2" y="1233647"/>
            <a:ext cx="8919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Returns the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-apple-system"/>
              </a:rPr>
              <a:t>stringable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</a:t>
            </a:r>
            <a:r>
              <a:rPr lang="en-US" b="0" i="0" dirty="0">
                <a:solidFill>
                  <a:srgbClr val="111111"/>
                </a:solidFill>
                <a:effectLst/>
                <a:highlight>
                  <a:srgbClr val="FFFF00"/>
                </a:highlight>
                <a:latin typeface="-apple-system"/>
              </a:rPr>
              <a:t>value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of a key within JSON, </a:t>
            </a:r>
            <a:r>
              <a:rPr lang="en-US" b="0" i="0" dirty="0">
                <a:solidFill>
                  <a:srgbClr val="111111"/>
                </a:solidFill>
                <a:effectLst/>
                <a:highlight>
                  <a:srgbClr val="FFFF00"/>
                </a:highlight>
                <a:latin typeface="-apple-system"/>
              </a:rPr>
              <a:t>but not a JSON object/array</a:t>
            </a:r>
            <a:endParaRPr lang="en-US" dirty="0">
              <a:highlight>
                <a:srgbClr val="FFFF00"/>
              </a:highlight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92DEFB4-808C-5CD3-FB68-AA30180AF563}"/>
              </a:ext>
            </a:extLst>
          </p:cNvPr>
          <p:cNvSpPr txBox="1"/>
          <p:nvPr/>
        </p:nvSpPr>
        <p:spPr>
          <a:xfrm>
            <a:off x="8789723" y="5624353"/>
            <a:ext cx="29626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  </a:t>
            </a:r>
          </a:p>
          <a:p>
            <a:r>
              <a:rPr lang="en-US" sz="1200" dirty="0"/>
              <a:t>Azure SQL Managed Instance  </a:t>
            </a:r>
          </a:p>
          <a:p>
            <a:r>
              <a:rPr lang="en-US" sz="1200" dirty="0"/>
              <a:t>Azure Synapse Analytics</a:t>
            </a:r>
          </a:p>
        </p:txBody>
      </p:sp>
    </p:spTree>
    <p:extLst>
      <p:ext uri="{BB962C8B-B14F-4D97-AF65-F5344CB8AC3E}">
        <p14:creationId xmlns:p14="http://schemas.microsoft.com/office/powerpoint/2010/main" val="47581369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9C2A84-EEF4-D02B-473D-F95F30672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6583DED-79F7-76F6-CFAA-19E02FCBE11C}"/>
              </a:ext>
            </a:extLst>
          </p:cNvPr>
          <p:cNvSpPr txBox="1"/>
          <p:nvPr/>
        </p:nvSpPr>
        <p:spPr>
          <a:xfrm>
            <a:off x="1012747" y="1674674"/>
            <a:ext cx="649752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</a:p>
          <a:p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1056A2-D664-6BA0-1A2E-F400294E290B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JSON_QUERY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() vs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 JSON_VALUE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() </a:t>
            </a:r>
            <a:endParaRPr lang="en-US" sz="28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2F29795-34C0-4286-C86D-5A5A90B2DF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6237328"/>
              </p:ext>
            </p:extLst>
          </p:nvPr>
        </p:nvGraphicFramePr>
        <p:xfrm>
          <a:off x="1012747" y="3617733"/>
          <a:ext cx="9954736" cy="23312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069">
                  <a:extLst>
                    <a:ext uri="{9D8B030D-6E8A-4147-A177-3AD203B41FA5}">
                      <a16:colId xmlns:a16="http://schemas.microsoft.com/office/drawing/2014/main" val="398802349"/>
                    </a:ext>
                  </a:extLst>
                </a:gridCol>
                <a:gridCol w="3560064">
                  <a:extLst>
                    <a:ext uri="{9D8B030D-6E8A-4147-A177-3AD203B41FA5}">
                      <a16:colId xmlns:a16="http://schemas.microsoft.com/office/drawing/2014/main" val="3194749352"/>
                    </a:ext>
                  </a:extLst>
                </a:gridCol>
                <a:gridCol w="1640603">
                  <a:extLst>
                    <a:ext uri="{9D8B030D-6E8A-4147-A177-3AD203B41FA5}">
                      <a16:colId xmlns:a16="http://schemas.microsoft.com/office/drawing/2014/main" val="1747772036"/>
                    </a:ext>
                  </a:extLst>
                </a:gridCol>
              </a:tblGrid>
              <a:tr h="276553">
                <a:tc>
                  <a:txBody>
                    <a:bodyPr/>
                    <a:lstStyle/>
                    <a:p>
                      <a:r>
                        <a:rPr lang="en-US" sz="1450" b="0" dirty="0">
                          <a:solidFill>
                            <a:schemeClr val="tx1"/>
                          </a:solidFill>
                        </a:rPr>
                        <a:t>SQL Statement</a:t>
                      </a: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FF00FF"/>
                          </a:solidFill>
                          <a:latin typeface="Consolas" panose="020B0609020204030204" pitchFamily="49" charset="0"/>
                        </a:rPr>
                        <a:t>JSON_QUERY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()</a:t>
                      </a:r>
                      <a:endParaRPr lang="en-US" sz="1450" dirty="0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JSON_VALUE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()</a:t>
                      </a:r>
                      <a:endParaRPr lang="en-US" sz="1450" dirty="0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8339950"/>
                  </a:ext>
                </a:extLst>
              </a:tr>
              <a:tr h="336472"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&lt;</a:t>
                      </a:r>
                      <a:r>
                        <a:rPr lang="en-US" sz="1450" dirty="0" err="1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func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&gt;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@_json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45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'$'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  <a:endParaRPr lang="en-US" sz="14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{entire contents of @_json}</a:t>
                      </a:r>
                      <a:endParaRPr lang="en-US" sz="1450" dirty="0">
                        <a:solidFill>
                          <a:srgbClr val="000000"/>
                        </a:solidFill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NULL</a:t>
                      </a:r>
                      <a:endParaRPr lang="en-US" sz="145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961949"/>
                  </a:ext>
                </a:extLst>
              </a:tr>
              <a:tr h="336472"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&lt;</a:t>
                      </a:r>
                      <a:r>
                        <a:rPr lang="en-US" sz="1450" dirty="0" err="1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func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&gt;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@_json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45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'$.parents'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  <a:endParaRPr lang="en-US" sz="14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[{"</a:t>
                      </a:r>
                      <a:r>
                        <a:rPr lang="en-US" sz="1450" dirty="0" err="1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name":"Mom</a:t>
                      </a:r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"},{"</a:t>
                      </a:r>
                      <a:r>
                        <a:rPr lang="en-US" sz="1450" dirty="0" err="1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name":"Dad</a:t>
                      </a:r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"}]</a:t>
                      </a:r>
                      <a:endParaRPr lang="en-US" sz="145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NULL</a:t>
                      </a:r>
                      <a:endParaRPr lang="en-US" sz="145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5324098"/>
                  </a:ext>
                </a:extLst>
              </a:tr>
              <a:tr h="336472"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&lt;</a:t>
                      </a:r>
                      <a:r>
                        <a:rPr lang="en-US" sz="1450" dirty="0" err="1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func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&gt;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@_json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45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'$.name'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  <a:endParaRPr lang="en-US" sz="14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NULL</a:t>
                      </a:r>
                      <a:endParaRPr lang="en-US" sz="1450" dirty="0">
                        <a:solidFill>
                          <a:srgbClr val="000000"/>
                        </a:solidFill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Jeff Foushee</a:t>
                      </a:r>
                      <a:endParaRPr lang="en-US" sz="145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0634431"/>
                  </a:ext>
                </a:extLst>
              </a:tr>
              <a:tr h="336472"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&lt;</a:t>
                      </a:r>
                      <a:r>
                        <a:rPr lang="en-US" sz="1450" dirty="0" err="1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func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&gt;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@_json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45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'$.parents[0]'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  <a:endParaRPr lang="en-US" sz="14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[{"</a:t>
                      </a:r>
                      <a:r>
                        <a:rPr lang="en-US" sz="1450" dirty="0" err="1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name":"Mom</a:t>
                      </a:r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"}]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NULL</a:t>
                      </a:r>
                      <a:endParaRPr lang="en-US" sz="145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2200580"/>
                  </a:ext>
                </a:extLst>
              </a:tr>
              <a:tr h="336472"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&lt;</a:t>
                      </a:r>
                      <a:r>
                        <a:rPr lang="en-US" sz="1450" dirty="0" err="1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func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&gt;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@_json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45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'$.parents[0].name'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  <a:endParaRPr lang="en-US" sz="14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NULL</a:t>
                      </a:r>
                      <a:endParaRPr lang="en-US" sz="1450" dirty="0">
                        <a:solidFill>
                          <a:srgbClr val="008000"/>
                        </a:solidFill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Mom</a:t>
                      </a:r>
                      <a:endParaRPr lang="en-US" sz="145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3415542"/>
                  </a:ext>
                </a:extLst>
              </a:tr>
              <a:tr h="336472"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&lt;</a:t>
                      </a:r>
                      <a:r>
                        <a:rPr lang="en-US" sz="1450" dirty="0" err="1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func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&gt;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@_json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45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'$.parents[1].name'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  <a:endParaRPr lang="en-US" sz="14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NULL</a:t>
                      </a:r>
                      <a:endParaRPr lang="en-US" sz="1450" dirty="0">
                        <a:solidFill>
                          <a:srgbClr val="000000"/>
                        </a:solidFill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Dad</a:t>
                      </a:r>
                      <a:endParaRPr lang="en-US" sz="145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4782861"/>
                  </a:ext>
                </a:extLst>
              </a:tr>
            </a:tbl>
          </a:graphicData>
        </a:graphic>
      </p:graphicFrame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24FA655-7A5E-869C-D8DC-303652F018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5413347"/>
              </p:ext>
            </p:extLst>
          </p:nvPr>
        </p:nvGraphicFramePr>
        <p:xfrm>
          <a:off x="5874951" y="3617733"/>
          <a:ext cx="5092531" cy="23312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92531">
                  <a:extLst>
                    <a:ext uri="{9D8B030D-6E8A-4147-A177-3AD203B41FA5}">
                      <a16:colId xmlns:a16="http://schemas.microsoft.com/office/drawing/2014/main" val="3420614832"/>
                    </a:ext>
                  </a:extLst>
                </a:gridCol>
              </a:tblGrid>
              <a:tr h="333036"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FF00FF"/>
                          </a:solidFill>
                          <a:latin typeface="Consolas" panose="020B0609020204030204" pitchFamily="49" charset="0"/>
                        </a:rPr>
                        <a:t>JSON_PATH_EXISTS</a:t>
                      </a:r>
                      <a:r>
                        <a:rPr lang="en-US" sz="145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nsolas" panose="020B0609020204030204" pitchFamily="49" charset="0"/>
                        </a:rPr>
                        <a:t>()</a:t>
                      </a:r>
                      <a:endParaRPr lang="en-US" sz="145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4687862"/>
                  </a:ext>
                </a:extLst>
              </a:tr>
              <a:tr h="333036">
                <a:tc>
                  <a:txBody>
                    <a:bodyPr/>
                    <a:lstStyle/>
                    <a:p>
                      <a:r>
                        <a:rPr lang="en-US" sz="145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2934800"/>
                  </a:ext>
                </a:extLst>
              </a:tr>
              <a:tr h="333036">
                <a:tc>
                  <a:txBody>
                    <a:bodyPr/>
                    <a:lstStyle/>
                    <a:p>
                      <a:r>
                        <a:rPr lang="en-US" sz="145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3360770"/>
                  </a:ext>
                </a:extLst>
              </a:tr>
              <a:tr h="333036">
                <a:tc>
                  <a:txBody>
                    <a:bodyPr/>
                    <a:lstStyle/>
                    <a:p>
                      <a:r>
                        <a:rPr lang="en-US" sz="145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5424082"/>
                  </a:ext>
                </a:extLst>
              </a:tr>
              <a:tr h="333036">
                <a:tc>
                  <a:txBody>
                    <a:bodyPr/>
                    <a:lstStyle/>
                    <a:p>
                      <a:r>
                        <a:rPr lang="en-US" sz="145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5970429"/>
                  </a:ext>
                </a:extLst>
              </a:tr>
              <a:tr h="333036">
                <a:tc>
                  <a:txBody>
                    <a:bodyPr/>
                    <a:lstStyle/>
                    <a:p>
                      <a:r>
                        <a:rPr lang="en-US" sz="145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8548491"/>
                  </a:ext>
                </a:extLst>
              </a:tr>
              <a:tr h="333036">
                <a:tc>
                  <a:txBody>
                    <a:bodyPr/>
                    <a:lstStyle/>
                    <a:p>
                      <a:r>
                        <a:rPr lang="en-US" sz="145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33555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452877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CF569F2-6380-781B-95F6-9EEDBB594D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342" y="227076"/>
            <a:ext cx="1914878" cy="221132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F369FF6-E481-4FF6-0C16-2935D4171B3D}"/>
              </a:ext>
            </a:extLst>
          </p:cNvPr>
          <p:cNvSpPr txBox="1"/>
          <p:nvPr/>
        </p:nvSpPr>
        <p:spPr>
          <a:xfrm>
            <a:off x="2828544" y="689788"/>
            <a:ext cx="7485888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20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</a:p>
          <a:p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20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20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</a:t>
            </a:r>
            <a:r>
              <a:rPr lang="en-US" sz="20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"parents":[{"</a:t>
            </a:r>
            <a:r>
              <a:rPr lang="en-US" sz="2000" dirty="0" err="1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20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2000" dirty="0" err="1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20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20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20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20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20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574F861-2090-92A6-E2CD-AF2F82CBB2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5205" y="3990850"/>
            <a:ext cx="2486678" cy="70330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2EC9BC2E-8AA8-FAC1-5F9A-EDC6FB5719DE}"/>
              </a:ext>
            </a:extLst>
          </p:cNvPr>
          <p:cNvSpPr txBox="1"/>
          <p:nvPr/>
        </p:nvSpPr>
        <p:spPr>
          <a:xfrm>
            <a:off x="999744" y="3154137"/>
            <a:ext cx="42242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JSON_QUERY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</a:p>
          <a:p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D767DFA-19CE-1ACF-BCF6-8A06926769B0}"/>
              </a:ext>
            </a:extLst>
          </p:cNvPr>
          <p:cNvGrpSpPr/>
          <p:nvPr/>
        </p:nvGrpSpPr>
        <p:grpSpPr>
          <a:xfrm>
            <a:off x="999744" y="4880445"/>
            <a:ext cx="10887456" cy="2031325"/>
            <a:chOff x="999744" y="4880445"/>
            <a:chExt cx="10887456" cy="2031325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2FA4160-811F-559D-44AA-92D7B44D0C97}"/>
                </a:ext>
              </a:extLst>
            </p:cNvPr>
            <p:cNvSpPr txBox="1"/>
            <p:nvPr/>
          </p:nvSpPr>
          <p:spPr>
            <a:xfrm>
              <a:off x="999744" y="5064682"/>
              <a:ext cx="5096256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800" dirty="0">
                  <a:solidFill>
                    <a:srgbClr val="00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SELECT</a:t>
              </a:r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</a:p>
            <a:p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  </a:t>
              </a:r>
              <a:r>
                <a:rPr lang="en-US" sz="1800" dirty="0">
                  <a:solidFill>
                    <a:srgbClr val="FF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JSON_QUERY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(</a:t>
              </a:r>
              <a:endPara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  <a:p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     </a:t>
              </a:r>
              <a:r>
                <a:rPr lang="en-US" sz="1800" dirty="0">
                  <a:solidFill>
                    <a:srgbClr val="FF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JSON_QUERY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(</a:t>
              </a:r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@_json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,</a:t>
              </a:r>
              <a:r>
                <a:rPr lang="en-US" sz="1800" dirty="0">
                  <a:solidFill>
                    <a:srgbClr val="FF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'$.parents'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)</a:t>
              </a:r>
              <a:endPara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  <a:p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     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,</a:t>
              </a:r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sz="1800" dirty="0">
                  <a:solidFill>
                    <a:srgbClr val="FF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'$[0]'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)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09C72BE-0DE7-B542-F855-8B6AD0BD6DC5}"/>
                </a:ext>
              </a:extLst>
            </p:cNvPr>
            <p:cNvSpPr txBox="1"/>
            <p:nvPr/>
          </p:nvSpPr>
          <p:spPr>
            <a:xfrm>
              <a:off x="6571488" y="4880445"/>
              <a:ext cx="5315712" cy="20313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800" dirty="0">
                  <a:solidFill>
                    <a:srgbClr val="00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SELECT</a:t>
              </a:r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</a:p>
            <a:p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  </a:t>
              </a:r>
              <a:r>
                <a:rPr lang="en-US" sz="1800" dirty="0">
                  <a:solidFill>
                    <a:srgbClr val="FF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JSON_VALUE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(</a:t>
              </a:r>
              <a:endPara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  <a:p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    </a:t>
              </a:r>
              <a:r>
                <a:rPr lang="en-US" sz="1800" dirty="0">
                  <a:solidFill>
                    <a:srgbClr val="FF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JSON_QUERY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(</a:t>
              </a:r>
              <a:endPara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  <a:p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      </a:t>
              </a:r>
              <a:r>
                <a:rPr lang="en-US" sz="1800" dirty="0">
                  <a:solidFill>
                    <a:srgbClr val="FF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JSON_QUERY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(</a:t>
              </a:r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@_json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,</a:t>
              </a:r>
              <a:r>
                <a:rPr lang="en-US" sz="1800" dirty="0">
                  <a:solidFill>
                    <a:srgbClr val="FF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'$.parents'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)</a:t>
              </a:r>
              <a:endPara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  <a:p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      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,</a:t>
              </a:r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sz="1800" dirty="0">
                  <a:solidFill>
                    <a:srgbClr val="FF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'$[0]'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)</a:t>
              </a:r>
              <a:endPara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  <a:p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    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,</a:t>
              </a:r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sz="1800" dirty="0">
                  <a:solidFill>
                    <a:srgbClr val="FF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'$.name'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)</a:t>
              </a:r>
              <a:endPara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  <a:p>
              <a:endParaRPr lang="en-US" dirty="0"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8B9DE548-9222-A250-0536-6B726AB2EF33}"/>
              </a:ext>
            </a:extLst>
          </p:cNvPr>
          <p:cNvSpPr txBox="1"/>
          <p:nvPr/>
        </p:nvSpPr>
        <p:spPr>
          <a:xfrm>
            <a:off x="6571488" y="3160232"/>
            <a:ext cx="42242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</a:p>
          <a:p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'$.parents[0].name'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2BC3805F-A562-F375-1489-5F3505CE00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5131" y="3983673"/>
            <a:ext cx="2486677" cy="710479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C131C5B-D0D0-AB60-E10A-56E90E1EDC54}"/>
              </a:ext>
            </a:extLst>
          </p:cNvPr>
          <p:cNvCxnSpPr/>
          <p:nvPr/>
        </p:nvCxnSpPr>
        <p:spPr>
          <a:xfrm>
            <a:off x="6096000" y="3154137"/>
            <a:ext cx="0" cy="327104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01877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3366435-5F3A-0592-0DF6-0BD00CD29EAA}"/>
              </a:ext>
            </a:extLst>
          </p:cNvPr>
          <p:cNvSpPr txBox="1"/>
          <p:nvPr/>
        </p:nvSpPr>
        <p:spPr>
          <a:xfrm>
            <a:off x="1555897" y="584662"/>
            <a:ext cx="908020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The “path” argument always starts with “$”, right?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803966-BE63-3D59-6A0F-91F41F2AC75A}"/>
              </a:ext>
            </a:extLst>
          </p:cNvPr>
          <p:cNvSpPr txBox="1"/>
          <p:nvPr/>
        </p:nvSpPr>
        <p:spPr>
          <a:xfrm>
            <a:off x="2925919" y="1578025"/>
            <a:ext cx="634015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0AB0DBE-9477-09BB-A733-A8165CB3BC60}"/>
              </a:ext>
            </a:extLst>
          </p:cNvPr>
          <p:cNvSpPr txBox="1"/>
          <p:nvPr/>
        </p:nvSpPr>
        <p:spPr>
          <a:xfrm>
            <a:off x="1018067" y="3645197"/>
            <a:ext cx="482190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JSON_VALUE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lax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$.blah'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[Value] 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502CD0D-31EA-86EE-DDBC-9768CBB587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7060" y="4773830"/>
            <a:ext cx="1829466" cy="91473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944EC14-8B2F-445B-7F56-11208FD9FEE3}"/>
              </a:ext>
            </a:extLst>
          </p:cNvPr>
          <p:cNvSpPr txBox="1"/>
          <p:nvPr/>
        </p:nvSpPr>
        <p:spPr>
          <a:xfrm>
            <a:off x="6114465" y="3645197"/>
            <a:ext cx="516919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strict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$.blah'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[Value]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BE617D-D540-AF87-B207-D831E975F330}"/>
              </a:ext>
            </a:extLst>
          </p:cNvPr>
          <p:cNvSpPr txBox="1"/>
          <p:nvPr/>
        </p:nvSpPr>
        <p:spPr>
          <a:xfrm>
            <a:off x="6230112" y="4765044"/>
            <a:ext cx="441251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Msg 13608, Level 16, State 1</a:t>
            </a:r>
          </a:p>
          <a:p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Property cannot be found on the </a:t>
            </a:r>
          </a:p>
          <a:p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specified JSON path.</a:t>
            </a:r>
            <a:endParaRPr lang="en-US" dirty="0">
              <a:solidFill>
                <a:schemeClr val="accent2">
                  <a:lumMod val="75000"/>
                </a:schemeClr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908034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107556" y="1937722"/>
            <a:ext cx="6190808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6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OPENJSON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[, </a:t>
            </a:r>
            <a:r>
              <a:rPr lang="en-US" sz="2800" i="1" dirty="0">
                <a:solidFill>
                  <a:srgbClr val="808080"/>
                </a:solidFill>
                <a:latin typeface="Consolas" panose="020B0609020204030204" pitchFamily="49" charset="0"/>
              </a:rPr>
              <a:t>path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'$'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])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Interprets the JSON object into a relational view, using a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-apple-system"/>
              </a:rPr>
              <a:t>DataFrame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87B9C45-45E5-295F-71E5-BD52F779F890}"/>
              </a:ext>
            </a:extLst>
          </p:cNvPr>
          <p:cNvSpPr txBox="1"/>
          <p:nvPr/>
        </p:nvSpPr>
        <p:spPr>
          <a:xfrm>
            <a:off x="1107556" y="3812698"/>
            <a:ext cx="412277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42D9AE9-4718-5934-AA85-6CEC906EEC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2233" y="3423801"/>
            <a:ext cx="4364781" cy="1052131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958519FF-7EFA-9D9C-7515-7743BCA1B66A}"/>
              </a:ext>
            </a:extLst>
          </p:cNvPr>
          <p:cNvGrpSpPr/>
          <p:nvPr/>
        </p:nvGrpSpPr>
        <p:grpSpPr>
          <a:xfrm>
            <a:off x="1088951" y="4666829"/>
            <a:ext cx="7144652" cy="894251"/>
            <a:chOff x="1088951" y="4666829"/>
            <a:chExt cx="7144652" cy="894251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89322EC-6D2A-35CD-1D67-E062BDE65E95}"/>
                </a:ext>
              </a:extLst>
            </p:cNvPr>
            <p:cNvSpPr txBox="1"/>
            <p:nvPr/>
          </p:nvSpPr>
          <p:spPr>
            <a:xfrm>
              <a:off x="1088951" y="4821568"/>
              <a:ext cx="4225997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solidFill>
                    <a:srgbClr val="00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SELECT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*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dirty="0">
                  <a:solidFill>
                    <a:srgbClr val="00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FROM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</a:p>
            <a:p>
              <a:r>
                <a:rPr lang="en-US" dirty="0">
                  <a:solidFill>
                    <a:srgbClr val="00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OPENJSON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(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@_json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,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dirty="0">
                  <a:solidFill>
                    <a:srgbClr val="FF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'$.parents'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)</a:t>
              </a:r>
              <a:endParaRPr lang="en-US" dirty="0"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AB75AAC8-B4A7-13EE-771F-2C5E76DA728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583172" y="4666829"/>
              <a:ext cx="2650431" cy="894251"/>
            </a:xfrm>
            <a:prstGeom prst="rect">
              <a:avLst/>
            </a:prstGeom>
          </p:spPr>
        </p:pic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681AB0D-1CBE-965E-7BC4-E6C696F6B122}"/>
              </a:ext>
            </a:extLst>
          </p:cNvPr>
          <p:cNvGrpSpPr/>
          <p:nvPr/>
        </p:nvGrpSpPr>
        <p:grpSpPr>
          <a:xfrm>
            <a:off x="1088951" y="5634715"/>
            <a:ext cx="6579098" cy="646331"/>
            <a:chOff x="1088951" y="5634715"/>
            <a:chExt cx="6579098" cy="646331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3A62380-2056-E063-1493-18C691FCF691}"/>
                </a:ext>
              </a:extLst>
            </p:cNvPr>
            <p:cNvSpPr txBox="1"/>
            <p:nvPr/>
          </p:nvSpPr>
          <p:spPr>
            <a:xfrm>
              <a:off x="1088951" y="5634715"/>
              <a:ext cx="449498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solidFill>
                    <a:srgbClr val="00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SELECT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*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dirty="0">
                  <a:solidFill>
                    <a:srgbClr val="00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FROM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</a:p>
            <a:p>
              <a:r>
                <a:rPr lang="en-US" dirty="0">
                  <a:solidFill>
                    <a:srgbClr val="00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OPENJSON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(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@_json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,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dirty="0">
                  <a:solidFill>
                    <a:srgbClr val="FF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'$.parents[0]'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)</a:t>
              </a:r>
              <a:endParaRPr lang="en-US" dirty="0"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5383E929-0B22-9513-C3C3-E94517ABAA9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583172" y="5697536"/>
              <a:ext cx="2084877" cy="575513"/>
            </a:xfrm>
            <a:prstGeom prst="rect">
              <a:avLst/>
            </a:prstGeom>
          </p:spPr>
        </p:pic>
      </p:grp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14F6E84B-8841-0FB6-4043-CB9B2A2862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3901607"/>
              </p:ext>
            </p:extLst>
          </p:nvPr>
        </p:nvGraphicFramePr>
        <p:xfrm>
          <a:off x="9728790" y="1271130"/>
          <a:ext cx="1524426" cy="156019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4970">
                  <a:extLst>
                    <a:ext uri="{9D8B030D-6E8A-4147-A177-3AD203B41FA5}">
                      <a16:colId xmlns:a16="http://schemas.microsoft.com/office/drawing/2014/main" val="114812362"/>
                    </a:ext>
                  </a:extLst>
                </a:gridCol>
                <a:gridCol w="1049456">
                  <a:extLst>
                    <a:ext uri="{9D8B030D-6E8A-4147-A177-3AD203B41FA5}">
                      <a16:colId xmlns:a16="http://schemas.microsoft.com/office/drawing/2014/main" val="4013782357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1" u="none" strike="noStrike" dirty="0">
                          <a:effectLst/>
                        </a:rPr>
                        <a:t>type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u="none" strike="noStrike" dirty="0">
                          <a:effectLst/>
                        </a:rPr>
                        <a:t>description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65834003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0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 dirty="0">
                          <a:effectLst/>
                        </a:rPr>
                        <a:t>null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7484674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1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string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1151296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2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number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5622354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3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 dirty="0" err="1">
                          <a:effectLst/>
                        </a:rPr>
                        <a:t>boolean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76554405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4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 dirty="0">
                          <a:effectLst/>
                        </a:rPr>
                        <a:t>JSON array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70987291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5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 dirty="0">
                          <a:effectLst/>
                        </a:rPr>
                        <a:t>JSON object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660726126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55B68FC1-27E1-5467-4B04-DBBAC3D01E7F}"/>
              </a:ext>
            </a:extLst>
          </p:cNvPr>
          <p:cNvSpPr txBox="1"/>
          <p:nvPr/>
        </p:nvSpPr>
        <p:spPr>
          <a:xfrm>
            <a:off x="8789723" y="5293513"/>
            <a:ext cx="29626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  <a:p>
            <a:r>
              <a:rPr lang="en-US" sz="1200" dirty="0"/>
              <a:t>SQL analytics endpoint in Microsoft Fabric</a:t>
            </a:r>
          </a:p>
          <a:p>
            <a:r>
              <a:rPr lang="en-US" sz="1200" dirty="0"/>
              <a:t>Warehouse in Microsoft Fabric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CAC9B30-F64C-6141-9815-0F808C5F12FE}"/>
              </a:ext>
            </a:extLst>
          </p:cNvPr>
          <p:cNvGrpSpPr/>
          <p:nvPr/>
        </p:nvGrpSpPr>
        <p:grpSpPr>
          <a:xfrm>
            <a:off x="7183449" y="3423801"/>
            <a:ext cx="2704263" cy="2828788"/>
            <a:chOff x="7183449" y="3423801"/>
            <a:chExt cx="2704263" cy="2828788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A3A69FF-E3AF-9F32-CAE3-5B1B1A4FCBA1}"/>
                </a:ext>
              </a:extLst>
            </p:cNvPr>
            <p:cNvSpPr/>
            <p:nvPr/>
          </p:nvSpPr>
          <p:spPr>
            <a:xfrm>
              <a:off x="9447878" y="3423801"/>
              <a:ext cx="439834" cy="1052131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6CBD71F-150D-FCBB-831A-18E8028DDFBC}"/>
                </a:ext>
              </a:extLst>
            </p:cNvPr>
            <p:cNvSpPr/>
            <p:nvPr/>
          </p:nvSpPr>
          <p:spPr>
            <a:xfrm>
              <a:off x="7793769" y="4645406"/>
              <a:ext cx="439834" cy="82249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AF275313-1CD1-C5ED-75CF-866D605D3062}"/>
                </a:ext>
              </a:extLst>
            </p:cNvPr>
            <p:cNvSpPr/>
            <p:nvPr/>
          </p:nvSpPr>
          <p:spPr>
            <a:xfrm>
              <a:off x="7183449" y="5677076"/>
              <a:ext cx="484599" cy="575513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285469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F7086CB-1688-850D-5C28-1D19510C2829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APPLY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173040274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F7086CB-1688-850D-5C28-1D19510C2829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JOIN</a:t>
            </a:r>
            <a:endParaRPr lang="en-US" sz="4000" dirty="0">
              <a:highlight>
                <a:srgbClr val="FFFF00"/>
              </a:highlight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DB112C-3F74-BA86-71E2-E3EB0D4D4EC1}"/>
              </a:ext>
            </a:extLst>
          </p:cNvPr>
          <p:cNvSpPr txBox="1"/>
          <p:nvPr/>
        </p:nvSpPr>
        <p:spPr>
          <a:xfrm>
            <a:off x="1297171" y="1233647"/>
            <a:ext cx="93464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Not a JSON function. Makes a cartesian product of the rows between two tables</a:t>
            </a:r>
            <a:endParaRPr lang="en-US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10E04E2-E2FA-499B-AFDB-EA898D27D2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1716975"/>
              </p:ext>
            </p:extLst>
          </p:nvPr>
        </p:nvGraphicFramePr>
        <p:xfrm>
          <a:off x="1202181" y="4474802"/>
          <a:ext cx="3245804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9343">
                  <a:extLst>
                    <a:ext uri="{9D8B030D-6E8A-4147-A177-3AD203B41FA5}">
                      <a16:colId xmlns:a16="http://schemas.microsoft.com/office/drawing/2014/main" val="859083813"/>
                    </a:ext>
                  </a:extLst>
                </a:gridCol>
                <a:gridCol w="1082993">
                  <a:extLst>
                    <a:ext uri="{9D8B030D-6E8A-4147-A177-3AD203B41FA5}">
                      <a16:colId xmlns:a16="http://schemas.microsoft.com/office/drawing/2014/main" val="3271539360"/>
                    </a:ext>
                  </a:extLst>
                </a:gridCol>
                <a:gridCol w="1073468">
                  <a:extLst>
                    <a:ext uri="{9D8B030D-6E8A-4147-A177-3AD203B41FA5}">
                      <a16:colId xmlns:a16="http://schemas.microsoft.com/office/drawing/2014/main" val="17654641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ColumnX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ColumnZ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70692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2_1_X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2_1_Y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2_1_Z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5060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2_2_X</a:t>
                      </a:r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2_2_Y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2_2_Z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7379656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0A06262-A41C-8AA6-3E1C-BE184A34FC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5502431"/>
              </p:ext>
            </p:extLst>
          </p:nvPr>
        </p:nvGraphicFramePr>
        <p:xfrm>
          <a:off x="1202181" y="2722785"/>
          <a:ext cx="215963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9818">
                  <a:extLst>
                    <a:ext uri="{9D8B030D-6E8A-4147-A177-3AD203B41FA5}">
                      <a16:colId xmlns:a16="http://schemas.microsoft.com/office/drawing/2014/main" val="166289701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32780403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Column1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Column2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68147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1_1_1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1_1_2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188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1_2_1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1_2_2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501538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1D95F361-5AAD-553E-F3B9-E1B918EA55BC}"/>
              </a:ext>
            </a:extLst>
          </p:cNvPr>
          <p:cNvSpPr txBox="1"/>
          <p:nvPr/>
        </p:nvSpPr>
        <p:spPr>
          <a:xfrm>
            <a:off x="1202181" y="2346386"/>
            <a:ext cx="1775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Table_1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58895C-CE80-B328-701B-2F4CACE68173}"/>
              </a:ext>
            </a:extLst>
          </p:cNvPr>
          <p:cNvSpPr txBox="1"/>
          <p:nvPr/>
        </p:nvSpPr>
        <p:spPr>
          <a:xfrm>
            <a:off x="1175386" y="4098403"/>
            <a:ext cx="1202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Table_2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B4E370-8A8B-DB33-BE61-21E270E5EE24}"/>
              </a:ext>
            </a:extLst>
          </p:cNvPr>
          <p:cNvSpPr txBox="1"/>
          <p:nvPr/>
        </p:nvSpPr>
        <p:spPr>
          <a:xfrm>
            <a:off x="5535168" y="2126199"/>
            <a:ext cx="360883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*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dbo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Table_1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dbo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Table_2</a:t>
            </a:r>
            <a:endParaRPr lang="en-US" dirty="0"/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DC547F63-8889-CE2B-C1AF-BAE82CBD43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9472400"/>
              </p:ext>
            </p:extLst>
          </p:nvPr>
        </p:nvGraphicFramePr>
        <p:xfrm>
          <a:off x="5611173" y="3249411"/>
          <a:ext cx="540544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9818">
                  <a:extLst>
                    <a:ext uri="{9D8B030D-6E8A-4147-A177-3AD203B41FA5}">
                      <a16:colId xmlns:a16="http://schemas.microsoft.com/office/drawing/2014/main" val="950280349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1819817413"/>
                    </a:ext>
                  </a:extLst>
                </a:gridCol>
                <a:gridCol w="1089343">
                  <a:extLst>
                    <a:ext uri="{9D8B030D-6E8A-4147-A177-3AD203B41FA5}">
                      <a16:colId xmlns:a16="http://schemas.microsoft.com/office/drawing/2014/main" val="1670243958"/>
                    </a:ext>
                  </a:extLst>
                </a:gridCol>
                <a:gridCol w="1082993">
                  <a:extLst>
                    <a:ext uri="{9D8B030D-6E8A-4147-A177-3AD203B41FA5}">
                      <a16:colId xmlns:a16="http://schemas.microsoft.com/office/drawing/2014/main" val="650292759"/>
                    </a:ext>
                  </a:extLst>
                </a:gridCol>
                <a:gridCol w="1073468">
                  <a:extLst>
                    <a:ext uri="{9D8B030D-6E8A-4147-A177-3AD203B41FA5}">
                      <a16:colId xmlns:a16="http://schemas.microsoft.com/office/drawing/2014/main" val="15116426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Column1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Column2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ColumnX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ColumnZ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48136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1_1_2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2_1_X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2_1_Y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2_1_Z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31267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1_1_2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2_2_X</a:t>
                      </a:r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2_2_Y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2_2_Z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38883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1_2_1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1_2_2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2_1_X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2_1_Y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2_1_Z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0875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1_2_1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1_2_2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2_2_X</a:t>
                      </a:r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2_2_Y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2_2_Z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6267899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DF3F036C-36B0-BD7F-A25B-C8AE94FEC0E7}"/>
              </a:ext>
            </a:extLst>
          </p:cNvPr>
          <p:cNvSpPr txBox="1"/>
          <p:nvPr/>
        </p:nvSpPr>
        <p:spPr>
          <a:xfrm>
            <a:off x="9740699" y="6196341"/>
            <a:ext cx="15978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(ANSI-standard SQL)</a:t>
            </a:r>
          </a:p>
        </p:txBody>
      </p:sp>
    </p:spTree>
    <p:extLst>
      <p:ext uri="{BB962C8B-B14F-4D97-AF65-F5344CB8AC3E}">
        <p14:creationId xmlns:p14="http://schemas.microsoft.com/office/powerpoint/2010/main" val="378452550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10900F-8C4D-7B9C-E3B7-84DC7D4943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D4CB0B8-DDDB-927F-0F33-3702684E8906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JOIN</a:t>
            </a:r>
            <a:endParaRPr lang="en-US" sz="4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6FE2F0-6FBE-6DD0-2DBE-1B66D27044FA}"/>
              </a:ext>
            </a:extLst>
          </p:cNvPr>
          <p:cNvSpPr txBox="1"/>
          <p:nvPr/>
        </p:nvSpPr>
        <p:spPr>
          <a:xfrm>
            <a:off x="1297171" y="1233647"/>
            <a:ext cx="93464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Not a JSON function. Makes a cartesian product of the rows between two tables</a:t>
            </a:r>
            <a:endParaRPr lang="en-US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AFFDE23-F45B-E5F0-1BD1-0D1038EECD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8776638"/>
              </p:ext>
            </p:extLst>
          </p:nvPr>
        </p:nvGraphicFramePr>
        <p:xfrm>
          <a:off x="6298437" y="2344833"/>
          <a:ext cx="3245804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9343">
                  <a:extLst>
                    <a:ext uri="{9D8B030D-6E8A-4147-A177-3AD203B41FA5}">
                      <a16:colId xmlns:a16="http://schemas.microsoft.com/office/drawing/2014/main" val="859083813"/>
                    </a:ext>
                  </a:extLst>
                </a:gridCol>
                <a:gridCol w="1082993">
                  <a:extLst>
                    <a:ext uri="{9D8B030D-6E8A-4147-A177-3AD203B41FA5}">
                      <a16:colId xmlns:a16="http://schemas.microsoft.com/office/drawing/2014/main" val="3271539360"/>
                    </a:ext>
                  </a:extLst>
                </a:gridCol>
                <a:gridCol w="1073468">
                  <a:extLst>
                    <a:ext uri="{9D8B030D-6E8A-4147-A177-3AD203B41FA5}">
                      <a16:colId xmlns:a16="http://schemas.microsoft.com/office/drawing/2014/main" val="17654641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ColumnX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ColumnZ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70692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2_1_X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2_1_Y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2_1_Z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5060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2_2_X</a:t>
                      </a:r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2_2_Y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2_2_Z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7379656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5EEEFBD-CA08-EAAE-D9EA-D0AB567756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6490265"/>
              </p:ext>
            </p:extLst>
          </p:nvPr>
        </p:nvGraphicFramePr>
        <p:xfrm>
          <a:off x="1202181" y="2344833"/>
          <a:ext cx="215963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9818">
                  <a:extLst>
                    <a:ext uri="{9D8B030D-6E8A-4147-A177-3AD203B41FA5}">
                      <a16:colId xmlns:a16="http://schemas.microsoft.com/office/drawing/2014/main" val="166289701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32780403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Column1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Column2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68147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1_1_1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1_1_2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188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1_2_1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1_2_2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501538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BBF9F0D-5E64-1C11-3B98-A2D5FA08CD83}"/>
              </a:ext>
            </a:extLst>
          </p:cNvPr>
          <p:cNvSpPr txBox="1"/>
          <p:nvPr/>
        </p:nvSpPr>
        <p:spPr>
          <a:xfrm>
            <a:off x="1202181" y="1968434"/>
            <a:ext cx="1775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Table_1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F65E6C-9AE4-2587-DC25-77D9CDC7672D}"/>
              </a:ext>
            </a:extLst>
          </p:cNvPr>
          <p:cNvSpPr txBox="1"/>
          <p:nvPr/>
        </p:nvSpPr>
        <p:spPr>
          <a:xfrm>
            <a:off x="6271642" y="1968434"/>
            <a:ext cx="1202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Table_2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611C27B1-D382-EE13-7E2F-58748A8AEF11}"/>
              </a:ext>
            </a:extLst>
          </p:cNvPr>
          <p:cNvGrpSpPr/>
          <p:nvPr/>
        </p:nvGrpSpPr>
        <p:grpSpPr>
          <a:xfrm>
            <a:off x="3414775" y="2866629"/>
            <a:ext cx="2819527" cy="439515"/>
            <a:chOff x="3414775" y="2866629"/>
            <a:chExt cx="2819527" cy="43951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E4BB49A-D55F-F9C0-6B37-76C67C353128}"/>
                </a:ext>
              </a:extLst>
            </p:cNvPr>
            <p:cNvCxnSpPr>
              <a:cxnSpLocks/>
              <a:stCxn id="3" idx="3"/>
            </p:cNvCxnSpPr>
            <p:nvPr/>
          </p:nvCxnSpPr>
          <p:spPr>
            <a:xfrm>
              <a:off x="3414775" y="2866629"/>
              <a:ext cx="2734183" cy="0"/>
            </a:xfrm>
            <a:prstGeom prst="line">
              <a:avLst/>
            </a:prstGeom>
            <a:ln w="508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1B1F458-4CC3-9129-9231-53D9BC8874D6}"/>
                </a:ext>
              </a:extLst>
            </p:cNvPr>
            <p:cNvCxnSpPr>
              <a:cxnSpLocks/>
              <a:endCxn id="3" idx="3"/>
            </p:cNvCxnSpPr>
            <p:nvPr/>
          </p:nvCxnSpPr>
          <p:spPr>
            <a:xfrm flipH="1" flipV="1">
              <a:off x="3414775" y="2866629"/>
              <a:ext cx="2819527" cy="439515"/>
            </a:xfrm>
            <a:prstGeom prst="line">
              <a:avLst/>
            </a:prstGeom>
            <a:ln w="508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224A7AF-364E-C99A-3B59-392E4BF668AA}"/>
              </a:ext>
            </a:extLst>
          </p:cNvPr>
          <p:cNvGrpSpPr/>
          <p:nvPr/>
        </p:nvGrpSpPr>
        <p:grpSpPr>
          <a:xfrm flipV="1">
            <a:off x="3425952" y="2856336"/>
            <a:ext cx="2819527" cy="439517"/>
            <a:chOff x="3361817" y="3279045"/>
            <a:chExt cx="2819527" cy="439515"/>
          </a:xfrm>
        </p:grpSpPr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8AF678D-9B7E-93CD-4762-ECB0765EECF4}"/>
                </a:ext>
              </a:extLst>
            </p:cNvPr>
            <p:cNvCxnSpPr>
              <a:cxnSpLocks/>
            </p:cNvCxnSpPr>
            <p:nvPr/>
          </p:nvCxnSpPr>
          <p:spPr>
            <a:xfrm>
              <a:off x="3361817" y="3279045"/>
              <a:ext cx="2734183" cy="0"/>
            </a:xfrm>
            <a:prstGeom prst="line">
              <a:avLst/>
            </a:prstGeom>
            <a:ln w="508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14918A65-DB4E-1FCC-D654-FA4E3741198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361817" y="3279045"/>
              <a:ext cx="2819527" cy="439515"/>
            </a:xfrm>
            <a:prstGeom prst="line">
              <a:avLst/>
            </a:prstGeom>
            <a:ln w="508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ACF8073-5D41-4B31-3409-88025D4C2B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022775"/>
              </p:ext>
            </p:extLst>
          </p:nvPr>
        </p:nvGraphicFramePr>
        <p:xfrm>
          <a:off x="3478624" y="3896867"/>
          <a:ext cx="540544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9818">
                  <a:extLst>
                    <a:ext uri="{9D8B030D-6E8A-4147-A177-3AD203B41FA5}">
                      <a16:colId xmlns:a16="http://schemas.microsoft.com/office/drawing/2014/main" val="950280349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1819817413"/>
                    </a:ext>
                  </a:extLst>
                </a:gridCol>
                <a:gridCol w="1089343">
                  <a:extLst>
                    <a:ext uri="{9D8B030D-6E8A-4147-A177-3AD203B41FA5}">
                      <a16:colId xmlns:a16="http://schemas.microsoft.com/office/drawing/2014/main" val="1670243958"/>
                    </a:ext>
                  </a:extLst>
                </a:gridCol>
                <a:gridCol w="1082993">
                  <a:extLst>
                    <a:ext uri="{9D8B030D-6E8A-4147-A177-3AD203B41FA5}">
                      <a16:colId xmlns:a16="http://schemas.microsoft.com/office/drawing/2014/main" val="650292759"/>
                    </a:ext>
                  </a:extLst>
                </a:gridCol>
                <a:gridCol w="1073468">
                  <a:extLst>
                    <a:ext uri="{9D8B030D-6E8A-4147-A177-3AD203B41FA5}">
                      <a16:colId xmlns:a16="http://schemas.microsoft.com/office/drawing/2014/main" val="15116426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Column1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Column2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ColumnX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ColumnZ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48136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1_1_2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2_1_X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2_1_Y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2_1_Z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31267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1_1_2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2_2_X</a:t>
                      </a:r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2_2_Y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2_2_Z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3888365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CB11B103-0090-AF42-5F09-0B3E93BD9F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5197666"/>
              </p:ext>
            </p:extLst>
          </p:nvPr>
        </p:nvGraphicFramePr>
        <p:xfrm>
          <a:off x="3478624" y="5222320"/>
          <a:ext cx="540544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9818">
                  <a:extLst>
                    <a:ext uri="{9D8B030D-6E8A-4147-A177-3AD203B41FA5}">
                      <a16:colId xmlns:a16="http://schemas.microsoft.com/office/drawing/2014/main" val="950280349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1819817413"/>
                    </a:ext>
                  </a:extLst>
                </a:gridCol>
                <a:gridCol w="1089343">
                  <a:extLst>
                    <a:ext uri="{9D8B030D-6E8A-4147-A177-3AD203B41FA5}">
                      <a16:colId xmlns:a16="http://schemas.microsoft.com/office/drawing/2014/main" val="1670243958"/>
                    </a:ext>
                  </a:extLst>
                </a:gridCol>
                <a:gridCol w="1082993">
                  <a:extLst>
                    <a:ext uri="{9D8B030D-6E8A-4147-A177-3AD203B41FA5}">
                      <a16:colId xmlns:a16="http://schemas.microsoft.com/office/drawing/2014/main" val="650292759"/>
                    </a:ext>
                  </a:extLst>
                </a:gridCol>
                <a:gridCol w="1073468">
                  <a:extLst>
                    <a:ext uri="{9D8B030D-6E8A-4147-A177-3AD203B41FA5}">
                      <a16:colId xmlns:a16="http://schemas.microsoft.com/office/drawing/2014/main" val="15116426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Column1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Column2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ColumnX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ColumnZ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48136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1_2_1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1_2_2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2_1_X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2_1_Y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2_1_Z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0875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1_2_1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1_2_2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2_2_X</a:t>
                      </a:r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2_2_Y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2_2_Z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62678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43867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BCD722-E16C-83E5-A415-0BCB0FCCA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B08E2ED-3CA1-74AE-187F-456F223A24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0201" y="2126199"/>
            <a:ext cx="2628900" cy="28194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7A7B088-47C5-B1A2-56D6-A7857E8AB272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APPLY</a:t>
            </a:r>
            <a:endParaRPr lang="en-US" sz="4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04931B-13A0-1D60-E6DB-657B5A41A9E7}"/>
              </a:ext>
            </a:extLst>
          </p:cNvPr>
          <p:cNvSpPr txBox="1"/>
          <p:nvPr/>
        </p:nvSpPr>
        <p:spPr>
          <a:xfrm>
            <a:off x="6790944" y="2126199"/>
            <a:ext cx="4876800" cy="286232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Customers c</a:t>
            </a: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TOP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Orders o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DESC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ca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42838F-7AEE-27B0-BA12-47486D80968B}"/>
              </a:ext>
            </a:extLst>
          </p:cNvPr>
          <p:cNvSpPr txBox="1"/>
          <p:nvPr/>
        </p:nvSpPr>
        <p:spPr>
          <a:xfrm>
            <a:off x="1297171" y="1233647"/>
            <a:ext cx="95049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Not a JSON function. Acquires a subset of data for each row found by the outer query. </a:t>
            </a:r>
            <a:b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</a:b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Behaves like an INNER JOIN: if no subset if found, the outer row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disappears from the result set.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CBF9FB-39DB-C162-A636-C9C15661ECDC}"/>
              </a:ext>
            </a:extLst>
          </p:cNvPr>
          <p:cNvSpPr txBox="1"/>
          <p:nvPr/>
        </p:nvSpPr>
        <p:spPr>
          <a:xfrm>
            <a:off x="1097280" y="2126199"/>
            <a:ext cx="5583936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Customers c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Orders o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(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MAX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Orders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GROUP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latest1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latest1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latest1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6D3DC76-DE31-EFD1-BADB-2D1EC477DED9}"/>
              </a:ext>
            </a:extLst>
          </p:cNvPr>
          <p:cNvSpPr txBox="1"/>
          <p:nvPr/>
        </p:nvSpPr>
        <p:spPr>
          <a:xfrm>
            <a:off x="8789723" y="5293513"/>
            <a:ext cx="29626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2005+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  <a:p>
            <a:r>
              <a:rPr lang="en-US" sz="1200" dirty="0"/>
              <a:t>SQL analytics endpoint in Microsoft Fabric</a:t>
            </a:r>
          </a:p>
          <a:p>
            <a:r>
              <a:rPr lang="en-US" sz="1200" dirty="0"/>
              <a:t>Warehouse in Microsoft Fabric</a:t>
            </a:r>
          </a:p>
        </p:txBody>
      </p:sp>
    </p:spTree>
    <p:extLst>
      <p:ext uri="{BB962C8B-B14F-4D97-AF65-F5344CB8AC3E}">
        <p14:creationId xmlns:p14="http://schemas.microsoft.com/office/powerpoint/2010/main" val="2246351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E10B24-E89B-B969-B97C-7EBBF68D03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F5E718B-D12A-D175-1F95-BFE19790432B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APPLY</a:t>
            </a:r>
            <a:endParaRPr lang="en-US" sz="4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F95087-00E1-C5F2-02DE-F9C91C46C2C1}"/>
              </a:ext>
            </a:extLst>
          </p:cNvPr>
          <p:cNvSpPr txBox="1"/>
          <p:nvPr/>
        </p:nvSpPr>
        <p:spPr>
          <a:xfrm>
            <a:off x="6790944" y="2126199"/>
            <a:ext cx="48768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Customers c</a:t>
            </a: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TOP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2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Orders o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DESC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ca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E0CB7C-F3A0-4758-1CA3-6E8D4522A900}"/>
              </a:ext>
            </a:extLst>
          </p:cNvPr>
          <p:cNvSpPr txBox="1"/>
          <p:nvPr/>
        </p:nvSpPr>
        <p:spPr>
          <a:xfrm>
            <a:off x="1097280" y="2126199"/>
            <a:ext cx="5498592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Customers c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Orders o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SELECT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FROM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(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SELECT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ROW_NUMBER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OVER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PARTITION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DESC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AS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[Rank]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FROM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Orders</a:t>
            </a:r>
          </a:p>
          <a:p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)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WHERE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[Rank]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&lt;=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latest2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latest2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AND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latest2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4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0B49D15-5EA3-EF4A-28B6-FD5428D4139F}"/>
              </a:ext>
            </a:extLst>
          </p:cNvPr>
          <p:cNvSpPr txBox="1"/>
          <p:nvPr/>
        </p:nvSpPr>
        <p:spPr>
          <a:xfrm>
            <a:off x="1297171" y="1233647"/>
            <a:ext cx="95049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Not a JSON function. Acquires a subset of data for each row found by the outer query. </a:t>
            </a:r>
            <a:b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</a:b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Behaves like an INNER JOIN: if no subset if found, the outer row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disappears from the result set.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1073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F7086CB-1688-850D-5C28-1D19510C2829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OUTER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APPLY</a:t>
            </a:r>
            <a:endParaRPr lang="en-US" sz="4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929FC3-C0B3-1041-8515-E4D2E0148530}"/>
              </a:ext>
            </a:extLst>
          </p:cNvPr>
          <p:cNvSpPr txBox="1"/>
          <p:nvPr/>
        </p:nvSpPr>
        <p:spPr>
          <a:xfrm>
            <a:off x="6790944" y="2126199"/>
            <a:ext cx="48768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Customer c</a:t>
            </a: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OUTER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TOP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dirty="0">
                <a:latin typeface="Cascadia Mono" panose="020B0609020000020004" pitchFamily="49" charset="0"/>
                <a:cs typeface="Cascadia Mono" panose="020B0609020000020004" pitchFamily="49" charset="0"/>
              </a:rPr>
              <a:t>s</a:t>
            </a:r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 o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DESC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ca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62E1634-CD63-FFA6-3741-B6C59C76A58E}"/>
              </a:ext>
            </a:extLst>
          </p:cNvPr>
          <p:cNvSpPr txBox="1"/>
          <p:nvPr/>
        </p:nvSpPr>
        <p:spPr>
          <a:xfrm>
            <a:off x="1097280" y="2126199"/>
            <a:ext cx="5498592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Customers c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LEFT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Orders o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LEFT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SELECT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FROM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(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SELECT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ROW_NUMBER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OVER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PARTITION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DESC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AS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[Rank]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FROM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Orders</a:t>
            </a:r>
          </a:p>
          <a:p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)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WHERE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[Rank]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&lt;=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latest2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latest2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AND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latest2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4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6540292-162B-3A16-2365-5FA3A4841979}"/>
              </a:ext>
            </a:extLst>
          </p:cNvPr>
          <p:cNvSpPr txBox="1"/>
          <p:nvPr/>
        </p:nvSpPr>
        <p:spPr>
          <a:xfrm>
            <a:off x="1297171" y="1233647"/>
            <a:ext cx="95049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Not a JSON function. Acquires a subset of data for each row found by the outer query. </a:t>
            </a:r>
            <a:b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</a:b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Behaves like an LEFT JOIN: if no subset if found, the outer row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appears in the result set anyway.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5CCC32-94B5-4589-CB32-BC8CA29E7B01}"/>
              </a:ext>
            </a:extLst>
          </p:cNvPr>
          <p:cNvSpPr txBox="1"/>
          <p:nvPr/>
        </p:nvSpPr>
        <p:spPr>
          <a:xfrm>
            <a:off x="8789723" y="5293513"/>
            <a:ext cx="29626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2005+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  <a:p>
            <a:r>
              <a:rPr lang="en-US" sz="1200" dirty="0"/>
              <a:t>SQL analytics endpoint in Microsoft Fabric</a:t>
            </a:r>
          </a:p>
          <a:p>
            <a:r>
              <a:rPr lang="en-US" sz="1200" dirty="0"/>
              <a:t>Warehouse in Microsoft Fabric</a:t>
            </a:r>
          </a:p>
        </p:txBody>
      </p:sp>
    </p:spTree>
    <p:extLst>
      <p:ext uri="{BB962C8B-B14F-4D97-AF65-F5344CB8AC3E}">
        <p14:creationId xmlns:p14="http://schemas.microsoft.com/office/powerpoint/2010/main" val="243046478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2790FC6-2530-AE54-FD60-487CCAE839A2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OPENJSON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+ CROSS APPLY</a:t>
            </a:r>
            <a:endParaRPr lang="en-US" sz="28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48D5E4-C0BE-8320-AEDE-7E5E15262F40}"/>
              </a:ext>
            </a:extLst>
          </p:cNvPr>
          <p:cNvSpPr txBox="1"/>
          <p:nvPr/>
        </p:nvSpPr>
        <p:spPr>
          <a:xfrm>
            <a:off x="4437888" y="2816352"/>
            <a:ext cx="33162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/>
              <a:t>Demo Time</a:t>
            </a:r>
          </a:p>
        </p:txBody>
      </p:sp>
    </p:spTree>
    <p:extLst>
      <p:ext uri="{BB962C8B-B14F-4D97-AF65-F5344CB8AC3E}">
        <p14:creationId xmlns:p14="http://schemas.microsoft.com/office/powerpoint/2010/main" val="236776832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3AB85-7A46-25FF-ED9D-2791DB641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BE42AB6-A562-890F-5570-9A82AB124719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OPENJSON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+ CROSS APPLY</a:t>
            </a:r>
            <a:endParaRPr lang="en-US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389AEA-E27D-0570-BDDB-33C127C30A4D}"/>
              </a:ext>
            </a:extLst>
          </p:cNvPr>
          <p:cNvSpPr txBox="1"/>
          <p:nvPr/>
        </p:nvSpPr>
        <p:spPr>
          <a:xfrm>
            <a:off x="901107" y="1594907"/>
            <a:ext cx="7732530" cy="50013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[$.name]</a:t>
            </a:r>
          </a:p>
          <a:p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[key]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j.key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k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[$.parents.name]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'$.parents'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k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[key]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'parents'</a:t>
            </a:r>
          </a:p>
          <a:p>
            <a:endParaRPr lang="en-US" sz="1600" dirty="0">
              <a:solidFill>
                <a:srgbClr val="FF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[$.name]</a:t>
            </a:r>
          </a:p>
          <a:p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[key]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j.key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</a:p>
          <a:p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k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[$.parents.name]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j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k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[key]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'parents'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C8308E0-98C6-7DFF-01A9-5F36E7786A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710" y="4324575"/>
            <a:ext cx="4090183" cy="907653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30B862A-DBC1-FDA2-C7AE-4637D36E6859}"/>
              </a:ext>
            </a:extLst>
          </p:cNvPr>
          <p:cNvCxnSpPr/>
          <p:nvPr/>
        </p:nvCxnSpPr>
        <p:spPr>
          <a:xfrm>
            <a:off x="901107" y="4917989"/>
            <a:ext cx="5870396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0834060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79C9F1-6BE5-5B8D-C2FA-8715A3CC3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B56C069-28B9-19F9-3EF8-81CC36BDF7DA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OPENJSON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+ CROSS APPLY</a:t>
            </a:r>
            <a:endParaRPr lang="en-US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29A948-B89B-4D36-FF18-3D378BFF78D2}"/>
              </a:ext>
            </a:extLst>
          </p:cNvPr>
          <p:cNvSpPr txBox="1"/>
          <p:nvPr/>
        </p:nvSpPr>
        <p:spPr>
          <a:xfrm>
            <a:off x="901106" y="1594907"/>
            <a:ext cx="7840557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[{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name":"Jesús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Castillo"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name":"Mary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name":"Joseph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json_expert":true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}]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[$.name]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k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[key]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k.key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[$.parents.name]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k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k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k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[key]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'parents'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CD9458-3680-0ED6-A44B-B42EC21291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7793" y="3042804"/>
            <a:ext cx="4180428" cy="1541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533300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4431C9-7330-FCD1-219A-7C5F576751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JSON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3B1E8C-C131-33A9-E764-55DC0B2890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/>
              <a:t> 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JSON_OBJECT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endParaRPr lang="en-US" sz="2800" dirty="0">
              <a:solidFill>
                <a:srgbClr val="FF00FF"/>
              </a:solidFill>
              <a:latin typeface="Consolas" panose="020B0609020204030204" pitchFamily="49" charset="0"/>
            </a:endParaRPr>
          </a:p>
          <a:p>
            <a:r>
              <a:rPr lang="en-US" dirty="0"/>
              <a:t> 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JSON_ARRAY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endParaRPr lang="en-US" sz="2800" dirty="0">
              <a:solidFill>
                <a:srgbClr val="FF00FF"/>
              </a:solidFill>
              <a:latin typeface="Consolas" panose="020B0609020204030204" pitchFamily="49" charset="0"/>
            </a:endParaRPr>
          </a:p>
          <a:p>
            <a:r>
              <a:rPr lang="en-US" dirty="0"/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PATH</a:t>
            </a:r>
            <a:endParaRPr lang="en-US" sz="2800" dirty="0"/>
          </a:p>
          <a:p>
            <a:r>
              <a:rPr lang="en-US" dirty="0"/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</a:p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JSON_MODIFY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80879096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028699" y="1826613"/>
            <a:ext cx="9348677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JSON_OBJECT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JSON_OBJECT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name'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'value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'type'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1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FF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JSON_OBJECT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name'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'value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type'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:NULL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JSON_OBJECT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name'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'value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type'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:NULL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ABSENT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103587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JSON_OBJECT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( 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[</a:t>
            </a:r>
            <a:r>
              <a:rPr lang="en-US" sz="2800" b="0" i="0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key_name</a:t>
            </a:r>
            <a:r>
              <a:rPr lang="en-US" sz="2800" b="0" i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 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: </a:t>
            </a:r>
            <a:r>
              <a:rPr lang="en-US" sz="28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valid_json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,]</a:t>
            </a:r>
            <a:r>
              <a:rPr lang="en-US" sz="2800" b="0" i="0" baseline="3000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n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sz="2800" i="1" dirty="0" err="1">
                <a:solidFill>
                  <a:srgbClr val="808080"/>
                </a:solidFill>
                <a:latin typeface="Consolas" panose="020B0609020204030204" pitchFamily="49" charset="0"/>
              </a:rPr>
              <a:t>null_clause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Generates a JSON object</a:t>
            </a:r>
            <a:endParaRPr lang="en-US" dirty="0"/>
          </a:p>
        </p:txBody>
      </p:sp>
      <p:sp>
        <p:nvSpPr>
          <p:cNvPr id="2" name="Star: 10 Points 1">
            <a:extLst>
              <a:ext uri="{FF2B5EF4-FFF2-40B4-BE49-F238E27FC236}">
                <a16:creationId xmlns:a16="http://schemas.microsoft.com/office/drawing/2014/main" id="{E8B1A511-9E0F-B6D5-D16A-F5674FB5872B}"/>
              </a:ext>
            </a:extLst>
          </p:cNvPr>
          <p:cNvSpPr/>
          <p:nvPr/>
        </p:nvSpPr>
        <p:spPr>
          <a:xfrm rot="20706229">
            <a:off x="9082864" y="1403245"/>
            <a:ext cx="2083981" cy="1919177"/>
          </a:xfrm>
          <a:prstGeom prst="star10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New for SQL Server 2022!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BF30FB4-4C0D-29B5-531A-BA73C8A13D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7172" y="2227932"/>
            <a:ext cx="2210112" cy="62159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02FDA2B-0BCB-E299-7844-6890E3C534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7172" y="3335248"/>
            <a:ext cx="2589975" cy="62159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F6EAB54-85C3-B168-AD5C-55B9025510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7171" y="4442564"/>
            <a:ext cx="2791309" cy="62159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9406970-70D6-BCAB-CC5F-9DA1693A6FE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87648" y="5540356"/>
            <a:ext cx="2359319" cy="66012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F4C01BB-6634-1E90-1295-4B319D79D568}"/>
              </a:ext>
            </a:extLst>
          </p:cNvPr>
          <p:cNvSpPr txBox="1"/>
          <p:nvPr/>
        </p:nvSpPr>
        <p:spPr>
          <a:xfrm>
            <a:off x="7278624" y="4026931"/>
            <a:ext cx="2218944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3CF1C79-B923-40BC-2406-4E0CE7263C3D}"/>
              </a:ext>
            </a:extLst>
          </p:cNvPr>
          <p:cNvSpPr txBox="1"/>
          <p:nvPr/>
        </p:nvSpPr>
        <p:spPr>
          <a:xfrm>
            <a:off x="8871202" y="5916740"/>
            <a:ext cx="29626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2022+</a:t>
            </a:r>
          </a:p>
          <a:p>
            <a:r>
              <a:rPr lang="en-US" sz="1200" dirty="0"/>
              <a:t>Azure SQL Database</a:t>
            </a:r>
          </a:p>
        </p:txBody>
      </p:sp>
    </p:spTree>
    <p:extLst>
      <p:ext uri="{BB962C8B-B14F-4D97-AF65-F5344CB8AC3E}">
        <p14:creationId xmlns:p14="http://schemas.microsoft.com/office/powerpoint/2010/main" val="36693651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028699" y="1826613"/>
            <a:ext cx="9348677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JSON_ARRAY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JSON_ARRAY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'a'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'b'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FF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JSON_ARRAY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'a'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'b'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NULL)</a:t>
            </a: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JSON_ARRAY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'a'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'b'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103587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JSON_ARRAY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( 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[</a:t>
            </a:r>
            <a:r>
              <a:rPr lang="en-US" sz="2800" b="0" i="0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valid_json</a:t>
            </a:r>
            <a:r>
              <a:rPr lang="en-US" sz="2800" b="0" i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,]</a:t>
            </a:r>
            <a:r>
              <a:rPr lang="en-US" sz="2800" b="0" i="0" baseline="3000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n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sz="2800" i="1" dirty="0" err="1">
                <a:solidFill>
                  <a:srgbClr val="808080"/>
                </a:solidFill>
                <a:latin typeface="Consolas" panose="020B0609020204030204" pitchFamily="49" charset="0"/>
              </a:rPr>
              <a:t>null_clause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Generates a JSON array given a list of valid JSON</a:t>
            </a:r>
            <a:endParaRPr lang="en-US" dirty="0"/>
          </a:p>
        </p:txBody>
      </p:sp>
      <p:sp>
        <p:nvSpPr>
          <p:cNvPr id="2" name="Star: 10 Points 1">
            <a:extLst>
              <a:ext uri="{FF2B5EF4-FFF2-40B4-BE49-F238E27FC236}">
                <a16:creationId xmlns:a16="http://schemas.microsoft.com/office/drawing/2014/main" id="{E8B1A511-9E0F-B6D5-D16A-F5674FB5872B}"/>
              </a:ext>
            </a:extLst>
          </p:cNvPr>
          <p:cNvSpPr/>
          <p:nvPr/>
        </p:nvSpPr>
        <p:spPr>
          <a:xfrm rot="20706229">
            <a:off x="9082864" y="1403245"/>
            <a:ext cx="2083981" cy="1919177"/>
          </a:xfrm>
          <a:prstGeom prst="star10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New for SQL Server 2022!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575F66A-44CA-F7A2-FF78-492618573C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7171" y="5537327"/>
            <a:ext cx="2103169" cy="61024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F1BC847-ACD1-D3E0-A719-0DABA0039E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7167" y="4442564"/>
            <a:ext cx="2210108" cy="62159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80B03831-85F8-C943-BF9E-6000F83127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7167" y="3327534"/>
            <a:ext cx="2210108" cy="613276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164E1B24-D972-F7F4-66D9-474086D88A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8814" y="2222526"/>
            <a:ext cx="2196755" cy="603254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AF92F77-D4C9-4B64-1A37-5F3E292C484C}"/>
              </a:ext>
            </a:extLst>
          </p:cNvPr>
          <p:cNvSpPr txBox="1"/>
          <p:nvPr/>
        </p:nvSpPr>
        <p:spPr>
          <a:xfrm>
            <a:off x="5818552" y="4024464"/>
            <a:ext cx="2735226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ABSENT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NULL)</a:t>
            </a:r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914C2C0-B621-7A7C-181F-94203A9CD323}"/>
              </a:ext>
            </a:extLst>
          </p:cNvPr>
          <p:cNvSpPr txBox="1"/>
          <p:nvPr/>
        </p:nvSpPr>
        <p:spPr>
          <a:xfrm>
            <a:off x="8871202" y="5916740"/>
            <a:ext cx="29626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2022+</a:t>
            </a:r>
          </a:p>
          <a:p>
            <a:r>
              <a:rPr lang="en-US" sz="1200" dirty="0"/>
              <a:t>Azure SQL Database</a:t>
            </a:r>
          </a:p>
        </p:txBody>
      </p:sp>
    </p:spTree>
    <p:extLst>
      <p:ext uri="{BB962C8B-B14F-4D97-AF65-F5344CB8AC3E}">
        <p14:creationId xmlns:p14="http://schemas.microsoft.com/office/powerpoint/2010/main" val="3541418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92C93F9-1383-E6E8-3F3C-A42C10D8539B}"/>
              </a:ext>
            </a:extLst>
          </p:cNvPr>
          <p:cNvSpPr txBox="1"/>
          <p:nvPr/>
        </p:nvSpPr>
        <p:spPr>
          <a:xfrm>
            <a:off x="901107" y="710427"/>
            <a:ext cx="103587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CONCAT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( 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[</a:t>
            </a:r>
            <a:r>
              <a:rPr lang="en-US" sz="2800" b="0" i="0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stringable</a:t>
            </a:r>
            <a:r>
              <a:rPr lang="en-US" sz="2800" b="0" i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,]</a:t>
            </a:r>
            <a:r>
              <a:rPr lang="en-US" sz="2800" b="0" i="0" baseline="3000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5D410F-360A-69F7-727E-A7088AA0819B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Not a JSON function. Returns a concatenated string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E132FF-0FD4-665F-7DEA-C3CC066D25CE}"/>
              </a:ext>
            </a:extLst>
          </p:cNvPr>
          <p:cNvSpPr txBox="1"/>
          <p:nvPr/>
        </p:nvSpPr>
        <p:spPr>
          <a:xfrm>
            <a:off x="1402080" y="2126199"/>
            <a:ext cx="743712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JSON_ARRAY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'a'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'b'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CONCAT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'["'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'a'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'",'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',"'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'b'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'",'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']'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24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CCA13A5-38A3-879F-4921-F4126C788D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8012" y="2788348"/>
            <a:ext cx="3000282" cy="238483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B57ED7F-E554-71FD-A355-51A84DDEDA57}"/>
              </a:ext>
            </a:extLst>
          </p:cNvPr>
          <p:cNvSpPr txBox="1"/>
          <p:nvPr/>
        </p:nvSpPr>
        <p:spPr>
          <a:xfrm>
            <a:off x="8789723" y="5293513"/>
            <a:ext cx="29626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2014+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  <a:p>
            <a:r>
              <a:rPr lang="en-US" sz="1200" dirty="0"/>
              <a:t>SQL analytics endpoint in Microsoft Fabric</a:t>
            </a:r>
          </a:p>
          <a:p>
            <a:r>
              <a:rPr lang="en-US" sz="1200" dirty="0"/>
              <a:t>Warehouse in Microsoft Fabric</a:t>
            </a:r>
          </a:p>
        </p:txBody>
      </p:sp>
    </p:spTree>
    <p:extLst>
      <p:ext uri="{BB962C8B-B14F-4D97-AF65-F5344CB8AC3E}">
        <p14:creationId xmlns:p14="http://schemas.microsoft.com/office/powerpoint/2010/main" val="274762677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4C8FEB0-CBA9-A021-350F-61EC979AA8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688" y="5636187"/>
            <a:ext cx="10846922" cy="62284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1527422-959C-A7D1-C504-76985DDB0225}"/>
              </a:ext>
            </a:extLst>
          </p:cNvPr>
          <p:cNvSpPr txBox="1"/>
          <p:nvPr/>
        </p:nvSpPr>
        <p:spPr>
          <a:xfrm>
            <a:off x="1251984" y="1743486"/>
            <a:ext cx="6097772" cy="35471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'Jeff Foushee'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'name'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0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AllTime_Jeopardy_Winnings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UNION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'Jesús Castillo'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'name'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'$1.00'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AllTime_Jeopardy_Winnings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a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FOR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AUTO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7372421-7404-DF05-C0CD-B8C79979BAF8}"/>
              </a:ext>
            </a:extLst>
          </p:cNvPr>
          <p:cNvSpPr txBox="1"/>
          <p:nvPr/>
        </p:nvSpPr>
        <p:spPr>
          <a:xfrm>
            <a:off x="901107" y="710427"/>
            <a:ext cx="103587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endParaRPr lang="en-US" sz="2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366B84E-DF8A-1E41-B165-4691290E5532}"/>
              </a:ext>
            </a:extLst>
          </p:cNvPr>
          <p:cNvSpPr txBox="1"/>
          <p:nvPr/>
        </p:nvSpPr>
        <p:spPr>
          <a:xfrm>
            <a:off x="1297171" y="1233647"/>
            <a:ext cx="94284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111111"/>
                </a:solidFill>
                <a:latin typeface="-apple-system"/>
              </a:rPr>
              <a:t>Formats the ENTIRE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resultset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 as one JSON object. 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51D8DA-E468-7077-12BB-3E660ADA4997}"/>
              </a:ext>
            </a:extLst>
          </p:cNvPr>
          <p:cNvSpPr txBox="1"/>
          <p:nvPr/>
        </p:nvSpPr>
        <p:spPr>
          <a:xfrm>
            <a:off x="8802080" y="4527394"/>
            <a:ext cx="29626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</p:txBody>
      </p:sp>
    </p:spTree>
    <p:extLst>
      <p:ext uri="{BB962C8B-B14F-4D97-AF65-F5344CB8AC3E}">
        <p14:creationId xmlns:p14="http://schemas.microsoft.com/office/powerpoint/2010/main" val="586060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BD4CD45-7C72-34CE-29B3-3757BFDDBB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125" y="3572982"/>
            <a:ext cx="10191750" cy="6477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EC4A037-BD8F-2226-325F-032628CD7A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123" y="1652912"/>
            <a:ext cx="10191751" cy="585225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7245872-D40B-963D-53DA-5C3BC454D2B0}"/>
              </a:ext>
            </a:extLst>
          </p:cNvPr>
          <p:cNvCxnSpPr>
            <a:cxnSpLocks/>
          </p:cNvCxnSpPr>
          <p:nvPr/>
        </p:nvCxnSpPr>
        <p:spPr>
          <a:xfrm flipH="1">
            <a:off x="5071730" y="2340864"/>
            <a:ext cx="536590" cy="1380531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944329BE-0746-89A8-E036-63F53173CA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59036" y="5056240"/>
            <a:ext cx="5764521" cy="647699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92E722C-0483-5475-1787-CDFDFEA55173}"/>
              </a:ext>
            </a:extLst>
          </p:cNvPr>
          <p:cNvCxnSpPr>
            <a:cxnSpLocks/>
          </p:cNvCxnSpPr>
          <p:nvPr/>
        </p:nvCxnSpPr>
        <p:spPr>
          <a:xfrm>
            <a:off x="1633728" y="3896832"/>
            <a:ext cx="1219200" cy="1308256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49C7CB9-2F9A-065E-6848-C3D1F481E54F}"/>
              </a:ext>
            </a:extLst>
          </p:cNvPr>
          <p:cNvSpPr/>
          <p:nvPr/>
        </p:nvSpPr>
        <p:spPr>
          <a:xfrm>
            <a:off x="6900672" y="5205088"/>
            <a:ext cx="829056" cy="350439"/>
          </a:xfrm>
          <a:prstGeom prst="rect">
            <a:avLst/>
          </a:prstGeom>
          <a:noFill/>
          <a:ln w="603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6904961-49B0-E2F3-847C-FFE27634A934}"/>
              </a:ext>
            </a:extLst>
          </p:cNvPr>
          <p:cNvSpPr txBox="1"/>
          <p:nvPr/>
        </p:nvSpPr>
        <p:spPr>
          <a:xfrm>
            <a:off x="901107" y="710427"/>
            <a:ext cx="103587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3811535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CE451E-F2AA-2606-CEE2-EE14606D7A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6F7F999E-B6F5-E20F-72F0-C6F2BC5500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101" y="5023550"/>
            <a:ext cx="7439025" cy="11049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266975A-2D01-A332-7D1C-225365A88F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859" y="661100"/>
            <a:ext cx="10325100" cy="436245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666470C-A158-7897-724A-CC7F432FE4B1}"/>
              </a:ext>
            </a:extLst>
          </p:cNvPr>
          <p:cNvSpPr/>
          <p:nvPr/>
        </p:nvSpPr>
        <p:spPr>
          <a:xfrm>
            <a:off x="6592187" y="4146698"/>
            <a:ext cx="3168502" cy="393404"/>
          </a:xfrm>
          <a:prstGeom prst="rect">
            <a:avLst/>
          </a:prstGeom>
          <a:noFill/>
          <a:ln w="603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92389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1DEAE92-6EFE-DDCA-11CF-AF190D6254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676" y="5457426"/>
            <a:ext cx="10191751" cy="5852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B094B62-3D14-61B6-4098-55DF89B9EF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737" y="658012"/>
            <a:ext cx="10325100" cy="436245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5416556-3BA8-5BEB-BA95-35BAB51CF86D}"/>
              </a:ext>
            </a:extLst>
          </p:cNvPr>
          <p:cNvSpPr/>
          <p:nvPr/>
        </p:nvSpPr>
        <p:spPr>
          <a:xfrm>
            <a:off x="6644640" y="4498848"/>
            <a:ext cx="2633472" cy="414528"/>
          </a:xfrm>
          <a:prstGeom prst="rect">
            <a:avLst/>
          </a:prstGeom>
          <a:noFill/>
          <a:ln w="635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18325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AF4995B-E86B-6000-2652-377F06D8AD01}"/>
              </a:ext>
            </a:extLst>
          </p:cNvPr>
          <p:cNvSpPr txBox="1"/>
          <p:nvPr/>
        </p:nvSpPr>
        <p:spPr>
          <a:xfrm>
            <a:off x="1365504" y="1592687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ArbitraryID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LongJson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JsonDemo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[Table_1]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ArbitraryID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26B038-599B-9A8F-6703-2A278666F713}"/>
              </a:ext>
            </a:extLst>
          </p:cNvPr>
          <p:cNvSpPr txBox="1"/>
          <p:nvPr/>
        </p:nvSpPr>
        <p:spPr>
          <a:xfrm>
            <a:off x="1365504" y="3648456"/>
            <a:ext cx="6096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JsonDemo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[Table_1] t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LongJson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ArbitraryID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FOR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AUTO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C75BB75-0A61-726A-22F7-BFCC81135A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6335" y="2616702"/>
            <a:ext cx="6350325" cy="66294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6CBD7A4-909B-5BB0-9B5B-0A851E8C80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36063" y="5265992"/>
            <a:ext cx="6700490" cy="66294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85D62FA-B097-1D43-BB38-FDA09F8C8D22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84160785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DFE0D-02EF-27EF-991B-C3BF47588F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46711E7-6515-D143-D66C-40F426C97260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endParaRPr lang="en-US" sz="28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691E4DD-0133-205E-3B7A-563E8F5923D4}"/>
              </a:ext>
            </a:extLst>
          </p:cNvPr>
          <p:cNvSpPr txBox="1"/>
          <p:nvPr/>
        </p:nvSpPr>
        <p:spPr>
          <a:xfrm>
            <a:off x="4437888" y="2816352"/>
            <a:ext cx="33162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/>
              <a:t>Demo Time</a:t>
            </a:r>
          </a:p>
        </p:txBody>
      </p:sp>
    </p:spTree>
    <p:extLst>
      <p:ext uri="{BB962C8B-B14F-4D97-AF65-F5344CB8AC3E}">
        <p14:creationId xmlns:p14="http://schemas.microsoft.com/office/powerpoint/2010/main" val="15928922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2F1444-66D8-55DD-5150-33C0B79D9E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9861D728-9A50-3D14-38D2-46EAC0BFB491}"/>
              </a:ext>
            </a:extLst>
          </p:cNvPr>
          <p:cNvSpPr txBox="1"/>
          <p:nvPr/>
        </p:nvSpPr>
        <p:spPr>
          <a:xfrm>
            <a:off x="901107" y="710427"/>
            <a:ext cx="103587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PATH</a:t>
            </a:r>
            <a:endParaRPr lang="en-US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4D85C5-73BE-9A85-3A9D-51E6B8E482B5}"/>
              </a:ext>
            </a:extLst>
          </p:cNvPr>
          <p:cNvSpPr txBox="1"/>
          <p:nvPr/>
        </p:nvSpPr>
        <p:spPr>
          <a:xfrm>
            <a:off x="768096" y="2279867"/>
            <a:ext cx="60960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'Jesús Castillo'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'name'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1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onsolas" panose="020B0609020204030204" pitchFamily="49" charset="0"/>
              </a:rPr>
              <a:t>json_expert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'$1.00'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AllTime_Jeopardy_Winnings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FOR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JSON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PATH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Contestants</a:t>
            </a:r>
          </a:p>
          <a:p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'Jeff Foushee'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'name'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0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onsolas" panose="020B0609020204030204" pitchFamily="49" charset="0"/>
              </a:rPr>
              <a:t>json_expert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NULL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AllTime_Jeopardy_Winnings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FOR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JSON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PATH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AlsoEligible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FOR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JSON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PATH</a:t>
            </a:r>
            <a:endParaRPr lang="en-US" dirty="0">
              <a:highlight>
                <a:srgbClr val="FFFF00"/>
              </a:highlight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F16434-EE17-C199-9EE9-5FADBDCADD4F}"/>
              </a:ext>
            </a:extLst>
          </p:cNvPr>
          <p:cNvSpPr txBox="1"/>
          <p:nvPr/>
        </p:nvSpPr>
        <p:spPr>
          <a:xfrm>
            <a:off x="1297172" y="1233647"/>
            <a:ext cx="9261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111111"/>
                </a:solidFill>
                <a:latin typeface="-apple-system"/>
              </a:rPr>
              <a:t>Also formats the ENTIRE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resultset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 as one JSON object, but allows for your JSON object definition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8C6C36-6623-C644-BEAC-F294138F0C43}"/>
              </a:ext>
            </a:extLst>
          </p:cNvPr>
          <p:cNvSpPr txBox="1"/>
          <p:nvPr/>
        </p:nvSpPr>
        <p:spPr>
          <a:xfrm>
            <a:off x="6632448" y="2126199"/>
            <a:ext cx="5120640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{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400" dirty="0"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400" dirty="0" err="1"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AlsoEligible</a:t>
            </a:r>
            <a:r>
              <a:rPr lang="en-US" sz="1400" dirty="0"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": [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{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</a:t>
            </a:r>
            <a:r>
              <a:rPr lang="en-US" sz="14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": 0,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"name": "Jeff Foushee"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}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],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400" dirty="0"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"Contestants": [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{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</a:t>
            </a:r>
            <a:r>
              <a:rPr lang="en-US" sz="14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AllTime_Jeopardy_Winnings</a:t>
            </a:r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": "$1.00",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</a:t>
            </a:r>
            <a:r>
              <a:rPr lang="en-US" sz="14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": 1,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"name": "Jesús Castillo"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}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]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}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D72C8CC-F2FC-3085-B52A-155082E63AD5}"/>
              </a:ext>
            </a:extLst>
          </p:cNvPr>
          <p:cNvSpPr txBox="1"/>
          <p:nvPr/>
        </p:nvSpPr>
        <p:spPr>
          <a:xfrm>
            <a:off x="8802080" y="5540654"/>
            <a:ext cx="29626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</p:txBody>
      </p:sp>
    </p:spTree>
    <p:extLst>
      <p:ext uri="{BB962C8B-B14F-4D97-AF65-F5344CB8AC3E}">
        <p14:creationId xmlns:p14="http://schemas.microsoft.com/office/powerpoint/2010/main" val="238826023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6C9975-DCC2-F97D-665B-C2ED485AB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EAE109A2-AA53-3A18-3067-5A522315564F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(AUTO|PATH)</a:t>
            </a:r>
            <a:endParaRPr lang="en-US" sz="28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F75E35D-1FF8-C550-9085-109B02ABB7FD}"/>
              </a:ext>
            </a:extLst>
          </p:cNvPr>
          <p:cNvSpPr txBox="1"/>
          <p:nvPr/>
        </p:nvSpPr>
        <p:spPr>
          <a:xfrm>
            <a:off x="1225296" y="1579894"/>
            <a:ext cx="9741408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Additional options:</a:t>
            </a:r>
          </a:p>
          <a:p>
            <a:endParaRPr lang="en-US" sz="2000" dirty="0">
              <a:solidFill>
                <a:srgbClr val="80808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(AUTO|PATH)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INCLUDE_NULL_VALUES</a:t>
            </a:r>
          </a:p>
          <a:p>
            <a:endParaRPr lang="en-US" sz="2000" dirty="0">
              <a:solidFill>
                <a:srgbClr val="808080"/>
              </a:solidFill>
              <a:latin typeface="Consolas" panose="020B0609020204030204" pitchFamily="49" charset="0"/>
            </a:endParaRPr>
          </a:p>
          <a:p>
            <a:r>
              <a:rPr lang="en-US" sz="2000" b="1" i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en-US" sz="2000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 </a:t>
            </a:r>
            <a:r>
              <a:rPr lang="en-US" sz="2000" dirty="0">
                <a:solidFill>
                  <a:srgbClr val="161616"/>
                </a:solidFill>
                <a:latin typeface="Segoe UI" panose="020B0502040204020203" pitchFamily="34" charset="0"/>
              </a:rPr>
              <a:t>I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ncludes null values in the JSON output of the </a:t>
            </a:r>
            <a:r>
              <a:rPr lang="en-US" sz="2000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FOR JSON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 clause. </a:t>
            </a:r>
          </a:p>
          <a:p>
            <a:r>
              <a:rPr lang="en-US" sz="2000" dirty="0">
                <a:solidFill>
                  <a:srgbClr val="161616"/>
                </a:solidFill>
                <a:latin typeface="Segoe UI" panose="020B0502040204020203" pitchFamily="34" charset="0"/>
              </a:rPr>
              <a:t>       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Default is to exclude keys with null values (think ABSENT ON NULL).</a:t>
            </a:r>
            <a:endParaRPr lang="en-US" sz="2000" b="1" i="0" dirty="0">
              <a:solidFill>
                <a:srgbClr val="161616"/>
              </a:solidFill>
              <a:effectLst/>
              <a:latin typeface="Segoe UI" panose="020B0502040204020203" pitchFamily="34" charset="0"/>
            </a:endParaRPr>
          </a:p>
          <a:p>
            <a:endParaRPr lang="en-US" sz="2000" b="0" i="0" dirty="0">
              <a:solidFill>
                <a:srgbClr val="161616"/>
              </a:solidFill>
              <a:effectLst/>
              <a:latin typeface="SFMono-Regular"/>
            </a:endParaRP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(AUTO|PATH)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ROOT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</a:rPr>
              <a:t>rootname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</a:p>
          <a:p>
            <a:endParaRPr lang="en-US" sz="2000" dirty="0">
              <a:solidFill>
                <a:srgbClr val="808080"/>
              </a:solidFill>
              <a:latin typeface="Consolas" panose="020B0609020204030204" pitchFamily="49" charset="0"/>
            </a:endParaRPr>
          </a:p>
          <a:p>
            <a:r>
              <a:rPr lang="en-US" sz="2000" b="0" i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en-US" sz="2000" dirty="0">
                <a:solidFill>
                  <a:srgbClr val="161616"/>
                </a:solidFill>
                <a:latin typeface="Segoe UI" panose="020B0502040204020203" pitchFamily="34" charset="0"/>
              </a:rPr>
              <a:t>C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reates a root level node named “</a:t>
            </a:r>
            <a:r>
              <a:rPr lang="en-US" sz="2000" b="0" i="0" dirty="0" err="1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rootname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” that embodies all </a:t>
            </a:r>
          </a:p>
          <a:p>
            <a:r>
              <a:rPr lang="en-US" sz="2000" dirty="0">
                <a:solidFill>
                  <a:srgbClr val="161616"/>
                </a:solidFill>
                <a:latin typeface="Segoe UI" panose="020B0502040204020203" pitchFamily="34" charset="0"/>
              </a:rPr>
              <a:t>      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the </a:t>
            </a:r>
            <a:r>
              <a:rPr lang="en-US" sz="2000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FOR JSON 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results</a:t>
            </a:r>
          </a:p>
          <a:p>
            <a:endParaRPr lang="en-US" sz="2000" b="0" i="0" dirty="0">
              <a:solidFill>
                <a:srgbClr val="161616"/>
              </a:solidFill>
              <a:effectLst/>
              <a:latin typeface="SFMono-Regular"/>
            </a:endParaRPr>
          </a:p>
          <a:p>
            <a:pPr>
              <a:defRPr/>
            </a:pP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(AUTO|PATH)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WITHOUT_ARRAY_WRAPPER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400" dirty="0">
              <a:solidFill>
                <a:srgbClr val="80808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000" b="0" i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removes the outer array brackets 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[]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 of the </a:t>
            </a:r>
            <a:r>
              <a:rPr lang="en-US" sz="2000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FOR JSON 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results</a:t>
            </a:r>
            <a:endParaRPr lang="en-US" sz="2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F1DD1B2-FCE3-849A-DDE7-2FF2CCF1AE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9190" y="2157178"/>
            <a:ext cx="3033886" cy="52349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9437A28-DBBF-6FB9-D75C-0E67FE4030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223" y="3581542"/>
            <a:ext cx="1806321" cy="57473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6C9D415-392F-2381-9CB9-E6AA613C6F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6206" y="4990737"/>
            <a:ext cx="1660354" cy="574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270352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028699" y="1826613"/>
            <a:ext cx="9348677" cy="3493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}’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 </a:t>
            </a:r>
            <a:r>
              <a:rPr lang="da-DK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 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Jeff’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endParaRPr lang="da-DK" sz="17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SET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 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'Jeff'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da-DK" sz="17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700" dirty="0">
              <a:solidFill>
                <a:srgbClr val="0000FF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JSON_MODIFY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 path, 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new_value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Alters the properties inside a JSON object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880ABD-C535-1042-FFC3-62D22814337A}"/>
              </a:ext>
            </a:extLst>
          </p:cNvPr>
          <p:cNvSpPr txBox="1"/>
          <p:nvPr/>
        </p:nvSpPr>
        <p:spPr>
          <a:xfrm>
            <a:off x="9615021" y="5843097"/>
            <a:ext cx="200019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  </a:t>
            </a:r>
          </a:p>
          <a:p>
            <a:r>
              <a:rPr lang="en-US" sz="1200" dirty="0"/>
              <a:t>Azure SQL Managed Instance  </a:t>
            </a:r>
          </a:p>
          <a:p>
            <a:r>
              <a:rPr lang="en-US" sz="1200" dirty="0"/>
              <a:t>Azure Synapse Analytics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05BEFB-C5DE-FBFA-FF1A-F7D9DE3CFEAD}"/>
              </a:ext>
            </a:extLst>
          </p:cNvPr>
          <p:cNvSpPr txBox="1"/>
          <p:nvPr/>
        </p:nvSpPr>
        <p:spPr>
          <a:xfrm>
            <a:off x="7804155" y="4354725"/>
            <a:ext cx="3621732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What’s the difference?</a:t>
            </a:r>
            <a:endParaRPr lang="en-US" sz="1700" dirty="0">
              <a:solidFill>
                <a:schemeClr val="accent6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539644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028699" y="1826613"/>
            <a:ext cx="9348677" cy="4585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700" dirty="0">
              <a:solidFill>
                <a:srgbClr val="0000FF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'$.dog'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'1'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7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lax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$.dog'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'1'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da-DK" sz="17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da-DK" sz="17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7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strict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$.dog'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'1'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700" dirty="0">
                <a:solidFill>
                  <a:schemeClr val="accent2">
                    <a:lumMod val="75000"/>
                  </a:schemeClr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Property cannot be found on the specified JSON path.</a:t>
            </a:r>
          </a:p>
          <a:p>
            <a:endParaRPr lang="en-US" sz="1700" dirty="0">
              <a:solidFill>
                <a:schemeClr val="accent2">
                  <a:lumMod val="75000"/>
                </a:schemeClr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 </a:t>
            </a:r>
            <a:r>
              <a:rPr lang="da-DK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7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strict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$.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endParaRPr lang="da-DK" sz="17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 </a:t>
            </a:r>
            <a:r>
              <a:rPr lang="da-DK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$.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 </a:t>
            </a:r>
            <a:r>
              <a:rPr lang="da-DK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7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lax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$.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JSON_MODIFY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 path, 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new_value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Alters the properties inside a JSON object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8A0E93E-64D5-0D91-3F9A-F998D34B9AE6}"/>
              </a:ext>
            </a:extLst>
          </p:cNvPr>
          <p:cNvSpPr txBox="1"/>
          <p:nvPr/>
        </p:nvSpPr>
        <p:spPr>
          <a:xfrm>
            <a:off x="6842335" y="3711744"/>
            <a:ext cx="4608575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Adds/sets even if non-existent</a:t>
            </a:r>
            <a:endParaRPr lang="en-US" sz="1700" dirty="0">
              <a:solidFill>
                <a:schemeClr val="accent6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99A0C2-EB10-A1C7-CFF2-373E1669B39F}"/>
              </a:ext>
            </a:extLst>
          </p:cNvPr>
          <p:cNvSpPr txBox="1"/>
          <p:nvPr/>
        </p:nvSpPr>
        <p:spPr>
          <a:xfrm>
            <a:off x="7965981" y="4477338"/>
            <a:ext cx="344424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Must pre-exist to set</a:t>
            </a:r>
            <a:endParaRPr lang="en-US" sz="1700" dirty="0">
              <a:solidFill>
                <a:schemeClr val="accent6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C08E9A-4EE3-FF8B-9AC1-A55F9D1BF02B}"/>
              </a:ext>
            </a:extLst>
          </p:cNvPr>
          <p:cNvSpPr txBox="1"/>
          <p:nvPr/>
        </p:nvSpPr>
        <p:spPr>
          <a:xfrm>
            <a:off x="8374412" y="5206356"/>
            <a:ext cx="3573747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Explicitly sets to null</a:t>
            </a:r>
            <a:endParaRPr lang="en-US" sz="1700" dirty="0">
              <a:solidFill>
                <a:schemeClr val="accent6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33F358-0DB9-F772-81C2-577A66368461}"/>
              </a:ext>
            </a:extLst>
          </p:cNvPr>
          <p:cNvSpPr txBox="1"/>
          <p:nvPr/>
        </p:nvSpPr>
        <p:spPr>
          <a:xfrm>
            <a:off x="8112284" y="5840459"/>
            <a:ext cx="3573747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Removes from JSON</a:t>
            </a:r>
            <a:endParaRPr lang="en-US" sz="1700" dirty="0">
              <a:solidFill>
                <a:schemeClr val="accent6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258502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033FA-C9E7-4C62-33D2-267D444E7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Indexing JSON</a:t>
            </a:r>
          </a:p>
        </p:txBody>
      </p:sp>
    </p:spTree>
    <p:extLst>
      <p:ext uri="{BB962C8B-B14F-4D97-AF65-F5344CB8AC3E}">
        <p14:creationId xmlns:p14="http://schemas.microsoft.com/office/powerpoint/2010/main" val="58840294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06A0B58-6B07-0487-8B5D-2A6F57F1BA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4437" y="634138"/>
            <a:ext cx="9923126" cy="5589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500503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F8769F6-BEC9-DA7E-3AC8-6B5928E616E9}"/>
              </a:ext>
            </a:extLst>
          </p:cNvPr>
          <p:cNvSpPr txBox="1"/>
          <p:nvPr/>
        </p:nvSpPr>
        <p:spPr>
          <a:xfrm>
            <a:off x="1180682" y="718857"/>
            <a:ext cx="7400544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*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Persons</a:t>
            </a:r>
            <a:endParaRPr lang="en-US" sz="18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JsonData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'%"</a:t>
            </a:r>
            <a:r>
              <a:rPr lang="en-US" sz="1800" dirty="0" err="1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Foushee"%'</a:t>
            </a:r>
            <a:endParaRPr lang="en-US" sz="18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*</a:t>
            </a:r>
            <a:endParaRPr lang="en-US" sz="18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Persons</a:t>
            </a:r>
            <a:endParaRPr lang="en-US" sz="18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JsonData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'$.name'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'Jeff Foushee'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901BA9B-AB9E-ADB6-A7CA-497C77D4E2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0681" y="3587496"/>
            <a:ext cx="4601712" cy="271014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58E5231-90BD-052A-1BC7-AB88A70769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609" y="3587496"/>
            <a:ext cx="4714753" cy="264346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1C65144A-425B-25E2-3E06-63204957467D}"/>
              </a:ext>
            </a:extLst>
          </p:cNvPr>
          <p:cNvSpPr txBox="1"/>
          <p:nvPr/>
        </p:nvSpPr>
        <p:spPr>
          <a:xfrm>
            <a:off x="6253967" y="3004079"/>
            <a:ext cx="489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(Without </a:t>
            </a:r>
            <a:r>
              <a:rPr lang="en-US" dirty="0" err="1"/>
              <a:t>nonclustered</a:t>
            </a:r>
            <a:r>
              <a:rPr lang="en-US" dirty="0"/>
              <a:t> index on </a:t>
            </a:r>
            <a:r>
              <a:rPr lang="en-US" dirty="0" err="1"/>
              <a:t>JsonData</a:t>
            </a:r>
            <a:r>
              <a:rPr lang="en-US" dirty="0"/>
              <a:t> column)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23EDEF2-F371-A8CF-52D4-4DFC7CCB81D8}"/>
              </a:ext>
            </a:extLst>
          </p:cNvPr>
          <p:cNvSpPr txBox="1"/>
          <p:nvPr/>
        </p:nvSpPr>
        <p:spPr>
          <a:xfrm>
            <a:off x="1067640" y="3000566"/>
            <a:ext cx="47147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(With explicit index on </a:t>
            </a:r>
            <a:r>
              <a:rPr lang="en-US" dirty="0" err="1"/>
              <a:t>JsonData</a:t>
            </a:r>
            <a:r>
              <a:rPr lang="en-US" dirty="0"/>
              <a:t> column)</a:t>
            </a:r>
          </a:p>
        </p:txBody>
      </p:sp>
    </p:spTree>
    <p:extLst>
      <p:ext uri="{BB962C8B-B14F-4D97-AF65-F5344CB8AC3E}">
        <p14:creationId xmlns:p14="http://schemas.microsoft.com/office/powerpoint/2010/main" val="78279664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033FA-C9E7-4C62-33D2-267D444E7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“Indexing” JSON</a:t>
            </a:r>
          </a:p>
        </p:txBody>
      </p:sp>
    </p:spTree>
    <p:extLst>
      <p:ext uri="{BB962C8B-B14F-4D97-AF65-F5344CB8AC3E}">
        <p14:creationId xmlns:p14="http://schemas.microsoft.com/office/powerpoint/2010/main" val="237664699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304C3-E652-A3C8-F4DC-9D0A1D66B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“Indexing” JSON (1 object, 1 value)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B3B76C4-57D0-374A-4940-5AD05203BE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128" y="1621536"/>
            <a:ext cx="3987560" cy="111309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86C3FFF-E679-5EE6-60AD-ACE3D52EFE24}"/>
              </a:ext>
            </a:extLst>
          </p:cNvPr>
          <p:cNvSpPr txBox="1"/>
          <p:nvPr/>
        </p:nvSpPr>
        <p:spPr>
          <a:xfrm>
            <a:off x="1032128" y="3383280"/>
            <a:ext cx="706335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Persons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JsonData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FF0000"/>
                </a:solidFill>
                <a:highlight>
                  <a:srgbClr val="00FFFF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highlight>
                <a:srgbClr val="00FFFF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highlight>
                  <a:srgbClr val="00FFFF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404639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FE8F2-198D-75DC-F552-AD672475D1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24ACB5-50F2-41F2-2E63-AD4505553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“Indexing” JSON (1 object, 1 value)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EE4A33-1691-2B04-DE8C-C5390B3BCAC3}"/>
              </a:ext>
            </a:extLst>
          </p:cNvPr>
          <p:cNvSpPr txBox="1"/>
          <p:nvPr/>
        </p:nvSpPr>
        <p:spPr>
          <a:xfrm>
            <a:off x="5619750" y="4533465"/>
            <a:ext cx="434035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TOP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1000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JsonData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[name]</a:t>
            </a: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JsonDemo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[Persons]</a:t>
            </a:r>
            <a:endParaRPr lang="en-US" sz="14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7B89996-376D-0C4F-8BD3-50ACE272DD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9750" y="5476113"/>
            <a:ext cx="5734050" cy="51435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C50F33B-222B-E1A0-137E-37A87531F5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565969"/>
            <a:ext cx="5042768" cy="2709815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3C5FF805-00BA-32F3-5AC9-E877A5093165}"/>
              </a:ext>
            </a:extLst>
          </p:cNvPr>
          <p:cNvSpPr/>
          <p:nvPr/>
        </p:nvSpPr>
        <p:spPr>
          <a:xfrm>
            <a:off x="3447880" y="3786556"/>
            <a:ext cx="2343320" cy="441960"/>
          </a:xfrm>
          <a:prstGeom prst="rect">
            <a:avLst/>
          </a:prstGeom>
          <a:noFill/>
          <a:ln w="444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407DEF1-CC2A-D8A4-FB3A-9164778730D5}"/>
              </a:ext>
            </a:extLst>
          </p:cNvPr>
          <p:cNvSpPr txBox="1"/>
          <p:nvPr/>
        </p:nvSpPr>
        <p:spPr>
          <a:xfrm>
            <a:off x="6119622" y="2951630"/>
            <a:ext cx="42428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JsonData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'$.name'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CEDD8E2-EB7E-3442-E089-BC41A3452461}"/>
              </a:ext>
            </a:extLst>
          </p:cNvPr>
          <p:cNvCxnSpPr>
            <a:cxnSpLocks/>
          </p:cNvCxnSpPr>
          <p:nvPr/>
        </p:nvCxnSpPr>
        <p:spPr>
          <a:xfrm flipV="1">
            <a:off x="5827014" y="3344596"/>
            <a:ext cx="292608" cy="441960"/>
          </a:xfrm>
          <a:prstGeom prst="line">
            <a:avLst/>
          </a:prstGeom>
          <a:ln w="3175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2F53EAAC-2A19-F0DD-9A1F-0CEF3B09FB4D}"/>
              </a:ext>
            </a:extLst>
          </p:cNvPr>
          <p:cNvSpPr txBox="1"/>
          <p:nvPr/>
        </p:nvSpPr>
        <p:spPr>
          <a:xfrm>
            <a:off x="1840992" y="4435952"/>
            <a:ext cx="14874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PERSISTED</a:t>
            </a:r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A2A9FE0-8162-BC61-18DC-DD67297335A7}"/>
              </a:ext>
            </a:extLst>
          </p:cNvPr>
          <p:cNvCxnSpPr>
            <a:cxnSpLocks/>
          </p:cNvCxnSpPr>
          <p:nvPr/>
        </p:nvCxnSpPr>
        <p:spPr>
          <a:xfrm flipV="1">
            <a:off x="3136200" y="4178658"/>
            <a:ext cx="292608" cy="441960"/>
          </a:xfrm>
          <a:prstGeom prst="line">
            <a:avLst/>
          </a:prstGeom>
          <a:ln w="3175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9580E02A-011C-A7CD-D16E-A6A4ED750C94}"/>
              </a:ext>
            </a:extLst>
          </p:cNvPr>
          <p:cNvSpPr/>
          <p:nvPr/>
        </p:nvSpPr>
        <p:spPr>
          <a:xfrm>
            <a:off x="10143460" y="5476113"/>
            <a:ext cx="1210340" cy="514350"/>
          </a:xfrm>
          <a:prstGeom prst="rect">
            <a:avLst/>
          </a:prstGeom>
          <a:noFill/>
          <a:ln w="5397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102D6E5-3155-7206-922B-A6853D60F226}"/>
              </a:ext>
            </a:extLst>
          </p:cNvPr>
          <p:cNvCxnSpPr>
            <a:cxnSpLocks/>
          </p:cNvCxnSpPr>
          <p:nvPr/>
        </p:nvCxnSpPr>
        <p:spPr>
          <a:xfrm>
            <a:off x="5827014" y="3938956"/>
            <a:ext cx="4133088" cy="0"/>
          </a:xfrm>
          <a:prstGeom prst="line">
            <a:avLst/>
          </a:prstGeom>
          <a:ln w="3175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F8CB0DC-9987-5823-173F-C9D208F2CFE0}"/>
              </a:ext>
            </a:extLst>
          </p:cNvPr>
          <p:cNvCxnSpPr>
            <a:cxnSpLocks/>
          </p:cNvCxnSpPr>
          <p:nvPr/>
        </p:nvCxnSpPr>
        <p:spPr>
          <a:xfrm flipH="1" flipV="1">
            <a:off x="9960102" y="3938956"/>
            <a:ext cx="402336" cy="1537157"/>
          </a:xfrm>
          <a:prstGeom prst="line">
            <a:avLst/>
          </a:prstGeom>
          <a:ln w="3175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665604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314A5AE-1B2A-6E55-228B-B065B342A1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2884" y="618852"/>
            <a:ext cx="9286232" cy="5620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868812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24B1BAE-332C-3A53-BF5F-4444F152836B}"/>
              </a:ext>
            </a:extLst>
          </p:cNvPr>
          <p:cNvSpPr txBox="1"/>
          <p:nvPr/>
        </p:nvSpPr>
        <p:spPr>
          <a:xfrm>
            <a:off x="1665073" y="1663787"/>
            <a:ext cx="759013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*</a:t>
            </a:r>
            <a:endParaRPr lang="en-US" sz="18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Persons</a:t>
            </a:r>
            <a:endParaRPr lang="en-US" sz="18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JsonData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'$.name'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'Jeff Foushee'</a:t>
            </a:r>
            <a:endParaRPr lang="en-US" dirty="0">
              <a:highlight>
                <a:srgbClr val="FFFF00"/>
              </a:highlight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5EC11A9-55C5-106D-3C9E-3BF52C3B30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Now it’s a Seek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F4BD62-49F7-631E-7AD4-21052E54FF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3585" y="2917397"/>
            <a:ext cx="7924830" cy="347662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0B7321C-5715-2674-C4A6-BEA259C85968}"/>
              </a:ext>
            </a:extLst>
          </p:cNvPr>
          <p:cNvSpPr/>
          <p:nvPr/>
        </p:nvSpPr>
        <p:spPr>
          <a:xfrm>
            <a:off x="6870357" y="3323968"/>
            <a:ext cx="2631989" cy="889686"/>
          </a:xfrm>
          <a:prstGeom prst="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374960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3837AB2-43D0-2D11-205D-8F06EDD3D6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3586" y="2917397"/>
            <a:ext cx="7751820" cy="350811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720C4F1-8DD7-F9FA-4E4D-2D499D016014}"/>
              </a:ext>
            </a:extLst>
          </p:cNvPr>
          <p:cNvSpPr txBox="1"/>
          <p:nvPr/>
        </p:nvSpPr>
        <p:spPr>
          <a:xfrm>
            <a:off x="1665073" y="1663787"/>
            <a:ext cx="759013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*</a:t>
            </a:r>
            <a:endParaRPr lang="en-US" sz="18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Persons</a:t>
            </a:r>
            <a:endParaRPr lang="en-US" sz="18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JsonData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'$.name'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'%Foushee'</a:t>
            </a:r>
            <a:endParaRPr lang="en-US" dirty="0">
              <a:highlight>
                <a:srgbClr val="FFFF00"/>
              </a:highlight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104EB2-98FA-5F39-1387-E37CAD3AFE48}"/>
              </a:ext>
            </a:extLst>
          </p:cNvPr>
          <p:cNvSpPr/>
          <p:nvPr/>
        </p:nvSpPr>
        <p:spPr>
          <a:xfrm>
            <a:off x="6993924" y="3367216"/>
            <a:ext cx="2631989" cy="889686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144531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4E015-E68F-2C38-7EA6-FF5F1780F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45801AC3-1F2F-8A58-96E1-25B9A2F2BF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008" y="1565871"/>
            <a:ext cx="5354574" cy="26505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F6B9977-5D80-F6B4-271F-EC2F3557D8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“Indexing” JSON (1 object, 1 value)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4352FD-E253-E572-B5B6-D743D45F15D9}"/>
              </a:ext>
            </a:extLst>
          </p:cNvPr>
          <p:cNvSpPr txBox="1"/>
          <p:nvPr/>
        </p:nvSpPr>
        <p:spPr>
          <a:xfrm>
            <a:off x="5623562" y="4520523"/>
            <a:ext cx="434035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TOP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1000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JsonData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40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[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last_name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]</a:t>
            </a: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JsonDemo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[Persons]</a:t>
            </a:r>
            <a:endParaRPr lang="en-US" sz="1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A61823F-9636-9362-D007-EBD6FC683F74}"/>
              </a:ext>
            </a:extLst>
          </p:cNvPr>
          <p:cNvSpPr/>
          <p:nvPr/>
        </p:nvSpPr>
        <p:spPr>
          <a:xfrm>
            <a:off x="3447880" y="3786556"/>
            <a:ext cx="2818808" cy="441960"/>
          </a:xfrm>
          <a:prstGeom prst="rect">
            <a:avLst/>
          </a:prstGeom>
          <a:noFill/>
          <a:ln w="349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F27698A-AE3C-F2BF-B06D-B8C5C518844D}"/>
              </a:ext>
            </a:extLst>
          </p:cNvPr>
          <p:cNvSpPr txBox="1"/>
          <p:nvPr/>
        </p:nvSpPr>
        <p:spPr>
          <a:xfrm>
            <a:off x="6400800" y="1939581"/>
            <a:ext cx="5677786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RIGHT(</a:t>
            </a:r>
          </a:p>
          <a:p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JsonData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LEN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JsonData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))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-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CHARINDEX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JsonData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))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4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F994E4E-338A-E0D9-3B3E-A5BC9F79F03C}"/>
              </a:ext>
            </a:extLst>
          </p:cNvPr>
          <p:cNvCxnSpPr>
            <a:cxnSpLocks/>
          </p:cNvCxnSpPr>
          <p:nvPr/>
        </p:nvCxnSpPr>
        <p:spPr>
          <a:xfrm flipV="1">
            <a:off x="5827014" y="2713693"/>
            <a:ext cx="927354" cy="1072863"/>
          </a:xfrm>
          <a:prstGeom prst="line">
            <a:avLst/>
          </a:prstGeom>
          <a:ln w="3175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254CF864-CA1E-8609-F832-98F9CCC4E48D}"/>
              </a:ext>
            </a:extLst>
          </p:cNvPr>
          <p:cNvSpPr txBox="1"/>
          <p:nvPr/>
        </p:nvSpPr>
        <p:spPr>
          <a:xfrm>
            <a:off x="1840992" y="4435952"/>
            <a:ext cx="14874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PERSISTED</a:t>
            </a:r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26F8C6C-F530-615B-9963-1F9AAC87D547}"/>
              </a:ext>
            </a:extLst>
          </p:cNvPr>
          <p:cNvCxnSpPr>
            <a:cxnSpLocks/>
          </p:cNvCxnSpPr>
          <p:nvPr/>
        </p:nvCxnSpPr>
        <p:spPr>
          <a:xfrm flipV="1">
            <a:off x="3136200" y="4178658"/>
            <a:ext cx="292608" cy="441960"/>
          </a:xfrm>
          <a:prstGeom prst="line">
            <a:avLst/>
          </a:prstGeom>
          <a:ln w="3175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Picture 16">
            <a:extLst>
              <a:ext uri="{FF2B5EF4-FFF2-40B4-BE49-F238E27FC236}">
                <a16:creationId xmlns:a16="http://schemas.microsoft.com/office/drawing/2014/main" id="{68754218-49ED-A89F-E32B-6E57B84CF2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8320" y="5439537"/>
            <a:ext cx="5524500" cy="561975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6FC178A1-8E7C-D570-CE87-4EF41684FA1B}"/>
              </a:ext>
            </a:extLst>
          </p:cNvPr>
          <p:cNvCxnSpPr>
            <a:cxnSpLocks/>
          </p:cNvCxnSpPr>
          <p:nvPr/>
        </p:nvCxnSpPr>
        <p:spPr>
          <a:xfrm>
            <a:off x="6266688" y="3938956"/>
            <a:ext cx="3693414" cy="0"/>
          </a:xfrm>
          <a:prstGeom prst="line">
            <a:avLst/>
          </a:prstGeom>
          <a:ln w="3175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E7DEBA7-DA86-6641-E1E2-1CCEB8360CA1}"/>
              </a:ext>
            </a:extLst>
          </p:cNvPr>
          <p:cNvCxnSpPr>
            <a:cxnSpLocks/>
          </p:cNvCxnSpPr>
          <p:nvPr/>
        </p:nvCxnSpPr>
        <p:spPr>
          <a:xfrm flipH="1" flipV="1">
            <a:off x="9960102" y="3938956"/>
            <a:ext cx="402336" cy="1537157"/>
          </a:xfrm>
          <a:prstGeom prst="line">
            <a:avLst/>
          </a:prstGeom>
          <a:ln w="3175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68D7C42A-BF06-FE48-4AEB-20F9492FAA96}"/>
              </a:ext>
            </a:extLst>
          </p:cNvPr>
          <p:cNvSpPr/>
          <p:nvPr/>
        </p:nvSpPr>
        <p:spPr>
          <a:xfrm>
            <a:off x="10143460" y="5476112"/>
            <a:ext cx="1210340" cy="525399"/>
          </a:xfrm>
          <a:prstGeom prst="rect">
            <a:avLst/>
          </a:prstGeom>
          <a:noFill/>
          <a:ln w="5080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03092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60DD77E-1A90-FA6B-6109-5312758B96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0332" y="696408"/>
            <a:ext cx="9471335" cy="546518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2413619-35BC-3258-9EDB-A91DF1D1B4FD}"/>
              </a:ext>
            </a:extLst>
          </p:cNvPr>
          <p:cNvSpPr/>
          <p:nvPr/>
        </p:nvSpPr>
        <p:spPr>
          <a:xfrm>
            <a:off x="5961888" y="3791712"/>
            <a:ext cx="1426464" cy="560832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7367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3BC7E6-5B07-1429-6130-E25EA6BE6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81AE2979-5CC4-E11D-7730-07920CB2FB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008" y="1565871"/>
            <a:ext cx="5354574" cy="26505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DB47F63-F3BF-F80B-6254-3C995D7308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“Indexing” JSON (1 object, 1 value)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F4E9310-3CE6-B1E9-3603-EBBCCE736AA5}"/>
              </a:ext>
            </a:extLst>
          </p:cNvPr>
          <p:cNvSpPr/>
          <p:nvPr/>
        </p:nvSpPr>
        <p:spPr>
          <a:xfrm>
            <a:off x="3447880" y="3786556"/>
            <a:ext cx="2818808" cy="441960"/>
          </a:xfrm>
          <a:prstGeom prst="rect">
            <a:avLst/>
          </a:prstGeom>
          <a:noFill/>
          <a:ln w="5080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AC8F4A4-C0A5-B198-BD06-89AF887F1B08}"/>
              </a:ext>
            </a:extLst>
          </p:cNvPr>
          <p:cNvSpPr txBox="1"/>
          <p:nvPr/>
        </p:nvSpPr>
        <p:spPr>
          <a:xfrm>
            <a:off x="6412230" y="1939581"/>
            <a:ext cx="5596890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FF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Convert</a:t>
            </a:r>
            <a:r>
              <a:rPr lang="en-US" sz="14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4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128</a:t>
            </a:r>
            <a:r>
              <a:rPr lang="en-US" sz="14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),</a:t>
            </a:r>
            <a:endParaRPr lang="en-US" sz="14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RIGHT(</a:t>
            </a:r>
            <a:r>
              <a:rPr lang="en-US" sz="1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JsonData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LEN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JsonData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))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CHARINDEX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9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JsonData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))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)</a:t>
            </a:r>
          </a:p>
          <a:p>
            <a:r>
              <a:rPr lang="en-US" sz="14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100" dirty="0"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5B9E91B-C014-2374-E5A4-00E3EEB63E0A}"/>
              </a:ext>
            </a:extLst>
          </p:cNvPr>
          <p:cNvCxnSpPr>
            <a:cxnSpLocks/>
          </p:cNvCxnSpPr>
          <p:nvPr/>
        </p:nvCxnSpPr>
        <p:spPr>
          <a:xfrm flipV="1">
            <a:off x="5827014" y="2424223"/>
            <a:ext cx="701377" cy="1362333"/>
          </a:xfrm>
          <a:prstGeom prst="line">
            <a:avLst/>
          </a:prstGeom>
          <a:ln w="3175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28DDBC3D-D574-694E-0793-A75F0006A60B}"/>
              </a:ext>
            </a:extLst>
          </p:cNvPr>
          <p:cNvSpPr txBox="1"/>
          <p:nvPr/>
        </p:nvSpPr>
        <p:spPr>
          <a:xfrm>
            <a:off x="1840992" y="4435952"/>
            <a:ext cx="14874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PERSISTED</a:t>
            </a:r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83CD814-0E6C-7FA5-6224-973DC3FFA14A}"/>
              </a:ext>
            </a:extLst>
          </p:cNvPr>
          <p:cNvCxnSpPr>
            <a:cxnSpLocks/>
          </p:cNvCxnSpPr>
          <p:nvPr/>
        </p:nvCxnSpPr>
        <p:spPr>
          <a:xfrm flipV="1">
            <a:off x="3136200" y="4178658"/>
            <a:ext cx="292608" cy="441960"/>
          </a:xfrm>
          <a:prstGeom prst="line">
            <a:avLst/>
          </a:prstGeom>
          <a:ln w="3175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8D03889D-5931-8F42-7C78-37D47190084E}"/>
              </a:ext>
            </a:extLst>
          </p:cNvPr>
          <p:cNvSpPr txBox="1"/>
          <p:nvPr/>
        </p:nvSpPr>
        <p:spPr>
          <a:xfrm>
            <a:off x="5623562" y="4520523"/>
            <a:ext cx="434035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TOP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1000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JsonData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last_name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JsonDemo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[Persons]</a:t>
            </a:r>
            <a:endParaRPr lang="en-US" sz="1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EAA531B-5946-8D86-82BB-2D285DA39E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8320" y="5439537"/>
            <a:ext cx="5524500" cy="561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505461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E351690-2C27-CA27-2DA9-FD59F47AAE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0933" y="702410"/>
            <a:ext cx="9450133" cy="545318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5685047-492D-210C-E557-3741F889FB32}"/>
              </a:ext>
            </a:extLst>
          </p:cNvPr>
          <p:cNvSpPr/>
          <p:nvPr/>
        </p:nvSpPr>
        <p:spPr>
          <a:xfrm>
            <a:off x="5961888" y="3791712"/>
            <a:ext cx="1304544" cy="560832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47367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06FC5BB4-2F8C-D054-3359-0E08644E0D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3586" y="2917398"/>
            <a:ext cx="7690036" cy="346643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1DA339E-22AC-830F-9EAB-8B8047E3EE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Now it’s a Seek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1FCED0-4A75-9269-F55B-32E17B8EEE97}"/>
              </a:ext>
            </a:extLst>
          </p:cNvPr>
          <p:cNvSpPr txBox="1"/>
          <p:nvPr/>
        </p:nvSpPr>
        <p:spPr>
          <a:xfrm>
            <a:off x="1665073" y="1663787"/>
            <a:ext cx="609805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*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Persons</a:t>
            </a:r>
            <a:endParaRPr lang="en-US" sz="18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= 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'Foushee'</a:t>
            </a:r>
            <a:endParaRPr lang="en-US" sz="18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1FC0D71-359A-961C-26A1-99C268831997}"/>
              </a:ext>
            </a:extLst>
          </p:cNvPr>
          <p:cNvSpPr/>
          <p:nvPr/>
        </p:nvSpPr>
        <p:spPr>
          <a:xfrm>
            <a:off x="6904412" y="3362329"/>
            <a:ext cx="2894496" cy="923330"/>
          </a:xfrm>
          <a:prstGeom prst="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741716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CF8916-7B42-32DD-9CBD-CFB84FEA5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3E14FAD-03DF-D7CA-E19C-97B2AD237EA9}"/>
              </a:ext>
            </a:extLst>
          </p:cNvPr>
          <p:cNvSpPr txBox="1"/>
          <p:nvPr/>
        </p:nvSpPr>
        <p:spPr>
          <a:xfrm>
            <a:off x="4437888" y="2816352"/>
            <a:ext cx="33162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/>
              <a:t>Demo Time</a:t>
            </a:r>
          </a:p>
        </p:txBody>
      </p:sp>
    </p:spTree>
    <p:extLst>
      <p:ext uri="{BB962C8B-B14F-4D97-AF65-F5344CB8AC3E}">
        <p14:creationId xmlns:p14="http://schemas.microsoft.com/office/powerpoint/2010/main" val="727695564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304C3-E652-A3C8-F4DC-9D0A1D66B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“Indexing” JSON (1 object, multi-value)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B3B76C4-57D0-374A-4940-5AD05203BE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128" y="1621536"/>
            <a:ext cx="3987560" cy="111309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86C3FFF-E679-5EE6-60AD-ACE3D52EFE24}"/>
              </a:ext>
            </a:extLst>
          </p:cNvPr>
          <p:cNvSpPr txBox="1"/>
          <p:nvPr/>
        </p:nvSpPr>
        <p:spPr>
          <a:xfrm>
            <a:off x="1032128" y="3383280"/>
            <a:ext cx="706335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Persons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JsonData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FF0000"/>
                </a:solidFill>
                <a:highlight>
                  <a:srgbClr val="00FFFF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highlight>
                <a:srgbClr val="00FFFF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 "parents":[{"</a:t>
            </a:r>
            <a:r>
              <a:rPr lang="en-US" sz="1800" dirty="0" err="1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highlight>
                  <a:srgbClr val="00FFFF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2063991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1147FFAC-DA99-46FF-89E2-9A4FDC4D2127}"/>
              </a:ext>
            </a:extLst>
          </p:cNvPr>
          <p:cNvSpPr txBox="1"/>
          <p:nvPr/>
        </p:nvSpPr>
        <p:spPr>
          <a:xfrm>
            <a:off x="5222457" y="181957"/>
            <a:ext cx="6773964" cy="6494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CREATE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TRIGGER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6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tr_Persons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6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Persons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DELETE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onsolas" panose="020B0609020204030204" pitchFamily="49" charset="0"/>
              </a:rPr>
              <a:t>UPDATE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BEGIN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  SET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NOCOUNT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;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  IF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EXISTS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1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deleted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    BEGIN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      DELETE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affected</a:t>
            </a: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      FROM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Persons_x_Parents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] affected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INNER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JOIN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deleted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deleted</a:t>
            </a:r>
            <a:r>
              <a:rPr lang="en-US" sz="16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affected</a:t>
            </a:r>
            <a:r>
              <a:rPr lang="en-US" sz="16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    END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--ENDIF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  IF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EXISTS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1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inserted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    BEGIN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      INSERT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Persons_x_Parents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         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[name]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        SELECT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16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onsolas" panose="020B0609020204030204" pitchFamily="49" charset="0"/>
              </a:rPr>
              <a:t>JSON_VALUE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p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</a:rPr>
              <a:t>'$.name'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        FROM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inserted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  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APPLY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16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JsonData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</a:rPr>
              <a:t>'$.parents'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p</a:t>
            </a: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    END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--ENDIF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END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GO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A5B3F6F-989F-2C7D-0375-FA99EE6298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424" y="2428393"/>
            <a:ext cx="3258266" cy="1319656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37B38BCD-D169-EE07-FEAA-A8652893C9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424" y="619381"/>
            <a:ext cx="3987560" cy="1113092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EC3A6450-E74F-2AB1-2343-31B1FEC05F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159" y="619381"/>
            <a:ext cx="3932804" cy="1668093"/>
          </a:xfrm>
          <a:prstGeom prst="rect">
            <a:avLst/>
          </a:prstGeom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299BCE7D-C943-05E9-81C3-DB0513E431E3}"/>
              </a:ext>
            </a:extLst>
          </p:cNvPr>
          <p:cNvGrpSpPr/>
          <p:nvPr/>
        </p:nvGrpSpPr>
        <p:grpSpPr>
          <a:xfrm>
            <a:off x="3551274" y="1280160"/>
            <a:ext cx="1074975" cy="2122330"/>
            <a:chOff x="3551274" y="1828800"/>
            <a:chExt cx="1074975" cy="1780954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E262DE2B-BCA2-9D40-CAEF-5B387205FE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76577" y="1828800"/>
              <a:ext cx="628407" cy="0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0843B33-AF54-AC5B-4389-5895CC91FD0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26249" y="1828800"/>
              <a:ext cx="0" cy="1690577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29B33C8-2AD6-9F46-4FF5-F7BE9A835871}"/>
                </a:ext>
              </a:extLst>
            </p:cNvPr>
            <p:cNvCxnSpPr/>
            <p:nvPr/>
          </p:nvCxnSpPr>
          <p:spPr>
            <a:xfrm>
              <a:off x="3551274" y="3519377"/>
              <a:ext cx="1053710" cy="0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8EF7E489-BEDF-1D05-C55B-372582E2B2D8}"/>
                </a:ext>
              </a:extLst>
            </p:cNvPr>
            <p:cNvCxnSpPr>
              <a:cxnSpLocks/>
            </p:cNvCxnSpPr>
            <p:nvPr/>
          </p:nvCxnSpPr>
          <p:spPr>
            <a:xfrm>
              <a:off x="3551274" y="3429000"/>
              <a:ext cx="425303" cy="90377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57FDA5AD-49D6-D08A-6D44-32B5F441E43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51274" y="3519377"/>
              <a:ext cx="400211" cy="90377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1337F77F-B42F-7996-E56E-4ED3194A4DB7}"/>
              </a:ext>
            </a:extLst>
          </p:cNvPr>
          <p:cNvGrpSpPr/>
          <p:nvPr/>
        </p:nvGrpSpPr>
        <p:grpSpPr>
          <a:xfrm>
            <a:off x="8835081" y="1175927"/>
            <a:ext cx="2998987" cy="2645015"/>
            <a:chOff x="8609439" y="1302758"/>
            <a:chExt cx="2965137" cy="2362059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19F2F0F4-5C83-300E-CFC0-18672380EB85}"/>
                </a:ext>
              </a:extLst>
            </p:cNvPr>
            <p:cNvSpPr txBox="1"/>
            <p:nvPr/>
          </p:nvSpPr>
          <p:spPr>
            <a:xfrm>
              <a:off x="10007904" y="1302758"/>
              <a:ext cx="1566672" cy="36933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“Magic tables”</a:t>
              </a:r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49717274-1B99-92BC-3811-1A51243D660D}"/>
                </a:ext>
              </a:extLst>
            </p:cNvPr>
            <p:cNvCxnSpPr>
              <a:cxnSpLocks/>
            </p:cNvCxnSpPr>
            <p:nvPr/>
          </p:nvCxnSpPr>
          <p:spPr>
            <a:xfrm>
              <a:off x="10911840" y="1685075"/>
              <a:ext cx="0" cy="1709278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8321A946-3443-7C57-7653-4202D498495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609439" y="3396069"/>
              <a:ext cx="2302401" cy="0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6E12E2DA-73DB-5409-E1AA-3EFDEE93B2AF}"/>
                </a:ext>
              </a:extLst>
            </p:cNvPr>
            <p:cNvCxnSpPr>
              <a:cxnSpLocks/>
            </p:cNvCxnSpPr>
            <p:nvPr/>
          </p:nvCxnSpPr>
          <p:spPr>
            <a:xfrm>
              <a:off x="8609439" y="3394353"/>
              <a:ext cx="0" cy="270464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DA8AF246-2CF4-724F-6A18-EB16C0E1A74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609439" y="1487424"/>
              <a:ext cx="1398465" cy="0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7DDD000E-6FF0-14F4-8AEF-668C9FBA0C35}"/>
                </a:ext>
              </a:extLst>
            </p:cNvPr>
            <p:cNvCxnSpPr>
              <a:cxnSpLocks/>
            </p:cNvCxnSpPr>
            <p:nvPr/>
          </p:nvCxnSpPr>
          <p:spPr>
            <a:xfrm>
              <a:off x="8609439" y="1487424"/>
              <a:ext cx="0" cy="265099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499799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14FF58A-A5CB-956D-30E5-ECA7CA5665A2}"/>
              </a:ext>
            </a:extLst>
          </p:cNvPr>
          <p:cNvSpPr txBox="1"/>
          <p:nvPr/>
        </p:nvSpPr>
        <p:spPr>
          <a:xfrm>
            <a:off x="948007" y="1100876"/>
            <a:ext cx="7754112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Persons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JsonData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"parents":[{"</a:t>
            </a:r>
            <a:r>
              <a:rPr lang="en-US" sz="1800" dirty="0" err="1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376518F-864F-DD5B-EF50-72EB50D87D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650" y="4059435"/>
            <a:ext cx="10481992" cy="72289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B4057E9-177A-79DB-DDFC-4B54CEAC9F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936" y="5067007"/>
            <a:ext cx="3623994" cy="1033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1621972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14FF58A-A5CB-956D-30E5-ECA7CA5665A2}"/>
              </a:ext>
            </a:extLst>
          </p:cNvPr>
          <p:cNvSpPr txBox="1"/>
          <p:nvPr/>
        </p:nvSpPr>
        <p:spPr>
          <a:xfrm>
            <a:off x="923293" y="642185"/>
            <a:ext cx="9592303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UPDATE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Persons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endParaRPr lang="en-US" sz="18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SET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JsonData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=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</a:t>
            </a:r>
            <a:r>
              <a:rPr lang="en-US" sz="1800" dirty="0" err="1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true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...</a:t>
            </a:r>
            <a:endParaRPr lang="en-US" dirty="0">
              <a:solidFill>
                <a:srgbClr val="0000FF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0000FF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UPDATE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[Persons]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JsonData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JsonData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'true'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...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CD5D611-81AF-93B5-C268-C69D13A8F4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293" y="4059288"/>
            <a:ext cx="10494182" cy="70957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F5C8081-E268-CCC0-B1B0-A03007C099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293" y="5086535"/>
            <a:ext cx="3543583" cy="99469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EB7EFFD4-91F3-588B-F222-9A0B2E7BCEBB}"/>
              </a:ext>
            </a:extLst>
          </p:cNvPr>
          <p:cNvSpPr/>
          <p:nvPr/>
        </p:nvSpPr>
        <p:spPr>
          <a:xfrm>
            <a:off x="1486266" y="5086534"/>
            <a:ext cx="1195145" cy="994689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014D059-D7FF-33AD-7736-AF224A03CAF8}"/>
              </a:ext>
            </a:extLst>
          </p:cNvPr>
          <p:cNvSpPr/>
          <p:nvPr/>
        </p:nvSpPr>
        <p:spPr>
          <a:xfrm>
            <a:off x="9422279" y="4374292"/>
            <a:ext cx="1735868" cy="394567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5181948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1147FFAC-DA99-46FF-89E2-9A4FDC4D2127}"/>
              </a:ext>
            </a:extLst>
          </p:cNvPr>
          <p:cNvSpPr txBox="1"/>
          <p:nvPr/>
        </p:nvSpPr>
        <p:spPr>
          <a:xfrm>
            <a:off x="5465135" y="0"/>
            <a:ext cx="6288609" cy="69249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ALTER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TRIGGER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tr_Persons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[Persons]</a:t>
            </a: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DELETE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onsolas" panose="020B0609020204030204" pitchFamily="49" charset="0"/>
              </a:rPr>
              <a:t>UPDATE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BEGIN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SET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NOCOUNT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;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DECLARE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@_ModType 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char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1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IF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EXISTS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SELECT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1 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FROM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inserted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BEGIN</a:t>
            </a:r>
            <a:endParaRPr lang="en-US" sz="1050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IF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EXISTS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SELECT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1 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FROM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deleted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    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SET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@_ModType 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'U'</a:t>
            </a:r>
            <a:endParaRPr lang="en-US" sz="1050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ELSE</a:t>
            </a:r>
            <a:endParaRPr lang="en-US" sz="1050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    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SET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@_ModType 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'I'</a:t>
            </a:r>
            <a:endParaRPr lang="en-US" sz="1050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END</a:t>
            </a:r>
            <a:endParaRPr lang="en-US" sz="1050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ELSE</a:t>
            </a:r>
            <a:endParaRPr lang="en-US" sz="1050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SET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@_ModType 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'D'</a:t>
            </a:r>
            <a:endParaRPr lang="en-US" sz="1050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endParaRPr lang="en-US" sz="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DECLARE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@_PersonID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SELECT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@_PersonID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onsolas" panose="020B0609020204030204" pitchFamily="49" charset="0"/>
              </a:rPr>
              <a:t>ISNULL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105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</a:t>
            </a:r>
            <a:r>
              <a:rPr lang="en-US" sz="105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inserted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deleted d</a:t>
            </a:r>
          </a:p>
          <a:p>
            <a:endParaRPr lang="en-US" sz="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IF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@_ModType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IN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'U'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'I'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BEGIN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SELECT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105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onsolas" panose="020B0609020204030204" pitchFamily="49" charset="0"/>
              </a:rPr>
              <a:t>JSON_VALUE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p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[value]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'$.name'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'$.name'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INTO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#temp</a:t>
            </a: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FROM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inserted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              CROSS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APPLY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OPENJSON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105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JsonData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'$.parents'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p</a:t>
            </a:r>
          </a:p>
          <a:p>
            <a:endParaRPr lang="en-US" sz="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MERGE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Persons_x_Parents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[target]</a:t>
            </a: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USING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#temp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[source]</a:t>
            </a: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   ON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[source]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[target]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               AND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[source]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[$.name]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[target]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[name]</a:t>
            </a: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WHEN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NOT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MATCHED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BY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TARGET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THEN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   INSERT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[name]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   VALUES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[source]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[source]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[$.name]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WHEN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NOT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MATCHED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BY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SOURCE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                AND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[target]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@_PersonID</a:t>
            </a: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  THEN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DELETE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;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END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@_ModType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'D'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DELETE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affected</a:t>
            </a: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Persons_x_Parents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 affected</a:t>
            </a: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 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INNER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JOIN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deleted</a:t>
            </a: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deleted</a:t>
            </a:r>
            <a:r>
              <a:rPr lang="en-US" sz="105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affected</a:t>
            </a:r>
            <a:r>
              <a:rPr lang="en-US" sz="105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END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50E5E165-F37B-12CB-E559-A9786CE4B7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424" y="2428393"/>
            <a:ext cx="3258266" cy="1319656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9702A451-3726-A60D-DB91-E16EDBA81F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424" y="619381"/>
            <a:ext cx="3987560" cy="1113092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EFFB018-0CB8-3289-C3A3-B585E07B03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159" y="619381"/>
            <a:ext cx="3932804" cy="1668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9624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1147FFAC-DA99-46FF-89E2-9A4FDC4D2127}"/>
              </a:ext>
            </a:extLst>
          </p:cNvPr>
          <p:cNvSpPr txBox="1"/>
          <p:nvPr/>
        </p:nvSpPr>
        <p:spPr>
          <a:xfrm>
            <a:off x="5465135" y="0"/>
            <a:ext cx="6288609" cy="69249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ALTER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TRIGGER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tr_Persons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[Persons]</a:t>
            </a: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DELETE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onsolas" panose="020B0609020204030204" pitchFamily="49" charset="0"/>
              </a:rPr>
              <a:t>UPDATE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BEGIN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SET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NOCOUNT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;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DECLARE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@_ModType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IF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EXISTS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1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inserted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BEGIN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IF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EXISTS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1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deleted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    SET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@_ModType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'U'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ELSE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    SET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@_ModType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'I'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END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ELSE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SET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@_ModType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'D'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DECLARE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@_PersonID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SELECT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@_PersonID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onsolas" panose="020B0609020204030204" pitchFamily="49" charset="0"/>
              </a:rPr>
              <a:t>ISNULL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105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</a:t>
            </a:r>
            <a:r>
              <a:rPr lang="en-US" sz="105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inserted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deleted d</a:t>
            </a:r>
          </a:p>
          <a:p>
            <a:endParaRPr lang="en-US" sz="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IF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@_ModType 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IN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sz="1050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'U'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'I'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BEGIN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SELECT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105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onsolas" panose="020B0609020204030204" pitchFamily="49" charset="0"/>
              </a:rPr>
              <a:t>JSON_VALUE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p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[value]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'$.name'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'$.name'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INTO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#temp</a:t>
            </a: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FROM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inserted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              CROSS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APPLY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OPENJSON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105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JsonData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'$.parents'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p</a:t>
            </a:r>
          </a:p>
          <a:p>
            <a:endParaRPr lang="en-US" sz="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MERGE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Persons_x_Parents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[target]</a:t>
            </a: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USING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#temp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[source]</a:t>
            </a: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   ON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[source]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[target]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               AND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[source]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[$.name]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[target]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[name]</a:t>
            </a: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WHEN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NOT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MATCHED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BY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TARGET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THEN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   INSERT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[name]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   VALUES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[source]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[source]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[$.name]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WHEN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NOT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MATCHED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BY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SOURCE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                AND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[target]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@_PersonID</a:t>
            </a: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  THEN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DELETE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;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END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IF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@_ModType 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'D'</a:t>
            </a:r>
            <a:endParaRPr lang="en-US" sz="1050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DELETE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affected</a:t>
            </a: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Persons_x_Parents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 affected</a:t>
            </a: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 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INNER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JOIN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deleted</a:t>
            </a: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deleted</a:t>
            </a:r>
            <a:r>
              <a:rPr lang="en-US" sz="105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affected</a:t>
            </a:r>
            <a:r>
              <a:rPr lang="en-US" sz="105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END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50E5E165-F37B-12CB-E559-A9786CE4B7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424" y="2428393"/>
            <a:ext cx="3258266" cy="1319656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9702A451-3726-A60D-DB91-E16EDBA81F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424" y="619381"/>
            <a:ext cx="3987560" cy="1113092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EFFB018-0CB8-3289-C3A3-B585E07B03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159" y="619381"/>
            <a:ext cx="3932804" cy="1668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89228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1147FFAC-DA99-46FF-89E2-9A4FDC4D2127}"/>
              </a:ext>
            </a:extLst>
          </p:cNvPr>
          <p:cNvSpPr txBox="1"/>
          <p:nvPr/>
        </p:nvSpPr>
        <p:spPr>
          <a:xfrm>
            <a:off x="5465135" y="0"/>
            <a:ext cx="6288609" cy="69249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ALTER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TRIGGER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tr_Persons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[Persons]</a:t>
            </a: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DELETE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onsolas" panose="020B0609020204030204" pitchFamily="49" charset="0"/>
              </a:rPr>
              <a:t>UPDATE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BEGIN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SET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NOCOUNT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;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DECLARE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@_ModType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IF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EXISTS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1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inserted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BEGIN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IF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EXISTS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1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deleted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    SET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@_ModType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'U'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ELSE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    SET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@_ModType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'I'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END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ELSE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SET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@_ModType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'D'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DECLARE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@_PersonID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SELECT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@_PersonID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onsolas" panose="020B0609020204030204" pitchFamily="49" charset="0"/>
              </a:rPr>
              <a:t>ISNULL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105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</a:t>
            </a:r>
            <a:r>
              <a:rPr lang="en-US" sz="105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inserted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deleted d</a:t>
            </a:r>
          </a:p>
          <a:p>
            <a:endParaRPr lang="en-US" sz="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IF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@_ModType 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IN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sz="1050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'U'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'I'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BEGIN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SELECT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105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onsolas" panose="020B0609020204030204" pitchFamily="49" charset="0"/>
              </a:rPr>
              <a:t>JSON_VALUE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p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[value]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'$.name'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'$.name'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INTO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#temp</a:t>
            </a: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FROM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inserted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              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CROSS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APPLY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OPENJSON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sz="1050" dirty="0" err="1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i</a:t>
            </a:r>
            <a:r>
              <a:rPr lang="en-US" sz="1050" dirty="0" err="1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JsonData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'$.parents'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p</a:t>
            </a:r>
          </a:p>
          <a:p>
            <a:endParaRPr lang="en-US" sz="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MERGE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Persons_x_Parents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[target]</a:t>
            </a: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USING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#temp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[source]</a:t>
            </a: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   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ON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[source]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PersonID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[target]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PersonID</a:t>
            </a:r>
            <a:endParaRPr lang="en-US" sz="1050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               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AND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[source]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[$.name] 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[target]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[name]</a:t>
            </a: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WHEN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NOT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MATCHED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BY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TARGET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THEN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   INSERT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[name]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   VALUES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[source]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[source]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[$.name]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WHEN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NOT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MATCHED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BY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SOURCE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                AND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[target]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@_PersonID</a:t>
            </a: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  THEN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DELETE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;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END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@_ModType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'D'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DELETE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affected</a:t>
            </a: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Persons_x_Parents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 affected</a:t>
            </a: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 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INNER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JOIN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deleted</a:t>
            </a: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deleted</a:t>
            </a:r>
            <a:r>
              <a:rPr lang="en-US" sz="105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affected</a:t>
            </a:r>
            <a:r>
              <a:rPr lang="en-US" sz="105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END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50E5E165-F37B-12CB-E559-A9786CE4B7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424" y="2428393"/>
            <a:ext cx="3258266" cy="1319656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9702A451-3726-A60D-DB91-E16EDBA81F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424" y="619381"/>
            <a:ext cx="3987560" cy="1113092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EFFB018-0CB8-3289-C3A3-B585E07B03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159" y="619381"/>
            <a:ext cx="3932804" cy="1668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26000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50E5E165-F37B-12CB-E559-A9786CE4B7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424" y="2428393"/>
            <a:ext cx="3258266" cy="131965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6448EC5-3FF3-B03B-7C61-D8B4153230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710" y="618482"/>
            <a:ext cx="3924300" cy="166687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3E9D1F2-66F5-D354-17BB-178997EB5E65}"/>
              </a:ext>
            </a:extLst>
          </p:cNvPr>
          <p:cNvSpPr txBox="1"/>
          <p:nvPr/>
        </p:nvSpPr>
        <p:spPr>
          <a:xfrm>
            <a:off x="1467981" y="4572644"/>
            <a:ext cx="609805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p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Persons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p</a:t>
            </a:r>
          </a:p>
          <a:p>
            <a:r>
              <a:rPr lang="fr-FR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fr-FR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fr-FR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fr-FR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fr-FR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fr-FR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Persons_x_Parents</a:t>
            </a:r>
            <a:r>
              <a:rPr lang="fr-FR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pxp</a:t>
            </a:r>
            <a:endParaRPr lang="fr-FR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PersonID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pxp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PersonID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pxp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'Mom'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6FE60E9-A163-D9F2-6485-A07C2F12FD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35084" y="5136291"/>
            <a:ext cx="1266825" cy="762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A12D52F-1D11-E6B3-F45B-1CABAF7CCB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3924" y="447193"/>
            <a:ext cx="6822433" cy="423601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D2D6307-8B85-6A4F-9F5D-FC8EB36D5456}"/>
              </a:ext>
            </a:extLst>
          </p:cNvPr>
          <p:cNvSpPr/>
          <p:nvPr/>
        </p:nvSpPr>
        <p:spPr>
          <a:xfrm>
            <a:off x="1136822" y="3163330"/>
            <a:ext cx="3089189" cy="609433"/>
          </a:xfrm>
          <a:prstGeom prst="rect">
            <a:avLst/>
          </a:prstGeom>
          <a:noFill/>
          <a:ln w="6350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6D9BE9E-E82F-1AB8-AD00-6107425CDF60}"/>
              </a:ext>
            </a:extLst>
          </p:cNvPr>
          <p:cNvCxnSpPr>
            <a:stCxn id="6" idx="3"/>
          </p:cNvCxnSpPr>
          <p:nvPr/>
        </p:nvCxnSpPr>
        <p:spPr>
          <a:xfrm flipV="1">
            <a:off x="4226011" y="3429000"/>
            <a:ext cx="2100648" cy="39047"/>
          </a:xfrm>
          <a:prstGeom prst="line">
            <a:avLst/>
          </a:prstGeom>
          <a:ln w="6350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16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CF8916-7B42-32DD-9CBD-CFB84FEA5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3E14FAD-03DF-D7CA-E19C-97B2AD237EA9}"/>
              </a:ext>
            </a:extLst>
          </p:cNvPr>
          <p:cNvSpPr txBox="1"/>
          <p:nvPr/>
        </p:nvSpPr>
        <p:spPr>
          <a:xfrm>
            <a:off x="4437888" y="2816352"/>
            <a:ext cx="33162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/>
              <a:t>Demo Time</a:t>
            </a:r>
          </a:p>
        </p:txBody>
      </p:sp>
    </p:spTree>
    <p:extLst>
      <p:ext uri="{BB962C8B-B14F-4D97-AF65-F5344CB8AC3E}">
        <p14:creationId xmlns:p14="http://schemas.microsoft.com/office/powerpoint/2010/main" val="2523874635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5A5C1-2B69-33A8-922D-84EE91B524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921394-0816-548C-00DB-D4F223765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“Indexing” JSON (1 array, 1 value)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B332F7-3A69-1076-E759-DB6DF0DF3A27}"/>
              </a:ext>
            </a:extLst>
          </p:cNvPr>
          <p:cNvSpPr txBox="1"/>
          <p:nvPr/>
        </p:nvSpPr>
        <p:spPr>
          <a:xfrm>
            <a:off x="1032127" y="3016251"/>
            <a:ext cx="706335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Classes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JsonData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FF0000"/>
                </a:solidFill>
                <a:highlight>
                  <a:srgbClr val="00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</a:p>
          <a:p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name":"Jesús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Castillo"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name":"Mary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name":"Joseph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json_expert":true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 </a:t>
            </a:r>
            <a:r>
              <a:rPr lang="en-US" dirty="0">
                <a:solidFill>
                  <a:srgbClr val="FF0000"/>
                </a:solidFill>
                <a:highlight>
                  <a:srgbClr val="00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26FE0E6-99B3-36E4-3A1C-0FF89C33A3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127" y="1690688"/>
            <a:ext cx="3637695" cy="1031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9629935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BE4230-E04E-58D1-36B4-DC7D9F770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D041025D-F4AB-AB6B-4436-C5BE3122140C}"/>
              </a:ext>
            </a:extLst>
          </p:cNvPr>
          <p:cNvSpPr txBox="1"/>
          <p:nvPr/>
        </p:nvSpPr>
        <p:spPr>
          <a:xfrm>
            <a:off x="5468254" y="0"/>
            <a:ext cx="6288609" cy="6917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CREATE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TRIGGER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tr_Classes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[Classes]</a:t>
            </a: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DELETE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onsolas" panose="020B0609020204030204" pitchFamily="49" charset="0"/>
              </a:rPr>
              <a:t>UPDATE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BEGIN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SET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NOCOUNT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;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@_ModType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EXISTS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1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inserted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BEGIN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EXISTS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1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deleted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SET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@_ModType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'U'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ELSE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SET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@_ModType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'I'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END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ELSE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SET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@_ModType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'D'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@_ClassID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@_ClassID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onsolas" panose="020B0609020204030204" pitchFamily="49" charset="0"/>
              </a:rPr>
              <a:t>ISNULL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105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ClassID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</a:t>
            </a:r>
            <a:r>
              <a:rPr lang="en-US" sz="105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ClassID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inserted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deleted d</a:t>
            </a:r>
          </a:p>
          <a:p>
            <a:endParaRPr lang="en-US" sz="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@_ModType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IN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'U'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'I'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BEGIN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105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ClassID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onsolas" panose="020B0609020204030204" pitchFamily="49" charset="0"/>
              </a:rPr>
              <a:t>JSON_VALUE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p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[value]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'$.name'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'$.name'</a:t>
            </a: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INTO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#temp</a:t>
            </a: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inserted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CROSS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APPLY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OPENJSON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sz="1050" dirty="0" err="1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i</a:t>
            </a:r>
            <a:r>
              <a:rPr lang="en-US" sz="1050" dirty="0" err="1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JsonData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'$'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p</a:t>
            </a:r>
          </a:p>
          <a:p>
            <a:endParaRPr lang="en-US" sz="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MERGE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Classes_x_Students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[target]</a:t>
            </a: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USING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#temp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[source]</a:t>
            </a: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[source]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ClassID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[target]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ClassID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AND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[source]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[$.name]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[target]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[name]</a:t>
            </a: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WHEN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NOT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MATCHED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BY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TARGET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THEN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INSERT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ClassID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StudentName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VALUES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[source]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ClassID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[source]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[$.name]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WHEN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NOT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MATCHED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BY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SOURCE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AND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[target]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ClassID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@_ClassID</a:t>
            </a: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THEN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DELETE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;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END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@_ModType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'D'</a:t>
            </a: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DELETE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affected</a:t>
            </a: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Classes_x_Students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 affected</a:t>
            </a: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 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INNER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JOIN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deleted</a:t>
            </a: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deleted</a:t>
            </a:r>
            <a:r>
              <a:rPr lang="en-US" sz="105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ClassID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affected</a:t>
            </a:r>
            <a:r>
              <a:rPr lang="en-US" sz="105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ClassID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END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245F16D-1E5C-67DE-772F-83593069F8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348" y="632129"/>
            <a:ext cx="3637695" cy="103124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A525F5F-14D0-73C3-3DF8-3E11C81814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964" y="656842"/>
            <a:ext cx="3674586" cy="160115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BF48DC9-35DA-D44A-286F-06A9696C95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031" y="2432469"/>
            <a:ext cx="4007188" cy="1277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4944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BE4230-E04E-58D1-36B4-DC7D9F770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3E9E274-7E68-131B-0983-332CDF1D62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964" y="656842"/>
            <a:ext cx="3676650" cy="150495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BF48DC9-35DA-D44A-286F-06A9696C95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031" y="2432469"/>
            <a:ext cx="4007188" cy="127765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B56F0E2-8C01-46C8-53DB-63292A50BB11}"/>
              </a:ext>
            </a:extLst>
          </p:cNvPr>
          <p:cNvSpPr txBox="1"/>
          <p:nvPr/>
        </p:nvSpPr>
        <p:spPr>
          <a:xfrm>
            <a:off x="1467981" y="4572644"/>
            <a:ext cx="609805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Classes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fr-FR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fr-FR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fr-FR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fr-FR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fr-FR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fr-FR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Classes_x_Students</a:t>
            </a:r>
            <a:r>
              <a:rPr lang="fr-FR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cxs</a:t>
            </a:r>
            <a:endParaRPr lang="fr-FR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ClassID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cxs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ClassID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cxs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fr-FR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StudentName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‘Jeff Foushee'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081206F-3D8D-A9B9-3A8B-B3D939D1ED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35084" y="5136291"/>
            <a:ext cx="1266825" cy="762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47AF29A-D3F3-5EE1-F1E3-B677C8DA4A1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1630" y="656842"/>
            <a:ext cx="6821339" cy="411286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E34CED0-A07B-A033-1B44-A065957FD40B}"/>
              </a:ext>
            </a:extLst>
          </p:cNvPr>
          <p:cNvSpPr/>
          <p:nvPr/>
        </p:nvSpPr>
        <p:spPr>
          <a:xfrm>
            <a:off x="1136822" y="3163330"/>
            <a:ext cx="3459397" cy="609433"/>
          </a:xfrm>
          <a:prstGeom prst="rect">
            <a:avLst/>
          </a:prstGeom>
          <a:noFill/>
          <a:ln w="6350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A9A4F3C-F25C-5FEC-3706-73FBC2EC50E0}"/>
              </a:ext>
            </a:extLst>
          </p:cNvPr>
          <p:cNvCxnSpPr>
            <a:cxnSpLocks/>
          </p:cNvCxnSpPr>
          <p:nvPr/>
        </p:nvCxnSpPr>
        <p:spPr>
          <a:xfrm>
            <a:off x="4596219" y="3429000"/>
            <a:ext cx="1891078" cy="105032"/>
          </a:xfrm>
          <a:prstGeom prst="line">
            <a:avLst/>
          </a:prstGeom>
          <a:ln w="6350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4234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5A5C1-2B69-33A8-922D-84EE91B524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921394-0816-548C-00DB-D4F223765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“Indexing” JSON (1 array, multi-value)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B332F7-3A69-1076-E759-DB6DF0DF3A27}"/>
              </a:ext>
            </a:extLst>
          </p:cNvPr>
          <p:cNvSpPr txBox="1"/>
          <p:nvPr/>
        </p:nvSpPr>
        <p:spPr>
          <a:xfrm>
            <a:off x="1032127" y="3016251"/>
            <a:ext cx="706335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Classes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JsonData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FF0000"/>
                </a:solidFill>
                <a:highlight>
                  <a:srgbClr val="00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"parents":[{"</a:t>
            </a:r>
            <a:r>
              <a:rPr lang="en-US" sz="1800" dirty="0" err="1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</a:p>
          <a:p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name":"Jesús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Castillo"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"parents":[{"</a:t>
            </a:r>
            <a:r>
              <a:rPr lang="en-US" sz="1800" dirty="0" err="1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name":"Mary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name":"Joseph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json_expert":true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 </a:t>
            </a:r>
            <a:r>
              <a:rPr lang="en-US" dirty="0">
                <a:solidFill>
                  <a:srgbClr val="FF0000"/>
                </a:solidFill>
                <a:highlight>
                  <a:srgbClr val="00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26FE0E6-99B3-36E4-3A1C-0FF89C33A3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127" y="1690688"/>
            <a:ext cx="3637695" cy="1031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340183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BE4230-E04E-58D1-36B4-DC7D9F770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349C2D77-E0F5-C1B0-FD4C-B7FD5E0B0A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964" y="2422872"/>
            <a:ext cx="3986134" cy="17346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31C3EA5-F6CA-BFC9-BE8A-F72342E7B3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580" y="2419824"/>
            <a:ext cx="4011076" cy="161830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244C28E-017A-CB94-E590-649289A8F7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964" y="474915"/>
            <a:ext cx="3678004" cy="160264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884CF2B-99DB-F7B0-3616-C2664EACDD47}"/>
              </a:ext>
            </a:extLst>
          </p:cNvPr>
          <p:cNvSpPr txBox="1"/>
          <p:nvPr/>
        </p:nvSpPr>
        <p:spPr>
          <a:xfrm>
            <a:off x="5319970" y="49428"/>
            <a:ext cx="6517800" cy="66710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CREATE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TRIGGER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tr_Classes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[Classes]</a:t>
            </a: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FOR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INSERT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DELETE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UPDATE</a:t>
            </a:r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BEGIN</a:t>
            </a:r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SET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NOCOUNT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;</a:t>
            </a:r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@_ModType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char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1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r>
              <a:rPr lang="en-US" sz="105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-- # Determine if (U)</a:t>
            </a:r>
            <a:r>
              <a:rPr lang="en-US" sz="1050" dirty="0" err="1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pdate</a:t>
            </a:r>
            <a:r>
              <a:rPr lang="en-US" sz="105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(I)</a:t>
            </a:r>
            <a:r>
              <a:rPr lang="en-US" sz="1050" dirty="0" err="1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nsert</a:t>
            </a:r>
            <a:r>
              <a:rPr lang="en-US" sz="105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or (D)</a:t>
            </a:r>
            <a:r>
              <a:rPr lang="en-US" sz="1050" dirty="0" err="1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elete</a:t>
            </a:r>
            <a:endParaRPr lang="en-US" sz="1050" dirty="0">
              <a:solidFill>
                <a:srgbClr val="008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-- Skipped for brevity; see previous slides</a:t>
            </a:r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@_ClassID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int</a:t>
            </a:r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@_ClassID 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ISNULL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</a:t>
            </a:r>
            <a:r>
              <a:rPr lang="en-US" sz="105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ClassID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</a:t>
            </a:r>
            <a:r>
              <a:rPr lang="en-US" sz="105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ClassID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inserted 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deleted d</a:t>
            </a:r>
          </a:p>
          <a:p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IF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@_ModType 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05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'U'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'I'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BEGIN</a:t>
            </a:r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</a:t>
            </a:r>
            <a:r>
              <a:rPr lang="en-US" sz="105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ClassID</a:t>
            </a:r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JSON_QUERY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p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'$.parents'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'$.parents'</a:t>
            </a:r>
          </a:p>
          <a:p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INTO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#temp</a:t>
            </a: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inserted 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</a:t>
            </a:r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</a:t>
            </a:r>
            <a:r>
              <a:rPr lang="en-US" sz="105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JsonData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p</a:t>
            </a:r>
          </a:p>
          <a:p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MERGE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Classes_x_Students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[target]</a:t>
            </a: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USING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#temp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[source]</a:t>
            </a: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[source]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ClassID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[target]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ClassID</a:t>
            </a:r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AND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[source]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[$.name] 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[target]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StudentName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</a:p>
          <a:p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WHEN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MATCHED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THEN</a:t>
            </a:r>
            <a:endParaRPr lang="en-US" sz="105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fr-FR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</a:t>
            </a:r>
            <a:r>
              <a:rPr lang="fr-FR" sz="105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fr-FR" sz="1050" dirty="0">
                <a:solidFill>
                  <a:srgbClr val="FF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UPDATE</a:t>
            </a:r>
            <a:r>
              <a:rPr lang="fr-FR" sz="105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sz="105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SET</a:t>
            </a:r>
            <a:r>
              <a:rPr lang="fr-FR" sz="105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sz="105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parents_json</a:t>
            </a:r>
            <a:r>
              <a:rPr lang="fr-FR" sz="105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sz="105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fr-FR" sz="105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[source]</a:t>
            </a:r>
            <a:r>
              <a:rPr lang="fr-FR" sz="105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fr-FR" sz="105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[$.parents]</a:t>
            </a:r>
            <a:endParaRPr lang="en-US" sz="105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WHEN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NOT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MATCHED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TARGET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THEN</a:t>
            </a:r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INSERT 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ClassID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StudentName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en-US" sz="105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parents_json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VALUES 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[source]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ClassID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[source]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[$.name], </a:t>
            </a:r>
            <a:r>
              <a:rPr lang="fr-FR" sz="105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[source]</a:t>
            </a:r>
            <a:r>
              <a:rPr lang="fr-FR" sz="105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fr-FR" sz="105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[$.parents]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WHEN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NOT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MATCHED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SOURCE</a:t>
            </a:r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 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AND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[target]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ClassID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@_ClassID</a:t>
            </a: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THEN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DELETE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;</a:t>
            </a:r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END</a:t>
            </a:r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IF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@_ModType 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'D'</a:t>
            </a: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DELETE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affected</a:t>
            </a: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Classes_x_Students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 affected</a:t>
            </a: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deleted</a:t>
            </a: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deleted</a:t>
            </a:r>
            <a:r>
              <a:rPr lang="en-US" sz="105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ClassID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affected</a:t>
            </a:r>
            <a:r>
              <a:rPr lang="en-US" sz="105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ClassID</a:t>
            </a:r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END</a:t>
            </a:r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F084C5F-D936-6569-16A4-C53F7F770302}"/>
              </a:ext>
            </a:extLst>
          </p:cNvPr>
          <p:cNvSpPr/>
          <p:nvPr/>
        </p:nvSpPr>
        <p:spPr>
          <a:xfrm>
            <a:off x="1182624" y="1706880"/>
            <a:ext cx="1377696" cy="26822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405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7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BE4230-E04E-58D1-36B4-DC7D9F770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F16C689D-8492-B695-2FCC-CB1C57C266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580" y="2413223"/>
            <a:ext cx="4011368" cy="151437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244C28E-017A-CB94-E590-649289A8F7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964" y="474915"/>
            <a:ext cx="3678004" cy="160264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4A6BD09-12FB-96F6-FBD8-A90D45B07C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964" y="4808377"/>
            <a:ext cx="3860139" cy="121958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9A113AF-EA7F-4212-9A23-1E0D9D6B2B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455" y="3903052"/>
            <a:ext cx="2749281" cy="59817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6071791C-79CE-D346-FCBC-D2A6BDD5918C}"/>
              </a:ext>
            </a:extLst>
          </p:cNvPr>
          <p:cNvSpPr txBox="1"/>
          <p:nvPr/>
        </p:nvSpPr>
        <p:spPr>
          <a:xfrm>
            <a:off x="5313405" y="58846"/>
            <a:ext cx="6372296" cy="66941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CREATE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TRIGGER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tr_Classes_x_Students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Classes_x_Students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FOR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INSERT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DELETE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UPDATE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BEGIN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SET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NOCOUNT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;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@_ModType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char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1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8000"/>
                </a:solidFill>
                <a:latin typeface="Consolas" panose="020B0609020204030204" pitchFamily="49" charset="0"/>
              </a:rPr>
              <a:t>    -- # Determine if (U)</a:t>
            </a:r>
            <a:r>
              <a:rPr lang="en-US" sz="1100" dirty="0" err="1">
                <a:solidFill>
                  <a:srgbClr val="008000"/>
                </a:solidFill>
                <a:latin typeface="Consolas" panose="020B0609020204030204" pitchFamily="49" charset="0"/>
              </a:rPr>
              <a:t>pdate</a:t>
            </a:r>
            <a:r>
              <a:rPr lang="en-US" sz="1100" dirty="0">
                <a:solidFill>
                  <a:srgbClr val="008000"/>
                </a:solidFill>
                <a:latin typeface="Consolas" panose="020B0609020204030204" pitchFamily="49" charset="0"/>
              </a:rPr>
              <a:t>, (I)</a:t>
            </a:r>
            <a:r>
              <a:rPr lang="en-US" sz="1100" dirty="0" err="1">
                <a:solidFill>
                  <a:srgbClr val="008000"/>
                </a:solidFill>
                <a:latin typeface="Consolas" panose="020B0609020204030204" pitchFamily="49" charset="0"/>
              </a:rPr>
              <a:t>nsert</a:t>
            </a:r>
            <a:r>
              <a:rPr lang="en-US" sz="1100" dirty="0">
                <a:solidFill>
                  <a:srgbClr val="008000"/>
                </a:solidFill>
                <a:latin typeface="Consolas" panose="020B0609020204030204" pitchFamily="49" charset="0"/>
              </a:rPr>
              <a:t>, or (D)</a:t>
            </a:r>
            <a:r>
              <a:rPr lang="en-US" sz="1100" dirty="0" err="1">
                <a:solidFill>
                  <a:srgbClr val="008000"/>
                </a:solidFill>
                <a:latin typeface="Consolas" panose="020B0609020204030204" pitchFamily="49" charset="0"/>
              </a:rPr>
              <a:t>elete</a:t>
            </a:r>
            <a:endParaRPr lang="en-US" sz="1100" dirty="0">
              <a:solidFill>
                <a:srgbClr val="008000"/>
              </a:solidFill>
              <a:latin typeface="Consolas" panose="020B0609020204030204" pitchFamily="49" charset="0"/>
            </a:endParaRPr>
          </a:p>
          <a:p>
            <a:r>
              <a:rPr lang="en-US" sz="1100" dirty="0">
                <a:solidFill>
                  <a:srgbClr val="008000"/>
                </a:solidFill>
                <a:latin typeface="Consolas" panose="020B0609020204030204" pitchFamily="49" charset="0"/>
              </a:rPr>
              <a:t>    -- Skipped for brevity; see previous slides</a:t>
            </a:r>
          </a:p>
          <a:p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@_StudentName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128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@_StudentName 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ISNULL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</a:t>
            </a:r>
            <a:r>
              <a:rPr lang="en-US" sz="11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StudentName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</a:t>
            </a:r>
            <a:r>
              <a:rPr lang="en-US" sz="11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StudentName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inserted 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deleted d</a:t>
            </a:r>
          </a:p>
          <a:p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IF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@_ModType 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1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'U'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'I'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BEGIN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</a:t>
            </a:r>
            <a:r>
              <a:rPr lang="en-US" sz="11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StudentName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INTO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#temp</a:t>
            </a: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inserted 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1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1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i</a:t>
            </a:r>
            <a:r>
              <a:rPr lang="en-US" sz="1100" dirty="0" err="1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1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parents_json</a:t>
            </a:r>
            <a:r>
              <a:rPr lang="en-US" sz="11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1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1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p</a:t>
            </a:r>
          </a:p>
          <a:p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MERGE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Students_x_Parents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[target]</a:t>
            </a: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USING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#temp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[source]</a:t>
            </a: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[source]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StudentName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[target]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StudentName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AND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[source]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[$.name] 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[target]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ParentName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WHEN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NOT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MATCHED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TARGET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THEN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INSERT 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StudentName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ParentName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VALUES 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[source]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StudentName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[source]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[$.name]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WHEN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NOT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MATCHED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SOURCE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 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AND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[target]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StudentName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@_StudentName</a:t>
            </a: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THEN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DELETE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;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END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IF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@_ModType 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'D'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DELETE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affected</a:t>
            </a: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Students_x_Parents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 affected</a:t>
            </a: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deleted</a:t>
            </a: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deleted</a:t>
            </a:r>
            <a:r>
              <a:rPr lang="en-US" sz="11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StudentName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affected</a:t>
            </a:r>
            <a:r>
              <a:rPr lang="en-US" sz="11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StudentName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END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2798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BE4230-E04E-58D1-36B4-DC7D9F770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86CEBA2-C0D4-FC29-7D50-FEF066BC01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459" y="2404739"/>
            <a:ext cx="3897919" cy="200662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244C28E-017A-CB94-E590-649289A8F7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964" y="474915"/>
            <a:ext cx="3678004" cy="160264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4A6BD09-12FB-96F6-FBD8-A90D45B07C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964" y="4808377"/>
            <a:ext cx="3860139" cy="12195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F605373-992B-7DD6-8A23-6CEAD1D84599}"/>
              </a:ext>
            </a:extLst>
          </p:cNvPr>
          <p:cNvSpPr txBox="1"/>
          <p:nvPr/>
        </p:nvSpPr>
        <p:spPr>
          <a:xfrm>
            <a:off x="4989655" y="4251368"/>
            <a:ext cx="6098058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6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Classes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</a:t>
            </a:r>
          </a:p>
          <a:p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fr-FR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fr-FR" sz="16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fr-FR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Classes_x_Students</a:t>
            </a:r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cxs</a:t>
            </a:r>
            <a:endParaRPr lang="fr-FR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6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ClassID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cxs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ClassID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fr-FR" sz="16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fr-FR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Students_x_Parents</a:t>
            </a:r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sxp</a:t>
            </a:r>
            <a:endParaRPr lang="fr-FR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cxs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StudentName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sxp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StudentName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sxp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fr-FR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ParentName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'Mom'</a:t>
            </a:r>
            <a:endParaRPr lang="en-US" sz="16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983A094-1F6C-CD43-7792-B23B5043CF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1696" y="335566"/>
            <a:ext cx="4943138" cy="2980421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FBE258B-0E3B-4FB2-7400-F4C3AFA1955F}"/>
              </a:ext>
            </a:extLst>
          </p:cNvPr>
          <p:cNvSpPr/>
          <p:nvPr/>
        </p:nvSpPr>
        <p:spPr>
          <a:xfrm>
            <a:off x="1194435" y="3138250"/>
            <a:ext cx="3459397" cy="506993"/>
          </a:xfrm>
          <a:prstGeom prst="rect">
            <a:avLst/>
          </a:prstGeom>
          <a:noFill/>
          <a:ln w="6350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EA32CCC-525E-027E-A0BA-BFF725398B5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27151" y="1114857"/>
            <a:ext cx="4816196" cy="2983549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386DBBA-E76E-B7C1-A48B-05E6D0C39AA3}"/>
              </a:ext>
            </a:extLst>
          </p:cNvPr>
          <p:cNvSpPr/>
          <p:nvPr/>
        </p:nvSpPr>
        <p:spPr>
          <a:xfrm>
            <a:off x="1194434" y="5520964"/>
            <a:ext cx="3459397" cy="506993"/>
          </a:xfrm>
          <a:prstGeom prst="rect">
            <a:avLst/>
          </a:prstGeom>
          <a:noFill/>
          <a:ln w="6350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BC3A03E-1834-BAB1-E9DA-5342535B759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62165" y="4439009"/>
            <a:ext cx="1266825" cy="7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0485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CF8916-7B42-32DD-9CBD-CFB84FEA5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3E14FAD-03DF-D7CA-E19C-97B2AD237EA9}"/>
              </a:ext>
            </a:extLst>
          </p:cNvPr>
          <p:cNvSpPr txBox="1"/>
          <p:nvPr/>
        </p:nvSpPr>
        <p:spPr>
          <a:xfrm>
            <a:off x="4437888" y="2816352"/>
            <a:ext cx="33162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/>
              <a:t>Demo Time</a:t>
            </a:r>
          </a:p>
        </p:txBody>
      </p:sp>
    </p:spTree>
    <p:extLst>
      <p:ext uri="{BB962C8B-B14F-4D97-AF65-F5344CB8AC3E}">
        <p14:creationId xmlns:p14="http://schemas.microsoft.com/office/powerpoint/2010/main" val="8339793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43563</TotalTime>
  <Words>9497</Words>
  <Application>Microsoft Office PowerPoint</Application>
  <PresentationFormat>Widescreen</PresentationFormat>
  <Paragraphs>1617</Paragraphs>
  <Slides>99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99</vt:i4>
      </vt:variant>
    </vt:vector>
  </HeadingPairs>
  <TitlesOfParts>
    <vt:vector size="110" baseType="lpstr">
      <vt:lpstr>-apple-system</vt:lpstr>
      <vt:lpstr>Arial</vt:lpstr>
      <vt:lpstr>Calibri</vt:lpstr>
      <vt:lpstr>Calibri Light</vt:lpstr>
      <vt:lpstr>Cascadia Code</vt:lpstr>
      <vt:lpstr>Cascadia Mono</vt:lpstr>
      <vt:lpstr>Consolas</vt:lpstr>
      <vt:lpstr>Segoe UI</vt:lpstr>
      <vt:lpstr>SFMono-Regular</vt:lpstr>
      <vt:lpstr>Verdana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Preparing for JSON (client tools)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Preparing for JSON (table architecture)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Inspecting JSON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Querying JSON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Creating JSON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Indexing JSON</vt:lpstr>
      <vt:lpstr>PowerPoint Presentation</vt:lpstr>
      <vt:lpstr>PowerPoint Presentation</vt:lpstr>
      <vt:lpstr>“Indexing” JSON</vt:lpstr>
      <vt:lpstr>“Indexing” JSON (1 object, 1 value)</vt:lpstr>
      <vt:lpstr>“Indexing” JSON (1 object, 1 value)</vt:lpstr>
      <vt:lpstr>PowerPoint Presentation</vt:lpstr>
      <vt:lpstr>Now it’s a Seek</vt:lpstr>
      <vt:lpstr>PowerPoint Presentation</vt:lpstr>
      <vt:lpstr>“Indexing” JSON (1 object, 1 value)</vt:lpstr>
      <vt:lpstr>PowerPoint Presentation</vt:lpstr>
      <vt:lpstr>“Indexing” JSON (1 object, 1 value)</vt:lpstr>
      <vt:lpstr>PowerPoint Presentation</vt:lpstr>
      <vt:lpstr>Now it’s a Seek</vt:lpstr>
      <vt:lpstr>PowerPoint Presentation</vt:lpstr>
      <vt:lpstr>“Indexing” JSON (1 object, multi-value)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“Indexing” JSON (1 array, 1 value)</vt:lpstr>
      <vt:lpstr>PowerPoint Presentation</vt:lpstr>
      <vt:lpstr>PowerPoint Presentation</vt:lpstr>
      <vt:lpstr>“Indexing” JSON (1 array, multi-value)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Jeff F</dc:creator>
  <cp:lastModifiedBy>Jeff Foushee</cp:lastModifiedBy>
  <cp:revision>61</cp:revision>
  <dcterms:created xsi:type="dcterms:W3CDTF">2024-01-27T23:55:18Z</dcterms:created>
  <dcterms:modified xsi:type="dcterms:W3CDTF">2024-04-06T18:25:14Z</dcterms:modified>
</cp:coreProperties>
</file>