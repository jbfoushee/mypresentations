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8"/>
  </p:notesMasterIdLst>
  <p:sldIdLst>
    <p:sldId id="379" r:id="rId2"/>
    <p:sldId id="263" r:id="rId3"/>
    <p:sldId id="350" r:id="rId4"/>
    <p:sldId id="375" r:id="rId5"/>
    <p:sldId id="346" r:id="rId6"/>
    <p:sldId id="349" r:id="rId7"/>
    <p:sldId id="303" r:id="rId8"/>
    <p:sldId id="264" r:id="rId9"/>
    <p:sldId id="265" r:id="rId10"/>
    <p:sldId id="257" r:id="rId11"/>
    <p:sldId id="258" r:id="rId12"/>
    <p:sldId id="359" r:id="rId13"/>
    <p:sldId id="304" r:id="rId14"/>
    <p:sldId id="273" r:id="rId15"/>
    <p:sldId id="335" r:id="rId16"/>
    <p:sldId id="278" r:id="rId17"/>
    <p:sldId id="279" r:id="rId18"/>
    <p:sldId id="327" r:id="rId19"/>
    <p:sldId id="322" r:id="rId20"/>
    <p:sldId id="280" r:id="rId21"/>
    <p:sldId id="283" r:id="rId22"/>
    <p:sldId id="284" r:id="rId23"/>
    <p:sldId id="285" r:id="rId24"/>
    <p:sldId id="363" r:id="rId25"/>
    <p:sldId id="286" r:id="rId26"/>
    <p:sldId id="287" r:id="rId27"/>
    <p:sldId id="299" r:id="rId28"/>
    <p:sldId id="282" r:id="rId29"/>
    <p:sldId id="295" r:id="rId30"/>
    <p:sldId id="266" r:id="rId31"/>
    <p:sldId id="288" r:id="rId32"/>
    <p:sldId id="256" r:id="rId33"/>
    <p:sldId id="321" r:id="rId34"/>
    <p:sldId id="262" r:id="rId35"/>
    <p:sldId id="324" r:id="rId36"/>
    <p:sldId id="323" r:id="rId37"/>
    <p:sldId id="372" r:id="rId38"/>
    <p:sldId id="298" r:id="rId39"/>
    <p:sldId id="259" r:id="rId40"/>
    <p:sldId id="260" r:id="rId41"/>
    <p:sldId id="376" r:id="rId42"/>
    <p:sldId id="378" r:id="rId43"/>
    <p:sldId id="325" r:id="rId44"/>
    <p:sldId id="380" r:id="rId45"/>
    <p:sldId id="292" r:id="rId46"/>
    <p:sldId id="267" r:id="rId47"/>
    <p:sldId id="269" r:id="rId48"/>
    <p:sldId id="373" r:id="rId49"/>
    <p:sldId id="274" r:id="rId50"/>
    <p:sldId id="275" r:id="rId51"/>
    <p:sldId id="326" r:id="rId52"/>
    <p:sldId id="291" r:id="rId53"/>
    <p:sldId id="290" r:id="rId54"/>
    <p:sldId id="276" r:id="rId55"/>
    <p:sldId id="277" r:id="rId56"/>
    <p:sldId id="289" r:id="rId57"/>
    <p:sldId id="293" r:id="rId58"/>
    <p:sldId id="300" r:id="rId59"/>
    <p:sldId id="270" r:id="rId60"/>
    <p:sldId id="271" r:id="rId61"/>
    <p:sldId id="272" r:id="rId62"/>
    <p:sldId id="301" r:id="rId63"/>
    <p:sldId id="317" r:id="rId64"/>
    <p:sldId id="316" r:id="rId65"/>
    <p:sldId id="315" r:id="rId66"/>
    <p:sldId id="318" r:id="rId67"/>
    <p:sldId id="319" r:id="rId68"/>
    <p:sldId id="302" r:id="rId69"/>
    <p:sldId id="320" r:id="rId70"/>
    <p:sldId id="268" r:id="rId71"/>
    <p:sldId id="336" r:id="rId72"/>
    <p:sldId id="368" r:id="rId73"/>
    <p:sldId id="366" r:id="rId74"/>
    <p:sldId id="365" r:id="rId75"/>
    <p:sldId id="377" r:id="rId76"/>
    <p:sldId id="374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03" autoAdjust="0"/>
    <p:restoredTop sz="86815" autoAdjust="0"/>
  </p:normalViewPr>
  <p:slideViewPr>
    <p:cSldViewPr snapToGrid="0">
      <p:cViewPr varScale="1">
        <p:scale>
          <a:sx n="99" d="100"/>
          <a:sy n="99" d="100"/>
        </p:scale>
        <p:origin x="7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the default is 256 characters. </a:t>
            </a:r>
          </a:p>
          <a:p>
            <a:r>
              <a:rPr lang="en-US" dirty="0"/>
              <a:t>When Results As Grid, the default is 65 thousand plus characters.</a:t>
            </a:r>
          </a:p>
          <a:p>
            <a:r>
              <a:rPr lang="en-US" dirty="0"/>
              <a:t>Both can be updated to a little over 2 million.</a:t>
            </a:r>
          </a:p>
          <a:p>
            <a:r>
              <a:rPr lang="en-US" dirty="0"/>
              <a:t>However, both formats run the risk of being truncated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While, yes, I could name all my properties the same name, our TSQL JSON operators will only pick up the first one it comes across. </a:t>
            </a:r>
          </a:p>
          <a:p>
            <a:r>
              <a:rPr lang="en-US" dirty="0"/>
              <a:t>Clearly, this is not a beneficial practice. Nor is naming the properties with names that I can’t easily describe or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“null” is lowercase. Anything else is considered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816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“age”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invalid JSON is passed to JSON_QUERY, an error is returned.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322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invalid JSON is passed to JSON_VALUE, an error is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448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  <a:p>
            <a:r>
              <a:rPr lang="en-US" dirty="0"/>
              <a:t>“Lax” and “strict” can applied to any JSON operator that uses the ‘$’ notation.</a:t>
            </a:r>
          </a:p>
          <a:p>
            <a:endParaRPr lang="en-US" dirty="0"/>
          </a:p>
          <a:p>
            <a:r>
              <a:rPr lang="en-US" dirty="0"/>
              <a:t>Fun fact: JSON_PATH_EXISTS will accept the lax/strict keywords, but ultimately ignores them…. Providing only a yes/no answer if the path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Jeff’s “</a:t>
            </a:r>
            <a:r>
              <a:rPr lang="en-US" sz="12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 value disappeared because it is NULL.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This is the default behavior of FOR JSON (AUTO|PATH). See next slide for options to include it anyways.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statement modifies the JSON, but only for the scope of the statement.</a:t>
            </a:r>
          </a:p>
          <a:p>
            <a:endParaRPr lang="en-US" dirty="0"/>
          </a:p>
          <a:p>
            <a:r>
              <a:rPr lang="en-US" dirty="0"/>
              <a:t>The second pair of statements persist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Jason is happy!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7074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we’d be pressing our luck to convince him on the benefits of relational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7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jpeg"/><Relationship Id="rId12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5" Type="http://schemas.openxmlformats.org/officeDocument/2006/relationships/image" Target="../media/image2.jpe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4" y="488196"/>
            <a:ext cx="3900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7" y="5299372"/>
            <a:ext cx="1224745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Image result for json icon">
            <a:extLst>
              <a:ext uri="{FF2B5EF4-FFF2-40B4-BE49-F238E27FC236}">
                <a16:creationId xmlns:a16="http://schemas.microsoft.com/office/drawing/2014/main" id="{29A66535-F841-D6C8-FAE9-0F2F880C0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459" y="424604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json icon">
            <a:extLst>
              <a:ext uri="{FF2B5EF4-FFF2-40B4-BE49-F238E27FC236}">
                <a16:creationId xmlns:a16="http://schemas.microsoft.com/office/drawing/2014/main" id="{25C3F785-3A4E-80C7-5C95-34085AFE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493" y="407039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14BE0B-5E89-8A06-24B5-EF1DF4E65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B51E7F5-F07A-8623-BBB8-23E99077C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7259" y="2569648"/>
            <a:ext cx="9534525" cy="38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78476"/>
            <a:ext cx="3358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Shortcut for  </a:t>
            </a:r>
            <a:r>
              <a:rPr lang="en-US" sz="1200" b="1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2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) </a:t>
            </a:r>
            <a:endParaRPr 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a (nested)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(nested)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4450525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964" y="3108970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75DF09-7893-5EF6-5616-13B35FF0F4DC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Property names require outer JSON objects to contain them</a:t>
            </a:r>
          </a:p>
          <a:p>
            <a:endParaRPr lang="en-US" dirty="0"/>
          </a:p>
          <a:p>
            <a:r>
              <a:rPr lang="en-US" dirty="0"/>
              <a:t>Arrays must be accompanied by a property name (4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(8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>
            <a:cxnSpLocks/>
          </p:cNvCxnSpPr>
          <p:nvPr/>
        </p:nvCxnSpPr>
        <p:spPr>
          <a:xfrm>
            <a:off x="5845629" y="2862943"/>
            <a:ext cx="1687284" cy="130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993457"/>
            <a:ext cx="1700109" cy="860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</p:cNvCxnSpPr>
          <p:nvPr/>
        </p:nvCxnSpPr>
        <p:spPr>
          <a:xfrm flipV="1">
            <a:off x="5845628" y="1920324"/>
            <a:ext cx="1700110" cy="1246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</p:cNvCxnSpPr>
          <p:nvPr/>
        </p:nvCxnSpPr>
        <p:spPr>
          <a:xfrm flipV="1">
            <a:off x="5845629" y="1889408"/>
            <a:ext cx="1700109" cy="22196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87285" cy="111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68149" cy="1730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13501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a JSON object, JSON array, scalar (number or string) or one of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185065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(any 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83483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Table1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[chk_dbo.Table1_JsonData__IsJson]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1203D-8BAE-9408-969E-42A9035AF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155" y="2433330"/>
            <a:ext cx="9381690" cy="380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3" y="4566378"/>
            <a:ext cx="3937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503596"/>
            <a:ext cx="7756957" cy="28992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[chk_dbo.Table1_JsonData__name.Exists]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E3010-FCF5-64ED-47A9-A80EB96AC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140" y="2541791"/>
            <a:ext cx="9035719" cy="36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E3E79FD-2816-5EB1-6794-B79EDB11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333" y="2623614"/>
            <a:ext cx="9187333" cy="3732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918475" y="592289"/>
            <a:ext cx="93464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[Table_1]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[chk_dbo.Table1_JsonData__name.HasValue]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            TRIM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0D3A8D-0501-D301-4C8F-79E70344E7BC}"/>
              </a:ext>
            </a:extLst>
          </p:cNvPr>
          <p:cNvSpPr/>
          <p:nvPr/>
        </p:nvSpPr>
        <p:spPr>
          <a:xfrm>
            <a:off x="2589959" y="1438826"/>
            <a:ext cx="6406557" cy="617737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37E75E-FCA2-B6C9-F448-F296AEC1060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8996516" y="2056563"/>
            <a:ext cx="1375677" cy="15452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322026-728B-2619-FBBF-C06FE4927752}"/>
              </a:ext>
            </a:extLst>
          </p:cNvPr>
          <p:cNvSpPr/>
          <p:nvPr/>
        </p:nvSpPr>
        <p:spPr>
          <a:xfrm>
            <a:off x="10194372" y="3601804"/>
            <a:ext cx="355642" cy="3146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JSON Check Constraints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859360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1280881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A4160-811F-559D-44AA-92D7B44D0C97}"/>
              </a:ext>
            </a:extLst>
          </p:cNvPr>
          <p:cNvSpPr txBox="1"/>
          <p:nvPr/>
        </p:nvSpPr>
        <p:spPr>
          <a:xfrm>
            <a:off x="999744" y="5064682"/>
            <a:ext cx="50962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C72BE-0DE7-B542-F855-8B6AD0BD6DC5}"/>
              </a:ext>
            </a:extLst>
          </p:cNvPr>
          <p:cNvSpPr txBox="1"/>
          <p:nvPr/>
        </p:nvSpPr>
        <p:spPr>
          <a:xfrm>
            <a:off x="6571488" y="4880445"/>
            <a:ext cx="53157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46BF03F-5115-0BBF-E5E4-ED80C7858512}"/>
              </a:ext>
            </a:extLst>
          </p:cNvPr>
          <p:cNvGrpSpPr/>
          <p:nvPr/>
        </p:nvGrpSpPr>
        <p:grpSpPr>
          <a:xfrm>
            <a:off x="1399779" y="5357069"/>
            <a:ext cx="1843934" cy="879301"/>
            <a:chOff x="1399779" y="5357069"/>
            <a:chExt cx="1843934" cy="8793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FCECEB9-313D-4F49-F8AB-2D95D5C163FD}"/>
                </a:ext>
              </a:extLst>
            </p:cNvPr>
            <p:cNvSpPr txBox="1"/>
            <p:nvPr/>
          </p:nvSpPr>
          <p:spPr>
            <a:xfrm>
              <a:off x="1399780" y="5357069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F09F75-CC80-B83A-E659-8DAD40C494C8}"/>
                </a:ext>
              </a:extLst>
            </p:cNvPr>
            <p:cNvSpPr txBox="1"/>
            <p:nvPr/>
          </p:nvSpPr>
          <p:spPr>
            <a:xfrm>
              <a:off x="1399779" y="5928593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E6989C-BA0D-85E8-8472-7993AFBF538A}"/>
              </a:ext>
            </a:extLst>
          </p:cNvPr>
          <p:cNvGrpSpPr/>
          <p:nvPr/>
        </p:nvGrpSpPr>
        <p:grpSpPr>
          <a:xfrm>
            <a:off x="6984491" y="5158938"/>
            <a:ext cx="2271252" cy="1464880"/>
            <a:chOff x="6984491" y="5158938"/>
            <a:chExt cx="2271252" cy="146488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B25D0D-08A8-B382-1778-5B29B08D7AC7}"/>
                </a:ext>
              </a:extLst>
            </p:cNvPr>
            <p:cNvSpPr txBox="1"/>
            <p:nvPr/>
          </p:nvSpPr>
          <p:spPr>
            <a:xfrm>
              <a:off x="6984491" y="5158938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69122-D078-7107-A979-9F38E3E89B46}"/>
                </a:ext>
              </a:extLst>
            </p:cNvPr>
            <p:cNvSpPr txBox="1"/>
            <p:nvPr/>
          </p:nvSpPr>
          <p:spPr>
            <a:xfrm>
              <a:off x="6984491" y="6300653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916074-57CF-6A6B-80D4-105544895837}"/>
              </a:ext>
            </a:extLst>
          </p:cNvPr>
          <p:cNvGrpSpPr/>
          <p:nvPr/>
        </p:nvGrpSpPr>
        <p:grpSpPr>
          <a:xfrm>
            <a:off x="7164593" y="5466695"/>
            <a:ext cx="2311002" cy="902394"/>
            <a:chOff x="7164593" y="5466695"/>
            <a:chExt cx="2311002" cy="9023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95069A-D57A-C42A-D8A8-D245DCBA71C6}"/>
                </a:ext>
              </a:extLst>
            </p:cNvPr>
            <p:cNvSpPr txBox="1"/>
            <p:nvPr/>
          </p:nvSpPr>
          <p:spPr>
            <a:xfrm>
              <a:off x="7204343" y="5466695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9CDB56-B8F7-D27C-F276-D79C74D425ED}"/>
                </a:ext>
              </a:extLst>
            </p:cNvPr>
            <p:cNvSpPr txBox="1"/>
            <p:nvPr/>
          </p:nvSpPr>
          <p:spPr>
            <a:xfrm>
              <a:off x="7164593" y="6045924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1438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81316" y="3811604"/>
            <a:ext cx="1171612" cy="139348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642CD4-020B-D91D-C2EF-B36A66ED449C}"/>
              </a:ext>
            </a:extLst>
          </p:cNvPr>
          <p:cNvSpPr/>
          <p:nvPr/>
        </p:nvSpPr>
        <p:spPr>
          <a:xfrm>
            <a:off x="1000123" y="3572982"/>
            <a:ext cx="2578819" cy="238622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41A3DE-A37A-0D6C-F2D9-57528F39F465}"/>
              </a:ext>
            </a:extLst>
          </p:cNvPr>
          <p:cNvGrpSpPr/>
          <p:nvPr/>
        </p:nvGrpSpPr>
        <p:grpSpPr>
          <a:xfrm>
            <a:off x="7889313" y="4498848"/>
            <a:ext cx="1273117" cy="1292353"/>
            <a:chOff x="7889313" y="4498848"/>
            <a:chExt cx="1273117" cy="129235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0E13265-7C9F-189E-7BB9-D35A7DC89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99145" y="4548797"/>
              <a:ext cx="1263285" cy="1242404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BD186D-74CB-B76E-6A56-66FF302A2BAA}"/>
                </a:ext>
              </a:extLst>
            </p:cNvPr>
            <p:cNvSpPr/>
            <p:nvPr/>
          </p:nvSpPr>
          <p:spPr>
            <a:xfrm>
              <a:off x="7889313" y="4498848"/>
              <a:ext cx="1263285" cy="1233358"/>
            </a:xfrm>
            <a:prstGeom prst="rect">
              <a:avLst/>
            </a:prstGeom>
            <a:noFill/>
            <a:ln w="476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19306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765B5E-B05A-3AE6-0BE4-18575A4425AD}"/>
              </a:ext>
            </a:extLst>
          </p:cNvPr>
          <p:cNvCxnSpPr>
            <a:cxnSpLocks/>
          </p:cNvCxnSpPr>
          <p:nvPr/>
        </p:nvCxnSpPr>
        <p:spPr>
          <a:xfrm flipH="1" flipV="1">
            <a:off x="7084194" y="4244741"/>
            <a:ext cx="798897" cy="19250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44DBA7-E153-39D1-BEB6-2B00671F3FF4}"/>
              </a:ext>
            </a:extLst>
          </p:cNvPr>
          <p:cNvCxnSpPr>
            <a:cxnSpLocks/>
          </p:cNvCxnSpPr>
          <p:nvPr/>
        </p:nvCxnSpPr>
        <p:spPr>
          <a:xfrm flipH="1">
            <a:off x="7555832" y="4591251"/>
            <a:ext cx="433136" cy="288757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Learned all the JSON operators</a:t>
            </a:r>
          </a:p>
          <a:p>
            <a:endParaRPr lang="en-US" sz="500" dirty="0"/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    </a:t>
            </a:r>
            <a:r>
              <a:rPr lang="en-US" sz="2800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(updated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endParaRPr lang="en-US" sz="700" dirty="0"/>
          </a:p>
          <a:p>
            <a:r>
              <a:rPr lang="en-US" dirty="0"/>
              <a:t>Learned about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  <a:r>
              <a:rPr lang="en-US" dirty="0"/>
              <a:t>, in conjunction with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Learned how to update SQL Management Studio to review “all the JSON”</a:t>
            </a:r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57E111-7964-7A4E-D12D-B2330A8BFF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53153</TotalTime>
  <Words>8288</Words>
  <Application>Microsoft Office PowerPoint</Application>
  <PresentationFormat>Widescreen</PresentationFormat>
  <Paragraphs>1400</Paragraphs>
  <Slides>76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8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115</cp:revision>
  <dcterms:created xsi:type="dcterms:W3CDTF">2024-01-27T23:55:18Z</dcterms:created>
  <dcterms:modified xsi:type="dcterms:W3CDTF">2024-05-15T23:16:14Z</dcterms:modified>
</cp:coreProperties>
</file>