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1"/>
  </p:notesMasterIdLst>
  <p:sldIdLst>
    <p:sldId id="379" r:id="rId2"/>
    <p:sldId id="263" r:id="rId3"/>
    <p:sldId id="350" r:id="rId4"/>
    <p:sldId id="375" r:id="rId5"/>
    <p:sldId id="346" r:id="rId6"/>
    <p:sldId id="349" r:id="rId7"/>
    <p:sldId id="303" r:id="rId8"/>
    <p:sldId id="264" r:id="rId9"/>
    <p:sldId id="265" r:id="rId10"/>
    <p:sldId id="257" r:id="rId11"/>
    <p:sldId id="258" r:id="rId12"/>
    <p:sldId id="359" r:id="rId13"/>
    <p:sldId id="304" r:id="rId14"/>
    <p:sldId id="273" r:id="rId15"/>
    <p:sldId id="384" r:id="rId16"/>
    <p:sldId id="381" r:id="rId17"/>
    <p:sldId id="335" r:id="rId18"/>
    <p:sldId id="278" r:id="rId19"/>
    <p:sldId id="279" r:id="rId20"/>
    <p:sldId id="327" r:id="rId21"/>
    <p:sldId id="322" r:id="rId22"/>
    <p:sldId id="280" r:id="rId23"/>
    <p:sldId id="283" r:id="rId24"/>
    <p:sldId id="284" r:id="rId25"/>
    <p:sldId id="285" r:id="rId26"/>
    <p:sldId id="363" r:id="rId27"/>
    <p:sldId id="286" r:id="rId28"/>
    <p:sldId id="287" r:id="rId29"/>
    <p:sldId id="299" r:id="rId30"/>
    <p:sldId id="282" r:id="rId31"/>
    <p:sldId id="295" r:id="rId32"/>
    <p:sldId id="266" r:id="rId33"/>
    <p:sldId id="288" r:id="rId34"/>
    <p:sldId id="256" r:id="rId35"/>
    <p:sldId id="321" r:id="rId36"/>
    <p:sldId id="262" r:id="rId37"/>
    <p:sldId id="324" r:id="rId38"/>
    <p:sldId id="323" r:id="rId39"/>
    <p:sldId id="372" r:id="rId40"/>
    <p:sldId id="298" r:id="rId41"/>
    <p:sldId id="259" r:id="rId42"/>
    <p:sldId id="260" r:id="rId43"/>
    <p:sldId id="376" r:id="rId44"/>
    <p:sldId id="378" r:id="rId45"/>
    <p:sldId id="325" r:id="rId46"/>
    <p:sldId id="380" r:id="rId47"/>
    <p:sldId id="292" r:id="rId48"/>
    <p:sldId id="267" r:id="rId49"/>
    <p:sldId id="269" r:id="rId50"/>
    <p:sldId id="386" r:id="rId51"/>
    <p:sldId id="373" r:id="rId52"/>
    <p:sldId id="274" r:id="rId53"/>
    <p:sldId id="275" r:id="rId54"/>
    <p:sldId id="326" r:id="rId55"/>
    <p:sldId id="291" r:id="rId56"/>
    <p:sldId id="290" r:id="rId57"/>
    <p:sldId id="276" r:id="rId58"/>
    <p:sldId id="277" r:id="rId59"/>
    <p:sldId id="289" r:id="rId60"/>
    <p:sldId id="293" r:id="rId61"/>
    <p:sldId id="300" r:id="rId62"/>
    <p:sldId id="270" r:id="rId63"/>
    <p:sldId id="271" r:id="rId64"/>
    <p:sldId id="272" r:id="rId65"/>
    <p:sldId id="301" r:id="rId66"/>
    <p:sldId id="317" r:id="rId67"/>
    <p:sldId id="316" r:id="rId68"/>
    <p:sldId id="315" r:id="rId69"/>
    <p:sldId id="318" r:id="rId70"/>
    <p:sldId id="319" r:id="rId71"/>
    <p:sldId id="302" r:id="rId72"/>
    <p:sldId id="320" r:id="rId73"/>
    <p:sldId id="268" r:id="rId74"/>
    <p:sldId id="336" r:id="rId75"/>
    <p:sldId id="368" r:id="rId76"/>
    <p:sldId id="366" r:id="rId77"/>
    <p:sldId id="365" r:id="rId78"/>
    <p:sldId id="377" r:id="rId79"/>
    <p:sldId id="374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03" autoAdjust="0"/>
    <p:restoredTop sz="86815" autoAdjust="0"/>
  </p:normalViewPr>
  <p:slideViewPr>
    <p:cSldViewPr snapToGrid="0">
      <p:cViewPr varScale="1">
        <p:scale>
          <a:sx n="99" d="100"/>
          <a:sy n="99" d="100"/>
        </p:scale>
        <p:origin x="7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presProps" Target="presProp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Jason works with semi-structured data. This type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doesn’t strictly adhere to a fixed schema or rigid data mode.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JSON represents data in a hierarchical structure using key-value pairs. Objects contain key-value pairs, and arrays can hold multiple values. 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This flexibility allows you to nest objects and arrays within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4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may be times were you need to convert one format to the other for import/export purposes.</a:t>
            </a:r>
          </a:p>
          <a:p>
            <a:r>
              <a:rPr lang="en-US" dirty="0"/>
              <a:t>Maybe you store JSON in the SQL Server in its raw format from an API, and you want to query values from it.</a:t>
            </a:r>
          </a:p>
          <a:p>
            <a:r>
              <a:rPr lang="en-US" dirty="0"/>
              <a:t>We’ll talk about the operators you need to do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SSMS offers an ability to view JSON.</a:t>
            </a:r>
          </a:p>
          <a:p>
            <a:r>
              <a:rPr lang="en-US" dirty="0"/>
              <a:t>When Results As Text, the default is 256 characters. </a:t>
            </a:r>
          </a:p>
          <a:p>
            <a:r>
              <a:rPr lang="en-US" dirty="0"/>
              <a:t>When Results As Grid, the default is 65 thousand plus characters.</a:t>
            </a:r>
          </a:p>
          <a:p>
            <a:r>
              <a:rPr lang="en-US" dirty="0"/>
              <a:t>Both can be updated to a little over 2 million.</a:t>
            </a:r>
          </a:p>
          <a:p>
            <a:r>
              <a:rPr lang="en-US" dirty="0"/>
              <a:t>However, both formats run the risk of being truncated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JSON document object model, locating values and reflecting the path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  <a:p>
            <a:r>
              <a:rPr lang="en-US" dirty="0"/>
              <a:t>You may also need to consider if have legal reasons to capture “exactly” what the user 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does the JSON datatype afford us? At this time, conformity to rules of input, storage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25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this is a JSON object.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This array happens to contain one item.</a:t>
            </a:r>
          </a:p>
          <a:p>
            <a:r>
              <a:rPr lang="en-US" dirty="0"/>
              <a:t>Arrays in JSON are zero-based, just like in JavaScript.</a:t>
            </a:r>
          </a:p>
          <a:p>
            <a:r>
              <a:rPr lang="en-US" dirty="0"/>
              <a:t>APIs may return a JSON </a:t>
            </a:r>
            <a:r>
              <a:rPr lang="en-US" dirty="0" err="1"/>
              <a:t>resultset</a:t>
            </a:r>
            <a:r>
              <a:rPr lang="en-US" dirty="0"/>
              <a:t> as an array even when one item was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an API may prefix the array with a property name, even something as trivial as “value”,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While, yes, I could name all my properties the same name, our TSQL JSON operators will only pick up the first one it comes across. </a:t>
            </a:r>
          </a:p>
          <a:p>
            <a:r>
              <a:rPr lang="en-US" dirty="0"/>
              <a:t>Clearly, this is not a beneficial practice. Nor is naming the properties with names that I can’t easily describe or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0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“null” is lowercase. Anything else is considered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8166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I say unordered, yet the example shows an alphabetical list of children. </a:t>
            </a:r>
          </a:p>
          <a:p>
            <a:r>
              <a:rPr lang="en-US" dirty="0"/>
              <a:t>You cannot expect the data to return this way every time, nor can you make decisions of order in this manner.</a:t>
            </a:r>
          </a:p>
          <a:p>
            <a:r>
              <a:rPr lang="en-US" dirty="0"/>
              <a:t>If order is important, change the array of children from an array of strings to an array of JSON objects with properties “name” and “age” for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955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  <a:p>
            <a:endParaRPr lang="en-US" dirty="0"/>
          </a:p>
          <a:p>
            <a:r>
              <a:rPr lang="en-US" dirty="0"/>
              <a:t>Arrays must be accompanied by a property name (4/5), unless the JSON originally starts with square brackets (1/3). In that case, property name is explicitly disallowed. (8)</a:t>
            </a:r>
          </a:p>
          <a:p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  <a:p>
            <a:r>
              <a:rPr lang="en-US" dirty="0"/>
              <a:t>This constraint is not necessary for a column of datatype JSON, as it will automatically check for formatting.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root (“$”)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59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invalid JSON is passed to JSON_QUERY, an error is returned.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4322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invalid JSON is passed to JSON_VALUE, an error is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448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and NON-NULL value before it can settle in the table data. 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699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 at the JSON path given.</a:t>
            </a:r>
          </a:p>
          <a:p>
            <a:r>
              <a:rPr lang="en-US" dirty="0"/>
              <a:t>Strict throws errors only when no value is found at the JSON path given.</a:t>
            </a:r>
          </a:p>
          <a:p>
            <a:r>
              <a:rPr lang="en-US" dirty="0"/>
              <a:t>“Lax” and “strict” can applied to any JSON operator that uses the ‘$’ notation.</a:t>
            </a:r>
          </a:p>
          <a:p>
            <a:endParaRPr lang="en-US" dirty="0"/>
          </a:p>
          <a:p>
            <a:r>
              <a:rPr lang="en-US" dirty="0"/>
              <a:t>Fun fact: JSON_PATH_EXISTS will accept the lax/strict keywords, but ultimately ignores them…. Providing only a yes/no answer if the path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returned by OPENJSON is statement-scoped. Unless you send it to a table, it is lost at the next statement.</a:t>
            </a:r>
          </a:p>
          <a:p>
            <a:r>
              <a:rPr lang="en-US" dirty="0"/>
              <a:t>Notice the types returned. Perhaps you could build a hierarchical loop and process these rows differently based on the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 all the JSON operators, OPENJSON is the only one that currently does not work with the JSON datatype. </a:t>
            </a:r>
          </a:p>
          <a:p>
            <a:r>
              <a:rPr lang="en-US" dirty="0"/>
              <a:t>But this is an easy fix: We just convert the </a:t>
            </a:r>
            <a:r>
              <a:rPr lang="en-US" dirty="0" err="1"/>
              <a:t>json</a:t>
            </a:r>
            <a:r>
              <a:rPr lang="en-US" dirty="0"/>
              <a:t> text into an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Hopefully this will be addressed soon by Microsoft.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57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dependency (a join) to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using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@_json) on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should be noted that the display in the FOR JSON AUTO is not necessarily pretty-printed JSON.</a:t>
            </a:r>
          </a:p>
          <a:p>
            <a:r>
              <a:rPr lang="en-US" dirty="0"/>
              <a:t>You would still need Notepad++ or some other 3</a:t>
            </a:r>
            <a:r>
              <a:rPr lang="en-US" baseline="30000" dirty="0"/>
              <a:t>rd</a:t>
            </a:r>
            <a:r>
              <a:rPr lang="en-US" dirty="0"/>
              <a:t>-party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207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 The default is 2MB.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in </a:t>
            </a:r>
            <a:r>
              <a:rPr lang="en-US" dirty="0" err="1"/>
              <a:t>GridView</a:t>
            </a:r>
            <a:r>
              <a:rPr lang="en-US" dirty="0"/>
              <a:t> by re-casting the JSON as AUTO JSON to view untruncated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Jeff’s “</a:t>
            </a:r>
            <a:r>
              <a:rPr lang="en-US" sz="12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r>
              <a:rPr lang="en-US" sz="12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” value disappeared because it is NULL.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This is the default behavior of FOR JSON (AUTO|PATH). See next slide for options to include it anyways.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Rootname</a:t>
            </a:r>
            <a:r>
              <a:rPr lang="en-US" dirty="0"/>
              <a:t> is not the same as the </a:t>
            </a:r>
            <a:r>
              <a:rPr lang="en-US" dirty="0" err="1"/>
              <a:t>ColumnName</a:t>
            </a:r>
            <a:r>
              <a:rPr lang="en-US" dirty="0"/>
              <a:t> storing the JSON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1979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statement modifies the JSON, but only for the scope of the statement.</a:t>
            </a:r>
          </a:p>
          <a:p>
            <a:endParaRPr lang="en-US" dirty="0"/>
          </a:p>
          <a:p>
            <a:r>
              <a:rPr lang="en-US" dirty="0"/>
              <a:t>The second pair of statements persist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friends “lax” and “strict” are extremely important when it comes to deleting or dropping values from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9899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Jason is happy!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707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we’d be pressing our luck to convince him on the benefits of relational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378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57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7/4/2024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jpeg"/><Relationship Id="rId12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11" Type="http://schemas.openxmlformats.org/officeDocument/2006/relationships/image" Target="../media/image12.png"/><Relationship Id="rId5" Type="http://schemas.openxmlformats.org/officeDocument/2006/relationships/image" Target="../media/image2.jpe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69F34-9CC1-E59F-E59F-51DB3D97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after the presentation?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67A4AD-2DB8-D681-74A7-3A47132B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49" y="2184885"/>
            <a:ext cx="10096500" cy="136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330FE9-AB35-44BA-F17A-6FD0DAAB70CE}"/>
              </a:ext>
            </a:extLst>
          </p:cNvPr>
          <p:cNvSpPr txBox="1"/>
          <p:nvPr/>
        </p:nvSpPr>
        <p:spPr>
          <a:xfrm>
            <a:off x="2152997" y="4735629"/>
            <a:ext cx="7886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 sure to enable the Notes for slide-specific content</a:t>
            </a:r>
          </a:p>
        </p:txBody>
      </p:sp>
    </p:spTree>
    <p:extLst>
      <p:ext uri="{BB962C8B-B14F-4D97-AF65-F5344CB8AC3E}">
        <p14:creationId xmlns:p14="http://schemas.microsoft.com/office/powerpoint/2010/main" val="1346962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0B63B-A4BC-B177-BFBA-AD0E9C2D37C9}"/>
              </a:ext>
            </a:extLst>
          </p:cNvPr>
          <p:cNvSpPr txBox="1"/>
          <p:nvPr/>
        </p:nvSpPr>
        <p:spPr>
          <a:xfrm>
            <a:off x="8847201" y="6252518"/>
            <a:ext cx="27187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(With permission from 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Ephraim </a:t>
            </a:r>
            <a:r>
              <a:rPr lang="en-US" sz="1200" b="0" i="0" dirty="0" err="1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Ndoro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4AC2430-78D2-8E54-C755-A1B8DBE4F816}"/>
              </a:ext>
            </a:extLst>
          </p:cNvPr>
          <p:cNvGrpSpPr/>
          <p:nvPr/>
        </p:nvGrpSpPr>
        <p:grpSpPr>
          <a:xfrm>
            <a:off x="926757" y="1538554"/>
            <a:ext cx="6989956" cy="1476495"/>
            <a:chOff x="926757" y="1538554"/>
            <a:chExt cx="6989956" cy="147649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2CD30E-09B9-4BBE-6BD0-2359B50DE930}"/>
                </a:ext>
              </a:extLst>
            </p:cNvPr>
            <p:cNvSpPr/>
            <p:nvPr/>
          </p:nvSpPr>
          <p:spPr>
            <a:xfrm>
              <a:off x="926757" y="1538554"/>
              <a:ext cx="5139930" cy="1476495"/>
            </a:xfrm>
            <a:custGeom>
              <a:avLst/>
              <a:gdLst>
                <a:gd name="connsiteX0" fmla="*/ 1532238 w 5139930"/>
                <a:gd name="connsiteY0" fmla="*/ 67824 h 1476495"/>
                <a:gd name="connsiteX1" fmla="*/ 1482811 w 5139930"/>
                <a:gd name="connsiteY1" fmla="*/ 327316 h 1476495"/>
                <a:gd name="connsiteX2" fmla="*/ 1359243 w 5139930"/>
                <a:gd name="connsiteY2" fmla="*/ 314960 h 1476495"/>
                <a:gd name="connsiteX3" fmla="*/ 729048 w 5139930"/>
                <a:gd name="connsiteY3" fmla="*/ 314960 h 1476495"/>
                <a:gd name="connsiteX4" fmla="*/ 630194 w 5139930"/>
                <a:gd name="connsiteY4" fmla="*/ 327316 h 1476495"/>
                <a:gd name="connsiteX5" fmla="*/ 543697 w 5139930"/>
                <a:gd name="connsiteY5" fmla="*/ 339673 h 1476495"/>
                <a:gd name="connsiteX6" fmla="*/ 481913 w 5139930"/>
                <a:gd name="connsiteY6" fmla="*/ 352030 h 1476495"/>
                <a:gd name="connsiteX7" fmla="*/ 407773 w 5139930"/>
                <a:gd name="connsiteY7" fmla="*/ 364387 h 1476495"/>
                <a:gd name="connsiteX8" fmla="*/ 321275 w 5139930"/>
                <a:gd name="connsiteY8" fmla="*/ 401457 h 1476495"/>
                <a:gd name="connsiteX9" fmla="*/ 308919 w 5139930"/>
                <a:gd name="connsiteY9" fmla="*/ 438527 h 1476495"/>
                <a:gd name="connsiteX10" fmla="*/ 296562 w 5139930"/>
                <a:gd name="connsiteY10" fmla="*/ 487954 h 1476495"/>
                <a:gd name="connsiteX11" fmla="*/ 247135 w 5139930"/>
                <a:gd name="connsiteY11" fmla="*/ 611522 h 1476495"/>
                <a:gd name="connsiteX12" fmla="*/ 222421 w 5139930"/>
                <a:gd name="connsiteY12" fmla="*/ 710376 h 1476495"/>
                <a:gd name="connsiteX13" fmla="*/ 210065 w 5139930"/>
                <a:gd name="connsiteY13" fmla="*/ 809230 h 1476495"/>
                <a:gd name="connsiteX14" fmla="*/ 74140 w 5139930"/>
                <a:gd name="connsiteY14" fmla="*/ 994581 h 1476495"/>
                <a:gd name="connsiteX15" fmla="*/ 0 w 5139930"/>
                <a:gd name="connsiteY15" fmla="*/ 1167576 h 1476495"/>
                <a:gd name="connsiteX16" fmla="*/ 37070 w 5139930"/>
                <a:gd name="connsiteY16" fmla="*/ 1365284 h 1476495"/>
                <a:gd name="connsiteX17" fmla="*/ 49427 w 5139930"/>
                <a:gd name="connsiteY17" fmla="*/ 1414711 h 1476495"/>
                <a:gd name="connsiteX18" fmla="*/ 111211 w 5139930"/>
                <a:gd name="connsiteY18" fmla="*/ 1476495 h 1476495"/>
                <a:gd name="connsiteX19" fmla="*/ 271848 w 5139930"/>
                <a:gd name="connsiteY19" fmla="*/ 1402354 h 1476495"/>
                <a:gd name="connsiteX20" fmla="*/ 345989 w 5139930"/>
                <a:gd name="connsiteY20" fmla="*/ 1377641 h 1476495"/>
                <a:gd name="connsiteX21" fmla="*/ 407773 w 5139930"/>
                <a:gd name="connsiteY21" fmla="*/ 1352927 h 1476495"/>
                <a:gd name="connsiteX22" fmla="*/ 3756454 w 5139930"/>
                <a:gd name="connsiteY22" fmla="*/ 1365284 h 1476495"/>
                <a:gd name="connsiteX23" fmla="*/ 3966519 w 5139930"/>
                <a:gd name="connsiteY23" fmla="*/ 1377641 h 1476495"/>
                <a:gd name="connsiteX24" fmla="*/ 4596713 w 5139930"/>
                <a:gd name="connsiteY24" fmla="*/ 1365284 h 1476495"/>
                <a:gd name="connsiteX25" fmla="*/ 4732638 w 5139930"/>
                <a:gd name="connsiteY25" fmla="*/ 1303500 h 1476495"/>
                <a:gd name="connsiteX26" fmla="*/ 4769708 w 5139930"/>
                <a:gd name="connsiteY26" fmla="*/ 1278787 h 1476495"/>
                <a:gd name="connsiteX27" fmla="*/ 4868562 w 5139930"/>
                <a:gd name="connsiteY27" fmla="*/ 1167576 h 1476495"/>
                <a:gd name="connsiteX28" fmla="*/ 5004486 w 5139930"/>
                <a:gd name="connsiteY28" fmla="*/ 1019295 h 1476495"/>
                <a:gd name="connsiteX29" fmla="*/ 5066270 w 5139930"/>
                <a:gd name="connsiteY29" fmla="*/ 920441 h 1476495"/>
                <a:gd name="connsiteX30" fmla="*/ 5078627 w 5139930"/>
                <a:gd name="connsiteY30" fmla="*/ 871014 h 1476495"/>
                <a:gd name="connsiteX31" fmla="*/ 5090984 w 5139930"/>
                <a:gd name="connsiteY31" fmla="*/ 833943 h 1476495"/>
                <a:gd name="connsiteX32" fmla="*/ 5103340 w 5139930"/>
                <a:gd name="connsiteY32" fmla="*/ 685662 h 1476495"/>
                <a:gd name="connsiteX33" fmla="*/ 5103340 w 5139930"/>
                <a:gd name="connsiteY33" fmla="*/ 339673 h 1476495"/>
                <a:gd name="connsiteX34" fmla="*/ 5029200 w 5139930"/>
                <a:gd name="connsiteY34" fmla="*/ 277889 h 1476495"/>
                <a:gd name="connsiteX35" fmla="*/ 4658497 w 5139930"/>
                <a:gd name="connsiteY35" fmla="*/ 166678 h 1476495"/>
                <a:gd name="connsiteX36" fmla="*/ 4510216 w 5139930"/>
                <a:gd name="connsiteY36" fmla="*/ 154322 h 1476495"/>
                <a:gd name="connsiteX37" fmla="*/ 3880021 w 5139930"/>
                <a:gd name="connsiteY37" fmla="*/ 117251 h 1476495"/>
                <a:gd name="connsiteX38" fmla="*/ 3373394 w 5139930"/>
                <a:gd name="connsiteY38" fmla="*/ 67824 h 1476495"/>
                <a:gd name="connsiteX39" fmla="*/ 2162432 w 5139930"/>
                <a:gd name="connsiteY39" fmla="*/ 18397 h 1476495"/>
                <a:gd name="connsiteX40" fmla="*/ 1519881 w 5139930"/>
                <a:gd name="connsiteY40" fmla="*/ 18397 h 1476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39930" h="1476495">
                  <a:moveTo>
                    <a:pt x="1532238" y="67824"/>
                  </a:moveTo>
                  <a:cubicBezTo>
                    <a:pt x="1531401" y="84560"/>
                    <a:pt x="1596208" y="327316"/>
                    <a:pt x="1482811" y="327316"/>
                  </a:cubicBezTo>
                  <a:cubicBezTo>
                    <a:pt x="1441416" y="327316"/>
                    <a:pt x="1400432" y="319079"/>
                    <a:pt x="1359243" y="314960"/>
                  </a:cubicBezTo>
                  <a:cubicBezTo>
                    <a:pt x="1136180" y="240604"/>
                    <a:pt x="1310756" y="294185"/>
                    <a:pt x="729048" y="314960"/>
                  </a:cubicBezTo>
                  <a:cubicBezTo>
                    <a:pt x="695861" y="316145"/>
                    <a:pt x="663110" y="322927"/>
                    <a:pt x="630194" y="327316"/>
                  </a:cubicBezTo>
                  <a:cubicBezTo>
                    <a:pt x="601324" y="331165"/>
                    <a:pt x="572426" y="334885"/>
                    <a:pt x="543697" y="339673"/>
                  </a:cubicBezTo>
                  <a:cubicBezTo>
                    <a:pt x="522980" y="343126"/>
                    <a:pt x="502577" y="348273"/>
                    <a:pt x="481913" y="352030"/>
                  </a:cubicBezTo>
                  <a:cubicBezTo>
                    <a:pt x="457263" y="356512"/>
                    <a:pt x="432486" y="360268"/>
                    <a:pt x="407773" y="364387"/>
                  </a:cubicBezTo>
                  <a:cubicBezTo>
                    <a:pt x="378940" y="376744"/>
                    <a:pt x="346370" y="382636"/>
                    <a:pt x="321275" y="401457"/>
                  </a:cubicBezTo>
                  <a:cubicBezTo>
                    <a:pt x="310855" y="409272"/>
                    <a:pt x="312497" y="426003"/>
                    <a:pt x="308919" y="438527"/>
                  </a:cubicBezTo>
                  <a:cubicBezTo>
                    <a:pt x="304254" y="454856"/>
                    <a:pt x="301228" y="471625"/>
                    <a:pt x="296562" y="487954"/>
                  </a:cubicBezTo>
                  <a:cubicBezTo>
                    <a:pt x="273199" y="569721"/>
                    <a:pt x="291950" y="477076"/>
                    <a:pt x="247135" y="611522"/>
                  </a:cubicBezTo>
                  <a:cubicBezTo>
                    <a:pt x="236394" y="643745"/>
                    <a:pt x="230659" y="677425"/>
                    <a:pt x="222421" y="710376"/>
                  </a:cubicBezTo>
                  <a:cubicBezTo>
                    <a:pt x="218302" y="743327"/>
                    <a:pt x="225426" y="779789"/>
                    <a:pt x="210065" y="809230"/>
                  </a:cubicBezTo>
                  <a:cubicBezTo>
                    <a:pt x="174625" y="877157"/>
                    <a:pt x="108403" y="926053"/>
                    <a:pt x="74140" y="994581"/>
                  </a:cubicBezTo>
                  <a:cubicBezTo>
                    <a:pt x="4762" y="1133339"/>
                    <a:pt x="23526" y="1073473"/>
                    <a:pt x="0" y="1167576"/>
                  </a:cubicBezTo>
                  <a:cubicBezTo>
                    <a:pt x="19699" y="1384260"/>
                    <a:pt x="-7139" y="1232654"/>
                    <a:pt x="37070" y="1365284"/>
                  </a:cubicBezTo>
                  <a:cubicBezTo>
                    <a:pt x="42440" y="1381395"/>
                    <a:pt x="42737" y="1399101"/>
                    <a:pt x="49427" y="1414711"/>
                  </a:cubicBezTo>
                  <a:cubicBezTo>
                    <a:pt x="65903" y="1453155"/>
                    <a:pt x="78259" y="1454527"/>
                    <a:pt x="111211" y="1476495"/>
                  </a:cubicBezTo>
                  <a:cubicBezTo>
                    <a:pt x="376804" y="1417473"/>
                    <a:pt x="114799" y="1496582"/>
                    <a:pt x="271848" y="1402354"/>
                  </a:cubicBezTo>
                  <a:cubicBezTo>
                    <a:pt x="294186" y="1388951"/>
                    <a:pt x="321802" y="1387316"/>
                    <a:pt x="345989" y="1377641"/>
                  </a:cubicBezTo>
                  <a:lnTo>
                    <a:pt x="407773" y="1352927"/>
                  </a:lnTo>
                  <a:lnTo>
                    <a:pt x="3756454" y="1365284"/>
                  </a:lnTo>
                  <a:cubicBezTo>
                    <a:pt x="3826595" y="1365771"/>
                    <a:pt x="3896376" y="1377641"/>
                    <a:pt x="3966519" y="1377641"/>
                  </a:cubicBezTo>
                  <a:cubicBezTo>
                    <a:pt x="4176624" y="1377641"/>
                    <a:pt x="4386648" y="1369403"/>
                    <a:pt x="4596713" y="1365284"/>
                  </a:cubicBezTo>
                  <a:cubicBezTo>
                    <a:pt x="4634178" y="1349228"/>
                    <a:pt x="4693889" y="1325642"/>
                    <a:pt x="4732638" y="1303500"/>
                  </a:cubicBezTo>
                  <a:cubicBezTo>
                    <a:pt x="4745532" y="1296132"/>
                    <a:pt x="4758532" y="1288566"/>
                    <a:pt x="4769708" y="1278787"/>
                  </a:cubicBezTo>
                  <a:cubicBezTo>
                    <a:pt x="4883632" y="1179104"/>
                    <a:pt x="4787446" y="1256805"/>
                    <a:pt x="4868562" y="1167576"/>
                  </a:cubicBezTo>
                  <a:cubicBezTo>
                    <a:pt x="5043817" y="974794"/>
                    <a:pt x="4884240" y="1169601"/>
                    <a:pt x="5004486" y="1019295"/>
                  </a:cubicBezTo>
                  <a:cubicBezTo>
                    <a:pt x="5038213" y="918114"/>
                    <a:pt x="4982323" y="1071544"/>
                    <a:pt x="5066270" y="920441"/>
                  </a:cubicBezTo>
                  <a:cubicBezTo>
                    <a:pt x="5074518" y="905595"/>
                    <a:pt x="5073961" y="887343"/>
                    <a:pt x="5078627" y="871014"/>
                  </a:cubicBezTo>
                  <a:cubicBezTo>
                    <a:pt x="5082205" y="858490"/>
                    <a:pt x="5086865" y="846300"/>
                    <a:pt x="5090984" y="833943"/>
                  </a:cubicBezTo>
                  <a:cubicBezTo>
                    <a:pt x="5095103" y="784516"/>
                    <a:pt x="5097545" y="734921"/>
                    <a:pt x="5103340" y="685662"/>
                  </a:cubicBezTo>
                  <a:cubicBezTo>
                    <a:pt x="5121159" y="534196"/>
                    <a:pt x="5175911" y="629959"/>
                    <a:pt x="5103340" y="339673"/>
                  </a:cubicBezTo>
                  <a:cubicBezTo>
                    <a:pt x="5095538" y="308464"/>
                    <a:pt x="5057721" y="292770"/>
                    <a:pt x="5029200" y="277889"/>
                  </a:cubicBezTo>
                  <a:cubicBezTo>
                    <a:pt x="4867992" y="193780"/>
                    <a:pt x="4823186" y="186441"/>
                    <a:pt x="4658497" y="166678"/>
                  </a:cubicBezTo>
                  <a:cubicBezTo>
                    <a:pt x="4609252" y="160769"/>
                    <a:pt x="4559715" y="157465"/>
                    <a:pt x="4510216" y="154322"/>
                  </a:cubicBezTo>
                  <a:cubicBezTo>
                    <a:pt x="4300211" y="140988"/>
                    <a:pt x="4089585" y="136302"/>
                    <a:pt x="3880021" y="117251"/>
                  </a:cubicBezTo>
                  <a:cubicBezTo>
                    <a:pt x="3529804" y="85414"/>
                    <a:pt x="3698663" y="102063"/>
                    <a:pt x="3373394" y="67824"/>
                  </a:cubicBezTo>
                  <a:cubicBezTo>
                    <a:pt x="2929125" y="-59108"/>
                    <a:pt x="3282920" y="34068"/>
                    <a:pt x="2162432" y="18397"/>
                  </a:cubicBezTo>
                  <a:cubicBezTo>
                    <a:pt x="1948269" y="15402"/>
                    <a:pt x="1734065" y="18397"/>
                    <a:pt x="1519881" y="18397"/>
                  </a:cubicBezTo>
                </a:path>
              </a:pathLst>
            </a:custGeom>
            <a:noFill/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EBB955-CF21-1C08-4DF3-3E816038C09B}"/>
                </a:ext>
              </a:extLst>
            </p:cNvPr>
            <p:cNvSpPr txBox="1"/>
            <p:nvPr/>
          </p:nvSpPr>
          <p:spPr>
            <a:xfrm>
              <a:off x="6339016" y="1538554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object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7E012A-BABB-A052-B77B-6BFF5C35C10B}"/>
              </a:ext>
            </a:extLst>
          </p:cNvPr>
          <p:cNvGrpSpPr/>
          <p:nvPr/>
        </p:nvGrpSpPr>
        <p:grpSpPr>
          <a:xfrm>
            <a:off x="2545492" y="5177481"/>
            <a:ext cx="5816064" cy="840260"/>
            <a:chOff x="2545492" y="5177481"/>
            <a:chExt cx="5816064" cy="84026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1A5FD31-9DA7-EDB4-E3AE-B77060E856E7}"/>
                </a:ext>
              </a:extLst>
            </p:cNvPr>
            <p:cNvSpPr/>
            <p:nvPr/>
          </p:nvSpPr>
          <p:spPr>
            <a:xfrm>
              <a:off x="2545492" y="5659395"/>
              <a:ext cx="4522573" cy="358346"/>
            </a:xfrm>
            <a:prstGeom prst="rect">
              <a:avLst/>
            </a:prstGeom>
            <a:noFill/>
            <a:ln w="444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4EC817E-0608-EC1A-62E8-4BB2C779D70A}"/>
                </a:ext>
              </a:extLst>
            </p:cNvPr>
            <p:cNvSpPr txBox="1"/>
            <p:nvPr/>
          </p:nvSpPr>
          <p:spPr>
            <a:xfrm>
              <a:off x="6783859" y="5177481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array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1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69F3F55-69E2-9924-4F78-83368A27E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919" y="1270807"/>
            <a:ext cx="4460858" cy="1588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4" y="488196"/>
            <a:ext cx="390026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"home"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AEE842-C7C1-2FE7-20AE-F9F1498B7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385" y="2859767"/>
            <a:ext cx="6632562" cy="3341091"/>
          </a:xfrm>
          <a:prstGeom prst="rect">
            <a:avLst/>
          </a:prstGeom>
        </p:spPr>
      </p:pic>
      <p:pic>
        <p:nvPicPr>
          <p:cNvPr id="14" name="Picture 13" descr="Live Instructor-Led SQL Querying Advanced Training - Hands-on Course">
            <a:extLst>
              <a:ext uri="{FF2B5EF4-FFF2-40B4-BE49-F238E27FC236}">
                <a16:creationId xmlns:a16="http://schemas.microsoft.com/office/drawing/2014/main" id="{BB642230-99AB-2E0A-08D2-8698EDCE0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40815" y="4705727"/>
            <a:ext cx="1772312" cy="1865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 result for mongodb">
            <a:extLst>
              <a:ext uri="{FF2B5EF4-FFF2-40B4-BE49-F238E27FC236}">
                <a16:creationId xmlns:a16="http://schemas.microsoft.com/office/drawing/2014/main" id="{3BD3B244-9621-C112-65DE-FBD021F71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5" y="5132389"/>
            <a:ext cx="1418324" cy="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cassandra db icon">
            <a:extLst>
              <a:ext uri="{FF2B5EF4-FFF2-40B4-BE49-F238E27FC236}">
                <a16:creationId xmlns:a16="http://schemas.microsoft.com/office/drawing/2014/main" id="{D12B84FE-3DC1-6A87-0634-96D511D7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735" y="5950807"/>
            <a:ext cx="872724" cy="628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Ya fue liberada la nueva versión de Apache CouchDB 3.0 y estos son sus ...">
            <a:extLst>
              <a:ext uri="{FF2B5EF4-FFF2-40B4-BE49-F238E27FC236}">
                <a16:creationId xmlns:a16="http://schemas.microsoft.com/office/drawing/2014/main" id="{E3FD43AE-B1EF-E3C6-E5B7-05FC7D759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6" y="5752201"/>
            <a:ext cx="1418323" cy="460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D1362C-D3FE-4B79-4646-4F801D2C8A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845" y="6264988"/>
            <a:ext cx="1418323" cy="382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3B0590-29F5-FF4E-D986-6BBEFAF51D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8341" y="5074526"/>
            <a:ext cx="1224748" cy="68103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2D8D13-B297-8D30-A995-B015397BA076}"/>
              </a:ext>
            </a:extLst>
          </p:cNvPr>
          <p:cNvCxnSpPr>
            <a:cxnSpLocks/>
          </p:cNvCxnSpPr>
          <p:nvPr/>
        </p:nvCxnSpPr>
        <p:spPr>
          <a:xfrm>
            <a:off x="4778747" y="2384854"/>
            <a:ext cx="0" cy="4263081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199667-1DC6-8993-7DB5-3E311B2851F7}"/>
              </a:ext>
            </a:extLst>
          </p:cNvPr>
          <p:cNvCxnSpPr/>
          <p:nvPr/>
        </p:nvCxnSpPr>
        <p:spPr>
          <a:xfrm flipH="1">
            <a:off x="4778747" y="2384854"/>
            <a:ext cx="6935458" cy="0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3A448DC-F925-232F-23FA-B9F6D55A35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86206" y="424604"/>
            <a:ext cx="2002900" cy="1432200"/>
          </a:xfrm>
          <a:prstGeom prst="rect">
            <a:avLst/>
          </a:prstGeom>
        </p:spPr>
      </p:pic>
      <p:sp>
        <p:nvSpPr>
          <p:cNvPr id="6" name="Arrow: Bent-Up 5">
            <a:extLst>
              <a:ext uri="{FF2B5EF4-FFF2-40B4-BE49-F238E27FC236}">
                <a16:creationId xmlns:a16="http://schemas.microsoft.com/office/drawing/2014/main" id="{4E1EAA66-D8F6-F4AF-58C4-4AD4CD919171}"/>
              </a:ext>
            </a:extLst>
          </p:cNvPr>
          <p:cNvSpPr/>
          <p:nvPr/>
        </p:nvSpPr>
        <p:spPr>
          <a:xfrm flipH="1">
            <a:off x="4028307" y="5299372"/>
            <a:ext cx="1224745" cy="109839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Image result for json icon">
            <a:extLst>
              <a:ext uri="{FF2B5EF4-FFF2-40B4-BE49-F238E27FC236}">
                <a16:creationId xmlns:a16="http://schemas.microsoft.com/office/drawing/2014/main" id="{29A66535-F841-D6C8-FAE9-0F2F880C0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459" y="424604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json icon">
            <a:extLst>
              <a:ext uri="{FF2B5EF4-FFF2-40B4-BE49-F238E27FC236}">
                <a16:creationId xmlns:a16="http://schemas.microsoft.com/office/drawing/2014/main" id="{25C3F785-3A4E-80C7-5C95-34085AFE9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8493" y="407039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14BE0B-5E89-8A06-24B5-EF1DF4E65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B51E7F5-F07A-8623-BBB8-23E99077C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7259" y="2569648"/>
            <a:ext cx="9534525" cy="389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57" y="2607276"/>
            <a:ext cx="9493639" cy="377550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7784758" y="2323070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F9F227-0201-54A7-7256-E275B5541E36}"/>
              </a:ext>
            </a:extLst>
          </p:cNvPr>
          <p:cNvCxnSpPr>
            <a:cxnSpLocks/>
          </p:cNvCxnSpPr>
          <p:nvPr/>
        </p:nvCxnSpPr>
        <p:spPr>
          <a:xfrm flipV="1">
            <a:off x="5029200" y="4856205"/>
            <a:ext cx="2273643" cy="64255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239F89-9EC9-72DD-19E4-633785A83E08}"/>
              </a:ext>
            </a:extLst>
          </p:cNvPr>
          <p:cNvCxnSpPr>
            <a:cxnSpLocks/>
          </p:cNvCxnSpPr>
          <p:nvPr/>
        </p:nvCxnSpPr>
        <p:spPr>
          <a:xfrm>
            <a:off x="5029200" y="5498757"/>
            <a:ext cx="2879124" cy="39541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7" y="2393942"/>
            <a:ext cx="414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4000)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larger per character: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4141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8000)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3" y="5851632"/>
            <a:ext cx="560686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81687-E34E-9605-507C-BF9252CCD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JSON datatype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0E1A37-A7EE-D71A-1BF5-B0E3E193D3AC}"/>
              </a:ext>
            </a:extLst>
          </p:cNvPr>
          <p:cNvSpPr txBox="1"/>
          <p:nvPr/>
        </p:nvSpPr>
        <p:spPr>
          <a:xfrm>
            <a:off x="1494502" y="2310581"/>
            <a:ext cx="778714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[Table_1]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 [ID] [int]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IDENTITY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 [MyColumn1] </a:t>
            </a:r>
            <a:r>
              <a:rPr lang="en-US" sz="2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80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[PRIMARY]</a:t>
            </a: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2A42D7-70CD-EF4E-B846-F17AB5EDF339}"/>
              </a:ext>
            </a:extLst>
          </p:cNvPr>
          <p:cNvSpPr txBox="1"/>
          <p:nvPr/>
        </p:nvSpPr>
        <p:spPr>
          <a:xfrm>
            <a:off x="8848716" y="5922777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ighlight>
                  <a:srgbClr val="FFFF00"/>
                </a:highlight>
              </a:rPr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1307375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0D127D-3003-2CB2-1B07-BA392B200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83" y="1604281"/>
            <a:ext cx="4466918" cy="258860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B177CF4-E8A7-CB66-EF70-41FD652E2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SSMS is not JSON-type friendly (yet)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C2E4BC-14E6-7CC7-14BC-E33529289622}"/>
              </a:ext>
            </a:extLst>
          </p:cNvPr>
          <p:cNvSpPr txBox="1"/>
          <p:nvPr/>
        </p:nvSpPr>
        <p:spPr>
          <a:xfrm>
            <a:off x="871892" y="4287967"/>
            <a:ext cx="3152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Unable to create a column of 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datatype JSON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A900CD-EA97-AC84-E68D-32A142E76390}"/>
              </a:ext>
            </a:extLst>
          </p:cNvPr>
          <p:cNvSpPr txBox="1"/>
          <p:nvPr/>
        </p:nvSpPr>
        <p:spPr>
          <a:xfrm>
            <a:off x="5260258" y="6038663"/>
            <a:ext cx="6180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Unable to design a table containing column of datatype JSON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19E551-CE83-E435-FF4C-0F480F22E5F2}"/>
              </a:ext>
            </a:extLst>
          </p:cNvPr>
          <p:cNvSpPr txBox="1"/>
          <p:nvPr/>
        </p:nvSpPr>
        <p:spPr>
          <a:xfrm>
            <a:off x="871892" y="3429000"/>
            <a:ext cx="1885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Would be here</a:t>
            </a:r>
          </a:p>
          <a:p>
            <a:r>
              <a:rPr lang="en-US" sz="1400" dirty="0">
                <a:solidFill>
                  <a:srgbClr val="FF0000"/>
                </a:solidFill>
              </a:rPr>
              <a:t>alphabetically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21F946-3784-93F7-880D-D270363B7851}"/>
              </a:ext>
            </a:extLst>
          </p:cNvPr>
          <p:cNvCxnSpPr>
            <a:cxnSpLocks/>
          </p:cNvCxnSpPr>
          <p:nvPr/>
        </p:nvCxnSpPr>
        <p:spPr>
          <a:xfrm>
            <a:off x="2019856" y="3708646"/>
            <a:ext cx="625021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43B422DE-4331-2FBF-8B32-D21EDF2AF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611567"/>
            <a:ext cx="7391400" cy="3352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0EE265D-D8CC-1EAE-656A-CA0C506D9774}"/>
              </a:ext>
            </a:extLst>
          </p:cNvPr>
          <p:cNvSpPr txBox="1"/>
          <p:nvPr/>
        </p:nvSpPr>
        <p:spPr>
          <a:xfrm>
            <a:off x="7934633" y="5368413"/>
            <a:ext cx="395256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0000"/>
                </a:solidFill>
              </a:rPr>
              <a:t>“The table has a datatype that is not recognized”</a:t>
            </a:r>
          </a:p>
        </p:txBody>
      </p:sp>
    </p:spTree>
    <p:extLst>
      <p:ext uri="{BB962C8B-B14F-4D97-AF65-F5344CB8AC3E}">
        <p14:creationId xmlns:p14="http://schemas.microsoft.com/office/powerpoint/2010/main" val="24294933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39E63C-19CB-A6EA-3F69-598F87DB89CA}"/>
              </a:ext>
            </a:extLst>
          </p:cNvPr>
          <p:cNvSpPr txBox="1"/>
          <p:nvPr/>
        </p:nvSpPr>
        <p:spPr>
          <a:xfrm>
            <a:off x="5328677" y="778476"/>
            <a:ext cx="33581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Shortcut for  </a:t>
            </a:r>
            <a:r>
              <a:rPr lang="en-US" sz="1200" b="1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2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US" sz="12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text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) </a:t>
            </a:r>
            <a:endParaRPr 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55805F-8299-59E1-90FC-C7B7BD5C1B79}"/>
              </a:ext>
            </a:extLst>
          </p:cNvPr>
          <p:cNvCxnSpPr/>
          <p:nvPr/>
        </p:nvCxnSpPr>
        <p:spPr>
          <a:xfrm flipH="1">
            <a:off x="6227805" y="1043118"/>
            <a:ext cx="86498" cy="20477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</a:t>
            </a:r>
            <a:r>
              <a:rPr lang="en-US" b="1" dirty="0"/>
              <a:t>lowercase</a:t>
            </a:r>
            <a:r>
              <a:rPr lang="en-US" dirty="0"/>
              <a:t>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special characters (almost all of them)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“scalar”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</a:t>
            </a:r>
          </a:p>
          <a:p>
            <a:r>
              <a:rPr lang="en-US" dirty="0"/>
              <a:t>     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a (nested)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(nested)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64E229-02F5-5DB5-2FB0-A3D2E3FA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549861"/>
              </p:ext>
            </p:extLst>
          </p:nvPr>
        </p:nvGraphicFramePr>
        <p:xfrm>
          <a:off x="1085335" y="2391032"/>
          <a:ext cx="9625914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89438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32221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ISJSON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1275907" y="1978409"/>
            <a:ext cx="568044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566" y="4450525"/>
            <a:ext cx="2694213" cy="76226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5964" y="3108970"/>
            <a:ext cx="2674614" cy="76226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1841157"/>
            <a:ext cx="2674614" cy="7622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44E49A-3A0D-E1FC-BDCD-123B100B425B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48A1C-A0CD-8E39-75B9-0116084EEE7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75DF09-7893-5EF6-5616-13B35FF0F4DC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884729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Property names require outer JSON objects to contain them (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5)</a:t>
            </a:r>
            <a:endParaRPr lang="en-US" dirty="0"/>
          </a:p>
          <a:p>
            <a:endParaRPr lang="en-US" dirty="0"/>
          </a:p>
          <a:p>
            <a:r>
              <a:rPr lang="en-US" dirty="0"/>
              <a:t>Arrays must be accompanied by a property name (</a:t>
            </a:r>
            <a:r>
              <a:rPr lang="en-US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 5), unless the JSON originally started with square brackets (1, 3). In that case, property name is explicitly disallowed (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7, 5</a:t>
            </a:r>
            <a:r>
              <a:rPr lang="en-US" dirty="0"/>
              <a:t>).</a:t>
            </a:r>
          </a:p>
          <a:p>
            <a:endParaRPr lang="en-US" sz="1400" dirty="0"/>
          </a:p>
          <a:p>
            <a:r>
              <a:rPr lang="en-US" dirty="0"/>
              <a:t>There can only be one JSON object, unless enclosed in an array (</a:t>
            </a:r>
            <a:r>
              <a:rPr lang="en-US" dirty="0">
                <a:solidFill>
                  <a:srgbClr val="FF0000"/>
                </a:solidFill>
              </a:rPr>
              <a:t>10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11)</a:t>
            </a:r>
            <a:endParaRPr lang="en-US" dirty="0"/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>
            <a:cxnSpLocks/>
          </p:cNvCxnSpPr>
          <p:nvPr/>
        </p:nvCxnSpPr>
        <p:spPr>
          <a:xfrm>
            <a:off x="5845629" y="2862943"/>
            <a:ext cx="1687284" cy="130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993457"/>
            <a:ext cx="1700109" cy="860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</p:cNvCxnSpPr>
          <p:nvPr/>
        </p:nvCxnSpPr>
        <p:spPr>
          <a:xfrm flipV="1">
            <a:off x="5845628" y="1920324"/>
            <a:ext cx="1700110" cy="1246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</p:cNvCxnSpPr>
          <p:nvPr/>
        </p:nvCxnSpPr>
        <p:spPr>
          <a:xfrm flipV="1">
            <a:off x="5845629" y="1889408"/>
            <a:ext cx="1700109" cy="22196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993457"/>
            <a:ext cx="1687285" cy="1115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993457"/>
            <a:ext cx="1668149" cy="1730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13501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anything that qualifies to be a value of a key/value pair: a JSON object, JSON array, scalar (number or string) or one of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pic>
        <p:nvPicPr>
          <p:cNvPr id="1026" name="Picture 2" descr="remember symbol clipart 10 free Cliparts | Download images on Clipground 2024">
            <a:extLst>
              <a:ext uri="{FF2B5EF4-FFF2-40B4-BE49-F238E27FC236}">
                <a16:creationId xmlns:a16="http://schemas.microsoft.com/office/drawing/2014/main" id="{416A17DE-F248-ACA1-CF5F-069825661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7265" y="5263691"/>
            <a:ext cx="259780" cy="25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3A0913-3FA7-486F-8C4C-A11F1C49088B}"/>
              </a:ext>
            </a:extLst>
          </p:cNvPr>
          <p:cNvSpPr txBox="1"/>
          <p:nvPr/>
        </p:nvSpPr>
        <p:spPr>
          <a:xfrm>
            <a:off x="7358344" y="5190011"/>
            <a:ext cx="1355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(lowercase!)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185065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(any 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1383321-41DD-D40B-1CE0-9A51B12C9493}"/>
              </a:ext>
            </a:extLst>
          </p:cNvPr>
          <p:cNvGrpSpPr/>
          <p:nvPr/>
        </p:nvGrpSpPr>
        <p:grpSpPr>
          <a:xfrm>
            <a:off x="6697362" y="1260389"/>
            <a:ext cx="4053489" cy="5165784"/>
            <a:chOff x="6697362" y="1260389"/>
            <a:chExt cx="4053489" cy="51657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A8C3C7F-E907-AC6F-9FB0-94A885BAE7D1}"/>
                </a:ext>
              </a:extLst>
            </p:cNvPr>
            <p:cNvSpPr/>
            <p:nvPr/>
          </p:nvSpPr>
          <p:spPr>
            <a:xfrm>
              <a:off x="6697362" y="1260389"/>
              <a:ext cx="4053489" cy="516578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BF59DE-C75C-444C-1AD7-196F1D09A277}"/>
                </a:ext>
              </a:extLst>
            </p:cNvPr>
            <p:cNvSpPr txBox="1"/>
            <p:nvPr/>
          </p:nvSpPr>
          <p:spPr>
            <a:xfrm>
              <a:off x="7241060" y="5012836"/>
              <a:ext cx="2545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XOR            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83483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Table1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[chk_dbo.Table1_JsonData__IsJson]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D1203D-8BAE-9408-969E-42A9035AF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155" y="2433330"/>
            <a:ext cx="9381690" cy="3800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049BA-0030-3DB9-A7F7-1C46C9BEB260}"/>
              </a:ext>
            </a:extLst>
          </p:cNvPr>
          <p:cNvSpPr txBox="1"/>
          <p:nvPr/>
        </p:nvSpPr>
        <p:spPr>
          <a:xfrm>
            <a:off x="5293503" y="4566378"/>
            <a:ext cx="39371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[10]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"bogus-field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503596"/>
            <a:ext cx="7756957" cy="28992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'$."karate-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belt_color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PRINT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'Stay away!'</a:t>
            </a:r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5" y="966430"/>
            <a:ext cx="93842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[Table1]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[chk_dbo.Table1_JsonData__name.Exists]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JSON_PATH_EXISTS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E3010-FCF5-64ED-47A9-A80EB96AC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140" y="2541791"/>
            <a:ext cx="9035719" cy="368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8063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4A310-F359-15F9-F9FA-235327BCB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983543"/>
              </p:ext>
            </p:extLst>
          </p:nvPr>
        </p:nvGraphicFramePr>
        <p:xfrm>
          <a:off x="1085335" y="2391032"/>
          <a:ext cx="962591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52367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69292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JSON_VALUE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OPENJSON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"children":[]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'$.children'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967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scalar/Boolean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790419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spouse_name":null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_name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i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will not return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BC82B2-543F-22B5-453D-FD029257A2A7}"/>
              </a:ext>
            </a:extLst>
          </p:cNvPr>
          <p:cNvGrpSpPr/>
          <p:nvPr/>
        </p:nvGrpSpPr>
        <p:grpSpPr>
          <a:xfrm>
            <a:off x="8587946" y="3429000"/>
            <a:ext cx="3021241" cy="2699951"/>
            <a:chOff x="8587946" y="3429000"/>
            <a:chExt cx="3021241" cy="2699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EC938C-0E03-0B43-D75E-45B78099EE66}"/>
                </a:ext>
              </a:extLst>
            </p:cNvPr>
            <p:cNvSpPr txBox="1"/>
            <p:nvPr/>
          </p:nvSpPr>
          <p:spPr>
            <a:xfrm>
              <a:off x="10216896" y="3429000"/>
              <a:ext cx="13922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Illegit NULL</a:t>
              </a:r>
            </a:p>
            <a:p>
              <a:endParaRPr lang="en-US" dirty="0"/>
            </a:p>
            <a:p>
              <a:r>
                <a:rPr lang="en-US" dirty="0"/>
                <a:t>Legit NULL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2ADA59A-67EE-5CEC-67C2-8A603A53A5BB}"/>
                </a:ext>
              </a:extLst>
            </p:cNvPr>
            <p:cNvCxnSpPr/>
            <p:nvPr/>
          </p:nvCxnSpPr>
          <p:spPr>
            <a:xfrm flipV="1">
              <a:off x="8637373" y="4337222"/>
              <a:ext cx="1579523" cy="179172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75EDB70-3DD9-1919-D2CF-4F1630405BDA}"/>
                </a:ext>
              </a:extLst>
            </p:cNvPr>
            <p:cNvCxnSpPr/>
            <p:nvPr/>
          </p:nvCxnSpPr>
          <p:spPr>
            <a:xfrm flipV="1">
              <a:off x="8587946" y="3595816"/>
              <a:ext cx="1615574" cy="4929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E3E79FD-2816-5EB1-6794-B79EDB11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333" y="2623614"/>
            <a:ext cx="9187333" cy="37327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918475" y="592289"/>
            <a:ext cx="93464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[Table_1]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CONSTRAINT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[chk_dbo.Table1_JsonData__name.HasValue]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              TRIM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0D3A8D-0501-D301-4C8F-79E70344E7BC}"/>
              </a:ext>
            </a:extLst>
          </p:cNvPr>
          <p:cNvSpPr/>
          <p:nvPr/>
        </p:nvSpPr>
        <p:spPr>
          <a:xfrm>
            <a:off x="2589959" y="1438826"/>
            <a:ext cx="6406557" cy="617737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37E75E-FCA2-B6C9-F448-F296AEC1060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8996516" y="2056563"/>
            <a:ext cx="1375677" cy="15452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6322026-728B-2619-FBBF-C06FE4927752}"/>
              </a:ext>
            </a:extLst>
          </p:cNvPr>
          <p:cNvSpPr/>
          <p:nvPr/>
        </p:nvSpPr>
        <p:spPr>
          <a:xfrm>
            <a:off x="10194372" y="3601804"/>
            <a:ext cx="355642" cy="3146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689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JSON Check Constraints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8593601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79032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4ACCC1D-06A1-7A87-505C-1CC154A85886}"/>
              </a:ext>
            </a:extLst>
          </p:cNvPr>
          <p:cNvSpPr txBox="1"/>
          <p:nvPr/>
        </p:nvSpPr>
        <p:spPr>
          <a:xfrm>
            <a:off x="8068964" y="4821024"/>
            <a:ext cx="1248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Another  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XOR?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311839"/>
              </p:ext>
            </p:extLst>
          </p:nvPr>
        </p:nvGraphicFramePr>
        <p:xfrm>
          <a:off x="5788452" y="3605375"/>
          <a:ext cx="51790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1280881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A4160-811F-559D-44AA-92D7B44D0C97}"/>
              </a:ext>
            </a:extLst>
          </p:cNvPr>
          <p:cNvSpPr txBox="1"/>
          <p:nvPr/>
        </p:nvSpPr>
        <p:spPr>
          <a:xfrm>
            <a:off x="999744" y="5064682"/>
            <a:ext cx="50962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C72BE-0DE7-B542-F855-8B6AD0BD6DC5}"/>
              </a:ext>
            </a:extLst>
          </p:cNvPr>
          <p:cNvSpPr txBox="1"/>
          <p:nvPr/>
        </p:nvSpPr>
        <p:spPr>
          <a:xfrm>
            <a:off x="6571488" y="4880445"/>
            <a:ext cx="53157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46BF03F-5115-0BBF-E5E4-ED80C7858512}"/>
              </a:ext>
            </a:extLst>
          </p:cNvPr>
          <p:cNvGrpSpPr/>
          <p:nvPr/>
        </p:nvGrpSpPr>
        <p:grpSpPr>
          <a:xfrm>
            <a:off x="1399779" y="5357069"/>
            <a:ext cx="1843934" cy="879301"/>
            <a:chOff x="1399779" y="5357069"/>
            <a:chExt cx="1843934" cy="8793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FCECEB9-313D-4F49-F8AB-2D95D5C163FD}"/>
                </a:ext>
              </a:extLst>
            </p:cNvPr>
            <p:cNvSpPr txBox="1"/>
            <p:nvPr/>
          </p:nvSpPr>
          <p:spPr>
            <a:xfrm>
              <a:off x="1399780" y="5357069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F09F75-CC80-B83A-E659-8DAD40C494C8}"/>
                </a:ext>
              </a:extLst>
            </p:cNvPr>
            <p:cNvSpPr txBox="1"/>
            <p:nvPr/>
          </p:nvSpPr>
          <p:spPr>
            <a:xfrm>
              <a:off x="1399779" y="5928593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E6989C-BA0D-85E8-8472-7993AFBF538A}"/>
              </a:ext>
            </a:extLst>
          </p:cNvPr>
          <p:cNvGrpSpPr/>
          <p:nvPr/>
        </p:nvGrpSpPr>
        <p:grpSpPr>
          <a:xfrm>
            <a:off x="6984491" y="5158938"/>
            <a:ext cx="2271252" cy="1464880"/>
            <a:chOff x="6984491" y="5158938"/>
            <a:chExt cx="2271252" cy="146488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B25D0D-08A8-B382-1778-5B29B08D7AC7}"/>
                </a:ext>
              </a:extLst>
            </p:cNvPr>
            <p:cNvSpPr txBox="1"/>
            <p:nvPr/>
          </p:nvSpPr>
          <p:spPr>
            <a:xfrm>
              <a:off x="6984491" y="5158938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69122-D078-7107-A979-9F38E3E89B46}"/>
                </a:ext>
              </a:extLst>
            </p:cNvPr>
            <p:cNvSpPr txBox="1"/>
            <p:nvPr/>
          </p:nvSpPr>
          <p:spPr>
            <a:xfrm>
              <a:off x="6984491" y="6300653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D916074-57CF-6A6B-80D4-105544895837}"/>
              </a:ext>
            </a:extLst>
          </p:cNvPr>
          <p:cNvGrpSpPr/>
          <p:nvPr/>
        </p:nvGrpSpPr>
        <p:grpSpPr>
          <a:xfrm>
            <a:off x="7164593" y="5466695"/>
            <a:ext cx="2311002" cy="902394"/>
            <a:chOff x="7164593" y="5466695"/>
            <a:chExt cx="2311002" cy="9023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95069A-D57A-C42A-D8A8-D245DCBA71C6}"/>
                </a:ext>
              </a:extLst>
            </p:cNvPr>
            <p:cNvSpPr txBox="1"/>
            <p:nvPr/>
          </p:nvSpPr>
          <p:spPr>
            <a:xfrm>
              <a:off x="7204343" y="5466695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9CDB56-B8F7-D27C-F276-D79C74D425ED}"/>
                </a:ext>
              </a:extLst>
            </p:cNvPr>
            <p:cNvSpPr txBox="1"/>
            <p:nvPr/>
          </p:nvSpPr>
          <p:spPr>
            <a:xfrm>
              <a:off x="7164593" y="6045924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</a:t>
            </a:r>
            <a:r>
              <a:rPr lang="en-US" sz="32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/>
              <a:t>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 err="1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 the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JSON</a:t>
            </a:r>
            <a:r>
              <a:rPr lang="en-US" sz="2800" dirty="0">
                <a:solidFill>
                  <a:srgbClr val="80808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datatype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34678"/>
            <a:ext cx="4364781" cy="10521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809387" y="6134549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ighlight>
                  <a:srgbClr val="FFFF00"/>
                </a:highlight>
              </a:rPr>
              <a:t>Azure SQL Database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7D7A49-382E-1529-855F-E97CD3E4A38C}"/>
              </a:ext>
            </a:extLst>
          </p:cNvPr>
          <p:cNvSpPr txBox="1"/>
          <p:nvPr/>
        </p:nvSpPr>
        <p:spPr>
          <a:xfrm>
            <a:off x="1406013" y="3932280"/>
            <a:ext cx="8072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OpenJson</a:t>
            </a:r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 support not yet supported for JSON native data type.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FD656B-7100-6D80-BB85-CC588925CE42}"/>
              </a:ext>
            </a:extLst>
          </p:cNvPr>
          <p:cNvSpPr txBox="1"/>
          <p:nvPr/>
        </p:nvSpPr>
        <p:spPr>
          <a:xfrm>
            <a:off x="1107556" y="4734678"/>
            <a:ext cx="46639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nvarchar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684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8F3FD5D-05CB-1056-0B8D-82385C11B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995" y="3841195"/>
            <a:ext cx="62579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8C99F-4109-BD17-001D-0FFAADEC0BA3}"/>
              </a:ext>
            </a:extLst>
          </p:cNvPr>
          <p:cNvSpPr/>
          <p:nvPr/>
        </p:nvSpPr>
        <p:spPr>
          <a:xfrm>
            <a:off x="1890584" y="3521676"/>
            <a:ext cx="4423719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23A2E-A17C-E22F-D1B6-BEBCEF270359}"/>
              </a:ext>
            </a:extLst>
          </p:cNvPr>
          <p:cNvSpPr/>
          <p:nvPr/>
        </p:nvSpPr>
        <p:spPr>
          <a:xfrm>
            <a:off x="1097839" y="2158733"/>
            <a:ext cx="4895188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FD5F48-9E43-315A-0198-A9F1AC623A62}"/>
              </a:ext>
            </a:extLst>
          </p:cNvPr>
          <p:cNvSpPr/>
          <p:nvPr/>
        </p:nvSpPr>
        <p:spPr>
          <a:xfrm>
            <a:off x="1625922" y="4914380"/>
            <a:ext cx="5055294" cy="608890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8" grpId="0" animBg="1"/>
      <p:bldP spid="1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OVER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D524A2-F771-AFA5-337A-0666AC751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725459"/>
              </p:ext>
            </p:extLst>
          </p:nvPr>
        </p:nvGraphicFramePr>
        <p:xfrm>
          <a:off x="1085335" y="2391032"/>
          <a:ext cx="962591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77081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518719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JSON_OBJECT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JSON_ARRAY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solidFill>
                          <a:srgbClr val="FF00FF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AUTO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PATH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973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JSON_MODIFY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245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07676" y="4024464"/>
            <a:ext cx="26966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ABSENT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NULL)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81316" y="3811604"/>
            <a:ext cx="1171612" cy="139348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642CD4-020B-D91D-C2EF-B36A66ED449C}"/>
              </a:ext>
            </a:extLst>
          </p:cNvPr>
          <p:cNvSpPr/>
          <p:nvPr/>
        </p:nvSpPr>
        <p:spPr>
          <a:xfrm>
            <a:off x="1000123" y="3572982"/>
            <a:ext cx="2578819" cy="238622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41A3DE-A37A-0D6C-F2D9-57528F39F465}"/>
              </a:ext>
            </a:extLst>
          </p:cNvPr>
          <p:cNvGrpSpPr/>
          <p:nvPr/>
        </p:nvGrpSpPr>
        <p:grpSpPr>
          <a:xfrm>
            <a:off x="7889313" y="4498848"/>
            <a:ext cx="1273117" cy="1292353"/>
            <a:chOff x="7889313" y="4498848"/>
            <a:chExt cx="1273117" cy="129235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0E13265-7C9F-189E-7BB9-D35A7DC89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99145" y="4548797"/>
              <a:ext cx="1263285" cy="1242404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BD186D-74CB-B76E-6A56-66FF302A2BAA}"/>
                </a:ext>
              </a:extLst>
            </p:cNvPr>
            <p:cNvSpPr/>
            <p:nvPr/>
          </p:nvSpPr>
          <p:spPr>
            <a:xfrm>
              <a:off x="7889313" y="4498848"/>
              <a:ext cx="1263285" cy="1233358"/>
            </a:xfrm>
            <a:prstGeom prst="rect">
              <a:avLst/>
            </a:prstGeom>
            <a:noFill/>
            <a:ln w="4762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77804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8338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LongJson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802056"/>
            <a:ext cx="6350325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6003E6-5A5F-BD03-C1B9-5E2F9799B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5" y="5163203"/>
            <a:ext cx="7257514" cy="6629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78919-19B8-37A1-9DC0-CDDA8A7DE291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r>
              <a:rPr lang="en-US" dirty="0">
                <a:solidFill>
                  <a:srgbClr val="111111"/>
                </a:solidFill>
                <a:highlight>
                  <a:srgbClr val="FFFF00"/>
                </a:highlight>
                <a:latin typeface="-apple-system"/>
              </a:rPr>
              <a:t>Can be used to re-export original JSON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10020-376E-B677-B000-AC03001475BF}"/>
              </a:ext>
            </a:extLst>
          </p:cNvPr>
          <p:cNvSpPr txBox="1"/>
          <p:nvPr/>
        </p:nvSpPr>
        <p:spPr>
          <a:xfrm>
            <a:off x="7737807" y="6348092"/>
            <a:ext cx="3981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https://microsoftedge.github.io/Demos/json-dummy-data/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DB64E-F909-E3D3-AB1E-4EC9E5A57BCB}"/>
              </a:ext>
            </a:extLst>
          </p:cNvPr>
          <p:cNvSpPr/>
          <p:nvPr/>
        </p:nvSpPr>
        <p:spPr>
          <a:xfrm>
            <a:off x="2360141" y="5402947"/>
            <a:ext cx="877329" cy="42320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1002876" y="2279867"/>
            <a:ext cx="55832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</a:p>
          <a:p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'Jesús Castillo'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'$1.00'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Contestants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AlsoEligible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dirty="0">
              <a:solidFill>
                <a:srgbClr val="0000FF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  <a:endParaRPr lang="en-US" sz="1600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780731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223" y="5002545"/>
            <a:ext cx="1806321" cy="62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19306"/>
            <a:ext cx="934867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993486" y="4395266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What's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5765B5E-B05A-3AE6-0BE4-18575A4425AD}"/>
              </a:ext>
            </a:extLst>
          </p:cNvPr>
          <p:cNvCxnSpPr>
            <a:cxnSpLocks/>
          </p:cNvCxnSpPr>
          <p:nvPr/>
        </p:nvCxnSpPr>
        <p:spPr>
          <a:xfrm flipH="1" flipV="1">
            <a:off x="7194589" y="4245217"/>
            <a:ext cx="798897" cy="19250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44DBA7-E153-39D1-BEB6-2B00671F3FF4}"/>
              </a:ext>
            </a:extLst>
          </p:cNvPr>
          <p:cNvCxnSpPr>
            <a:cxnSpLocks/>
          </p:cNvCxnSpPr>
          <p:nvPr/>
        </p:nvCxnSpPr>
        <p:spPr>
          <a:xfrm flipH="1">
            <a:off x="7938128" y="4676779"/>
            <a:ext cx="433136" cy="288757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 doc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78F7-2FFA-80A6-7AD0-FE60AA3A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2EC-1B88-B496-D1A2-6CDF7072E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Learned about the </a:t>
            </a:r>
            <a:r>
              <a:rPr lang="en-US" sz="2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dirty="0"/>
              <a:t> datatype</a:t>
            </a:r>
          </a:p>
          <a:p>
            <a:r>
              <a:rPr lang="en-US" dirty="0"/>
              <a:t>Learned all the JSON operators</a:t>
            </a:r>
          </a:p>
          <a:p>
            <a:endParaRPr lang="en-US" sz="500" dirty="0"/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    </a:t>
            </a:r>
            <a:r>
              <a:rPr lang="en-US" sz="2800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(updated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endParaRPr lang="en-US" sz="700" dirty="0"/>
          </a:p>
          <a:p>
            <a:r>
              <a:rPr lang="en-US" dirty="0"/>
              <a:t>Learned about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CROSS APPLY</a:t>
            </a:r>
            <a:r>
              <a:rPr lang="en-US" dirty="0"/>
              <a:t>, in conjunction with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Learned how to update SQL Management Studio to review “all the JSON”</a:t>
            </a:r>
          </a:p>
        </p:txBody>
      </p:sp>
    </p:spTree>
    <p:extLst>
      <p:ext uri="{BB962C8B-B14F-4D97-AF65-F5344CB8AC3E}">
        <p14:creationId xmlns:p14="http://schemas.microsoft.com/office/powerpoint/2010/main" val="26071883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681" y="1198606"/>
            <a:ext cx="5498757" cy="44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709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57E111-7964-7A4E-D12D-B2330A8BFF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59568</TotalTime>
  <Words>8601</Words>
  <Application>Microsoft Office PowerPoint</Application>
  <PresentationFormat>Widescreen</PresentationFormat>
  <Paragraphs>1440</Paragraphs>
  <Slides>79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91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Wingdings</vt:lpstr>
      <vt:lpstr>Office Theme</vt:lpstr>
      <vt:lpstr>Reviewing after the presentation?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The JSON datatype</vt:lpstr>
      <vt:lpstr>SSMS is not JSON-type friendly (yet)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do we go from here?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126</cp:revision>
  <dcterms:created xsi:type="dcterms:W3CDTF">2024-01-27T23:55:18Z</dcterms:created>
  <dcterms:modified xsi:type="dcterms:W3CDTF">2024-07-04T14:27:41Z</dcterms:modified>
</cp:coreProperties>
</file>