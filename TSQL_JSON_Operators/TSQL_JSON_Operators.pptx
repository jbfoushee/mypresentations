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63" r:id="rId2"/>
    <p:sldId id="350" r:id="rId3"/>
    <p:sldId id="351" r:id="rId4"/>
    <p:sldId id="347" r:id="rId5"/>
    <p:sldId id="348" r:id="rId6"/>
    <p:sldId id="328" r:id="rId7"/>
    <p:sldId id="346" r:id="rId8"/>
    <p:sldId id="349" r:id="rId9"/>
    <p:sldId id="303" r:id="rId10"/>
    <p:sldId id="264" r:id="rId11"/>
    <p:sldId id="265" r:id="rId12"/>
    <p:sldId id="257" r:id="rId13"/>
    <p:sldId id="258" r:id="rId14"/>
    <p:sldId id="359" r:id="rId15"/>
    <p:sldId id="304" r:id="rId16"/>
    <p:sldId id="273" r:id="rId17"/>
    <p:sldId id="335" r:id="rId18"/>
    <p:sldId id="278" r:id="rId19"/>
    <p:sldId id="279" r:id="rId20"/>
    <p:sldId id="327" r:id="rId21"/>
    <p:sldId id="322" r:id="rId22"/>
    <p:sldId id="280" r:id="rId23"/>
    <p:sldId id="283" r:id="rId24"/>
    <p:sldId id="284" r:id="rId25"/>
    <p:sldId id="285" r:id="rId26"/>
    <p:sldId id="363" r:id="rId27"/>
    <p:sldId id="286" r:id="rId28"/>
    <p:sldId id="287" r:id="rId29"/>
    <p:sldId id="299" r:id="rId30"/>
    <p:sldId id="295" r:id="rId31"/>
    <p:sldId id="282" r:id="rId32"/>
    <p:sldId id="266" r:id="rId33"/>
    <p:sldId id="288" r:id="rId34"/>
    <p:sldId id="256" r:id="rId35"/>
    <p:sldId id="321" r:id="rId36"/>
    <p:sldId id="262" r:id="rId37"/>
    <p:sldId id="324" r:id="rId38"/>
    <p:sldId id="323" r:id="rId39"/>
    <p:sldId id="298" r:id="rId40"/>
    <p:sldId id="259" r:id="rId41"/>
    <p:sldId id="260" r:id="rId42"/>
    <p:sldId id="325" r:id="rId43"/>
    <p:sldId id="292" r:id="rId44"/>
    <p:sldId id="267" r:id="rId45"/>
    <p:sldId id="269" r:id="rId46"/>
    <p:sldId id="274" r:id="rId47"/>
    <p:sldId id="275" r:id="rId48"/>
    <p:sldId id="326" r:id="rId49"/>
    <p:sldId id="291" r:id="rId50"/>
    <p:sldId id="290" r:id="rId51"/>
    <p:sldId id="276" r:id="rId52"/>
    <p:sldId id="277" r:id="rId53"/>
    <p:sldId id="289" r:id="rId54"/>
    <p:sldId id="293" r:id="rId55"/>
    <p:sldId id="300" r:id="rId56"/>
    <p:sldId id="270" r:id="rId57"/>
    <p:sldId id="271" r:id="rId58"/>
    <p:sldId id="272" r:id="rId59"/>
    <p:sldId id="301" r:id="rId60"/>
    <p:sldId id="317" r:id="rId61"/>
    <p:sldId id="316" r:id="rId62"/>
    <p:sldId id="315" r:id="rId63"/>
    <p:sldId id="318" r:id="rId64"/>
    <p:sldId id="319" r:id="rId65"/>
    <p:sldId id="302" r:id="rId66"/>
    <p:sldId id="320" r:id="rId67"/>
    <p:sldId id="268" r:id="rId68"/>
    <p:sldId id="336" r:id="rId69"/>
    <p:sldId id="311" r:id="rId70"/>
    <p:sldId id="355" r:id="rId71"/>
    <p:sldId id="342" r:id="rId72"/>
    <p:sldId id="345" r:id="rId73"/>
    <p:sldId id="296" r:id="rId74"/>
    <p:sldId id="297" r:id="rId75"/>
    <p:sldId id="360" r:id="rId76"/>
    <p:sldId id="361" r:id="rId77"/>
    <p:sldId id="362" r:id="rId78"/>
    <p:sldId id="305" r:id="rId79"/>
    <p:sldId id="306" r:id="rId80"/>
    <p:sldId id="307" r:id="rId81"/>
    <p:sldId id="308" r:id="rId82"/>
    <p:sldId id="343" r:id="rId83"/>
    <p:sldId id="309" r:id="rId84"/>
    <p:sldId id="341" r:id="rId85"/>
    <p:sldId id="310" r:id="rId86"/>
    <p:sldId id="330" r:id="rId87"/>
    <p:sldId id="331" r:id="rId88"/>
    <p:sldId id="364" r:id="rId89"/>
    <p:sldId id="353" r:id="rId90"/>
    <p:sldId id="354" r:id="rId91"/>
    <p:sldId id="356" r:id="rId92"/>
    <p:sldId id="332" r:id="rId93"/>
    <p:sldId id="334" r:id="rId94"/>
    <p:sldId id="313" r:id="rId95"/>
    <p:sldId id="314" r:id="rId96"/>
    <p:sldId id="357" r:id="rId97"/>
    <p:sldId id="338" r:id="rId98"/>
    <p:sldId id="339" r:id="rId99"/>
    <p:sldId id="358" r:id="rId100"/>
    <p:sldId id="340" r:id="rId101"/>
    <p:sldId id="337" r:id="rId102"/>
    <p:sldId id="366" r:id="rId103"/>
    <p:sldId id="365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03" autoAdjust="0"/>
    <p:restoredTop sz="86815" autoAdjust="0"/>
  </p:normalViewPr>
  <p:slideViewPr>
    <p:cSldViewPr snapToGrid="0">
      <p:cViewPr varScale="1">
        <p:scale>
          <a:sx n="78" d="100"/>
          <a:sy n="78" d="100"/>
        </p:scale>
        <p:origin x="7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way he describes it is odd, but I have an idea how the data should be arranged. </a:t>
            </a:r>
          </a:p>
          <a:p>
            <a:r>
              <a:rPr lang="en-US" dirty="0"/>
              <a:t>Nonetheless, I ask him to send the import so I can review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0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it comes to pulling JSON data in SSMS, you’re not going to be happy.</a:t>
            </a:r>
          </a:p>
          <a:p>
            <a:r>
              <a:rPr lang="en-US" dirty="0"/>
              <a:t>On the one side, you want to see all the data. </a:t>
            </a:r>
          </a:p>
          <a:p>
            <a:r>
              <a:rPr lang="en-US" dirty="0"/>
              <a:t>On the other side, you cannot conceptualize all the data on one line anyway.</a:t>
            </a:r>
          </a:p>
          <a:p>
            <a:r>
              <a:rPr lang="en-US" dirty="0"/>
              <a:t>Then you have a limit how many characters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indentation of the document object model, locating values and reciting the address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</a:t>
            </a:r>
          </a:p>
          <a:p>
            <a:r>
              <a:rPr lang="en-US" dirty="0"/>
              <a:t>APIs may return all JSON </a:t>
            </a:r>
            <a:r>
              <a:rPr lang="en-US" dirty="0" err="1"/>
              <a:t>resultsets</a:t>
            </a:r>
            <a:r>
              <a:rPr lang="en-US" dirty="0"/>
              <a:t> as an array even if one item was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the array may start with a property name, even something as trivial as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“$”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found.</a:t>
            </a:r>
          </a:p>
          <a:p>
            <a:r>
              <a:rPr lang="en-US" dirty="0"/>
              <a:t>Strict throws errors only when no value is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reliance on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without CROSS APPLY reliance.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Putting an index on the JSON column did nothing for us. Notice that with/without the index, neither query had an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44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Parents are a one-to-many relationship, I will build a one-to-many relationship table.</a:t>
            </a:r>
          </a:p>
          <a:p>
            <a:r>
              <a:rPr lang="en-US" dirty="0"/>
              <a:t>I will then build a trigger to monitor the incoming JSON and rebuild this </a:t>
            </a:r>
            <a:r>
              <a:rPr lang="en-US" dirty="0" err="1"/>
              <a:t>Persons_x_Parents</a:t>
            </a:r>
            <a:r>
              <a:rPr lang="en-US" dirty="0"/>
              <a:t> table data for the affected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445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 add data to the </a:t>
            </a:r>
            <a:r>
              <a:rPr lang="en-US" dirty="0" err="1"/>
              <a:t>dbo.Persons</a:t>
            </a:r>
            <a:r>
              <a:rPr lang="en-US" dirty="0"/>
              <a:t> table, the JSON is parsed and sent to the </a:t>
            </a:r>
            <a:r>
              <a:rPr lang="en-US" dirty="0" err="1"/>
              <a:t>dbo.Persons_x_Parents</a:t>
            </a:r>
            <a:r>
              <a:rPr lang="en-US" dirty="0"/>
              <a:t>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4308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 update a JSON property, notice the rows in </a:t>
            </a:r>
            <a:r>
              <a:rPr lang="en-US" dirty="0" err="1"/>
              <a:t>dbo.Persons_x_Parents</a:t>
            </a:r>
            <a:r>
              <a:rPr lang="en-US" dirty="0"/>
              <a:t> were re-written.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7442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trigger was written that way. An update is a combination of rows in inserted and deleted.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3285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fix the trigger to account for inserts, updates, and deletes. We can detect the modification type based on data (or lack of data) in the tables inserted and deleted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9481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segmenting </a:t>
            </a:r>
            <a:r>
              <a:rPr lang="en-US" dirty="0" err="1"/>
              <a:t>ModTypes</a:t>
            </a:r>
            <a:r>
              <a:rPr lang="en-US" dirty="0"/>
              <a:t>, I can prevent data from being simultaneously inserted and deleted.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1745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use a TSQL MERGE statement to prevent both an INSERT and UPDATE from simultaneously happening.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01814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6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79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6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6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6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8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86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2.png"/><Relationship Id="rId4" Type="http://schemas.openxmlformats.org/officeDocument/2006/relationships/image" Target="../media/image97.png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1473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FBE6F42-CBBA-9B00-8E31-2D1476ADC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3B86B-BAA3-F2B0-BC92-7EF43B579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1903228"/>
            <a:ext cx="3067826" cy="457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07C7B6-4ED5-5794-2ECD-DB3C8133D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330894"/>
            <a:ext cx="3067826" cy="231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7CB3C9-FD08-9250-047E-D882A6B8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562448"/>
            <a:ext cx="3067826" cy="231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E02F2AE-3BD6-A768-3990-567B09A3FA0B}"/>
              </a:ext>
            </a:extLst>
          </p:cNvPr>
          <p:cNvGrpSpPr/>
          <p:nvPr/>
        </p:nvGrpSpPr>
        <p:grpSpPr>
          <a:xfrm>
            <a:off x="1907713" y="1646202"/>
            <a:ext cx="3706278" cy="1660524"/>
            <a:chOff x="1897080" y="1646202"/>
            <a:chExt cx="3706278" cy="166052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DD4519-9BAD-1B0A-5146-46514ACCF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35532" y="2788094"/>
              <a:ext cx="3067826" cy="518632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AF9D22C-687E-1053-C876-2DB1BD70E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97080" y="1646202"/>
              <a:ext cx="419100" cy="1390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48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522D4-D48E-1667-FF3A-2DC12A13E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0624E7-FC4F-1642-72D6-8B9B2C220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47750"/>
            <a:ext cx="443865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9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04AD8D-5098-CD00-29B4-4498D752E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541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518" y="3149943"/>
            <a:ext cx="8239125" cy="32766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9082218" y="2224216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8" y="2393942"/>
            <a:ext cx="2718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26280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2" y="5851632"/>
            <a:ext cx="567175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lowercase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naming convention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scalar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E68EB-6822-F844-989C-F1BAEE704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816048" y="1011220"/>
            <a:ext cx="568044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5018150"/>
            <a:ext cx="3163253" cy="8949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2815971"/>
            <a:ext cx="3140242" cy="89496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996329"/>
            <a:ext cx="3140242" cy="89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58646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name, unless the JSON originally starts with square brackets. In this case, property name is disallowed.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JSON objects signify only one, unless part of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70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36492"/>
            <a:ext cx="1687285" cy="672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966111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value of a key/value pair.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'$."feature-flag"'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...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63B48-5628-4BB1-9E16-5B6049E78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8750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237328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413347"/>
              </p:ext>
            </p:extLst>
          </p:nvPr>
        </p:nvGraphicFramePr>
        <p:xfrm>
          <a:off x="5874951" y="3617733"/>
          <a:ext cx="50925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5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“$”,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B1E8C-C131-33A9-E764-55DC0B289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</a:p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18552" y="4024464"/>
            <a:ext cx="273522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59268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64845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t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616702"/>
            <a:ext cx="6350325" cy="6629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CBD7A4-909B-5BB0-9B5B-0A851E8C8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063" y="5265992"/>
            <a:ext cx="6700490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768096" y="227986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Contestants</a:t>
            </a: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AlsoEligible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632448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206" y="4990737"/>
            <a:ext cx="1660354" cy="57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What’s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</a:t>
            </a:r>
          </a:p>
        </p:txBody>
      </p:sp>
    </p:spTree>
    <p:extLst>
      <p:ext uri="{BB962C8B-B14F-4D97-AF65-F5344CB8AC3E}">
        <p14:creationId xmlns:p14="http://schemas.microsoft.com/office/powerpoint/2010/main" val="58840294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06A0B58-6B07-0487-8B5D-2A6F57F1B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437" y="634138"/>
            <a:ext cx="9923126" cy="558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050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F8769F6-BEC9-DA7E-3AC8-6B5928E616E9}"/>
              </a:ext>
            </a:extLst>
          </p:cNvPr>
          <p:cNvSpPr txBox="1"/>
          <p:nvPr/>
        </p:nvSpPr>
        <p:spPr>
          <a:xfrm>
            <a:off x="1180682" y="718857"/>
            <a:ext cx="74005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'%"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Foushee"%'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01BA9B-AB9E-ADB6-A7CA-497C77D4E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681" y="3587496"/>
            <a:ext cx="4601712" cy="27101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8E5231-90BD-052A-1BC7-AB88A7076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609" y="3587496"/>
            <a:ext cx="4714753" cy="264346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C65144A-425B-25E2-3E06-63204957467D}"/>
              </a:ext>
            </a:extLst>
          </p:cNvPr>
          <p:cNvSpPr txBox="1"/>
          <p:nvPr/>
        </p:nvSpPr>
        <p:spPr>
          <a:xfrm>
            <a:off x="6253967" y="3004079"/>
            <a:ext cx="489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(Without </a:t>
            </a:r>
            <a:r>
              <a:rPr lang="en-US" dirty="0" err="1">
                <a:highlight>
                  <a:srgbClr val="FFFF00"/>
                </a:highlight>
              </a:rPr>
              <a:t>nonclustered</a:t>
            </a:r>
            <a:r>
              <a:rPr lang="en-US" dirty="0">
                <a:highlight>
                  <a:srgbClr val="FFFF00"/>
                </a:highlight>
              </a:rPr>
              <a:t> index on </a:t>
            </a:r>
            <a:r>
              <a:rPr lang="en-US" dirty="0" err="1">
                <a:highlight>
                  <a:srgbClr val="FFFF00"/>
                </a:highlight>
              </a:rPr>
              <a:t>JsonData</a:t>
            </a:r>
            <a:r>
              <a:rPr lang="en-US" dirty="0">
                <a:highlight>
                  <a:srgbClr val="FFFF00"/>
                </a:highlight>
              </a:rPr>
              <a:t> column)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EDEF2-F371-A8CF-52D4-4DFC7CCB81D8}"/>
              </a:ext>
            </a:extLst>
          </p:cNvPr>
          <p:cNvSpPr txBox="1"/>
          <p:nvPr/>
        </p:nvSpPr>
        <p:spPr>
          <a:xfrm>
            <a:off x="1067640" y="3000566"/>
            <a:ext cx="4714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(With explicit index on </a:t>
            </a:r>
            <a:r>
              <a:rPr lang="en-US" dirty="0" err="1">
                <a:highlight>
                  <a:srgbClr val="FFFF00"/>
                </a:highlight>
              </a:rPr>
              <a:t>JsonData</a:t>
            </a:r>
            <a:r>
              <a:rPr lang="en-US" dirty="0">
                <a:highlight>
                  <a:srgbClr val="FFFF00"/>
                </a:highlight>
              </a:rPr>
              <a:t> column)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AD64E0-5311-786B-2449-AB1ABF15935A}"/>
              </a:ext>
            </a:extLst>
          </p:cNvPr>
          <p:cNvGrpSpPr/>
          <p:nvPr/>
        </p:nvGrpSpPr>
        <p:grpSpPr>
          <a:xfrm>
            <a:off x="2879124" y="4440193"/>
            <a:ext cx="6456977" cy="1462299"/>
            <a:chOff x="2879124" y="4440193"/>
            <a:chExt cx="6456977" cy="146229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BADA0C3-4390-254D-5F75-7FD4196754C5}"/>
                </a:ext>
              </a:extLst>
            </p:cNvPr>
            <p:cNvSpPr/>
            <p:nvPr/>
          </p:nvSpPr>
          <p:spPr>
            <a:xfrm>
              <a:off x="2879124" y="5688308"/>
              <a:ext cx="852617" cy="197709"/>
            </a:xfrm>
            <a:prstGeom prst="rect">
              <a:avLst/>
            </a:prstGeom>
            <a:noFill/>
            <a:ln w="603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800CBD-EE0E-E260-929E-188009523E35}"/>
                </a:ext>
              </a:extLst>
            </p:cNvPr>
            <p:cNvSpPr/>
            <p:nvPr/>
          </p:nvSpPr>
          <p:spPr>
            <a:xfrm>
              <a:off x="2879124" y="4440193"/>
              <a:ext cx="852617" cy="197709"/>
            </a:xfrm>
            <a:prstGeom prst="rect">
              <a:avLst/>
            </a:prstGeom>
            <a:noFill/>
            <a:ln w="603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0AD95B4-D5EB-D234-4D74-E846EA2A8190}"/>
                </a:ext>
              </a:extLst>
            </p:cNvPr>
            <p:cNvSpPr/>
            <p:nvPr/>
          </p:nvSpPr>
          <p:spPr>
            <a:xfrm>
              <a:off x="8483484" y="4469025"/>
              <a:ext cx="852617" cy="197709"/>
            </a:xfrm>
            <a:prstGeom prst="rect">
              <a:avLst/>
            </a:prstGeom>
            <a:noFill/>
            <a:ln w="603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938C66-AC6D-C502-F110-FA20D8318B6F}"/>
                </a:ext>
              </a:extLst>
            </p:cNvPr>
            <p:cNvSpPr/>
            <p:nvPr/>
          </p:nvSpPr>
          <p:spPr>
            <a:xfrm>
              <a:off x="8483484" y="5704783"/>
              <a:ext cx="852617" cy="197709"/>
            </a:xfrm>
            <a:prstGeom prst="rect">
              <a:avLst/>
            </a:prstGeom>
            <a:noFill/>
            <a:ln w="603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2AF89-D32D-D203-9EF8-AC7BE1F15490}"/>
              </a:ext>
            </a:extLst>
          </p:cNvPr>
          <p:cNvGrpSpPr/>
          <p:nvPr/>
        </p:nvGrpSpPr>
        <p:grpSpPr>
          <a:xfrm>
            <a:off x="5275765" y="3805881"/>
            <a:ext cx="5836240" cy="1546560"/>
            <a:chOff x="5275765" y="3805881"/>
            <a:chExt cx="5836240" cy="15465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FC8576B-E50D-7123-3A5C-AD3AA26D05C6}"/>
                </a:ext>
              </a:extLst>
            </p:cNvPr>
            <p:cNvSpPr/>
            <p:nvPr/>
          </p:nvSpPr>
          <p:spPr>
            <a:xfrm>
              <a:off x="5288692" y="3805881"/>
              <a:ext cx="493701" cy="284205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7977F21-D856-4571-BB71-776F466FF06C}"/>
                </a:ext>
              </a:extLst>
            </p:cNvPr>
            <p:cNvSpPr/>
            <p:nvPr/>
          </p:nvSpPr>
          <p:spPr>
            <a:xfrm>
              <a:off x="5275765" y="5068236"/>
              <a:ext cx="493701" cy="284205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6A2C6D-F887-DD31-6612-80EA9F56F0F0}"/>
                </a:ext>
              </a:extLst>
            </p:cNvPr>
            <p:cNvSpPr/>
            <p:nvPr/>
          </p:nvSpPr>
          <p:spPr>
            <a:xfrm>
              <a:off x="10618304" y="3830595"/>
              <a:ext cx="493701" cy="284205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CABE5D8-5883-F4F2-1D3F-1BC5ED1BFC56}"/>
                </a:ext>
              </a:extLst>
            </p:cNvPr>
            <p:cNvSpPr/>
            <p:nvPr/>
          </p:nvSpPr>
          <p:spPr>
            <a:xfrm>
              <a:off x="10618304" y="5043135"/>
              <a:ext cx="493701" cy="284205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279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</a:t>
            </a:r>
          </a:p>
        </p:txBody>
      </p:sp>
    </p:spTree>
    <p:extLst>
      <p:ext uri="{BB962C8B-B14F-4D97-AF65-F5344CB8AC3E}">
        <p14:creationId xmlns:p14="http://schemas.microsoft.com/office/powerpoint/2010/main" val="23766469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0463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E8F2-198D-75DC-F552-AD672475D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8318AE-62A0-09AB-C7EC-04092F279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69" y="1565872"/>
            <a:ext cx="4981575" cy="23812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4ACB5-50F2-41F2-2E63-AD45055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4A33-1691-2B04-DE8C-C5390B3BCAC3}"/>
              </a:ext>
            </a:extLst>
          </p:cNvPr>
          <p:cNvSpPr txBox="1"/>
          <p:nvPr/>
        </p:nvSpPr>
        <p:spPr>
          <a:xfrm>
            <a:off x="3247248" y="5035877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B89996-376D-0C4F-8BD3-50ACE272D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248" y="5978525"/>
            <a:ext cx="5734050" cy="5143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C5FF805-00BA-32F3-5AC9-E877A5093165}"/>
              </a:ext>
            </a:extLst>
          </p:cNvPr>
          <p:cNvSpPr/>
          <p:nvPr/>
        </p:nvSpPr>
        <p:spPr>
          <a:xfrm>
            <a:off x="3411710" y="3338358"/>
            <a:ext cx="2343320" cy="441960"/>
          </a:xfrm>
          <a:prstGeom prst="rect">
            <a:avLst/>
          </a:prstGeom>
          <a:noFill/>
          <a:ln w="444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07DEF1-CC2A-D8A4-FB3A-9164778730D5}"/>
              </a:ext>
            </a:extLst>
          </p:cNvPr>
          <p:cNvSpPr txBox="1"/>
          <p:nvPr/>
        </p:nvSpPr>
        <p:spPr>
          <a:xfrm>
            <a:off x="952929" y="4003672"/>
            <a:ext cx="4242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3EAAC-2A19-F0DD-9A1F-0CEF3B09FB4D}"/>
              </a:ext>
            </a:extLst>
          </p:cNvPr>
          <p:cNvSpPr txBox="1"/>
          <p:nvPr/>
        </p:nvSpPr>
        <p:spPr>
          <a:xfrm>
            <a:off x="952929" y="4333657"/>
            <a:ext cx="2383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 </a:t>
            </a:r>
            <a:r>
              <a:rPr lang="en-US" sz="1800" dirty="0">
                <a:latin typeface="Consolas" panose="020B0609020204030204" pitchFamily="49" charset="0"/>
              </a:rPr>
              <a:t>= False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80E02A-011C-A7CD-D16E-A6A4ED750C94}"/>
              </a:ext>
            </a:extLst>
          </p:cNvPr>
          <p:cNvSpPr/>
          <p:nvPr/>
        </p:nvSpPr>
        <p:spPr>
          <a:xfrm>
            <a:off x="7857461" y="5978525"/>
            <a:ext cx="1210340" cy="514350"/>
          </a:xfrm>
          <a:prstGeom prst="rect">
            <a:avLst/>
          </a:prstGeom>
          <a:noFill/>
          <a:ln w="539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560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14A5AE-1B2A-6E55-228B-B065B342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884" y="618852"/>
            <a:ext cx="9286232" cy="562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881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4B1BAE-332C-3A53-BF5F-4444F152836B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5EC11A9-55C5-106D-3C9E-3BF52C3B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Now it’s a Seek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F4BD62-49F7-631E-7AD4-21052E54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5" y="2917397"/>
            <a:ext cx="7924830" cy="347662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B7321C-5715-2674-C4A6-BEA259C85968}"/>
              </a:ext>
            </a:extLst>
          </p:cNvPr>
          <p:cNvSpPr/>
          <p:nvPr/>
        </p:nvSpPr>
        <p:spPr>
          <a:xfrm>
            <a:off x="6870357" y="3323968"/>
            <a:ext cx="2631989" cy="8896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351EC-40FE-EDA3-2E75-3ECA7ED01014}"/>
              </a:ext>
            </a:extLst>
          </p:cNvPr>
          <p:cNvSpPr txBox="1"/>
          <p:nvPr/>
        </p:nvSpPr>
        <p:spPr>
          <a:xfrm>
            <a:off x="2421923" y="2226873"/>
            <a:ext cx="683328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[name]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7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837AB2-43D0-2D11-205D-8F06EDD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7"/>
            <a:ext cx="7751820" cy="3508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20C4F1-8DD7-F9FA-4E4D-2D499D016014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'%Foushee'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104EB2-98FA-5F39-1387-E37CAD3AFE48}"/>
              </a:ext>
            </a:extLst>
          </p:cNvPr>
          <p:cNvSpPr/>
          <p:nvPr/>
        </p:nvSpPr>
        <p:spPr>
          <a:xfrm>
            <a:off x="6993924" y="3367216"/>
            <a:ext cx="2631989" cy="8896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44531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E015-E68F-2C38-7EA6-FF5F1780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6740F3-30C3-AB37-6B6D-C330D787E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59186"/>
            <a:ext cx="5372100" cy="2657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6B9977-5D80-F6B4-271F-EC2F3557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352FD-E253-E572-B5B6-D743D45F15D9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61823F-9636-9362-D007-EBD6FC683F74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349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27698A-AE3C-F2BF-B06D-B8C5C518844D}"/>
              </a:ext>
            </a:extLst>
          </p:cNvPr>
          <p:cNvSpPr txBox="1"/>
          <p:nvPr/>
        </p:nvSpPr>
        <p:spPr>
          <a:xfrm>
            <a:off x="6400800" y="1939581"/>
            <a:ext cx="567778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994E4E-338A-E0D9-3B3E-A5BC9F79F03C}"/>
              </a:ext>
            </a:extLst>
          </p:cNvPr>
          <p:cNvCxnSpPr>
            <a:cxnSpLocks/>
          </p:cNvCxnSpPr>
          <p:nvPr/>
        </p:nvCxnSpPr>
        <p:spPr>
          <a:xfrm flipV="1">
            <a:off x="5827014" y="2713693"/>
            <a:ext cx="927354" cy="107286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4CF864-CA1E-8609-F832-98F9CCC4E48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6F8C6C-F530-615B-9963-1F9AAC87D547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3136200" y="4416661"/>
            <a:ext cx="388050" cy="2039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54218-49ED-A89F-E32B-6E57B84CF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FC178A1-8E7C-D570-CE87-4EF41684FA1B}"/>
              </a:ext>
            </a:extLst>
          </p:cNvPr>
          <p:cNvCxnSpPr>
            <a:cxnSpLocks/>
          </p:cNvCxnSpPr>
          <p:nvPr/>
        </p:nvCxnSpPr>
        <p:spPr>
          <a:xfrm>
            <a:off x="6266688" y="3938956"/>
            <a:ext cx="3693414" cy="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7DEBA7-DA86-6641-E1E2-1CCEB8360CA1}"/>
              </a:ext>
            </a:extLst>
          </p:cNvPr>
          <p:cNvCxnSpPr>
            <a:cxnSpLocks/>
          </p:cNvCxnSpPr>
          <p:nvPr/>
        </p:nvCxnSpPr>
        <p:spPr>
          <a:xfrm flipH="1" flipV="1">
            <a:off x="9960102" y="3938956"/>
            <a:ext cx="402336" cy="15371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8D7C42A-BF06-FE48-4AEB-20F9492FAA96}"/>
              </a:ext>
            </a:extLst>
          </p:cNvPr>
          <p:cNvSpPr/>
          <p:nvPr/>
        </p:nvSpPr>
        <p:spPr>
          <a:xfrm>
            <a:off x="10143460" y="5476112"/>
            <a:ext cx="1210340" cy="525399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0309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0DD77E-1A90-FA6B-6109-5312758B9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332" y="696408"/>
            <a:ext cx="9471335" cy="5465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413619-35BC-3258-9EDB-A91DF1D1B4FD}"/>
              </a:ext>
            </a:extLst>
          </p:cNvPr>
          <p:cNvSpPr/>
          <p:nvPr/>
        </p:nvSpPr>
        <p:spPr>
          <a:xfrm>
            <a:off x="5961888" y="3791712"/>
            <a:ext cx="1426464" cy="5608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BC7E6-5B07-1429-6130-E25EA6BE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1AE2979-5CC4-E11D-7730-07920CB2F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47F63-F3BF-F80B-6254-3C995D73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E9310-3CE6-B1E9-3603-EBBCCE736AA5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C8F4A4-C0A5-B198-BD06-89AF887F1B08}"/>
              </a:ext>
            </a:extLst>
          </p:cNvPr>
          <p:cNvSpPr txBox="1"/>
          <p:nvPr/>
        </p:nvSpPr>
        <p:spPr>
          <a:xfrm>
            <a:off x="6412230" y="1939581"/>
            <a:ext cx="559689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),</a:t>
            </a:r>
            <a:endParaRPr lang="en-US" sz="14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9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)</a:t>
            </a:r>
          </a:p>
          <a:p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B9E91B-C014-2374-E5A4-00E3EEB63E0A}"/>
              </a:ext>
            </a:extLst>
          </p:cNvPr>
          <p:cNvCxnSpPr>
            <a:cxnSpLocks/>
          </p:cNvCxnSpPr>
          <p:nvPr/>
        </p:nvCxnSpPr>
        <p:spPr>
          <a:xfrm flipV="1">
            <a:off x="5827014" y="2424223"/>
            <a:ext cx="701377" cy="136233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8DDBC3D-D574-694E-0793-A75F0006A60B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3CD814-0E6C-7FA5-6224-973DC3FFA14A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03889D-5931-8F42-7C78-37D47190084E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AA531B-5946-8D86-82BB-2D285DA39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054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351690-2C27-CA27-2DA9-FD59F47AA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33" y="702410"/>
            <a:ext cx="9450133" cy="54531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5685047-492D-210C-E557-3741F889FB32}"/>
              </a:ext>
            </a:extLst>
          </p:cNvPr>
          <p:cNvSpPr/>
          <p:nvPr/>
        </p:nvSpPr>
        <p:spPr>
          <a:xfrm>
            <a:off x="5961888" y="3791712"/>
            <a:ext cx="1304544" cy="56083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36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6FC5BB4-2F8C-D054-3359-0E08644E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8"/>
            <a:ext cx="7690036" cy="3466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DA339E-22AC-830F-9EAB-8B8047E3E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it’s a Seek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FCED0-4A75-9269-F55B-32E17B8EEE97}"/>
              </a:ext>
            </a:extLst>
          </p:cNvPr>
          <p:cNvSpPr txBox="1"/>
          <p:nvPr/>
        </p:nvSpPr>
        <p:spPr>
          <a:xfrm>
            <a:off x="1665073" y="1663787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'Foushee'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FC0D71-359A-961C-26A1-99C268831997}"/>
              </a:ext>
            </a:extLst>
          </p:cNvPr>
          <p:cNvSpPr/>
          <p:nvPr/>
        </p:nvSpPr>
        <p:spPr>
          <a:xfrm>
            <a:off x="6904412" y="3362329"/>
            <a:ext cx="2894496" cy="92333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171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72769556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multi-value)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0639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222457" y="181957"/>
            <a:ext cx="677396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INSERT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B3F6F-989F-2C7D-0375-FA99EE629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7B38BCD-D169-EE07-FEAA-A8652893C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C3A6450-E74F-2AB1-2343-31B1FEC05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99BCE7D-C943-05E9-81C3-DB0513E431E3}"/>
              </a:ext>
            </a:extLst>
          </p:cNvPr>
          <p:cNvGrpSpPr/>
          <p:nvPr/>
        </p:nvGrpSpPr>
        <p:grpSpPr>
          <a:xfrm>
            <a:off x="3551274" y="1280160"/>
            <a:ext cx="1074975" cy="2122330"/>
            <a:chOff x="3551274" y="1828800"/>
            <a:chExt cx="1074975" cy="178095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62DE2B-BCA2-9D40-CAEF-5B387205FE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6577" y="1828800"/>
              <a:ext cx="62840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0843B33-AF54-AC5B-4389-5895CC91FD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6249" y="1828800"/>
              <a:ext cx="0" cy="16905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9B33C8-2AD6-9F46-4FF5-F7BE9A835871}"/>
                </a:ext>
              </a:extLst>
            </p:cNvPr>
            <p:cNvCxnSpPr/>
            <p:nvPr/>
          </p:nvCxnSpPr>
          <p:spPr>
            <a:xfrm>
              <a:off x="3551274" y="3519377"/>
              <a:ext cx="1053710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EF7E489-BEDF-1D05-C55B-372582E2B2D8}"/>
                </a:ext>
              </a:extLst>
            </p:cNvPr>
            <p:cNvCxnSpPr>
              <a:cxnSpLocks/>
            </p:cNvCxnSpPr>
            <p:nvPr/>
          </p:nvCxnSpPr>
          <p:spPr>
            <a:xfrm>
              <a:off x="3551274" y="3429000"/>
              <a:ext cx="425303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7FDA5AD-49D6-D08A-6D44-32B5F441E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51274" y="3519377"/>
              <a:ext cx="400211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337F77F-B42F-7996-E56E-4ED3194A4DB7}"/>
              </a:ext>
            </a:extLst>
          </p:cNvPr>
          <p:cNvGrpSpPr/>
          <p:nvPr/>
        </p:nvGrpSpPr>
        <p:grpSpPr>
          <a:xfrm>
            <a:off x="8835081" y="1175927"/>
            <a:ext cx="2998987" cy="2645015"/>
            <a:chOff x="8609439" y="1302758"/>
            <a:chExt cx="2965137" cy="2362059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F2F0F4-5C83-300E-CFC0-18672380EB85}"/>
                </a:ext>
              </a:extLst>
            </p:cNvPr>
            <p:cNvSpPr txBox="1"/>
            <p:nvPr/>
          </p:nvSpPr>
          <p:spPr>
            <a:xfrm>
              <a:off x="10007904" y="1302758"/>
              <a:ext cx="1566672" cy="3693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“Magic tables”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717274-1B99-92BC-3811-1A51243D660D}"/>
                </a:ext>
              </a:extLst>
            </p:cNvPr>
            <p:cNvCxnSpPr>
              <a:cxnSpLocks/>
            </p:cNvCxnSpPr>
            <p:nvPr/>
          </p:nvCxnSpPr>
          <p:spPr>
            <a:xfrm>
              <a:off x="10911840" y="1685075"/>
              <a:ext cx="0" cy="1709278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321A946-3443-7C57-7653-4202D4984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3396069"/>
              <a:ext cx="230240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E12E2DA-73DB-5409-E1AA-3EFDEE93B2AF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3394353"/>
              <a:ext cx="0" cy="2704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A8AF246-2CF4-724F-6A18-EB16C0E1A7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1487424"/>
              <a:ext cx="139846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DD000E-6FF0-14F4-8AEF-668C9FBA0C35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1487424"/>
              <a:ext cx="0" cy="26509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997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48007" y="1100876"/>
            <a:ext cx="77541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76518F-864F-DD5B-EF50-72EB50D87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07" y="4121220"/>
            <a:ext cx="9940584" cy="685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057E9-177A-79DB-DDFC-4B54CEAC9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650" y="5289433"/>
            <a:ext cx="3290361" cy="9384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9B9F1C-4D9A-AF33-C176-0D4EE14A73CE}"/>
              </a:ext>
            </a:extLst>
          </p:cNvPr>
          <p:cNvSpPr txBox="1"/>
          <p:nvPr/>
        </p:nvSpPr>
        <p:spPr>
          <a:xfrm>
            <a:off x="888693" y="3904616"/>
            <a:ext cx="1195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dbo.Persons</a:t>
            </a:r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64B928-D684-1F08-DF14-F26C3C20B654}"/>
              </a:ext>
            </a:extLst>
          </p:cNvPr>
          <p:cNvSpPr txBox="1"/>
          <p:nvPr/>
        </p:nvSpPr>
        <p:spPr>
          <a:xfrm>
            <a:off x="888693" y="5023382"/>
            <a:ext cx="2014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dbo.</a:t>
            </a:r>
            <a:r>
              <a:rPr lang="en-US" sz="1400" b="1" dirty="0" err="1">
                <a:solidFill>
                  <a:srgbClr val="000000"/>
                </a:solidFill>
              </a:rPr>
              <a:t>Persons_x_Parents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8916219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23293" y="642185"/>
            <a:ext cx="959230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[Persons]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'true'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D9A9EF0-12A7-49AB-7EBA-78B0AC8909A9}"/>
              </a:ext>
            </a:extLst>
          </p:cNvPr>
          <p:cNvGrpSpPr/>
          <p:nvPr/>
        </p:nvGrpSpPr>
        <p:grpSpPr>
          <a:xfrm>
            <a:off x="923293" y="4121073"/>
            <a:ext cx="9963010" cy="673655"/>
            <a:chOff x="923293" y="4121073"/>
            <a:chExt cx="9963010" cy="67365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CD5D611-81AF-93B5-C268-C69D13A8F4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293" y="4121073"/>
              <a:ext cx="9963010" cy="67365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014D059-D7FF-33AD-7736-AF224A03CAF8}"/>
                </a:ext>
              </a:extLst>
            </p:cNvPr>
            <p:cNvSpPr/>
            <p:nvPr/>
          </p:nvSpPr>
          <p:spPr>
            <a:xfrm>
              <a:off x="9026862" y="4428708"/>
              <a:ext cx="1612305" cy="34128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4A3271E-F45B-EA6E-C09A-9416519F8F17}"/>
              </a:ext>
            </a:extLst>
          </p:cNvPr>
          <p:cNvSpPr txBox="1"/>
          <p:nvPr/>
        </p:nvSpPr>
        <p:spPr>
          <a:xfrm>
            <a:off x="888693" y="3904616"/>
            <a:ext cx="1195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dbo.Persons</a:t>
            </a:r>
            <a:endParaRPr lang="en-US" sz="14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23A1367-A124-125F-A317-D7B9F9D14B6C}"/>
              </a:ext>
            </a:extLst>
          </p:cNvPr>
          <p:cNvGrpSpPr/>
          <p:nvPr/>
        </p:nvGrpSpPr>
        <p:grpSpPr>
          <a:xfrm>
            <a:off x="888693" y="5023382"/>
            <a:ext cx="3337318" cy="1206673"/>
            <a:chOff x="888693" y="5023382"/>
            <a:chExt cx="3337318" cy="120667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5681BAE-AF3F-C7A5-4A62-27C399966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35650" y="5289433"/>
              <a:ext cx="3290361" cy="938488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7EFFD4-91F3-588B-F222-9A0B2E7BCEBB}"/>
                </a:ext>
              </a:extLst>
            </p:cNvPr>
            <p:cNvSpPr/>
            <p:nvPr/>
          </p:nvSpPr>
          <p:spPr>
            <a:xfrm>
              <a:off x="1473908" y="5306445"/>
              <a:ext cx="1118794" cy="9236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C47714-837F-7435-CE47-97ACED837F88}"/>
                </a:ext>
              </a:extLst>
            </p:cNvPr>
            <p:cNvSpPr txBox="1"/>
            <p:nvPr/>
          </p:nvSpPr>
          <p:spPr>
            <a:xfrm>
              <a:off x="888693" y="5023382"/>
              <a:ext cx="20141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 err="1"/>
                <a:t>dbo.</a:t>
              </a:r>
              <a:r>
                <a:rPr lang="en-US" sz="1400" b="1" dirty="0" err="1">
                  <a:solidFill>
                    <a:srgbClr val="000000"/>
                  </a:solidFill>
                </a:rPr>
                <a:t>Persons_x_Parents</a:t>
              </a:r>
              <a:endParaRPr lang="en-US" sz="1400" b="1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B535A6A-4E58-38BD-76EF-B42DA7309999}"/>
              </a:ext>
            </a:extLst>
          </p:cNvPr>
          <p:cNvSpPr txBox="1"/>
          <p:nvPr/>
        </p:nvSpPr>
        <p:spPr>
          <a:xfrm>
            <a:off x="1686959" y="5569233"/>
            <a:ext cx="7937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-&gt; 3</a:t>
            </a:r>
          </a:p>
          <a:p>
            <a:r>
              <a:rPr lang="en-US" dirty="0">
                <a:solidFill>
                  <a:srgbClr val="FF0000"/>
                </a:solidFill>
              </a:rPr>
              <a:t>-&gt; 4</a:t>
            </a:r>
          </a:p>
        </p:txBody>
      </p:sp>
    </p:spTree>
    <p:extLst>
      <p:ext uri="{BB962C8B-B14F-4D97-AF65-F5344CB8AC3E}">
        <p14:creationId xmlns:p14="http://schemas.microsoft.com/office/powerpoint/2010/main" val="129518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361AA9-50D8-4C02-7358-D547678E6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59" y="616256"/>
            <a:ext cx="3895725" cy="1600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222457" y="181957"/>
            <a:ext cx="677396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deleted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inserted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INSERT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B3F6F-989F-2C7D-0375-FA99EE629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7B38BCD-D169-EE07-FEAA-A8652893C9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7567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62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92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INTO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60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448EC5-3FF3-B03B-7C61-D8B415323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0" y="618482"/>
            <a:ext cx="3924300" cy="1666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9D1F2-66F5-D354-17BB-178997EB5E65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Persons_x_Parents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pxp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FE60E9-A163-D9F2-6485-A07C2F12F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A12D52F-1D11-E6B3-F45B-1CABAF7CC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24" y="447193"/>
            <a:ext cx="6822433" cy="42360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D6307-8B85-6A4F-9F5D-FC8EB36D5456}"/>
              </a:ext>
            </a:extLst>
          </p:cNvPr>
          <p:cNvSpPr/>
          <p:nvPr/>
        </p:nvSpPr>
        <p:spPr>
          <a:xfrm>
            <a:off x="1136822" y="3163330"/>
            <a:ext cx="3089189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D9BE9E-E82F-1AB8-AD00-6107425CDF60}"/>
              </a:ext>
            </a:extLst>
          </p:cNvPr>
          <p:cNvCxnSpPr>
            <a:stCxn id="6" idx="3"/>
          </p:cNvCxnSpPr>
          <p:nvPr/>
        </p:nvCxnSpPr>
        <p:spPr>
          <a:xfrm flipV="1">
            <a:off x="4226011" y="3429000"/>
            <a:ext cx="2100648" cy="39047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238746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1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2993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041025D-F4AB-AB6B-4436-C5BE3122140C}"/>
              </a:ext>
            </a:extLst>
          </p:cNvPr>
          <p:cNvSpPr txBox="1"/>
          <p:nvPr/>
        </p:nvSpPr>
        <p:spPr>
          <a:xfrm>
            <a:off x="5468254" y="0"/>
            <a:ext cx="6288609" cy="6917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StudentName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45F16D-1E5C-67DE-772F-83593069F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48" y="632129"/>
            <a:ext cx="3637695" cy="10312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525F5F-14D0-73C3-3DF8-3E11C8181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656842"/>
            <a:ext cx="3674586" cy="16011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94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E9E274-7E68-131B-0983-332CDF1D6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656842"/>
            <a:ext cx="3676650" cy="15049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56F0E2-8C01-46C8-53DB-63292A50BB11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‘Jeff Foushee'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81206F-3D8D-A9B9-3A8B-B3D939D1ED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7AF29A-D3F3-5EE1-F1E3-B677C8DA4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630" y="656842"/>
            <a:ext cx="6821339" cy="41128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34CED0-A07B-A033-1B44-A065957FD40B}"/>
              </a:ext>
            </a:extLst>
          </p:cNvPr>
          <p:cNvSpPr/>
          <p:nvPr/>
        </p:nvSpPr>
        <p:spPr>
          <a:xfrm>
            <a:off x="1136822" y="3163330"/>
            <a:ext cx="3459397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9A4F3C-F25C-5FEC-3706-73FBC2EC50E0}"/>
              </a:ext>
            </a:extLst>
          </p:cNvPr>
          <p:cNvCxnSpPr>
            <a:cxnSpLocks/>
          </p:cNvCxnSpPr>
          <p:nvPr/>
        </p:nvCxnSpPr>
        <p:spPr>
          <a:xfrm>
            <a:off x="4596219" y="3429000"/>
            <a:ext cx="1891078" cy="105032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23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multi-value)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4018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49C2D77-E0F5-C1B0-FD4C-B7FD5E0B0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2422872"/>
            <a:ext cx="3986134" cy="1734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31C3EA5-F6CA-BFC9-BE8A-F72342E7B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80" y="2419824"/>
            <a:ext cx="4011076" cy="16183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84CF2B-99DB-F7B0-3616-C2664EACDD47}"/>
              </a:ext>
            </a:extLst>
          </p:cNvPr>
          <p:cNvSpPr txBox="1"/>
          <p:nvPr/>
        </p:nvSpPr>
        <p:spPr>
          <a:xfrm>
            <a:off x="5319970" y="49428"/>
            <a:ext cx="6517800" cy="667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# Determine if (U)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pdate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(I)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nsert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or (D)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elete</a:t>
            </a:r>
            <a:endParaRPr lang="en-US" sz="105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Skipped for brevity; see previous slides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WHEN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[$.name],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084C5F-D936-6569-16A4-C53F7F770302}"/>
              </a:ext>
            </a:extLst>
          </p:cNvPr>
          <p:cNvSpPr/>
          <p:nvPr/>
        </p:nvSpPr>
        <p:spPr>
          <a:xfrm>
            <a:off x="1182624" y="1706880"/>
            <a:ext cx="1377696" cy="2682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16C689D-8492-B695-2FCC-CB1C57C26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80" y="2413223"/>
            <a:ext cx="4011368" cy="1514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A113AF-EA7F-4212-9A23-1E0D9D6B2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55" y="3903052"/>
            <a:ext cx="2749281" cy="5981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1791C-79CE-D346-FCBC-D2A6BDD5918C}"/>
              </a:ext>
            </a:extLst>
          </p:cNvPr>
          <p:cNvSpPr txBox="1"/>
          <p:nvPr/>
        </p:nvSpPr>
        <p:spPr>
          <a:xfrm>
            <a:off x="5313405" y="58846"/>
            <a:ext cx="6372296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# Determine if (U)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pdate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(I)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nsert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or (D)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elete</a:t>
            </a:r>
            <a:endParaRPr lang="en-US" sz="11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Skipped for brevity; see previous slides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79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CEBA2-C0D4-FC29-7D50-FEF066BC0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9" y="2404739"/>
            <a:ext cx="3897919" cy="20066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605373-992B-7DD6-8A23-6CEAD1D84599}"/>
              </a:ext>
            </a:extLst>
          </p:cNvPr>
          <p:cNvSpPr txBox="1"/>
          <p:nvPr/>
        </p:nvSpPr>
        <p:spPr>
          <a:xfrm>
            <a:off x="4989655" y="4251368"/>
            <a:ext cx="609805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83A094-1F6C-CD43-7792-B23B5043CF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696" y="335566"/>
            <a:ext cx="4943138" cy="29804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BE258B-0E3B-4FB2-7400-F4C3AFA1955F}"/>
              </a:ext>
            </a:extLst>
          </p:cNvPr>
          <p:cNvSpPr/>
          <p:nvPr/>
        </p:nvSpPr>
        <p:spPr>
          <a:xfrm>
            <a:off x="1194435" y="3138250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A32CCC-525E-027E-A0BA-BFF725398B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7151" y="1114857"/>
            <a:ext cx="4816196" cy="29835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386DBBA-E76E-B7C1-A48B-05E6D0C39AA3}"/>
              </a:ext>
            </a:extLst>
          </p:cNvPr>
          <p:cNvSpPr/>
          <p:nvPr/>
        </p:nvSpPr>
        <p:spPr>
          <a:xfrm>
            <a:off x="1194434" y="5520964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C3A03E-1834-BAB1-E9DA-5342535B75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2165" y="4439009"/>
            <a:ext cx="126682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48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83397933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038" y="1194486"/>
            <a:ext cx="5469666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44198</TotalTime>
  <Words>10108</Words>
  <Application>Microsoft Office PowerPoint</Application>
  <PresentationFormat>Widescreen</PresentationFormat>
  <Paragraphs>1698</Paragraphs>
  <Slides>103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14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Indexing JSON</vt:lpstr>
      <vt:lpstr>PowerPoint Presentation</vt:lpstr>
      <vt:lpstr>PowerPoint Presentation</vt:lpstr>
      <vt:lpstr>“Indexing” JSON</vt:lpstr>
      <vt:lpstr>“Indexing” JSON (1 object, 1 value)</vt:lpstr>
      <vt:lpstr>“Indexing” JSON (1 object, 1 value)</vt:lpstr>
      <vt:lpstr>PowerPoint Presentation</vt:lpstr>
      <vt:lpstr>Now it’s a Seek</vt:lpstr>
      <vt:lpstr>PowerPoint Presentation</vt:lpstr>
      <vt:lpstr>“Indexing” JSON (1 object, 1 value)</vt:lpstr>
      <vt:lpstr>PowerPoint Presentation</vt:lpstr>
      <vt:lpstr>“Indexing” JSON (1 object, 1 value)</vt:lpstr>
      <vt:lpstr>PowerPoint Presentation</vt:lpstr>
      <vt:lpstr>Now it’s a Seek</vt:lpstr>
      <vt:lpstr>PowerPoint Presentation</vt:lpstr>
      <vt:lpstr>“Indexing” JSON (1 object, multi-value)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“Indexing” JSON (1 array, 1 value)</vt:lpstr>
      <vt:lpstr>PowerPoint Presentation</vt:lpstr>
      <vt:lpstr>PowerPoint Presentation</vt:lpstr>
      <vt:lpstr>“Indexing” JSON (1 array, multi-value)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70</cp:revision>
  <dcterms:created xsi:type="dcterms:W3CDTF">2024-01-27T23:55:18Z</dcterms:created>
  <dcterms:modified xsi:type="dcterms:W3CDTF">2024-04-13T01:15:14Z</dcterms:modified>
</cp:coreProperties>
</file>