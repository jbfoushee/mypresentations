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6"/>
  </p:notesMasterIdLst>
  <p:sldIdLst>
    <p:sldId id="263" r:id="rId2"/>
    <p:sldId id="350" r:id="rId3"/>
    <p:sldId id="351" r:id="rId4"/>
    <p:sldId id="347" r:id="rId5"/>
    <p:sldId id="348" r:id="rId6"/>
    <p:sldId id="328" r:id="rId7"/>
    <p:sldId id="346" r:id="rId8"/>
    <p:sldId id="349" r:id="rId9"/>
    <p:sldId id="303" r:id="rId10"/>
    <p:sldId id="264" r:id="rId11"/>
    <p:sldId id="265" r:id="rId12"/>
    <p:sldId id="257" r:id="rId13"/>
    <p:sldId id="258" r:id="rId14"/>
    <p:sldId id="359" r:id="rId15"/>
    <p:sldId id="304" r:id="rId16"/>
    <p:sldId id="273" r:id="rId17"/>
    <p:sldId id="335" r:id="rId18"/>
    <p:sldId id="278" r:id="rId19"/>
    <p:sldId id="279" r:id="rId20"/>
    <p:sldId id="327" r:id="rId21"/>
    <p:sldId id="322" r:id="rId22"/>
    <p:sldId id="280" r:id="rId23"/>
    <p:sldId id="283" r:id="rId24"/>
    <p:sldId id="284" r:id="rId25"/>
    <p:sldId id="285" r:id="rId26"/>
    <p:sldId id="363" r:id="rId27"/>
    <p:sldId id="286" r:id="rId28"/>
    <p:sldId id="287" r:id="rId29"/>
    <p:sldId id="299" r:id="rId30"/>
    <p:sldId id="295" r:id="rId31"/>
    <p:sldId id="282" r:id="rId32"/>
    <p:sldId id="266" r:id="rId33"/>
    <p:sldId id="288" r:id="rId34"/>
    <p:sldId id="256" r:id="rId35"/>
    <p:sldId id="321" r:id="rId36"/>
    <p:sldId id="262" r:id="rId37"/>
    <p:sldId id="324" r:id="rId38"/>
    <p:sldId id="323" r:id="rId39"/>
    <p:sldId id="372" r:id="rId40"/>
    <p:sldId id="298" r:id="rId41"/>
    <p:sldId id="259" r:id="rId42"/>
    <p:sldId id="260" r:id="rId43"/>
    <p:sldId id="325" r:id="rId44"/>
    <p:sldId id="292" r:id="rId45"/>
    <p:sldId id="267" r:id="rId46"/>
    <p:sldId id="269" r:id="rId47"/>
    <p:sldId id="373" r:id="rId48"/>
    <p:sldId id="274" r:id="rId49"/>
    <p:sldId id="275" r:id="rId50"/>
    <p:sldId id="326" r:id="rId51"/>
    <p:sldId id="291" r:id="rId52"/>
    <p:sldId id="290" r:id="rId53"/>
    <p:sldId id="276" r:id="rId54"/>
    <p:sldId id="277" r:id="rId55"/>
    <p:sldId id="289" r:id="rId56"/>
    <p:sldId id="293" r:id="rId57"/>
    <p:sldId id="300" r:id="rId58"/>
    <p:sldId id="270" r:id="rId59"/>
    <p:sldId id="271" r:id="rId60"/>
    <p:sldId id="272" r:id="rId61"/>
    <p:sldId id="301" r:id="rId62"/>
    <p:sldId id="317" r:id="rId63"/>
    <p:sldId id="316" r:id="rId64"/>
    <p:sldId id="315" r:id="rId65"/>
    <p:sldId id="318" r:id="rId66"/>
    <p:sldId id="319" r:id="rId67"/>
    <p:sldId id="302" r:id="rId68"/>
    <p:sldId id="320" r:id="rId69"/>
    <p:sldId id="268" r:id="rId70"/>
    <p:sldId id="336" r:id="rId71"/>
    <p:sldId id="368" r:id="rId72"/>
    <p:sldId id="366" r:id="rId73"/>
    <p:sldId id="365" r:id="rId74"/>
    <p:sldId id="374" r:id="rId7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00FF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703" autoAdjust="0"/>
    <p:restoredTop sz="86815" autoAdjust="0"/>
  </p:normalViewPr>
  <p:slideViewPr>
    <p:cSldViewPr snapToGrid="0">
      <p:cViewPr varScale="1">
        <p:scale>
          <a:sx n="78" d="100"/>
          <a:sy n="78" d="100"/>
        </p:scale>
        <p:origin x="78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0C881A-D32E-42E8-9070-7EB713AA357F}" type="datetimeFigureOut">
              <a:rPr lang="en-US" smtClean="0"/>
              <a:t>4/20/2024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6B6EA1-B038-4F2A-86A0-5554CC981C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8545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manager tells me to work with Jason, an outsider, who has an import for me. </a:t>
            </a:r>
          </a:p>
          <a:p>
            <a:r>
              <a:rPr lang="en-US" dirty="0"/>
              <a:t>I ask him for details about the import and immediately start a rough-draft of normalization in my head while he explains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24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way he describes it is odd, but I have an idea how the data should be arranged. </a:t>
            </a:r>
          </a:p>
          <a:p>
            <a:r>
              <a:rPr lang="en-US" dirty="0"/>
              <a:t>Nonetheless, I ask him to send the import so I can review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6009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this…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2570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it comes to pulling JSON data in SSMS, you’re not going to be happy.</a:t>
            </a:r>
          </a:p>
          <a:p>
            <a:r>
              <a:rPr lang="en-US" dirty="0"/>
              <a:t>On the one side, you want to see all the data. </a:t>
            </a:r>
          </a:p>
          <a:p>
            <a:r>
              <a:rPr lang="en-US" dirty="0"/>
              <a:t>On the other side, you cannot conceptualize all the data on one line anyway.</a:t>
            </a:r>
          </a:p>
          <a:p>
            <a:r>
              <a:rPr lang="en-US" dirty="0"/>
              <a:t>Then you have a limit how many characters you can see.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8237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can copy this data from SSMS, and paste into Notepad.</a:t>
            </a:r>
          </a:p>
          <a:p>
            <a:r>
              <a:rPr lang="en-US" dirty="0"/>
              <a:t>But depending how it was stored, I’m not in control if I want to scroll left-to-right across I-64, or up-and-down across I-65.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6232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Notepad++ is a free tool that has a JSON plug-in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3816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allows you to “pretty-print” or indent your JSON, and the option is compress or minify your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0562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JSON tree viewer helps you navigate the indentation of the document object model, locating values and reciting the address in JSON notation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7156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 to store JSON in SQL Server. Do I use varchar or </a:t>
            </a:r>
            <a:r>
              <a:rPr lang="en-US" dirty="0" err="1"/>
              <a:t>nvarchar</a:t>
            </a:r>
            <a:r>
              <a:rPr lang="en-US" dirty="0"/>
              <a:t>?</a:t>
            </a:r>
          </a:p>
          <a:p>
            <a:r>
              <a:rPr lang="en-US" dirty="0"/>
              <a:t>If your characters cannot be represented by the ones in red, you need </a:t>
            </a:r>
            <a:r>
              <a:rPr lang="en-US" dirty="0" err="1"/>
              <a:t>nvarchar</a:t>
            </a:r>
            <a:r>
              <a:rPr lang="en-US" dirty="0"/>
              <a:t>.</a:t>
            </a:r>
          </a:p>
          <a:p>
            <a:r>
              <a:rPr lang="en-US" dirty="0"/>
              <a:t>Notice the selection of a variety of foreign accented letters, and grammar-corrected punctuation.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5395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choose incorrectly, you could face issues of character demotion, substitution, or 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567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look at some rules of JSON formatting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0863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Whatever character starts must have a finishing character. Since these are curly braces, there is only one entry.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4895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outside brackets are boxed, meaning that this is an array. </a:t>
            </a:r>
          </a:p>
          <a:p>
            <a:r>
              <a:rPr lang="en-US" dirty="0"/>
              <a:t>APIs may return all JSON </a:t>
            </a:r>
            <a:r>
              <a:rPr lang="en-US" dirty="0" err="1"/>
              <a:t>resultsets</a:t>
            </a:r>
            <a:r>
              <a:rPr lang="en-US" dirty="0"/>
              <a:t> as an array even if one item was requested.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7221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Furthermore, the array may start with a property name, even something as trivial as “value”, “data” or “response”.</a:t>
            </a:r>
          </a:p>
          <a:p>
            <a:r>
              <a:rPr lang="en-US" dirty="0"/>
              <a:t>Notice this pushes all the data down one level lower by indention.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923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5129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how I say unordered, yet the example shows an alphabetical list of children. </a:t>
            </a:r>
          </a:p>
          <a:p>
            <a:r>
              <a:rPr lang="en-US" dirty="0"/>
              <a:t>You cannot expect the data to return this way every time, nor can you make decisions of order in this manner.</a:t>
            </a:r>
          </a:p>
          <a:p>
            <a:r>
              <a:rPr lang="en-US" dirty="0"/>
              <a:t>If order is important, change the array of children from an array of strings to an array of JSON objects with properties “name” and “priority”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4955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enough rules that you could make a game show out of it, but thankfully we can let SQL Server do the heavy thinking for 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8509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smallest JSON you can make is 2 characters: curly brackets or square brackets.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143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testing various values, some JSON formatting rules have appeared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13259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SQL Server 2022 has improved ISJSON with a second parameter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66178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Things to note: </a:t>
            </a:r>
          </a:p>
          <a:p>
            <a:pPr marL="171450" indent="-171450">
              <a:buFontTx/>
              <a:buChar char="-"/>
            </a:pPr>
            <a:r>
              <a:rPr lang="en-US" dirty="0"/>
              <a:t>TSQL NULL is not JSON</a:t>
            </a:r>
          </a:p>
          <a:p>
            <a:pPr marL="171450" indent="-171450">
              <a:buFontTx/>
              <a:buChar char="-"/>
            </a:pPr>
            <a:r>
              <a:rPr lang="en-US" dirty="0"/>
              <a:t>Text needs to be in quotes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default for ISJSON is an XOR of OBJECT|ARRAY</a:t>
            </a:r>
          </a:p>
          <a:p>
            <a:pPr marL="171450" indent="-171450">
              <a:buFontTx/>
              <a:buChar char="-"/>
            </a:pPr>
            <a:r>
              <a:rPr lang="en-US" dirty="0"/>
              <a:t>JSON null is lowercase, without quotes, and is not a scalar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98568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add a column-level constraint to a table, where the text must agree to the ISJSON function before it can settle in the table data.</a:t>
            </a:r>
          </a:p>
          <a:p>
            <a:r>
              <a:rPr lang="en-US" dirty="0"/>
              <a:t>However, if you add data in a batch, all the rows’ values for that column must agree or they all get rejected as a unit-of-work.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0711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that the SQL engine is smart enough to know that there is no extra positions of parents beyond 0 and 1,</a:t>
            </a:r>
          </a:p>
          <a:p>
            <a:r>
              <a:rPr lang="en-US" dirty="0"/>
              <a:t>And that a hyphenated property name is enclosed with double-quotes.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97390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“$” doesn’t even exist, you have bad 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50950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However, I’d probably use ISJSON to test for valid JSON, and JSON_PATH_EXISTS for optional properties such as “feature-flag”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3444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add a column-level constraint to a table, where the JSON text must contain a certain key before it can settle in the table data.</a:t>
            </a:r>
          </a:p>
          <a:p>
            <a:r>
              <a:rPr lang="en-US" dirty="0"/>
              <a:t>However, if you add data in a batch, all the rows’ values for that column must agree or they all get rejected as a unit-of-work.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14596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is quite unfortunate that these two functions would never intersect, but determine whether you get results or not.</a:t>
            </a:r>
          </a:p>
          <a:p>
            <a:r>
              <a:rPr lang="en-US" dirty="0"/>
              <a:t>Even I will mix them up so don’t get frustrated.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77351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root ($) moves perspective as you navigate with JSON_QUERY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43131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can prefix the $ with keywords lax and strict.</a:t>
            </a:r>
          </a:p>
          <a:p>
            <a:r>
              <a:rPr lang="en-US" dirty="0"/>
              <a:t>Lax (default) prevents errors and results with NULL when no value is found at the JSON path given.</a:t>
            </a:r>
          </a:p>
          <a:p>
            <a:r>
              <a:rPr lang="en-US" dirty="0"/>
              <a:t>Strict throws errors only when no value is found at the JSON path given.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21051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26829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take away from the CROSS JOIN that “for each” row in Table1, we get rows of Table2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7996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known as a “lateral join”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9497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the top query is syntactically correct, force yourself to write in the style of the bottom query.</a:t>
            </a:r>
          </a:p>
          <a:p>
            <a:r>
              <a:rPr lang="en-US" dirty="0"/>
              <a:t>The CROSS APPLY should form a dependency (a join) on the source above.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90925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could not write this query without CROSS APPLY reliance.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00006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JSON_OBJECT can be nested, can be combined with JSON_ARRAY which we will discuss soon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49237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JSON_ARRAY can be nested, can be combined with JSON_OBJECT.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Notice the defaults of ABSENT ON NULL and NULL ON NULL switch between the two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90745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JSON_ARRAY sounds like CONCAT, but a lot less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81461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Earlier we talked about how many characters to show in the Query Results pane. It said “Non-XML data”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701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here, this is considered “XML data.” </a:t>
            </a:r>
          </a:p>
          <a:p>
            <a:r>
              <a:rPr lang="en-US" dirty="0"/>
              <a:t>2MB is roughly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-apple-system"/>
              </a:rPr>
              <a:t>2097152 characters, so don’t go overboard. SSMS aims to please at the expense of your 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46844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can get around the limit of 65K characters by re-casting the JSON as AUTO JSON to view untruncated in an XML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69370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33452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Rootname</a:t>
            </a:r>
            <a:r>
              <a:rPr lang="en-US" dirty="0"/>
              <a:t> is not the same as the </a:t>
            </a:r>
            <a:r>
              <a:rPr lang="en-US" dirty="0" err="1"/>
              <a:t>ColumnName</a:t>
            </a:r>
            <a:r>
              <a:rPr lang="en-US" dirty="0"/>
              <a:t> storing the JSON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81979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94734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 friends “lax” and “strict” are extremely important when it comes to deleting or dropping values from 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69899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manager tells me to work with Jason, an outsider, who has an import for me. </a:t>
            </a:r>
          </a:p>
          <a:p>
            <a:r>
              <a:rPr lang="en-US" dirty="0"/>
              <a:t>I ask him for details about the import and immediately start a rough-draft of normalization in my head while he explains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656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4EC4A-B344-177E-CC0F-717252058E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BB4024-58B8-9BC6-C2C4-E9C54B14B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C38E6-A0DA-9688-EB50-1DC647FF0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BF55A-110F-FF25-534F-F06374063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01A57F-1E45-9D38-A20B-E60067BD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663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5A4A3-8B10-1820-0106-8BF5D8839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8A35C-1E1D-1C22-1F0B-8F88F44DE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82D6-3EF8-28BF-2AD6-9050AE801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DC5F3-06C6-DB44-F891-39D658F8C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EDC52E-32A0-FB45-7307-7028FC4CB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345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8A072-6728-C613-6033-FB4947C69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DC38D-988B-A127-F769-3AE21D0CE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67F9E-1AE5-454A-4A86-E3420EF73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A1201B-D8FF-8187-4FFD-6D4AD973E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90856F-3824-A9C6-2F6A-78A2EDFC8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426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3E20D-4651-F3EE-0A25-C281FCAFB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5FBE7-4C7C-B9EE-6185-72336952A3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1AF380-5DB2-71C2-DA4F-66A6218DCA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A78C2E-26CC-DA3D-F3EF-C5BD2BE1D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77F571-7E9B-2E29-AE8E-414906A9B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BB1F2E-A479-9AFC-96DF-FBD26094B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287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E4196-BAF8-6485-4498-387734588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FE994-3765-BC47-8265-CEA8F6055E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C7D38-6CD7-8ED4-B038-3E2C030EF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256361-2E03-B2E3-D5D3-30B24335CF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AEFC40-DE09-F4B2-21C3-01D818FE79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FE965F-3995-03F1-C065-D9004E87A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4/20/2024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9C6EE2-3777-C129-37E2-88BBF6348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3C1FC7-8BF4-F1E5-E954-AF558EF63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9094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F2E29-0571-040E-5983-62230B53D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D0DDE7-C51C-580C-911E-FC2756547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4/20/2024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1CDDA-4D46-4496-2E59-EC80ABA25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97D504-0FA4-487E-A556-1399760D7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6700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612729-688D-3CD1-5893-1D4EC7226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B70233-7D41-DA8F-A8EB-CF56B7599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37AAA9-E287-490B-08A6-E7137954A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116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1230E-E491-894F-4E99-0FF09AEDA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3BFB9-0CA8-8C7E-64FC-C4D25B4A74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2F32E1-2E6E-5729-CE34-2933CBF608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C136C-ABF5-5313-2E64-AD7125B66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883D6B-B489-DF3D-C33C-F61F64C04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954372-D4DC-B102-8825-E719788DA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013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0B1B-D61C-39F8-F2BE-022F8A5F0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36128C-D559-89C5-9304-300E4BD18D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96BEBD-DE7E-0A5A-C361-876EC06C9A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7449A7-DE39-4323-4F3B-79D5BF48C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DFACA8-9144-A263-F50A-B3788A125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C63EDD-7299-9462-8CFD-F1F0D2361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171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34708-7E9B-A1B8-D203-F864C0E37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5E9B5F-F6C7-D532-024F-C087874B31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3A7CB0-AACC-72A1-6164-0F9AFB570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34C05-05CC-148F-9549-AE59E7EB0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37AEB-0CBB-C9FD-4D34-ACBFFD5FE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6281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A11D8B1-35E5-FE9E-14BB-B63977163D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F99F59-8FFB-27A4-537F-1FB44AA76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7721C5-FCE8-8496-07D7-200C84A8F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0FBC29-C3A0-3AE4-10F2-8B812A2BD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296BF5-DFF7-46B6-815F-4BEC38830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3552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B1CEBB-A314-72EB-4E82-E664E935E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49815-D47F-8E8B-4DCE-6CF8B83242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C77C57-7585-6B1F-3866-BBE4706F8B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3727D6-2A34-4C60-8A36-E80BB1BFD15E}" type="datetimeFigureOut">
              <a:rPr lang="en-US" smtClean="0"/>
              <a:t>4/20/2024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674E81-6DEA-4A24-C969-5237F84FFD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040C6-0A46-D0FE-0D61-ABED4EBEE9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326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jpe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ive Instructor-Led SQL Querying Advanced Training - Hands-on Course">
            <a:extLst>
              <a:ext uri="{FF2B5EF4-FFF2-40B4-BE49-F238E27FC236}">
                <a16:creationId xmlns:a16="http://schemas.microsoft.com/office/drawing/2014/main" id="{CBDA142E-B6AA-0CE4-512D-E046762D8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063" y="482987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9FBDC4-6B90-0B55-CFD0-525E83D440FA}"/>
              </a:ext>
            </a:extLst>
          </p:cNvPr>
          <p:cNvSpPr txBox="1"/>
          <p:nvPr/>
        </p:nvSpPr>
        <p:spPr>
          <a:xfrm>
            <a:off x="2682240" y="1612626"/>
            <a:ext cx="692959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The </a:t>
            </a:r>
            <a:r>
              <a:rPr lang="en-US" sz="4800" dirty="0">
                <a:solidFill>
                  <a:srgbClr val="FF00FF"/>
                </a:solidFill>
                <a:latin typeface="Consolas" panose="020B0609020204030204" pitchFamily="49" charset="0"/>
              </a:rPr>
              <a:t>JSON</a:t>
            </a:r>
            <a:r>
              <a:rPr lang="en-US" sz="3600" b="1" dirty="0"/>
              <a:t>  </a:t>
            </a:r>
            <a:r>
              <a:rPr lang="en-US" sz="4800" b="1" dirty="0"/>
              <a:t>T-SQL Operators</a:t>
            </a:r>
            <a:endParaRPr lang="en-US" sz="4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D0ADC9-0801-A08A-74F5-830AB9857B57}"/>
              </a:ext>
            </a:extLst>
          </p:cNvPr>
          <p:cNvSpPr txBox="1"/>
          <p:nvPr/>
        </p:nvSpPr>
        <p:spPr>
          <a:xfrm>
            <a:off x="1255776" y="3178289"/>
            <a:ext cx="314553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PATH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026" name="Picture 2" descr="Image result for json icon">
            <a:extLst>
              <a:ext uri="{FF2B5EF4-FFF2-40B4-BE49-F238E27FC236}">
                <a16:creationId xmlns:a16="http://schemas.microsoft.com/office/drawing/2014/main" id="{6E43A857-1D75-6FE1-B5A1-A8D445D06B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0604" y="4995522"/>
            <a:ext cx="1451229" cy="1458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8075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B94EAC-4A16-27D3-9C5B-8724180E3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799" y="1206029"/>
            <a:ext cx="5502402" cy="444594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2D0B63B-A4BC-B177-BFBA-AD0E9C2D37C9}"/>
              </a:ext>
            </a:extLst>
          </p:cNvPr>
          <p:cNvSpPr txBox="1"/>
          <p:nvPr/>
        </p:nvSpPr>
        <p:spPr>
          <a:xfrm>
            <a:off x="9063683" y="6166021"/>
            <a:ext cx="250224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With permission from </a:t>
            </a:r>
            <a:r>
              <a:rPr lang="en-US" sz="1100" b="0" i="0" dirty="0">
                <a:solidFill>
                  <a:srgbClr val="000000"/>
                </a:solidFill>
                <a:effectLst/>
                <a:highlight>
                  <a:srgbClr val="F5F5F7"/>
                </a:highlight>
              </a:rPr>
              <a:t>Ephraim </a:t>
            </a:r>
            <a:r>
              <a:rPr lang="en-US" sz="1100" b="0" i="0" dirty="0" err="1">
                <a:solidFill>
                  <a:srgbClr val="000000"/>
                </a:solidFill>
                <a:effectLst/>
                <a:highlight>
                  <a:srgbClr val="F5F5F7"/>
                </a:highlight>
              </a:rPr>
              <a:t>Ndoro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8417530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14734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FBE6F42-CBBA-9B00-8E31-2D1476ADC6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750" y="1047750"/>
            <a:ext cx="8572500" cy="4762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993B86B-BAA3-F2B0-BC92-7EF43B5794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5532" y="1903228"/>
            <a:ext cx="3067826" cy="4572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F07C7B6-4ED5-5794-2ECD-DB3C8133D8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5532" y="2330894"/>
            <a:ext cx="3067826" cy="23155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07CB3C9-FD08-9250-047E-D882A6B85B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5532" y="2562448"/>
            <a:ext cx="3067826" cy="231554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3E02F2AE-3BD6-A768-3990-567B09A3FA0B}"/>
              </a:ext>
            </a:extLst>
          </p:cNvPr>
          <p:cNvGrpSpPr/>
          <p:nvPr/>
        </p:nvGrpSpPr>
        <p:grpSpPr>
          <a:xfrm>
            <a:off x="1907713" y="1646202"/>
            <a:ext cx="3706278" cy="1660524"/>
            <a:chOff x="1897080" y="1646202"/>
            <a:chExt cx="3706278" cy="166052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FBDD4519-9BAD-1B0A-5146-46514ACCF5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35532" y="2788094"/>
              <a:ext cx="3067826" cy="518632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FAF9D22C-687E-1053-C876-2DB1BD70E61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97080" y="1646202"/>
              <a:ext cx="419100" cy="13906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04852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FD522D4-D48E-1667-FF3A-2DC12A13E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750" y="1047750"/>
            <a:ext cx="8572500" cy="4762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0624E7-FC4F-1642-72D6-8B9B2C2201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047750"/>
            <a:ext cx="4438650" cy="250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097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F04AD8D-5098-CD00-29B4-4498D752E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750" y="1047750"/>
            <a:ext cx="8572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5411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1C42EA2-AB66-BFE8-1633-89D834BE9BCA}"/>
              </a:ext>
            </a:extLst>
          </p:cNvPr>
          <p:cNvSpPr txBox="1"/>
          <p:nvPr/>
        </p:nvSpPr>
        <p:spPr>
          <a:xfrm>
            <a:off x="676053" y="197346"/>
            <a:ext cx="6968331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CD39AD-3376-4763-5C53-79CF772302E4}"/>
              </a:ext>
            </a:extLst>
          </p:cNvPr>
          <p:cNvSpPr txBox="1"/>
          <p:nvPr/>
        </p:nvSpPr>
        <p:spPr>
          <a:xfrm>
            <a:off x="9256577" y="6383655"/>
            <a:ext cx="25317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(https://en.wikipedia.org/wiki/JSON)</a:t>
            </a:r>
          </a:p>
        </p:txBody>
      </p:sp>
    </p:spTree>
    <p:extLst>
      <p:ext uri="{BB962C8B-B14F-4D97-AF65-F5344CB8AC3E}">
        <p14:creationId xmlns:p14="http://schemas.microsoft.com/office/powerpoint/2010/main" val="591362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16917376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B87BC-FC35-CA96-FEC8-DD4A00DB9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Preparing for JSON (client tools)</a:t>
            </a:r>
          </a:p>
        </p:txBody>
      </p:sp>
    </p:spTree>
    <p:extLst>
      <p:ext uri="{BB962C8B-B14F-4D97-AF65-F5344CB8AC3E}">
        <p14:creationId xmlns:p14="http://schemas.microsoft.com/office/powerpoint/2010/main" val="24120065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9CB5D10-CB03-B334-F1EE-7B88307F4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0906" y="2547717"/>
            <a:ext cx="9544050" cy="38766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8571653-AE10-33CD-275C-3198E447428E}"/>
              </a:ext>
            </a:extLst>
          </p:cNvPr>
          <p:cNvSpPr txBox="1"/>
          <p:nvPr/>
        </p:nvSpPr>
        <p:spPr>
          <a:xfrm>
            <a:off x="8399722" y="1507004"/>
            <a:ext cx="2883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How many characters do you want to see on the screen?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4FE876-E85C-0487-DA58-8593D3A629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278" y="582320"/>
            <a:ext cx="5518258" cy="4537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07566C-241A-1A23-A506-997010010F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278" y="1141582"/>
            <a:ext cx="7439025" cy="110490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9EF6833-8803-70E5-B6D5-DF910DB09705}"/>
              </a:ext>
            </a:extLst>
          </p:cNvPr>
          <p:cNvCxnSpPr>
            <a:cxnSpLocks/>
            <a:endCxn id="10" idx="1"/>
          </p:cNvCxnSpPr>
          <p:nvPr/>
        </p:nvCxnSpPr>
        <p:spPr>
          <a:xfrm flipV="1">
            <a:off x="8114303" y="1830170"/>
            <a:ext cx="285419" cy="300008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5185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DDB9B34-A1EC-64CA-7D74-3E2D1DA89A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78" y="433608"/>
            <a:ext cx="7439025" cy="1971675"/>
          </a:xfrm>
          <a:prstGeom prst="rect">
            <a:avLst/>
          </a:prstGeom>
        </p:spPr>
      </p:pic>
      <p:pic>
        <p:nvPicPr>
          <p:cNvPr id="1026" name="Picture 2" descr="copy Vector Icons free download in SVG, PNG Format">
            <a:extLst>
              <a:ext uri="{FF2B5EF4-FFF2-40B4-BE49-F238E27FC236}">
                <a16:creationId xmlns:a16="http://schemas.microsoft.com/office/drawing/2014/main" id="{7C25E6DA-C179-8E50-2C24-9DD7DE84E9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303" y="1609344"/>
            <a:ext cx="531816" cy="531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1723199E-8B8B-9934-4477-B75149C55D2E}"/>
              </a:ext>
            </a:extLst>
          </p:cNvPr>
          <p:cNvGrpSpPr/>
          <p:nvPr/>
        </p:nvGrpSpPr>
        <p:grpSpPr>
          <a:xfrm>
            <a:off x="862584" y="2800067"/>
            <a:ext cx="7467600" cy="1652650"/>
            <a:chOff x="862584" y="2800067"/>
            <a:chExt cx="7467600" cy="165265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7BAA7DD-AFA1-C3C7-F2D1-4BA84B6B7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62584" y="3043017"/>
              <a:ext cx="7467600" cy="1409700"/>
            </a:xfrm>
            <a:prstGeom prst="rect">
              <a:avLst/>
            </a:prstGeom>
          </p:spPr>
        </p:pic>
        <p:pic>
          <p:nvPicPr>
            <p:cNvPr id="1028" name="Picture 4" descr="Image result for paste icon clipart">
              <a:extLst>
                <a:ext uri="{FF2B5EF4-FFF2-40B4-BE49-F238E27FC236}">
                  <a16:creationId xmlns:a16="http://schemas.microsoft.com/office/drawing/2014/main" id="{567D78F5-5648-7596-572B-82335B79C4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1424" y="2800067"/>
              <a:ext cx="518293" cy="485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4BC9049-CBE5-6A82-E715-5FC4DD8C166D}"/>
              </a:ext>
            </a:extLst>
          </p:cNvPr>
          <p:cNvGrpSpPr/>
          <p:nvPr/>
        </p:nvGrpSpPr>
        <p:grpSpPr>
          <a:xfrm>
            <a:off x="3960495" y="2800067"/>
            <a:ext cx="7562850" cy="3200463"/>
            <a:chOff x="3960495" y="2800067"/>
            <a:chExt cx="7562850" cy="320046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6EF85C4-A0F6-AD5E-99B5-D336738307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60495" y="2904905"/>
              <a:ext cx="7562850" cy="3095625"/>
            </a:xfrm>
            <a:prstGeom prst="rect">
              <a:avLst/>
            </a:prstGeom>
          </p:spPr>
        </p:pic>
        <p:pic>
          <p:nvPicPr>
            <p:cNvPr id="2" name="Picture 4" descr="Image result for paste icon clipart">
              <a:extLst>
                <a:ext uri="{FF2B5EF4-FFF2-40B4-BE49-F238E27FC236}">
                  <a16:creationId xmlns:a16="http://schemas.microsoft.com/office/drawing/2014/main" id="{2E34ADF1-6344-7AC7-F3EC-54559DF959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96400" y="2800067"/>
              <a:ext cx="518293" cy="485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3104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69AC732-664C-A660-BD98-7B68234B9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386" y="567844"/>
            <a:ext cx="5188532" cy="15267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F24335-30B9-35A7-0A4B-D2564CAA5F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0348" y="1653694"/>
            <a:ext cx="6524625" cy="17335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D00801-AE63-ABAD-8406-B699E18261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2731" y="3063394"/>
            <a:ext cx="5572125" cy="281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488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3C9F4CB-173E-A4C8-BA30-24175A497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348" y="551121"/>
            <a:ext cx="10220325" cy="19526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4163A4-6547-A728-BF66-3F74C058BA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823" y="2854067"/>
            <a:ext cx="10229850" cy="3000375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1B6BED-88E9-3614-486E-EB9AAB89448B}"/>
              </a:ext>
            </a:extLst>
          </p:cNvPr>
          <p:cNvCxnSpPr/>
          <p:nvPr/>
        </p:nvCxnSpPr>
        <p:spPr>
          <a:xfrm flipH="1">
            <a:off x="7325833" y="1297172"/>
            <a:ext cx="2296632" cy="324293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6F6D6CE7-0DD0-E3AF-9237-30F1F26C5DBE}"/>
              </a:ext>
            </a:extLst>
          </p:cNvPr>
          <p:cNvGrpSpPr/>
          <p:nvPr/>
        </p:nvGrpSpPr>
        <p:grpSpPr>
          <a:xfrm>
            <a:off x="4547616" y="1385491"/>
            <a:ext cx="6499057" cy="3003629"/>
            <a:chOff x="4547616" y="1385491"/>
            <a:chExt cx="6499057" cy="3003629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01EE4FC-DC44-264F-DB53-CA26F7AA1A8E}"/>
                </a:ext>
              </a:extLst>
            </p:cNvPr>
            <p:cNvSpPr/>
            <p:nvPr/>
          </p:nvSpPr>
          <p:spPr>
            <a:xfrm>
              <a:off x="7144512" y="1385491"/>
              <a:ext cx="3902161" cy="219456"/>
            </a:xfrm>
            <a:prstGeom prst="rect">
              <a:avLst/>
            </a:prstGeom>
            <a:noFill/>
            <a:ln w="508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B9FEFA88-1225-E011-37B4-6C5C9FF9E24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47616" y="1669028"/>
              <a:ext cx="2596896" cy="2720092"/>
            </a:xfrm>
            <a:prstGeom prst="straightConnector1">
              <a:avLst/>
            </a:prstGeom>
            <a:ln w="5080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1249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140F3D-C024-85E5-C0DA-F63B63C4B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01" y="561587"/>
            <a:ext cx="8439150" cy="24479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77C5F91-BDF7-C278-762B-2C24BB8519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7518" y="3149943"/>
            <a:ext cx="8239125" cy="3276600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0FB3D12-4829-E416-DC93-793B964F2AD5}"/>
              </a:ext>
            </a:extLst>
          </p:cNvPr>
          <p:cNvCxnSpPr>
            <a:cxnSpLocks/>
          </p:cNvCxnSpPr>
          <p:nvPr/>
        </p:nvCxnSpPr>
        <p:spPr>
          <a:xfrm>
            <a:off x="9082218" y="2224216"/>
            <a:ext cx="0" cy="1025611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CE7648CB-46CF-DFE6-1AF9-A478C04B447B}"/>
              </a:ext>
            </a:extLst>
          </p:cNvPr>
          <p:cNvSpPr/>
          <p:nvPr/>
        </p:nvSpPr>
        <p:spPr>
          <a:xfrm>
            <a:off x="7142205" y="2075935"/>
            <a:ext cx="2123046" cy="247135"/>
          </a:xfrm>
          <a:prstGeom prst="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8134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49CA9-A37E-7C13-A64D-1F3ADF008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Preparing for JSON (table architecture)</a:t>
            </a:r>
          </a:p>
        </p:txBody>
      </p:sp>
    </p:spTree>
    <p:extLst>
      <p:ext uri="{BB962C8B-B14F-4D97-AF65-F5344CB8AC3E}">
        <p14:creationId xmlns:p14="http://schemas.microsoft.com/office/powerpoint/2010/main" val="3481471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932DF6F-2782-6F8F-F136-52885939B545}"/>
              </a:ext>
            </a:extLst>
          </p:cNvPr>
          <p:cNvSpPr txBox="1"/>
          <p:nvPr/>
        </p:nvSpPr>
        <p:spPr>
          <a:xfrm>
            <a:off x="1085087" y="2393942"/>
            <a:ext cx="414181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 err="1">
                <a:solidFill>
                  <a:srgbClr val="161616"/>
                </a:solidFill>
                <a:latin typeface="Segoe UI" panose="020B0502040204020203" pitchFamily="34" charset="0"/>
              </a:rPr>
              <a:t>n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varchar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(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n|MAX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) : (n up to 4000)</a:t>
            </a:r>
          </a:p>
          <a:p>
            <a:pPr algn="l"/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storage size is </a:t>
            </a:r>
          </a:p>
          <a:p>
            <a:pPr algn="l"/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[#(</a:t>
            </a:r>
            <a:r>
              <a:rPr lang="en-US" i="1" dirty="0">
                <a:solidFill>
                  <a:srgbClr val="161616"/>
                </a:solidFill>
                <a:latin typeface="Segoe UI" panose="020B0502040204020203" pitchFamily="34" charset="0"/>
              </a:rPr>
              <a:t>chars</a:t>
            </a: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) * 2] + </a:t>
            </a:r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2 bytes.</a:t>
            </a:r>
            <a:endParaRPr lang="en-US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E85F44-4BD9-DB9B-6BBA-7853C3B95FB9}"/>
              </a:ext>
            </a:extLst>
          </p:cNvPr>
          <p:cNvSpPr txBox="1"/>
          <p:nvPr/>
        </p:nvSpPr>
        <p:spPr>
          <a:xfrm>
            <a:off x="1085088" y="1156454"/>
            <a:ext cx="41418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>
                <a:solidFill>
                  <a:srgbClr val="161616"/>
                </a:solidFill>
                <a:latin typeface="Segoe UI" panose="020B0502040204020203" pitchFamily="34" charset="0"/>
              </a:rPr>
              <a:t>v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archar(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n|MAX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) : (n up to 8000)</a:t>
            </a:r>
          </a:p>
          <a:p>
            <a:pPr algn="l"/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storage size is </a:t>
            </a:r>
            <a:r>
              <a:rPr lang="en-US" b="0" i="1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#(chars) </a:t>
            </a:r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+ 2 bytes.</a:t>
            </a:r>
            <a:endParaRPr lang="en-US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04133D-95A2-9F86-93A3-48307ABD667E}"/>
              </a:ext>
            </a:extLst>
          </p:cNvPr>
          <p:cNvSpPr txBox="1"/>
          <p:nvPr/>
        </p:nvSpPr>
        <p:spPr>
          <a:xfrm>
            <a:off x="1085087" y="5650098"/>
            <a:ext cx="60390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Refresher:</a:t>
            </a:r>
          </a:p>
          <a:p>
            <a:r>
              <a:rPr lang="en-US" dirty="0"/>
              <a:t>FF (hex) = 255 (decimal) = 1111 1111 (binary)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C6B92B-BFFE-ECA9-8CD0-8EB3E52D22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4533" y="5579098"/>
            <a:ext cx="1200150" cy="4572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86EAC03-D63B-4D91-0BDD-5A13DC205F54}"/>
              </a:ext>
            </a:extLst>
          </p:cNvPr>
          <p:cNvSpPr txBox="1"/>
          <p:nvPr/>
        </p:nvSpPr>
        <p:spPr>
          <a:xfrm>
            <a:off x="3713131" y="5280766"/>
            <a:ext cx="10958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 byte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A988A3D-5DFF-48F1-C4C8-606AE223D7B5}"/>
              </a:ext>
            </a:extLst>
          </p:cNvPr>
          <p:cNvSpPr txBox="1"/>
          <p:nvPr/>
        </p:nvSpPr>
        <p:spPr>
          <a:xfrm>
            <a:off x="1039700" y="3576215"/>
            <a:ext cx="31421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char(n) : </a:t>
            </a:r>
          </a:p>
          <a:p>
            <a:pPr algn="l"/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The storage size is 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n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 </a:t>
            </a:r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bytes.</a:t>
            </a:r>
            <a:endParaRPr lang="en-US" b="1" i="0" dirty="0">
              <a:solidFill>
                <a:schemeClr val="bg1">
                  <a:lumMod val="50000"/>
                </a:schemeClr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B603B99-97C9-83E8-50E8-34AC138009AC}"/>
              </a:ext>
            </a:extLst>
          </p:cNvPr>
          <p:cNvSpPr txBox="1"/>
          <p:nvPr/>
        </p:nvSpPr>
        <p:spPr>
          <a:xfrm>
            <a:off x="1039699" y="4375492"/>
            <a:ext cx="31421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 err="1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nchar</a:t>
            </a:r>
            <a:r>
              <a:rPr lang="en-US" b="1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(n) : </a:t>
            </a:r>
          </a:p>
          <a:p>
            <a:pPr algn="l"/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The storage size is 2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n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 </a:t>
            </a:r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bytes.</a:t>
            </a:r>
            <a:endParaRPr lang="en-US" b="1" i="0" dirty="0">
              <a:solidFill>
                <a:schemeClr val="bg1">
                  <a:lumMod val="50000"/>
                </a:schemeClr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0E913E8-592A-276C-14DA-23656EA1E3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4208" y="354245"/>
            <a:ext cx="6039040" cy="61495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81D4184-80ED-3FD2-76C4-9E84B81544DD}"/>
              </a:ext>
            </a:extLst>
          </p:cNvPr>
          <p:cNvSpPr txBox="1"/>
          <p:nvPr/>
        </p:nvSpPr>
        <p:spPr>
          <a:xfrm>
            <a:off x="5847853" y="5851632"/>
            <a:ext cx="560686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If you only need the characters in red, you can use varchar</a:t>
            </a:r>
          </a:p>
        </p:txBody>
      </p:sp>
    </p:spTree>
    <p:extLst>
      <p:ext uri="{BB962C8B-B14F-4D97-AF65-F5344CB8AC3E}">
        <p14:creationId xmlns:p14="http://schemas.microsoft.com/office/powerpoint/2010/main" val="3889001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D0E9301-0D69-C561-3524-FF3DF6F9811F}"/>
              </a:ext>
            </a:extLst>
          </p:cNvPr>
          <p:cNvSpPr txBox="1"/>
          <p:nvPr/>
        </p:nvSpPr>
        <p:spPr>
          <a:xfrm>
            <a:off x="1036320" y="1247894"/>
            <a:ext cx="919276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@_text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nvarchar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'ĀāĂăĄąĆćĈĉƐƑƩɪʸ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●♫'</a:t>
            </a: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3DFF64-174F-B0B9-738C-372C78859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8677" y="5198016"/>
            <a:ext cx="4803739" cy="116454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0D4C19F-F7BE-0677-C505-F31D58A9EB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8677" y="2956054"/>
            <a:ext cx="4784172" cy="1164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2986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1C42EA2-AB66-BFE8-1633-89D834BE9BCA}"/>
              </a:ext>
            </a:extLst>
          </p:cNvPr>
          <p:cNvSpPr txBox="1"/>
          <p:nvPr/>
        </p:nvSpPr>
        <p:spPr>
          <a:xfrm>
            <a:off x="676053" y="197346"/>
            <a:ext cx="6968331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D38D2-60EB-6C7F-3C1E-E728A2541FBF}"/>
              </a:ext>
            </a:extLst>
          </p:cNvPr>
          <p:cNvSpPr txBox="1"/>
          <p:nvPr/>
        </p:nvSpPr>
        <p:spPr>
          <a:xfrm>
            <a:off x="9256577" y="6383655"/>
            <a:ext cx="25317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(https://en.wikipedia.org/wiki/JSON)</a:t>
            </a:r>
          </a:p>
        </p:txBody>
      </p:sp>
    </p:spTree>
    <p:extLst>
      <p:ext uri="{BB962C8B-B14F-4D97-AF65-F5344CB8AC3E}">
        <p14:creationId xmlns:p14="http://schemas.microsoft.com/office/powerpoint/2010/main" val="26544249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CCFB8-F509-2BD1-4838-DCAECC31A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3153CF8-C4BA-F2DA-DD65-CE339498C856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07E6F9F-4112-EBF3-1F2E-B33A50880288}"/>
              </a:ext>
            </a:extLst>
          </p:cNvPr>
          <p:cNvGrpSpPr/>
          <p:nvPr/>
        </p:nvGrpSpPr>
        <p:grpSpPr>
          <a:xfrm>
            <a:off x="1133856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7CC55481-A17B-D08B-E84E-C97FA984E2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A61019C-7EA8-40D6-ACF8-086263FD86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FD575B8-39E9-EA68-A44C-074F5B1F08F8}"/>
              </a:ext>
            </a:extLst>
          </p:cNvPr>
          <p:cNvSpPr txBox="1"/>
          <p:nvPr/>
        </p:nvSpPr>
        <p:spPr>
          <a:xfrm>
            <a:off x="8093677" y="2174789"/>
            <a:ext cx="2397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$.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address.state</a:t>
            </a:r>
            <a:endParaRPr lang="en-US" dirty="0">
              <a:solidFill>
                <a:schemeClr val="bg1">
                  <a:lumMod val="6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FF42BF7-88E4-7517-208D-CB843AA2ED1D}"/>
              </a:ext>
            </a:extLst>
          </p:cNvPr>
          <p:cNvCxnSpPr>
            <a:cxnSpLocks/>
          </p:cNvCxnSpPr>
          <p:nvPr/>
        </p:nvCxnSpPr>
        <p:spPr>
          <a:xfrm flipH="1">
            <a:off x="5496781" y="2358658"/>
            <a:ext cx="2596896" cy="0"/>
          </a:xfrm>
          <a:prstGeom prst="straightConnector1">
            <a:avLst/>
          </a:prstGeom>
          <a:ln w="47625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31500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2ADA3-8614-7823-89CF-B27455C09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5A75DDC-3B43-EB16-0BC8-FB361C3D6047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[{</a:t>
            </a:r>
            <a:endParaRPr lang="en-US" sz="18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}]</a:t>
            </a:r>
            <a:endParaRPr lang="en-US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5966187-3E7C-B46C-9622-CE9C6EC63409}"/>
              </a:ext>
            </a:extLst>
          </p:cNvPr>
          <p:cNvGrpSpPr/>
          <p:nvPr/>
        </p:nvGrpSpPr>
        <p:grpSpPr>
          <a:xfrm>
            <a:off x="2696842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922A265B-CB84-6900-4B95-52A5015CA1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59C7A8B-6D68-E463-36BF-D51CE4A32A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7B3403-E04B-B0BE-9BFD-89D9D1A06D4B}"/>
              </a:ext>
            </a:extLst>
          </p:cNvPr>
          <p:cNvSpPr txBox="1"/>
          <p:nvPr/>
        </p:nvSpPr>
        <p:spPr>
          <a:xfrm>
            <a:off x="8093677" y="2174789"/>
            <a:ext cx="34222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$[0].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address.state</a:t>
            </a:r>
            <a:endParaRPr lang="en-US" dirty="0">
              <a:solidFill>
                <a:schemeClr val="bg1">
                  <a:lumMod val="6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8C98F58-BABA-2BD7-C8A6-A66887BBEBD7}"/>
              </a:ext>
            </a:extLst>
          </p:cNvPr>
          <p:cNvCxnSpPr>
            <a:cxnSpLocks/>
          </p:cNvCxnSpPr>
          <p:nvPr/>
        </p:nvCxnSpPr>
        <p:spPr>
          <a:xfrm flipH="1">
            <a:off x="5496781" y="2358658"/>
            <a:ext cx="2596896" cy="0"/>
          </a:xfrm>
          <a:prstGeom prst="straightConnector1">
            <a:avLst/>
          </a:prstGeom>
          <a:ln w="47625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87237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2ADA3-8614-7823-89CF-B27455C09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5A75DDC-3B43-EB16-0BC8-FB361C3D6047}"/>
              </a:ext>
            </a:extLst>
          </p:cNvPr>
          <p:cNvSpPr txBox="1"/>
          <p:nvPr/>
        </p:nvSpPr>
        <p:spPr>
          <a:xfrm>
            <a:off x="676053" y="58846"/>
            <a:ext cx="6956139" cy="6632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 "data":</a:t>
            </a:r>
          </a:p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[{</a:t>
            </a:r>
            <a:endParaRPr lang="en-US" sz="17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"age"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"address"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"state"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"number": "212 555-1234", 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"type": "home"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},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"number": "646 555-4567", 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"type": "office"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}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]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"children"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"spouse"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}]</a:t>
            </a:r>
          </a:p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sz="1700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5966187-3E7C-B46C-9622-CE9C6EC63409}"/>
              </a:ext>
            </a:extLst>
          </p:cNvPr>
          <p:cNvGrpSpPr/>
          <p:nvPr/>
        </p:nvGrpSpPr>
        <p:grpSpPr>
          <a:xfrm>
            <a:off x="2696842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922A265B-CB84-6900-4B95-52A5015CA1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59C7A8B-6D68-E463-36BF-D51CE4A32A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0B2640D-AB29-E277-4F60-5F91A1C0375A}"/>
              </a:ext>
            </a:extLst>
          </p:cNvPr>
          <p:cNvSpPr txBox="1"/>
          <p:nvPr/>
        </p:nvSpPr>
        <p:spPr>
          <a:xfrm>
            <a:off x="8093677" y="2173992"/>
            <a:ext cx="3476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$.data[0].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address.state</a:t>
            </a:r>
            <a:endParaRPr lang="en-US" dirty="0">
              <a:solidFill>
                <a:schemeClr val="bg1">
                  <a:lumMod val="6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0B2B38B-F83D-38E3-CA98-32ABACAFF94F}"/>
              </a:ext>
            </a:extLst>
          </p:cNvPr>
          <p:cNvCxnSpPr>
            <a:cxnSpLocks/>
          </p:cNvCxnSpPr>
          <p:nvPr/>
        </p:nvCxnSpPr>
        <p:spPr>
          <a:xfrm flipH="1">
            <a:off x="5496781" y="2358658"/>
            <a:ext cx="2596896" cy="0"/>
          </a:xfrm>
          <a:prstGeom prst="straightConnector1">
            <a:avLst/>
          </a:prstGeom>
          <a:ln w="47625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2428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4DC93-08AF-8CD3-A97F-F9A108E97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C58E91E-E11A-6790-4EEC-C775B09E1625}"/>
              </a:ext>
            </a:extLst>
          </p:cNvPr>
          <p:cNvSpPr txBox="1"/>
          <p:nvPr/>
        </p:nvSpPr>
        <p:spPr>
          <a:xfrm>
            <a:off x="676053" y="197346"/>
            <a:ext cx="700490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"646 555-4567",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989B15-5266-B927-833D-BEC70E0D6306}"/>
              </a:ext>
            </a:extLst>
          </p:cNvPr>
          <p:cNvSpPr txBox="1"/>
          <p:nvPr/>
        </p:nvSpPr>
        <p:spPr>
          <a:xfrm>
            <a:off x="6944497" y="1297172"/>
            <a:ext cx="443234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Text values are enclosed in double-quotes</a:t>
            </a:r>
          </a:p>
          <a:p>
            <a:endParaRPr lang="en-US" dirty="0"/>
          </a:p>
          <a:p>
            <a:r>
              <a:rPr lang="en-US" dirty="0"/>
              <a:t>Numbers are not enclosed in quotes</a:t>
            </a:r>
          </a:p>
          <a:p>
            <a:endParaRPr lang="en-US" dirty="0"/>
          </a:p>
          <a:p>
            <a:r>
              <a:rPr lang="en-US" dirty="0"/>
              <a:t>Boolean/null values are </a:t>
            </a:r>
            <a:r>
              <a:rPr lang="en-US" b="1" dirty="0"/>
              <a:t>lowercase</a:t>
            </a:r>
            <a:r>
              <a:rPr lang="en-US" dirty="0"/>
              <a:t> and unquoted</a:t>
            </a:r>
          </a:p>
        </p:txBody>
      </p:sp>
    </p:spTree>
    <p:extLst>
      <p:ext uri="{BB962C8B-B14F-4D97-AF65-F5344CB8AC3E}">
        <p14:creationId xmlns:p14="http://schemas.microsoft.com/office/powerpoint/2010/main" val="22444908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B05E2-D3D3-D0B4-2BE8-595EC7328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F97122E-019F-C7E3-D4CE-2E7E78541B76}"/>
              </a:ext>
            </a:extLst>
          </p:cNvPr>
          <p:cNvSpPr txBox="1"/>
          <p:nvPr/>
        </p:nvSpPr>
        <p:spPr>
          <a:xfrm>
            <a:off x="676053" y="197346"/>
            <a:ext cx="676106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"age"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"address"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"state"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"number":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"212 555-1234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"number":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"646 555-4567",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"children"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"spouse"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4BB514-CA1F-AA42-4D46-187E4BA88381}"/>
              </a:ext>
            </a:extLst>
          </p:cNvPr>
          <p:cNvSpPr txBox="1"/>
          <p:nvPr/>
        </p:nvSpPr>
        <p:spPr>
          <a:xfrm>
            <a:off x="6974958" y="1297172"/>
            <a:ext cx="440187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Properties (keys) must be enclosed in quotes</a:t>
            </a:r>
          </a:p>
          <a:p>
            <a:endParaRPr lang="en-US" dirty="0"/>
          </a:p>
          <a:p>
            <a:r>
              <a:rPr lang="en-US" dirty="0"/>
              <a:t>No restrictions on property naming:</a:t>
            </a:r>
          </a:p>
          <a:p>
            <a:r>
              <a:rPr lang="en-US" dirty="0"/>
              <a:t>- uniqueness*</a:t>
            </a:r>
          </a:p>
          <a:p>
            <a:r>
              <a:rPr lang="en-US" dirty="0"/>
              <a:t>- naming convention</a:t>
            </a:r>
          </a:p>
          <a:p>
            <a:r>
              <a:rPr lang="en-US" dirty="0"/>
              <a:t>- blanks</a:t>
            </a:r>
          </a:p>
        </p:txBody>
      </p:sp>
    </p:spTree>
    <p:extLst>
      <p:ext uri="{BB962C8B-B14F-4D97-AF65-F5344CB8AC3E}">
        <p14:creationId xmlns:p14="http://schemas.microsoft.com/office/powerpoint/2010/main" val="4088871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36A13-2A82-5DFE-A085-FA7DF77F8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6F5808E-72D0-8EA1-3FE9-520CF4CCBFF0}"/>
              </a:ext>
            </a:extLst>
          </p:cNvPr>
          <p:cNvSpPr txBox="1"/>
          <p:nvPr/>
        </p:nvSpPr>
        <p:spPr>
          <a:xfrm>
            <a:off x="676053" y="197346"/>
            <a:ext cx="700490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4D5DED-A8D6-3909-267E-614390D0765A}"/>
              </a:ext>
            </a:extLst>
          </p:cNvPr>
          <p:cNvSpPr txBox="1"/>
          <p:nvPr/>
        </p:nvSpPr>
        <p:spPr>
          <a:xfrm>
            <a:off x="6974958" y="1297172"/>
            <a:ext cx="4401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</p:txBody>
      </p:sp>
    </p:spTree>
    <p:extLst>
      <p:ext uri="{BB962C8B-B14F-4D97-AF65-F5344CB8AC3E}">
        <p14:creationId xmlns:p14="http://schemas.microsoft.com/office/powerpoint/2010/main" val="624650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D3F75-0B72-B39E-0C0D-FAE5295D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36ACEC-7FD9-157D-EE3D-1632E3AD96ED}"/>
              </a:ext>
            </a:extLst>
          </p:cNvPr>
          <p:cNvSpPr txBox="1"/>
          <p:nvPr/>
        </p:nvSpPr>
        <p:spPr>
          <a:xfrm>
            <a:off x="676053" y="197346"/>
            <a:ext cx="6992715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"Smith"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"212 555-1234"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"646 555-4567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108090-8F93-A97E-8BC6-52DCFF09351A}"/>
              </a:ext>
            </a:extLst>
          </p:cNvPr>
          <p:cNvSpPr txBox="1"/>
          <p:nvPr/>
        </p:nvSpPr>
        <p:spPr>
          <a:xfrm>
            <a:off x="6974958" y="1297172"/>
            <a:ext cx="44018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“scalar” (number or string).</a:t>
            </a:r>
          </a:p>
        </p:txBody>
      </p:sp>
    </p:spTree>
    <p:extLst>
      <p:ext uri="{BB962C8B-B14F-4D97-AF65-F5344CB8AC3E}">
        <p14:creationId xmlns:p14="http://schemas.microsoft.com/office/powerpoint/2010/main" val="13693347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D3F75-0B72-B39E-0C0D-FAE5295D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36ACEC-7FD9-157D-EE3D-1632E3AD96ED}"/>
              </a:ext>
            </a:extLst>
          </p:cNvPr>
          <p:cNvSpPr txBox="1"/>
          <p:nvPr/>
        </p:nvSpPr>
        <p:spPr>
          <a:xfrm>
            <a:off x="676053" y="197346"/>
            <a:ext cx="6992715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108090-8F93-A97E-8BC6-52DCFF09351A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Boolean or null </a:t>
            </a:r>
          </a:p>
          <a:p>
            <a:r>
              <a:rPr lang="en-US" dirty="0"/>
              <a:t>      (not considered scalar).</a:t>
            </a:r>
          </a:p>
        </p:txBody>
      </p:sp>
    </p:spTree>
    <p:extLst>
      <p:ext uri="{BB962C8B-B14F-4D97-AF65-F5344CB8AC3E}">
        <p14:creationId xmlns:p14="http://schemas.microsoft.com/office/powerpoint/2010/main" val="9728998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F79EC-1877-1150-F9B2-79672A226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0B33AB0-727E-CEF2-04FC-2DBD1149138E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3E52A9-404D-83DE-4DA8-1D3B3C3C4A4C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JSON object 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{}</a:t>
            </a:r>
            <a:r>
              <a:rPr lang="en-US" dirty="0"/>
              <a:t>, of which you only get one</a:t>
            </a:r>
          </a:p>
        </p:txBody>
      </p:sp>
    </p:spTree>
    <p:extLst>
      <p:ext uri="{BB962C8B-B14F-4D97-AF65-F5344CB8AC3E}">
        <p14:creationId xmlns:p14="http://schemas.microsoft.com/office/powerpoint/2010/main" val="7245194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C7703-4D56-C777-BAE6-F9F50D634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F9CDA12-021D-62BA-50B5-1C33B5408533}"/>
              </a:ext>
            </a:extLst>
          </p:cNvPr>
          <p:cNvSpPr txBox="1"/>
          <p:nvPr/>
        </p:nvSpPr>
        <p:spPr>
          <a:xfrm>
            <a:off x="676053" y="197346"/>
            <a:ext cx="7041483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ECF460-DD6E-73B0-197A-9E95FDF5BC99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property.</a:t>
            </a:r>
          </a:p>
          <a:p>
            <a:endParaRPr lang="en-US" dirty="0"/>
          </a:p>
          <a:p>
            <a:r>
              <a:rPr lang="en-US" dirty="0"/>
              <a:t>Or they can be a JSON Array 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[]</a:t>
            </a:r>
            <a:r>
              <a:rPr lang="en-US" dirty="0"/>
              <a:t>, identifying an unordered list of values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D93C10-21CA-A73F-6A73-55A60B183C76}"/>
              </a:ext>
            </a:extLst>
          </p:cNvPr>
          <p:cNvSpPr txBox="1"/>
          <p:nvPr/>
        </p:nvSpPr>
        <p:spPr>
          <a:xfrm>
            <a:off x="5231502" y="3824820"/>
            <a:ext cx="248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(Array of JSON objects)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3D2766-C037-35FE-4466-4E160DBCF09D}"/>
              </a:ext>
            </a:extLst>
          </p:cNvPr>
          <p:cNvSpPr txBox="1"/>
          <p:nvPr/>
        </p:nvSpPr>
        <p:spPr>
          <a:xfrm>
            <a:off x="6353166" y="5203865"/>
            <a:ext cx="176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(Array of strings)</a:t>
            </a:r>
          </a:p>
        </p:txBody>
      </p:sp>
    </p:spTree>
    <p:extLst>
      <p:ext uri="{BB962C8B-B14F-4D97-AF65-F5344CB8AC3E}">
        <p14:creationId xmlns:p14="http://schemas.microsoft.com/office/powerpoint/2010/main" val="37688849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3C062-CC08-F542-55E1-71927EBB8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Inspecting JSON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664E229-02F5-5DB5-2FB0-A3D2E3FAEF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176898"/>
              </p:ext>
            </p:extLst>
          </p:nvPr>
        </p:nvGraphicFramePr>
        <p:xfrm>
          <a:off x="1085335" y="2391032"/>
          <a:ext cx="9625914" cy="1407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5141">
                  <a:extLst>
                    <a:ext uri="{9D8B030D-6E8A-4147-A177-3AD203B41FA5}">
                      <a16:colId xmlns:a16="http://schemas.microsoft.com/office/drawing/2014/main" val="655592811"/>
                    </a:ext>
                  </a:extLst>
                </a:gridCol>
                <a:gridCol w="1989438">
                  <a:extLst>
                    <a:ext uri="{9D8B030D-6E8A-4147-A177-3AD203B41FA5}">
                      <a16:colId xmlns:a16="http://schemas.microsoft.com/office/drawing/2014/main" val="1658826356"/>
                    </a:ext>
                  </a:extLst>
                </a:gridCol>
                <a:gridCol w="2432221">
                  <a:extLst>
                    <a:ext uri="{9D8B030D-6E8A-4147-A177-3AD203B41FA5}">
                      <a16:colId xmlns:a16="http://schemas.microsoft.com/office/drawing/2014/main" val="1271733941"/>
                    </a:ext>
                  </a:extLst>
                </a:gridCol>
                <a:gridCol w="939114">
                  <a:extLst>
                    <a:ext uri="{9D8B030D-6E8A-4147-A177-3AD203B41FA5}">
                      <a16:colId xmlns:a16="http://schemas.microsoft.com/office/drawing/2014/main" val="20434045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SELECT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WHERE</a:t>
                      </a:r>
                      <a:endParaRPr 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FROM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Consolas" panose="020B0609020204030204" pitchFamily="49" charset="0"/>
                        </a:rPr>
                        <a:t>CROSS APPLY</a:t>
                      </a:r>
                      <a:endParaRPr lang="en-US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(Other)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6041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ISJSON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58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JSON_PATH_EXISTS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65037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28477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CD57A83-5B76-9863-3EBD-34394061E1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428625"/>
            <a:ext cx="11430000" cy="6000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4998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A85293D-4C41-225F-9D44-15AEAC28F575}"/>
              </a:ext>
            </a:extLst>
          </p:cNvPr>
          <p:cNvSpPr txBox="1"/>
          <p:nvPr/>
        </p:nvSpPr>
        <p:spPr>
          <a:xfrm>
            <a:off x="816048" y="1011220"/>
            <a:ext cx="5680445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4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{}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4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[]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--DECLARE @_json char(2) = '['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--DECLARE @_json char(2) = '.'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5A764A-D124-5790-79A7-6B0FF10B28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671" y="5018150"/>
            <a:ext cx="3163253" cy="894969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9D4E6507-8C86-0B2E-13FE-7F1F904C32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7671" y="2815971"/>
            <a:ext cx="3140242" cy="894969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9F0345CD-D82D-EBBC-C0E4-679539E9BE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7671" y="996329"/>
            <a:ext cx="3140242" cy="894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0065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20636E-11AD-7BF3-8097-9CD4053110CC}"/>
              </a:ext>
            </a:extLst>
          </p:cNvPr>
          <p:cNvSpPr txBox="1"/>
          <p:nvPr/>
        </p:nvSpPr>
        <p:spPr>
          <a:xfrm>
            <a:off x="901109" y="646629"/>
            <a:ext cx="62439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6E19F4-8F02-541B-A38F-7A77B7C0E31C}"/>
              </a:ext>
            </a:extLst>
          </p:cNvPr>
          <p:cNvSpPr txBox="1"/>
          <p:nvPr/>
        </p:nvSpPr>
        <p:spPr>
          <a:xfrm>
            <a:off x="1275907" y="1233647"/>
            <a:ext cx="8995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Tests for a valid JSON object or array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280BCF-82E6-D74F-0616-80EC1B3597DC}"/>
              </a:ext>
            </a:extLst>
          </p:cNvPr>
          <p:cNvSpPr txBox="1"/>
          <p:nvPr/>
        </p:nvSpPr>
        <p:spPr>
          <a:xfrm>
            <a:off x="1275907" y="1756876"/>
            <a:ext cx="5273749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2.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3.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4.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5.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'{"key":[]}'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6.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'[{"key":{}}]'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7.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'[1,2]'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8.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'"key":[1,2]'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9.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'{[1,2]}'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10.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'{},{}'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11.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'[{},{}]'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-- 1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12.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'{[],[]}'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endParaRPr lang="en-US" sz="1600" dirty="0">
              <a:solidFill>
                <a:srgbClr val="008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13.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(NULL)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00B0F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14.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'NULL'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15.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'null'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906B04-4EC0-023F-32FB-F3CE12CA24DA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5A5D17-D173-98F3-0228-842BFE7BEBF4}"/>
              </a:ext>
            </a:extLst>
          </p:cNvPr>
          <p:cNvSpPr txBox="1"/>
          <p:nvPr/>
        </p:nvSpPr>
        <p:spPr>
          <a:xfrm>
            <a:off x="7532914" y="1666777"/>
            <a:ext cx="3586463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Arrays must be accompanied by a property name, unless the JSON originally starts with square brackets. In that case, property name is explicitly disallowed.</a:t>
            </a:r>
          </a:p>
          <a:p>
            <a:endParaRPr lang="en-US" sz="1200" dirty="0"/>
          </a:p>
          <a:p>
            <a:r>
              <a:rPr lang="en-US" dirty="0"/>
              <a:t>Property names require outer JSON objects to contain them</a:t>
            </a:r>
          </a:p>
          <a:p>
            <a:endParaRPr lang="en-US" sz="1400" dirty="0"/>
          </a:p>
          <a:p>
            <a:r>
              <a:rPr lang="en-US" dirty="0"/>
              <a:t>There can only be one JSON object, unless enclosed in an array</a:t>
            </a:r>
          </a:p>
          <a:p>
            <a:endParaRPr lang="en-US" sz="1400" dirty="0"/>
          </a:p>
          <a:p>
            <a:r>
              <a:rPr lang="en-US" dirty="0"/>
              <a:t>NULLs are not JSON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4DA0F7-DC3A-D644-5712-056B82987029}"/>
              </a:ext>
            </a:extLst>
          </p:cNvPr>
          <p:cNvCxnSpPr/>
          <p:nvPr/>
        </p:nvCxnSpPr>
        <p:spPr>
          <a:xfrm flipV="1">
            <a:off x="5845629" y="2013857"/>
            <a:ext cx="1687286" cy="8490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FCD77C1-80D0-9112-138D-B83BDFB5E5C7}"/>
              </a:ext>
            </a:extLst>
          </p:cNvPr>
          <p:cNvCxnSpPr>
            <a:cxnSpLocks/>
          </p:cNvCxnSpPr>
          <p:nvPr/>
        </p:nvCxnSpPr>
        <p:spPr>
          <a:xfrm flipV="1">
            <a:off x="5845629" y="2013857"/>
            <a:ext cx="1687286" cy="18396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1C11FB2-F24E-E6EF-522D-A6429743ED08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5845628" y="3166472"/>
            <a:ext cx="1687286" cy="2392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5E47B4D-67A2-26E5-C4CD-9EF49165DA01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5845629" y="3405715"/>
            <a:ext cx="1687285" cy="7033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A068AED-9A58-55E5-D4C1-265DB9402342}"/>
              </a:ext>
            </a:extLst>
          </p:cNvPr>
          <p:cNvCxnSpPr>
            <a:cxnSpLocks/>
          </p:cNvCxnSpPr>
          <p:nvPr/>
        </p:nvCxnSpPr>
        <p:spPr>
          <a:xfrm flipV="1">
            <a:off x="5845629" y="4350058"/>
            <a:ext cx="1668148" cy="4940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35A8A95-67E2-07F3-BFD8-584366AA15DF}"/>
              </a:ext>
            </a:extLst>
          </p:cNvPr>
          <p:cNvCxnSpPr>
            <a:cxnSpLocks/>
          </p:cNvCxnSpPr>
          <p:nvPr/>
        </p:nvCxnSpPr>
        <p:spPr>
          <a:xfrm flipV="1">
            <a:off x="5845628" y="4366653"/>
            <a:ext cx="1668149" cy="7243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1794027-DFF7-4E58-074D-B81E36330EDE}"/>
              </a:ext>
            </a:extLst>
          </p:cNvPr>
          <p:cNvCxnSpPr>
            <a:cxnSpLocks/>
          </p:cNvCxnSpPr>
          <p:nvPr/>
        </p:nvCxnSpPr>
        <p:spPr>
          <a:xfrm flipV="1">
            <a:off x="6197643" y="4963934"/>
            <a:ext cx="1335270" cy="7946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D530032-CECE-3D9E-CA4B-530F454AC6C6}"/>
              </a:ext>
            </a:extLst>
          </p:cNvPr>
          <p:cNvCxnSpPr>
            <a:cxnSpLocks/>
          </p:cNvCxnSpPr>
          <p:nvPr/>
        </p:nvCxnSpPr>
        <p:spPr>
          <a:xfrm flipV="1">
            <a:off x="5845628" y="4968592"/>
            <a:ext cx="1700110" cy="114590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4CC9A94-29AB-E565-D87D-677B5D3B7F8F}"/>
              </a:ext>
            </a:extLst>
          </p:cNvPr>
          <p:cNvCxnSpPr>
            <a:cxnSpLocks/>
          </p:cNvCxnSpPr>
          <p:nvPr/>
        </p:nvCxnSpPr>
        <p:spPr>
          <a:xfrm flipV="1">
            <a:off x="5994358" y="4988301"/>
            <a:ext cx="1551380" cy="13105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E019F0A-24F2-3941-ACCF-53ADA0DB001E}"/>
              </a:ext>
            </a:extLst>
          </p:cNvPr>
          <p:cNvCxnSpPr>
            <a:cxnSpLocks/>
          </p:cNvCxnSpPr>
          <p:nvPr/>
        </p:nvCxnSpPr>
        <p:spPr>
          <a:xfrm flipV="1">
            <a:off x="5845628" y="2013857"/>
            <a:ext cx="1687285" cy="20952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1C4B53B-4288-970C-549F-2862ED6289FF}"/>
              </a:ext>
            </a:extLst>
          </p:cNvPr>
          <p:cNvCxnSpPr>
            <a:cxnSpLocks/>
          </p:cNvCxnSpPr>
          <p:nvPr/>
        </p:nvCxnSpPr>
        <p:spPr>
          <a:xfrm flipV="1">
            <a:off x="5845628" y="2013857"/>
            <a:ext cx="1700110" cy="11526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38099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EDD89-8B8B-5DD5-B969-A2CFD1C4A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F5A6C07-BD41-6AEA-0A58-AB45F3954924}"/>
              </a:ext>
            </a:extLst>
          </p:cNvPr>
          <p:cNvSpPr txBox="1"/>
          <p:nvPr/>
        </p:nvSpPr>
        <p:spPr>
          <a:xfrm>
            <a:off x="901109" y="646629"/>
            <a:ext cx="100149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 [,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json_type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 = (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|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)] 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8B5C55-03D6-C599-A935-3F560886CAF8}"/>
              </a:ext>
            </a:extLst>
          </p:cNvPr>
          <p:cNvSpPr txBox="1"/>
          <p:nvPr/>
        </p:nvSpPr>
        <p:spPr>
          <a:xfrm>
            <a:off x="1275907" y="1233647"/>
            <a:ext cx="89951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Tests for a valid JSON value. This can be a JSON object, array, number, string or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one of the three literal values of (false, true, null)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03C4FE-1715-F424-733B-758B393D1B51}"/>
              </a:ext>
            </a:extLst>
          </p:cNvPr>
          <p:cNvSpPr txBox="1"/>
          <p:nvPr/>
        </p:nvSpPr>
        <p:spPr>
          <a:xfrm>
            <a:off x="8789723" y="6211371"/>
            <a:ext cx="29626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</p:txBody>
      </p:sp>
      <p:sp>
        <p:nvSpPr>
          <p:cNvPr id="8" name="Star: 10 Points 7">
            <a:extLst>
              <a:ext uri="{FF2B5EF4-FFF2-40B4-BE49-F238E27FC236}">
                <a16:creationId xmlns:a16="http://schemas.microsoft.com/office/drawing/2014/main" id="{C14F43F0-B609-148B-9D22-48E9DA5D6038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C48B69D-E770-DE16-0D9E-6E5C7AD302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0367978"/>
              </p:ext>
            </p:extLst>
          </p:nvPr>
        </p:nvGraphicFramePr>
        <p:xfrm>
          <a:off x="999744" y="2834242"/>
          <a:ext cx="7721209" cy="239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4732">
                  <a:extLst>
                    <a:ext uri="{9D8B030D-6E8A-4147-A177-3AD203B41FA5}">
                      <a16:colId xmlns:a16="http://schemas.microsoft.com/office/drawing/2014/main" val="52433680"/>
                    </a:ext>
                  </a:extLst>
                </a:gridCol>
                <a:gridCol w="5656477">
                  <a:extLst>
                    <a:ext uri="{9D8B030D-6E8A-4147-A177-3AD203B41FA5}">
                      <a16:colId xmlns:a16="http://schemas.microsoft.com/office/drawing/2014/main" val="30044025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JSON_type</a:t>
                      </a:r>
                      <a:r>
                        <a:rPr lang="en-US" dirty="0"/>
                        <a:t>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6040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ARRAY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 valid JSON array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626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OBJECT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dirty="0">
                          <a:effectLst/>
                        </a:rPr>
                        <a:t>Tests for a valid JSON 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33382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SCALAR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 valid JSON scalar – number or string</a:t>
                      </a:r>
                      <a:endParaRPr lang="en-US" dirty="0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0539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VALUE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any valid JSON value of a key/value pair. This can be a JSON object, array, number, string or one of the three literal values in (false, true, null)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963873"/>
                  </a:ext>
                </a:extLst>
              </a:tr>
            </a:tbl>
          </a:graphicData>
        </a:graphic>
      </p:graphicFrame>
      <p:sp>
        <p:nvSpPr>
          <p:cNvPr id="2" name="Star: 10 Points 1">
            <a:extLst>
              <a:ext uri="{FF2B5EF4-FFF2-40B4-BE49-F238E27FC236}">
                <a16:creationId xmlns:a16="http://schemas.microsoft.com/office/drawing/2014/main" id="{43F5F796-6F83-F31A-BAA8-1E4A4FC9C2FA}"/>
              </a:ext>
            </a:extLst>
          </p:cNvPr>
          <p:cNvSpPr/>
          <p:nvPr/>
        </p:nvSpPr>
        <p:spPr>
          <a:xfrm rot="20706229">
            <a:off x="2202458" y="4330606"/>
            <a:ext cx="561987" cy="432085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" dirty="0"/>
              <a:t>New for SQL Server 2022!</a:t>
            </a:r>
          </a:p>
        </p:txBody>
      </p:sp>
      <p:sp>
        <p:nvSpPr>
          <p:cNvPr id="3" name="Star: 10 Points 2">
            <a:extLst>
              <a:ext uri="{FF2B5EF4-FFF2-40B4-BE49-F238E27FC236}">
                <a16:creationId xmlns:a16="http://schemas.microsoft.com/office/drawing/2014/main" id="{434CF406-CB01-CA11-D1F9-B15F64189BE5}"/>
              </a:ext>
            </a:extLst>
          </p:cNvPr>
          <p:cNvSpPr/>
          <p:nvPr/>
        </p:nvSpPr>
        <p:spPr>
          <a:xfrm rot="20706229">
            <a:off x="2202457" y="3926269"/>
            <a:ext cx="561987" cy="432085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" dirty="0"/>
              <a:t>New for SQL Server 2022!</a:t>
            </a:r>
          </a:p>
        </p:txBody>
      </p:sp>
      <p:pic>
        <p:nvPicPr>
          <p:cNvPr id="1026" name="Picture 2" descr="remember symbol clipart 10 free Cliparts | Download images on Clipground 2024">
            <a:extLst>
              <a:ext uri="{FF2B5EF4-FFF2-40B4-BE49-F238E27FC236}">
                <a16:creationId xmlns:a16="http://schemas.microsoft.com/office/drawing/2014/main" id="{416A17DE-F248-ACA1-CF5F-0698256616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7051" y="5263691"/>
            <a:ext cx="259780" cy="259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3A0913-3FA7-486F-8C4C-A11F1C49088B}"/>
              </a:ext>
            </a:extLst>
          </p:cNvPr>
          <p:cNvSpPr txBox="1"/>
          <p:nvPr/>
        </p:nvSpPr>
        <p:spPr>
          <a:xfrm>
            <a:off x="4788130" y="5190011"/>
            <a:ext cx="1355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 (lowercase!)</a:t>
            </a:r>
          </a:p>
        </p:txBody>
      </p:sp>
    </p:spTree>
    <p:extLst>
      <p:ext uri="{BB962C8B-B14F-4D97-AF65-F5344CB8AC3E}">
        <p14:creationId xmlns:p14="http://schemas.microsoft.com/office/powerpoint/2010/main" val="6956735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20636E-11AD-7BF3-8097-9CD4053110CC}"/>
              </a:ext>
            </a:extLst>
          </p:cNvPr>
          <p:cNvSpPr txBox="1"/>
          <p:nvPr/>
        </p:nvSpPr>
        <p:spPr>
          <a:xfrm>
            <a:off x="901108" y="646629"/>
            <a:ext cx="90190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 [,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json_type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= (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|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)] )</a:t>
            </a:r>
            <a:endParaRPr lang="en-US" sz="2800" dirty="0">
              <a:latin typeface="Consolas" panose="020B0609020204030204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75E55BF-ACA8-7CAD-430C-4FDD62C7CA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5709946"/>
              </p:ext>
            </p:extLst>
          </p:nvPr>
        </p:nvGraphicFramePr>
        <p:xfrm>
          <a:off x="1441148" y="1366493"/>
          <a:ext cx="9309703" cy="505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0439">
                  <a:extLst>
                    <a:ext uri="{9D8B030D-6E8A-4147-A177-3AD203B41FA5}">
                      <a16:colId xmlns:a16="http://schemas.microsoft.com/office/drawing/2014/main" val="1962960265"/>
                    </a:ext>
                  </a:extLst>
                </a:gridCol>
                <a:gridCol w="1404748">
                  <a:extLst>
                    <a:ext uri="{9D8B030D-6E8A-4147-A177-3AD203B41FA5}">
                      <a16:colId xmlns:a16="http://schemas.microsoft.com/office/drawing/2014/main" val="1960977839"/>
                    </a:ext>
                  </a:extLst>
                </a:gridCol>
                <a:gridCol w="1482811">
                  <a:extLst>
                    <a:ext uri="{9D8B030D-6E8A-4147-A177-3AD203B41FA5}">
                      <a16:colId xmlns:a16="http://schemas.microsoft.com/office/drawing/2014/main" val="1657064559"/>
                    </a:ext>
                  </a:extLst>
                </a:gridCol>
                <a:gridCol w="1495168">
                  <a:extLst>
                    <a:ext uri="{9D8B030D-6E8A-4147-A177-3AD203B41FA5}">
                      <a16:colId xmlns:a16="http://schemas.microsoft.com/office/drawing/2014/main" val="2559841676"/>
                    </a:ext>
                  </a:extLst>
                </a:gridCol>
                <a:gridCol w="1507524">
                  <a:extLst>
                    <a:ext uri="{9D8B030D-6E8A-4147-A177-3AD203B41FA5}">
                      <a16:colId xmlns:a16="http://schemas.microsoft.com/office/drawing/2014/main" val="791409100"/>
                    </a:ext>
                  </a:extLst>
                </a:gridCol>
                <a:gridCol w="989013">
                  <a:extLst>
                    <a:ext uri="{9D8B030D-6E8A-4147-A177-3AD203B41FA5}">
                      <a16:colId xmlns:a16="http://schemas.microsoft.com/office/drawing/2014/main" val="2936314179"/>
                    </a:ext>
                  </a:extLst>
                </a:gridCol>
              </a:tblGrid>
              <a:tr h="351064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FF"/>
                          </a:solidFill>
                          <a:effectLst/>
                          <a:uLnTx/>
                          <a:uFillTx/>
                          <a:latin typeface="Cascadia Mono" panose="020B0609020000020004" pitchFamily="49" charset="0"/>
                          <a:ea typeface="+mn-ea"/>
                          <a:cs typeface="Cascadia Mono" panose="020B0609020000020004" pitchFamily="49" charset="0"/>
                        </a:rPr>
                        <a:t>ISJSON</a:t>
                      </a:r>
                      <a:r>
                        <a:rPr lang="en-US" sz="18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Cascadia Mono" panose="020B0609020000020004" pitchFamily="49" charset="0"/>
                          <a:ea typeface="+mn-ea"/>
                          <a:cs typeface="Cascadia Mono" panose="020B0609020000020004" pitchFamily="49" charset="0"/>
                        </a:rPr>
                        <a:t>VALUE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SCALAR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OBJECT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ARRAY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1811667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692602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'NULL'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4084534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'null'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4434742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'a'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607793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'"a"'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1634560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'2'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704714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'"2"'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6047043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'false'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348471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'"false"'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320358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'[]'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0079796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'[1,2,4]'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901048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'{}'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970081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'{"</a:t>
                      </a:r>
                      <a:r>
                        <a:rPr lang="en-US" sz="1600" dirty="0" err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key":"value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794606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/>
                        <a:t>(malformed JSON)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2768540"/>
                  </a:ext>
                </a:extLst>
              </a:tr>
            </a:tbl>
          </a:graphicData>
        </a:graphic>
      </p:graphicFrame>
      <p:grpSp>
        <p:nvGrpSpPr>
          <p:cNvPr id="6" name="Group 5">
            <a:extLst>
              <a:ext uri="{FF2B5EF4-FFF2-40B4-BE49-F238E27FC236}">
                <a16:creationId xmlns:a16="http://schemas.microsoft.com/office/drawing/2014/main" id="{71383321-41DD-D40B-1CE0-9A51B12C9493}"/>
              </a:ext>
            </a:extLst>
          </p:cNvPr>
          <p:cNvGrpSpPr/>
          <p:nvPr/>
        </p:nvGrpSpPr>
        <p:grpSpPr>
          <a:xfrm>
            <a:off x="6697362" y="1260389"/>
            <a:ext cx="4053489" cy="5165784"/>
            <a:chOff x="6697362" y="1260389"/>
            <a:chExt cx="4053489" cy="516578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A8C3C7F-E907-AC6F-9FB0-94A885BAE7D1}"/>
                </a:ext>
              </a:extLst>
            </p:cNvPr>
            <p:cNvSpPr/>
            <p:nvPr/>
          </p:nvSpPr>
          <p:spPr>
            <a:xfrm>
              <a:off x="6697362" y="1260389"/>
              <a:ext cx="4053489" cy="5165784"/>
            </a:xfrm>
            <a:prstGeom prst="rect">
              <a:avLst/>
            </a:prstGeom>
            <a:noFill/>
            <a:ln w="635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7BF59DE-C75C-444C-1AD7-196F1D09A277}"/>
                </a:ext>
              </a:extLst>
            </p:cNvPr>
            <p:cNvSpPr txBox="1"/>
            <p:nvPr/>
          </p:nvSpPr>
          <p:spPr>
            <a:xfrm>
              <a:off x="7241060" y="5012836"/>
              <a:ext cx="254549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XOR            =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7909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128375B-FE41-84DB-DBCD-2F6E5273B05D}"/>
              </a:ext>
            </a:extLst>
          </p:cNvPr>
          <p:cNvSpPr txBox="1"/>
          <p:nvPr/>
        </p:nvSpPr>
        <p:spPr>
          <a:xfrm>
            <a:off x="1316736" y="966430"/>
            <a:ext cx="672998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ALTER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TABLE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20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[Table_1]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WITH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CHECK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ADD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CONSTRAINT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[chk_dbo.Table1_JsonCheck]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CHECK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((</a:t>
            </a:r>
            <a:r>
              <a:rPr lang="en-US" sz="20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20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JsonColumn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)=(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)))</a:t>
            </a:r>
            <a:endParaRPr lang="en-US" sz="20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2DC66A8-FE89-8C27-21F5-3338417991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987" y="2274703"/>
            <a:ext cx="9746316" cy="3701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21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4D13C6-5314-7759-BA83-15D245790A58}"/>
              </a:ext>
            </a:extLst>
          </p:cNvPr>
          <p:cNvSpPr txBox="1"/>
          <p:nvPr/>
        </p:nvSpPr>
        <p:spPr>
          <a:xfrm>
            <a:off x="1028697" y="1825827"/>
            <a:ext cx="8444911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'$."bogus-field"'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069AAA-642C-24E7-2DF8-6921B768BAF8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D02F32-77B5-C37E-0CF9-5739455591A0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to an array or value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  <p:sp>
        <p:nvSpPr>
          <p:cNvPr id="9" name="Star: 10 Points 8">
            <a:extLst>
              <a:ext uri="{FF2B5EF4-FFF2-40B4-BE49-F238E27FC236}">
                <a16:creationId xmlns:a16="http://schemas.microsoft.com/office/drawing/2014/main" id="{60145506-C846-1185-B0A4-40B15B23F448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96DB4A-1739-666A-5125-9EB7D470190C}"/>
              </a:ext>
            </a:extLst>
          </p:cNvPr>
          <p:cNvSpPr txBox="1"/>
          <p:nvPr/>
        </p:nvSpPr>
        <p:spPr>
          <a:xfrm>
            <a:off x="8871202" y="5690370"/>
            <a:ext cx="2962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1049BA-0030-3DB9-A7F7-1C46C9BEB260}"/>
              </a:ext>
            </a:extLst>
          </p:cNvPr>
          <p:cNvSpPr txBox="1"/>
          <p:nvPr/>
        </p:nvSpPr>
        <p:spPr>
          <a:xfrm>
            <a:off x="5293504" y="4566378"/>
            <a:ext cx="319731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[10]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"bogus-field"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3858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C7709-3427-AD7D-C798-1401B1A87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8C38BED-ACFC-216F-1FD1-7466B8EB79D8}"/>
              </a:ext>
            </a:extLst>
          </p:cNvPr>
          <p:cNvSpPr txBox="1"/>
          <p:nvPr/>
        </p:nvSpPr>
        <p:spPr>
          <a:xfrm>
            <a:off x="1028697" y="1825827"/>
            <a:ext cx="882768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'{'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or other malformed JSON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'$."bogus-field"'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3643BD-8192-128E-1384-BFF93E157F3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FD39BE-FC4B-EC80-17AA-D1C70029B2F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2BDB42-D629-7ACE-EF32-E09BB0D2E342}"/>
              </a:ext>
            </a:extLst>
          </p:cNvPr>
          <p:cNvSpPr/>
          <p:nvPr/>
        </p:nvSpPr>
        <p:spPr>
          <a:xfrm>
            <a:off x="1028697" y="3429000"/>
            <a:ext cx="7756957" cy="364524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051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E08F4-BCF5-BACB-924E-9D551FA32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F40FD7-94AE-B543-CFCE-44371B0D910B}"/>
              </a:ext>
            </a:extLst>
          </p:cNvPr>
          <p:cNvSpPr txBox="1"/>
          <p:nvPr/>
        </p:nvSpPr>
        <p:spPr>
          <a:xfrm>
            <a:off x="1028697" y="1825827"/>
            <a:ext cx="909349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'$."karate-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belt_color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"'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PRINT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'Stay away!'</a:t>
            </a:r>
            <a:endParaRPr lang="en-US" sz="18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'Not JSON-formatted'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5DE166-B732-9217-5FF5-BD153ACD96F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A5FBE7-BB22-E20C-9E26-09355A778CF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53198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128375B-FE41-84DB-DBCD-2F6E5273B05D}"/>
              </a:ext>
            </a:extLst>
          </p:cNvPr>
          <p:cNvSpPr txBox="1"/>
          <p:nvPr/>
        </p:nvSpPr>
        <p:spPr>
          <a:xfrm>
            <a:off x="1316735" y="966430"/>
            <a:ext cx="938421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ALTER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TABLE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</a:t>
            </a:r>
            <a:r>
              <a:rPr lang="en-US" sz="20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[Table1]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WITH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CHECK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CONSTRAINT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[chk_dbo.Table1_JsonCheck]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CHECK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((</a:t>
            </a:r>
            <a:r>
              <a:rPr lang="en-US" sz="20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JSON_PATH_EXISTS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</a:t>
            </a:r>
            <a:r>
              <a:rPr lang="en-US" sz="20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JsonData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'$.name'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)=(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)))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BC176FA-B11E-26B3-1B83-D0FDC51E47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550" y="2363909"/>
            <a:ext cx="10248900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8063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256E7-BA56-CD7A-8E29-839436B41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Querying JSON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854A310-F359-15F9-F9FA-235327BCB4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4125428"/>
              </p:ext>
            </p:extLst>
          </p:nvPr>
        </p:nvGraphicFramePr>
        <p:xfrm>
          <a:off x="1085335" y="2391032"/>
          <a:ext cx="9625914" cy="192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5141">
                  <a:extLst>
                    <a:ext uri="{9D8B030D-6E8A-4147-A177-3AD203B41FA5}">
                      <a16:colId xmlns:a16="http://schemas.microsoft.com/office/drawing/2014/main" val="655592811"/>
                    </a:ext>
                  </a:extLst>
                </a:gridCol>
                <a:gridCol w="1952367">
                  <a:extLst>
                    <a:ext uri="{9D8B030D-6E8A-4147-A177-3AD203B41FA5}">
                      <a16:colId xmlns:a16="http://schemas.microsoft.com/office/drawing/2014/main" val="1658826356"/>
                    </a:ext>
                  </a:extLst>
                </a:gridCol>
                <a:gridCol w="2469292">
                  <a:extLst>
                    <a:ext uri="{9D8B030D-6E8A-4147-A177-3AD203B41FA5}">
                      <a16:colId xmlns:a16="http://schemas.microsoft.com/office/drawing/2014/main" val="1271733941"/>
                    </a:ext>
                  </a:extLst>
                </a:gridCol>
                <a:gridCol w="939114">
                  <a:extLst>
                    <a:ext uri="{9D8B030D-6E8A-4147-A177-3AD203B41FA5}">
                      <a16:colId xmlns:a16="http://schemas.microsoft.com/office/drawing/2014/main" val="20434045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SELECT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WHERE</a:t>
                      </a:r>
                      <a:endParaRPr 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FROM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Consolas" panose="020B0609020204030204" pitchFamily="49" charset="0"/>
                        </a:rPr>
                        <a:t>CROSS APPLY</a:t>
                      </a:r>
                      <a:endParaRPr lang="en-US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(Other)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6041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JSON_QUERY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58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JSON_VALUE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6503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OPENJSON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799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81154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8" y="1826613"/>
            <a:ext cx="10723681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"children":[]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{entire contents of @_json}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dirty="0">
              <a:solidFill>
                <a:srgbClr val="008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'$.parents[1]'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'$.children'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   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[]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[, 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path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1" y="1233647"/>
            <a:ext cx="96756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Returns a well-formatted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JSON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array or object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from the original JSON ,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but not scalar/Boolean values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A96AEB-6343-5E6A-23C8-32DF36550836}"/>
              </a:ext>
            </a:extLst>
          </p:cNvPr>
          <p:cNvSpPr txBox="1"/>
          <p:nvPr/>
        </p:nvSpPr>
        <p:spPr>
          <a:xfrm>
            <a:off x="8789723" y="5605066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12484176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spouse_name":null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Jeff Foushee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Mom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'$.parents[1].name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Dad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false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spouse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_name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i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919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Returns the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stringable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value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of a key within JSON,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but not when a JSON object/array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2DEFB4-808C-5CD3-FB68-AA30180AF563}"/>
              </a:ext>
            </a:extLst>
          </p:cNvPr>
          <p:cNvSpPr txBox="1"/>
          <p:nvPr/>
        </p:nvSpPr>
        <p:spPr>
          <a:xfrm>
            <a:off x="8789723" y="5624353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DBC82B2-543F-22B5-453D-FD029257A2A7}"/>
              </a:ext>
            </a:extLst>
          </p:cNvPr>
          <p:cNvGrpSpPr/>
          <p:nvPr/>
        </p:nvGrpSpPr>
        <p:grpSpPr>
          <a:xfrm>
            <a:off x="8587946" y="3429000"/>
            <a:ext cx="3021241" cy="2699951"/>
            <a:chOff x="8587946" y="3429000"/>
            <a:chExt cx="3021241" cy="269995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AEC938C-0E03-0B43-D75E-45B78099EE66}"/>
                </a:ext>
              </a:extLst>
            </p:cNvPr>
            <p:cNvSpPr txBox="1"/>
            <p:nvPr/>
          </p:nvSpPr>
          <p:spPr>
            <a:xfrm>
              <a:off x="10216896" y="3429000"/>
              <a:ext cx="139229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Illegit NULL</a:t>
              </a:r>
            </a:p>
            <a:p>
              <a:endParaRPr lang="en-US" dirty="0"/>
            </a:p>
            <a:p>
              <a:r>
                <a:rPr lang="en-US" dirty="0"/>
                <a:t>Legit NULL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2ADA59A-67EE-5CEC-67C2-8A603A53A5BB}"/>
                </a:ext>
              </a:extLst>
            </p:cNvPr>
            <p:cNvCxnSpPr/>
            <p:nvPr/>
          </p:nvCxnSpPr>
          <p:spPr>
            <a:xfrm flipV="1">
              <a:off x="8637373" y="4337222"/>
              <a:ext cx="1579523" cy="179172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75EDB70-3DD9-1919-D2CF-4F1630405BDA}"/>
                </a:ext>
              </a:extLst>
            </p:cNvPr>
            <p:cNvCxnSpPr/>
            <p:nvPr/>
          </p:nvCxnSpPr>
          <p:spPr>
            <a:xfrm flipV="1">
              <a:off x="8587946" y="3595816"/>
              <a:ext cx="1615574" cy="49295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75813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C2A84-EEF4-D02B-473D-F95F30672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6583DED-79F7-76F6-CFAA-19E02FCBE11C}"/>
              </a:ext>
            </a:extLst>
          </p:cNvPr>
          <p:cNvSpPr txBox="1"/>
          <p:nvPr/>
        </p:nvSpPr>
        <p:spPr>
          <a:xfrm>
            <a:off x="1012747" y="1674674"/>
            <a:ext cx="649752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1056A2-D664-6BA0-1A2E-F400294E290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 vs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 JSON_VALUE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 </a:t>
            </a:r>
            <a:endParaRPr lang="en-US" sz="28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2F29795-34C0-4286-C86D-5A5A90B2DF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6079032"/>
              </p:ext>
            </p:extLst>
          </p:nvPr>
        </p:nvGraphicFramePr>
        <p:xfrm>
          <a:off x="1012747" y="3617733"/>
          <a:ext cx="9954736" cy="2331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069">
                  <a:extLst>
                    <a:ext uri="{9D8B030D-6E8A-4147-A177-3AD203B41FA5}">
                      <a16:colId xmlns:a16="http://schemas.microsoft.com/office/drawing/2014/main" val="398802349"/>
                    </a:ext>
                  </a:extLst>
                </a:gridCol>
                <a:gridCol w="3560064">
                  <a:extLst>
                    <a:ext uri="{9D8B030D-6E8A-4147-A177-3AD203B41FA5}">
                      <a16:colId xmlns:a16="http://schemas.microsoft.com/office/drawing/2014/main" val="3194749352"/>
                    </a:ext>
                  </a:extLst>
                </a:gridCol>
                <a:gridCol w="1640603">
                  <a:extLst>
                    <a:ext uri="{9D8B030D-6E8A-4147-A177-3AD203B41FA5}">
                      <a16:colId xmlns:a16="http://schemas.microsoft.com/office/drawing/2014/main" val="1747772036"/>
                    </a:ext>
                  </a:extLst>
                </a:gridCol>
              </a:tblGrid>
              <a:tr h="276553">
                <a:tc>
                  <a:txBody>
                    <a:bodyPr/>
                    <a:lstStyle/>
                    <a:p>
                      <a:r>
                        <a:rPr lang="en-US" sz="1450" b="0" dirty="0">
                          <a:solidFill>
                            <a:schemeClr val="tx1"/>
                          </a:solidFill>
                        </a:rPr>
                        <a:t>SQL Statement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JSON_QUERY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  <a:endParaRPr lang="en-US" sz="1450" dirty="0">
                        <a:latin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JSON_VALUE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  <a:endParaRPr lang="en-US" sz="1450" dirty="0">
                        <a:latin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8339950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{entire contents of @_json}</a:t>
                      </a:r>
                      <a:endParaRPr lang="en-US" sz="145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961949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[{"</a:t>
                      </a:r>
                      <a:r>
                        <a:rPr lang="en-US" sz="145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name":"Mom</a:t>
                      </a: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"},{"</a:t>
                      </a:r>
                      <a:r>
                        <a:rPr lang="en-US" sz="145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name":"Dad</a:t>
                      </a: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"}]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5324098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'$.name'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Jeff Foushee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0634431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'$.parents[0]'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[{"</a:t>
                      </a:r>
                      <a:r>
                        <a:rPr lang="en-US" sz="145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name":"Mom</a:t>
                      </a: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2200580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'$.parents[0].name'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solidFill>
                          <a:srgbClr val="008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Mom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3415542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'$.parents[1].name'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Dad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478286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4ACCC1D-06A1-7A87-505C-1CC154A85886}"/>
              </a:ext>
            </a:extLst>
          </p:cNvPr>
          <p:cNvSpPr txBox="1"/>
          <p:nvPr/>
        </p:nvSpPr>
        <p:spPr>
          <a:xfrm>
            <a:off x="8068964" y="4821024"/>
            <a:ext cx="12480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Another  </a:t>
            </a:r>
          </a:p>
          <a:p>
            <a:pPr algn="ctr"/>
            <a:r>
              <a:rPr lang="en-US" sz="2400" dirty="0">
                <a:solidFill>
                  <a:srgbClr val="FF0000"/>
                </a:solidFill>
              </a:rPr>
              <a:t>XOR?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24FA655-7A5E-869C-D8DC-303652F018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5311839"/>
              </p:ext>
            </p:extLst>
          </p:nvPr>
        </p:nvGraphicFramePr>
        <p:xfrm>
          <a:off x="5788452" y="3605375"/>
          <a:ext cx="5179031" cy="2331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9031">
                  <a:extLst>
                    <a:ext uri="{9D8B030D-6E8A-4147-A177-3AD203B41FA5}">
                      <a16:colId xmlns:a16="http://schemas.microsoft.com/office/drawing/2014/main" val="3420614832"/>
                    </a:ext>
                  </a:extLst>
                </a:gridCol>
              </a:tblGrid>
              <a:tr h="333036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JSON_PATH_EXISTS</a:t>
                      </a:r>
                      <a:r>
                        <a:rPr lang="en-US" sz="145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4687862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2934800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360770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5424082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5970429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8548491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33555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5287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F569F2-6380-781B-95F6-9EEDBB594D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342" y="227076"/>
            <a:ext cx="1914878" cy="22113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369FF6-E481-4FF6-0C16-2935D4171B3D}"/>
              </a:ext>
            </a:extLst>
          </p:cNvPr>
          <p:cNvSpPr txBox="1"/>
          <p:nvPr/>
        </p:nvSpPr>
        <p:spPr>
          <a:xfrm>
            <a:off x="2828544" y="689788"/>
            <a:ext cx="748588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20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"parents":[{"</a:t>
            </a:r>
            <a:r>
              <a:rPr lang="en-US" sz="20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20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20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20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574F861-2090-92A6-E2CD-AF2F82CBB2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5205" y="3990850"/>
            <a:ext cx="2486678" cy="70330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EC9BC2E-8AA8-FAC1-5F9A-EDC6FB5719DE}"/>
              </a:ext>
            </a:extLst>
          </p:cNvPr>
          <p:cNvSpPr txBox="1"/>
          <p:nvPr/>
        </p:nvSpPr>
        <p:spPr>
          <a:xfrm>
            <a:off x="999744" y="3154137"/>
            <a:ext cx="42242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7030A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D767DFA-19CE-1ACF-BCF6-8A06926769B0}"/>
              </a:ext>
            </a:extLst>
          </p:cNvPr>
          <p:cNvGrpSpPr/>
          <p:nvPr/>
        </p:nvGrpSpPr>
        <p:grpSpPr>
          <a:xfrm>
            <a:off x="999744" y="4880445"/>
            <a:ext cx="10887456" cy="2031325"/>
            <a:chOff x="999744" y="4880445"/>
            <a:chExt cx="10887456" cy="203132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2FA4160-811F-559D-44AA-92D7B44D0C97}"/>
                </a:ext>
              </a:extLst>
            </p:cNvPr>
            <p:cNvSpPr txBox="1"/>
            <p:nvPr/>
          </p:nvSpPr>
          <p:spPr>
            <a:xfrm>
              <a:off x="999744" y="5064682"/>
              <a:ext cx="5096256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</a:t>
              </a:r>
              <a:r>
                <a:rPr lang="en-US" sz="1800" dirty="0">
                  <a:solidFill>
                    <a:srgbClr val="7030A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QUERY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</a:t>
              </a:r>
              <a:r>
                <a:rPr lang="en-US" sz="1800" dirty="0">
                  <a:solidFill>
                    <a:srgbClr val="7030A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QUERY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 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'$[0]'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09C72BE-0DE7-B542-F855-8B6AD0BD6DC5}"/>
                </a:ext>
              </a:extLst>
            </p:cNvPr>
            <p:cNvSpPr txBox="1"/>
            <p:nvPr/>
          </p:nvSpPr>
          <p:spPr>
            <a:xfrm>
              <a:off x="6571488" y="4880445"/>
              <a:ext cx="5315712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</a:t>
              </a:r>
              <a:r>
                <a:rPr lang="en-US" sz="1800" dirty="0">
                  <a:solidFill>
                    <a:srgbClr val="C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VALUE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</a:t>
              </a:r>
              <a:r>
                <a:rPr lang="en-US" sz="1800" dirty="0">
                  <a:solidFill>
                    <a:srgbClr val="7030A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QUERY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</a:t>
              </a:r>
              <a:r>
                <a:rPr lang="en-US" sz="1800" dirty="0">
                  <a:solidFill>
                    <a:srgbClr val="7030A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QUERY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  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'$[0]'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'$.name'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endParaRPr lang="en-US" dirty="0"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8B9DE548-9222-A250-0536-6B726AB2EF33}"/>
              </a:ext>
            </a:extLst>
          </p:cNvPr>
          <p:cNvSpPr txBox="1"/>
          <p:nvPr/>
        </p:nvSpPr>
        <p:spPr>
          <a:xfrm>
            <a:off x="6571488" y="3160232"/>
            <a:ext cx="4224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C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BC3805F-A562-F375-1489-5F3505CE00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5131" y="3983673"/>
            <a:ext cx="2486677" cy="710479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C131C5B-D0D0-AB60-E10A-56E90E1EDC54}"/>
              </a:ext>
            </a:extLst>
          </p:cNvPr>
          <p:cNvCxnSpPr/>
          <p:nvPr/>
        </p:nvCxnSpPr>
        <p:spPr>
          <a:xfrm>
            <a:off x="6096000" y="3154137"/>
            <a:ext cx="0" cy="32710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0187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3366435-5F3A-0592-0DF6-0BD00CD29EAA}"/>
              </a:ext>
            </a:extLst>
          </p:cNvPr>
          <p:cNvSpPr txBox="1"/>
          <p:nvPr/>
        </p:nvSpPr>
        <p:spPr>
          <a:xfrm>
            <a:off x="1555897" y="584662"/>
            <a:ext cx="90802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The “path” argument always starts with “</a:t>
            </a:r>
            <a:r>
              <a:rPr lang="en-US" sz="32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</a:t>
            </a:r>
            <a:r>
              <a:rPr lang="en-US" sz="3200" dirty="0"/>
              <a:t>”, right?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803966-BE63-3D59-6A0F-91F41F2AC75A}"/>
              </a:ext>
            </a:extLst>
          </p:cNvPr>
          <p:cNvSpPr txBox="1"/>
          <p:nvPr/>
        </p:nvSpPr>
        <p:spPr>
          <a:xfrm>
            <a:off x="2925919" y="1578025"/>
            <a:ext cx="634015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AB0DBE-9477-09BB-A733-A8165CB3BC60}"/>
              </a:ext>
            </a:extLst>
          </p:cNvPr>
          <p:cNvSpPr txBox="1"/>
          <p:nvPr/>
        </p:nvSpPr>
        <p:spPr>
          <a:xfrm>
            <a:off x="1018067" y="3645197"/>
            <a:ext cx="48219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$.blah'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[Value]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502CD0D-31EA-86EE-DDBC-9768CBB58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7060" y="4773830"/>
            <a:ext cx="1829466" cy="91473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944EC14-8B2F-445B-7F56-11208FD9FEE3}"/>
              </a:ext>
            </a:extLst>
          </p:cNvPr>
          <p:cNvSpPr txBox="1"/>
          <p:nvPr/>
        </p:nvSpPr>
        <p:spPr>
          <a:xfrm>
            <a:off x="6114465" y="3645197"/>
            <a:ext cx="516919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$.blah'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[Value]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BE617D-D540-AF87-B207-D831E975F330}"/>
              </a:ext>
            </a:extLst>
          </p:cNvPr>
          <p:cNvSpPr txBox="1"/>
          <p:nvPr/>
        </p:nvSpPr>
        <p:spPr>
          <a:xfrm>
            <a:off x="6230112" y="4765044"/>
            <a:ext cx="441251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Msg 13608, Level 16, State 1</a:t>
            </a:r>
          </a:p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Property cannot be found on the </a:t>
            </a:r>
          </a:p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specified JSON path.</a:t>
            </a:r>
            <a:endParaRPr lang="en-US" dirty="0">
              <a:solidFill>
                <a:schemeClr val="accent2">
                  <a:lumMod val="75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90803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107556" y="1937722"/>
            <a:ext cx="619080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[, 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path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Interprets the JSON object into a relational view, using a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DataFrame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7B9C45-45E5-295F-71E5-BD52F779F890}"/>
              </a:ext>
            </a:extLst>
          </p:cNvPr>
          <p:cNvSpPr txBox="1"/>
          <p:nvPr/>
        </p:nvSpPr>
        <p:spPr>
          <a:xfrm>
            <a:off x="1107556" y="3812698"/>
            <a:ext cx="41227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2D9AE9-4718-5934-AA85-6CEC906EE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2233" y="3423801"/>
            <a:ext cx="4364781" cy="1052131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58519FF-7EFA-9D9C-7515-7743BCA1B66A}"/>
              </a:ext>
            </a:extLst>
          </p:cNvPr>
          <p:cNvGrpSpPr/>
          <p:nvPr/>
        </p:nvGrpSpPr>
        <p:grpSpPr>
          <a:xfrm>
            <a:off x="1088951" y="4666829"/>
            <a:ext cx="7144652" cy="894251"/>
            <a:chOff x="1088951" y="4666829"/>
            <a:chExt cx="7144652" cy="89425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89322EC-6D2A-35CD-1D67-E062BDE65E95}"/>
                </a:ext>
              </a:extLst>
            </p:cNvPr>
            <p:cNvSpPr txBox="1"/>
            <p:nvPr/>
          </p:nvSpPr>
          <p:spPr>
            <a:xfrm>
              <a:off x="1088951" y="4821568"/>
              <a:ext cx="422599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*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FROM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OPENJSON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'$.parents'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dirty="0"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B75AAC8-B4A7-13EE-771F-2C5E76DA72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583172" y="4666829"/>
              <a:ext cx="2650431" cy="894251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681AB0D-1CBE-965E-7BC4-E6C696F6B122}"/>
              </a:ext>
            </a:extLst>
          </p:cNvPr>
          <p:cNvGrpSpPr/>
          <p:nvPr/>
        </p:nvGrpSpPr>
        <p:grpSpPr>
          <a:xfrm>
            <a:off x="1088951" y="5634715"/>
            <a:ext cx="6579098" cy="646331"/>
            <a:chOff x="1088951" y="5634715"/>
            <a:chExt cx="6579098" cy="646331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3A62380-2056-E063-1493-18C691FCF691}"/>
                </a:ext>
              </a:extLst>
            </p:cNvPr>
            <p:cNvSpPr txBox="1"/>
            <p:nvPr/>
          </p:nvSpPr>
          <p:spPr>
            <a:xfrm>
              <a:off x="1088951" y="5634715"/>
              <a:ext cx="449498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*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FROM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OPENJSON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'$.parents[0]'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dirty="0"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383E929-0B22-9513-C3C3-E94517ABAA9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583172" y="5697536"/>
              <a:ext cx="2084877" cy="575513"/>
            </a:xfrm>
            <a:prstGeom prst="rect">
              <a:avLst/>
            </a:prstGeom>
          </p:spPr>
        </p:pic>
      </p:grp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14F6E84B-8841-0FB6-4043-CB9B2A2862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3901607"/>
              </p:ext>
            </p:extLst>
          </p:nvPr>
        </p:nvGraphicFramePr>
        <p:xfrm>
          <a:off x="9728790" y="1271130"/>
          <a:ext cx="1524426" cy="15601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4970">
                  <a:extLst>
                    <a:ext uri="{9D8B030D-6E8A-4147-A177-3AD203B41FA5}">
                      <a16:colId xmlns:a16="http://schemas.microsoft.com/office/drawing/2014/main" val="114812362"/>
                    </a:ext>
                  </a:extLst>
                </a:gridCol>
                <a:gridCol w="1049456">
                  <a:extLst>
                    <a:ext uri="{9D8B030D-6E8A-4147-A177-3AD203B41FA5}">
                      <a16:colId xmlns:a16="http://schemas.microsoft.com/office/drawing/2014/main" val="401378235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u="none" strike="noStrike" dirty="0">
                          <a:effectLst/>
                        </a:rPr>
                        <a:t>type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u="none" strike="noStrike" dirty="0">
                          <a:effectLst/>
                        </a:rPr>
                        <a:t>description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583400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0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null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48467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string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151296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number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562235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 err="1">
                          <a:effectLst/>
                        </a:rPr>
                        <a:t>boolean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6554405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JSON array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098729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5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JSON object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6072612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55B68FC1-27E1-5467-4B04-DBBAC3D01E7F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CAC9B30-F64C-6141-9815-0F808C5F12FE}"/>
              </a:ext>
            </a:extLst>
          </p:cNvPr>
          <p:cNvGrpSpPr/>
          <p:nvPr/>
        </p:nvGrpSpPr>
        <p:grpSpPr>
          <a:xfrm>
            <a:off x="7183449" y="3423801"/>
            <a:ext cx="2704263" cy="2828788"/>
            <a:chOff x="7183449" y="3423801"/>
            <a:chExt cx="2704263" cy="282878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A3A69FF-E3AF-9F32-CAE3-5B1B1A4FCBA1}"/>
                </a:ext>
              </a:extLst>
            </p:cNvPr>
            <p:cNvSpPr/>
            <p:nvPr/>
          </p:nvSpPr>
          <p:spPr>
            <a:xfrm>
              <a:off x="9447878" y="3423801"/>
              <a:ext cx="439834" cy="1052131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6CBD71F-150D-FCBB-831A-18E8028DDFBC}"/>
                </a:ext>
              </a:extLst>
            </p:cNvPr>
            <p:cNvSpPr/>
            <p:nvPr/>
          </p:nvSpPr>
          <p:spPr>
            <a:xfrm>
              <a:off x="7793769" y="4645406"/>
              <a:ext cx="439834" cy="82249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F275313-1CD1-C5ED-75CF-866D605D3062}"/>
                </a:ext>
              </a:extLst>
            </p:cNvPr>
            <p:cNvSpPr/>
            <p:nvPr/>
          </p:nvSpPr>
          <p:spPr>
            <a:xfrm>
              <a:off x="7183449" y="5677076"/>
              <a:ext cx="484599" cy="575513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8546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pirit Level Set - Lidl — Northern Ireland - Specials archive">
            <a:extLst>
              <a:ext uri="{FF2B5EF4-FFF2-40B4-BE49-F238E27FC236}">
                <a16:creationId xmlns:a16="http://schemas.microsoft.com/office/drawing/2014/main" id="{C03725A5-E480-063B-31D9-AA91FDF62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560" y="994410"/>
            <a:ext cx="7231380" cy="542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379E86-9C8F-00E3-B9DC-0F7F94CB2C93}"/>
              </a:ext>
            </a:extLst>
          </p:cNvPr>
          <p:cNvSpPr txBox="1"/>
          <p:nvPr/>
        </p:nvSpPr>
        <p:spPr>
          <a:xfrm>
            <a:off x="742950" y="674370"/>
            <a:ext cx="88734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for a level-set….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ADB1CC-A580-CD65-8EA0-59EDAD3F3E47}"/>
              </a:ext>
            </a:extLst>
          </p:cNvPr>
          <p:cNvSpPr txBox="1"/>
          <p:nvPr/>
        </p:nvSpPr>
        <p:spPr>
          <a:xfrm>
            <a:off x="5634990" y="4994910"/>
            <a:ext cx="1314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(level set)</a:t>
            </a:r>
          </a:p>
        </p:txBody>
      </p:sp>
    </p:spTree>
    <p:extLst>
      <p:ext uri="{BB962C8B-B14F-4D97-AF65-F5344CB8AC3E}">
        <p14:creationId xmlns:p14="http://schemas.microsoft.com/office/powerpoint/2010/main" val="403773571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73040274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JOIN</a:t>
            </a:r>
            <a:endParaRPr lang="en-US" sz="4000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DB112C-3F74-BA86-71E2-E3EB0D4D4EC1}"/>
              </a:ext>
            </a:extLst>
          </p:cNvPr>
          <p:cNvSpPr txBox="1"/>
          <p:nvPr/>
        </p:nvSpPr>
        <p:spPr>
          <a:xfrm>
            <a:off x="1297171" y="1233647"/>
            <a:ext cx="9346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Makes a cartesian product of the rows between two tables</a:t>
            </a: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10E04E2-E2FA-499B-AFDB-EA898D27D2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716975"/>
              </p:ext>
            </p:extLst>
          </p:nvPr>
        </p:nvGraphicFramePr>
        <p:xfrm>
          <a:off x="1202181" y="4474802"/>
          <a:ext cx="324580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9343">
                  <a:extLst>
                    <a:ext uri="{9D8B030D-6E8A-4147-A177-3AD203B41FA5}">
                      <a16:colId xmlns:a16="http://schemas.microsoft.com/office/drawing/2014/main" val="859083813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3271539360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765464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069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506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379656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A06262-A41C-8AA6-3E1C-BE184A34FC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502431"/>
              </p:ext>
            </p:extLst>
          </p:nvPr>
        </p:nvGraphicFramePr>
        <p:xfrm>
          <a:off x="1202181" y="2722785"/>
          <a:ext cx="215963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166289701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32780403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6814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88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01538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D95F361-5AAD-553E-F3B9-E1B918EA55BC}"/>
              </a:ext>
            </a:extLst>
          </p:cNvPr>
          <p:cNvSpPr txBox="1"/>
          <p:nvPr/>
        </p:nvSpPr>
        <p:spPr>
          <a:xfrm>
            <a:off x="1202181" y="2346386"/>
            <a:ext cx="1775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58895C-CE80-B328-701B-2F4CACE68173}"/>
              </a:ext>
            </a:extLst>
          </p:cNvPr>
          <p:cNvSpPr txBox="1"/>
          <p:nvPr/>
        </p:nvSpPr>
        <p:spPr>
          <a:xfrm>
            <a:off x="1175386" y="4098403"/>
            <a:ext cx="1202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B4E370-8A8B-DB33-BE61-21E270E5EE24}"/>
              </a:ext>
            </a:extLst>
          </p:cNvPr>
          <p:cNvSpPr txBox="1"/>
          <p:nvPr/>
        </p:nvSpPr>
        <p:spPr>
          <a:xfrm>
            <a:off x="5535168" y="2126199"/>
            <a:ext cx="360883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DC547F63-8889-CE2B-C1AF-BAE82CBD43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9472400"/>
              </p:ext>
            </p:extLst>
          </p:nvPr>
        </p:nvGraphicFramePr>
        <p:xfrm>
          <a:off x="5611173" y="3249411"/>
          <a:ext cx="540544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3126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8883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087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626789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DF3F036C-36B0-BD7F-A25B-C8AE94FEC0E7}"/>
              </a:ext>
            </a:extLst>
          </p:cNvPr>
          <p:cNvSpPr txBox="1"/>
          <p:nvPr/>
        </p:nvSpPr>
        <p:spPr>
          <a:xfrm>
            <a:off x="9740699" y="6196341"/>
            <a:ext cx="15978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(ANSI-standard SQL)</a:t>
            </a:r>
          </a:p>
        </p:txBody>
      </p:sp>
    </p:spTree>
    <p:extLst>
      <p:ext uri="{BB962C8B-B14F-4D97-AF65-F5344CB8AC3E}">
        <p14:creationId xmlns:p14="http://schemas.microsoft.com/office/powerpoint/2010/main" val="378452550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0900F-8C4D-7B9C-E3B7-84DC7D494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D4CB0B8-DDDB-927F-0F33-3702684E8906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endParaRPr lang="en-US" sz="4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6FE2F0-6FBE-6DD0-2DBE-1B66D27044FA}"/>
              </a:ext>
            </a:extLst>
          </p:cNvPr>
          <p:cNvSpPr txBox="1"/>
          <p:nvPr/>
        </p:nvSpPr>
        <p:spPr>
          <a:xfrm>
            <a:off x="1297171" y="1233647"/>
            <a:ext cx="9346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Makes a cartesian product of the rows between two tables</a:t>
            </a: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AFFDE23-F45B-E5F0-1BD1-0D1038EECD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8776638"/>
              </p:ext>
            </p:extLst>
          </p:nvPr>
        </p:nvGraphicFramePr>
        <p:xfrm>
          <a:off x="6298437" y="2344833"/>
          <a:ext cx="324580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9343">
                  <a:extLst>
                    <a:ext uri="{9D8B030D-6E8A-4147-A177-3AD203B41FA5}">
                      <a16:colId xmlns:a16="http://schemas.microsoft.com/office/drawing/2014/main" val="859083813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3271539360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765464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069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506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379656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5EEEFBD-CA08-EAAE-D9EA-D0AB567756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6490265"/>
              </p:ext>
            </p:extLst>
          </p:nvPr>
        </p:nvGraphicFramePr>
        <p:xfrm>
          <a:off x="1202181" y="2344833"/>
          <a:ext cx="215963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166289701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32780403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6814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88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01538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BBF9F0D-5E64-1C11-3B98-A2D5FA08CD83}"/>
              </a:ext>
            </a:extLst>
          </p:cNvPr>
          <p:cNvSpPr txBox="1"/>
          <p:nvPr/>
        </p:nvSpPr>
        <p:spPr>
          <a:xfrm>
            <a:off x="1202181" y="1968434"/>
            <a:ext cx="1775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F65E6C-9AE4-2587-DC25-77D9CDC7672D}"/>
              </a:ext>
            </a:extLst>
          </p:cNvPr>
          <p:cNvSpPr txBox="1"/>
          <p:nvPr/>
        </p:nvSpPr>
        <p:spPr>
          <a:xfrm>
            <a:off x="6271642" y="1968434"/>
            <a:ext cx="1202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11C27B1-D382-EE13-7E2F-58748A8AEF11}"/>
              </a:ext>
            </a:extLst>
          </p:cNvPr>
          <p:cNvGrpSpPr/>
          <p:nvPr/>
        </p:nvGrpSpPr>
        <p:grpSpPr>
          <a:xfrm>
            <a:off x="3414775" y="2866629"/>
            <a:ext cx="2819527" cy="439515"/>
            <a:chOff x="3414775" y="2866629"/>
            <a:chExt cx="2819527" cy="43951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E4BB49A-D55F-F9C0-6B37-76C67C353128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>
              <a:off x="3414775" y="2866629"/>
              <a:ext cx="2734183" cy="0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1B1F458-4CC3-9129-9231-53D9BC8874D6}"/>
                </a:ext>
              </a:extLst>
            </p:cNvPr>
            <p:cNvCxnSpPr>
              <a:cxnSpLocks/>
              <a:endCxn id="3" idx="3"/>
            </p:cNvCxnSpPr>
            <p:nvPr/>
          </p:nvCxnSpPr>
          <p:spPr>
            <a:xfrm flipH="1" flipV="1">
              <a:off x="3414775" y="2866629"/>
              <a:ext cx="2819527" cy="439515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224A7AF-364E-C99A-3B59-392E4BF668AA}"/>
              </a:ext>
            </a:extLst>
          </p:cNvPr>
          <p:cNvGrpSpPr/>
          <p:nvPr/>
        </p:nvGrpSpPr>
        <p:grpSpPr>
          <a:xfrm flipV="1">
            <a:off x="3425952" y="2856336"/>
            <a:ext cx="2819527" cy="439517"/>
            <a:chOff x="3361817" y="3279045"/>
            <a:chExt cx="2819527" cy="439515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8AF678D-9B7E-93CD-4762-ECB0765EECF4}"/>
                </a:ext>
              </a:extLst>
            </p:cNvPr>
            <p:cNvCxnSpPr>
              <a:cxnSpLocks/>
            </p:cNvCxnSpPr>
            <p:nvPr/>
          </p:nvCxnSpPr>
          <p:spPr>
            <a:xfrm>
              <a:off x="3361817" y="3279045"/>
              <a:ext cx="2734183" cy="0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14918A65-DB4E-1FCC-D654-FA4E374119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61817" y="3279045"/>
              <a:ext cx="2819527" cy="439515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ACF8073-5D41-4B31-3409-88025D4C2B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022775"/>
              </p:ext>
            </p:extLst>
          </p:nvPr>
        </p:nvGraphicFramePr>
        <p:xfrm>
          <a:off x="3478624" y="3896867"/>
          <a:ext cx="540544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3126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88836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B11B103-0090-AF42-5F09-0B3E93BD9F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5197666"/>
              </p:ext>
            </p:extLst>
          </p:nvPr>
        </p:nvGraphicFramePr>
        <p:xfrm>
          <a:off x="3478624" y="5222320"/>
          <a:ext cx="540544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087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6267899"/>
                  </a:ext>
                </a:extLst>
              </a:tr>
            </a:tbl>
          </a:graphicData>
        </a:graphic>
      </p:graphicFrame>
      <p:pic>
        <p:nvPicPr>
          <p:cNvPr id="15" name="Picture 14">
            <a:extLst>
              <a:ext uri="{FF2B5EF4-FFF2-40B4-BE49-F238E27FC236}">
                <a16:creationId xmlns:a16="http://schemas.microsoft.com/office/drawing/2014/main" id="{68F3FD5D-05CB-1056-0B8D-82385C11B0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9995" y="3841195"/>
            <a:ext cx="6257925" cy="2762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386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CD722-E16C-83E5-A415-0BCB0FCCA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08E2ED-3CA1-74AE-187F-456F223A24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0201" y="2126199"/>
            <a:ext cx="2628900" cy="2819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7A7B088-47C5-B1A2-56D6-A7857E8AB27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APPLY</a:t>
            </a:r>
            <a:endParaRPr lang="en-US" sz="4000" dirty="0">
              <a:highlight>
                <a:srgbClr val="FFFF00"/>
              </a:highlight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04931B-13A0-1D60-E6DB-657B5A41A9E7}"/>
              </a:ext>
            </a:extLst>
          </p:cNvPr>
          <p:cNvSpPr txBox="1"/>
          <p:nvPr/>
        </p:nvSpPr>
        <p:spPr>
          <a:xfrm>
            <a:off x="6790944" y="2126199"/>
            <a:ext cx="4876800" cy="286232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c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.*,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ca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ca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42838F-7AEE-27B0-BA12-47486D80968B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INNER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disappears from the result set.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CBF9FB-39DB-C162-A636-C9C15661ECDC}"/>
              </a:ext>
            </a:extLst>
          </p:cNvPr>
          <p:cNvSpPr txBox="1"/>
          <p:nvPr/>
        </p:nvSpPr>
        <p:spPr>
          <a:xfrm>
            <a:off x="1097280" y="2126199"/>
            <a:ext cx="558393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(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MAX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GROUP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D3DC76-DE31-EFD1-BADB-2D1EC477DED9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2005+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F8C99F-4109-BD17-001D-0FFAADEC0BA3}"/>
              </a:ext>
            </a:extLst>
          </p:cNvPr>
          <p:cNvSpPr/>
          <p:nvPr/>
        </p:nvSpPr>
        <p:spPr>
          <a:xfrm>
            <a:off x="1890584" y="3521676"/>
            <a:ext cx="4423719" cy="1136821"/>
          </a:xfrm>
          <a:prstGeom prst="rect">
            <a:avLst/>
          </a:prstGeom>
          <a:noFill/>
          <a:ln w="539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023A2E-A17C-E22F-D1B6-BEBCEF270359}"/>
              </a:ext>
            </a:extLst>
          </p:cNvPr>
          <p:cNvSpPr/>
          <p:nvPr/>
        </p:nvSpPr>
        <p:spPr>
          <a:xfrm>
            <a:off x="1097839" y="2158733"/>
            <a:ext cx="4895188" cy="1136821"/>
          </a:xfrm>
          <a:prstGeom prst="rect">
            <a:avLst/>
          </a:prstGeom>
          <a:noFill/>
          <a:ln w="539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FD5F48-9E43-315A-0198-A9F1AC623A62}"/>
              </a:ext>
            </a:extLst>
          </p:cNvPr>
          <p:cNvSpPr/>
          <p:nvPr/>
        </p:nvSpPr>
        <p:spPr>
          <a:xfrm>
            <a:off x="1625922" y="4933630"/>
            <a:ext cx="5055294" cy="608890"/>
          </a:xfrm>
          <a:prstGeom prst="rect">
            <a:avLst/>
          </a:prstGeom>
          <a:noFill/>
          <a:ln w="539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351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 animBg="1"/>
      <p:bldP spid="8" grpId="0" animBg="1"/>
      <p:bldP spid="10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10B24-E89B-B969-B97C-7EBBF68D0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F5E718B-D12A-D175-1F95-BFE19790432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95087-00E1-C5F2-02DE-F9C91C46C2C1}"/>
              </a:ext>
            </a:extLst>
          </p:cNvPr>
          <p:cNvSpPr txBox="1"/>
          <p:nvPr/>
        </p:nvSpPr>
        <p:spPr>
          <a:xfrm>
            <a:off x="6790944" y="2126199"/>
            <a:ext cx="4876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c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.*,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ca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E0CB7C-F3A0-4758-1CA3-6E8D4522A900}"/>
              </a:ext>
            </a:extLst>
          </p:cNvPr>
          <p:cNvSpPr txBox="1"/>
          <p:nvPr/>
        </p:nvSpPr>
        <p:spPr>
          <a:xfrm>
            <a:off x="1097280" y="2126199"/>
            <a:ext cx="5498592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(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ROW_NUMBER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OVER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PARTITION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AS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[Rank]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[Rank]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&lt;=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B49D15-5EA3-EF4A-28B6-FD5428D4139F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INNER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disappears from the result set.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1073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OUTER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929FC3-C0B3-1041-8515-E4D2E0148530}"/>
              </a:ext>
            </a:extLst>
          </p:cNvPr>
          <p:cNvSpPr txBox="1"/>
          <p:nvPr/>
        </p:nvSpPr>
        <p:spPr>
          <a:xfrm>
            <a:off x="6790944" y="2126199"/>
            <a:ext cx="4876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c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.*,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ca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OUTER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s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2E1634-CD63-FFA6-3741-B6C59C76A58E}"/>
              </a:ext>
            </a:extLst>
          </p:cNvPr>
          <p:cNvSpPr txBox="1"/>
          <p:nvPr/>
        </p:nvSpPr>
        <p:spPr>
          <a:xfrm>
            <a:off x="1097280" y="2126199"/>
            <a:ext cx="5498592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LEFT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LEFT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(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ROW_NUMBER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OVER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PARTITION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AS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[Rank]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WHERE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[Rank]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&lt;=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540292-162B-3A16-2365-5FA3A4841979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LEFT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appears in the result set anyway.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5CCC32-94B5-4589-CB32-BC8CA29E7B01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2005+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243046478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2790FC6-2530-AE54-FD60-487CCAE839A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48D5E4-C0BE-8320-AEDE-7E5E15262F40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36776832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3AB85-7A46-25FF-ED9D-2791DB641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BE42AB6-A562-890F-5570-9A82AB12471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389AEA-E27D-0570-BDDB-33C127C30A4D}"/>
              </a:ext>
            </a:extLst>
          </p:cNvPr>
          <p:cNvSpPr txBox="1"/>
          <p:nvPr/>
        </p:nvSpPr>
        <p:spPr>
          <a:xfrm>
            <a:off x="901107" y="1594907"/>
            <a:ext cx="7732530" cy="5001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</a:p>
          <a:p>
            <a:endParaRPr lang="en-US" sz="1600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8308E0-98C6-7DFF-01A9-5F36E7786A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710" y="4324575"/>
            <a:ext cx="4090183" cy="907653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30B862A-DBC1-FDA2-C7AE-4637D36E6859}"/>
              </a:ext>
            </a:extLst>
          </p:cNvPr>
          <p:cNvCxnSpPr/>
          <p:nvPr/>
        </p:nvCxnSpPr>
        <p:spPr>
          <a:xfrm>
            <a:off x="901107" y="4917989"/>
            <a:ext cx="5870396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834060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9C9F1-6BE5-5B8D-C2FA-8715A3CC3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B56C069-28B9-19F9-3EF8-81CC36BDF7DA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29A948-B89B-4D36-FF18-3D378BFF78D2}"/>
              </a:ext>
            </a:extLst>
          </p:cNvPr>
          <p:cNvSpPr txBox="1"/>
          <p:nvPr/>
        </p:nvSpPr>
        <p:spPr>
          <a:xfrm>
            <a:off x="901106" y="1594907"/>
            <a:ext cx="7840557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6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name":"Jesús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Castillo"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name":"Mary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name":"Joseph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json_expert":true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CD9458-3680-0ED6-A44B-B42EC21291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7793" y="3042804"/>
            <a:ext cx="4180428" cy="154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33300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431C9-7330-FCD1-219A-7C5F57675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JSON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9D524A2-F771-AFA5-337A-0666AC7519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6778141"/>
              </p:ext>
            </p:extLst>
          </p:nvPr>
        </p:nvGraphicFramePr>
        <p:xfrm>
          <a:off x="1085335" y="2391032"/>
          <a:ext cx="9625914" cy="296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000">
                  <a:extLst>
                    <a:ext uri="{9D8B030D-6E8A-4147-A177-3AD203B41FA5}">
                      <a16:colId xmlns:a16="http://schemas.microsoft.com/office/drawing/2014/main" val="655592811"/>
                    </a:ext>
                  </a:extLst>
                </a:gridCol>
                <a:gridCol w="1977081">
                  <a:extLst>
                    <a:ext uri="{9D8B030D-6E8A-4147-A177-3AD203B41FA5}">
                      <a16:colId xmlns:a16="http://schemas.microsoft.com/office/drawing/2014/main" val="1658826356"/>
                    </a:ext>
                  </a:extLst>
                </a:gridCol>
                <a:gridCol w="2518719">
                  <a:extLst>
                    <a:ext uri="{9D8B030D-6E8A-4147-A177-3AD203B41FA5}">
                      <a16:colId xmlns:a16="http://schemas.microsoft.com/office/drawing/2014/main" val="1271733941"/>
                    </a:ext>
                  </a:extLst>
                </a:gridCol>
                <a:gridCol w="939114">
                  <a:extLst>
                    <a:ext uri="{9D8B030D-6E8A-4147-A177-3AD203B41FA5}">
                      <a16:colId xmlns:a16="http://schemas.microsoft.com/office/drawing/2014/main" val="20434045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SELECT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WHERE</a:t>
                      </a:r>
                      <a:endParaRPr 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FROM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Consolas" panose="020B0609020204030204" pitchFamily="49" charset="0"/>
                        </a:rPr>
                        <a:t>CROSS APPLY</a:t>
                      </a:r>
                      <a:endParaRPr lang="en-US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(Other)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6041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JSON_OBJECT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58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JSON_ARRAY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>
                        <a:solidFill>
                          <a:srgbClr val="FF00FF"/>
                        </a:solidFill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6503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JSON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AUTO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79989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JSON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PATH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7973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JSON_MODIFY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2459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879096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'type'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type'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:NULL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type'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ABSENT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key_name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: </a:t>
            </a:r>
            <a:r>
              <a:rPr lang="en-US" sz="2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valid_json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null_clause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Generates a JSON object</a:t>
            </a:r>
            <a:endParaRPr lang="en-US" dirty="0"/>
          </a:p>
        </p:txBody>
      </p:sp>
      <p:sp>
        <p:nvSpPr>
          <p:cNvPr id="2" name="Star: 10 Points 1">
            <a:extLst>
              <a:ext uri="{FF2B5EF4-FFF2-40B4-BE49-F238E27FC236}">
                <a16:creationId xmlns:a16="http://schemas.microsoft.com/office/drawing/2014/main" id="{E8B1A511-9E0F-B6D5-D16A-F5674FB5872B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BF30FB4-4C0D-29B5-531A-BA73C8A13D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172" y="2227932"/>
            <a:ext cx="2210112" cy="62159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02FDA2B-0BCB-E299-7844-6890E3C534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172" y="3335248"/>
            <a:ext cx="2589975" cy="62159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F6EAB54-85C3-B168-AD5C-55B9025510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171" y="4442564"/>
            <a:ext cx="2791309" cy="6215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9406970-70D6-BCAB-CC5F-9DA1693A6F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7648" y="5540356"/>
            <a:ext cx="2359319" cy="66012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F4C01BB-6634-1E90-1295-4B319D79D568}"/>
              </a:ext>
            </a:extLst>
          </p:cNvPr>
          <p:cNvSpPr txBox="1"/>
          <p:nvPr/>
        </p:nvSpPr>
        <p:spPr>
          <a:xfrm>
            <a:off x="7278624" y="4026931"/>
            <a:ext cx="2218944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CF1C79-B923-40BC-2406-4E0CE7263C3D}"/>
              </a:ext>
            </a:extLst>
          </p:cNvPr>
          <p:cNvSpPr txBox="1"/>
          <p:nvPr/>
        </p:nvSpPr>
        <p:spPr>
          <a:xfrm>
            <a:off x="8871202" y="5916740"/>
            <a:ext cx="29626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</p:txBody>
      </p:sp>
    </p:spTree>
    <p:extLst>
      <p:ext uri="{BB962C8B-B14F-4D97-AF65-F5344CB8AC3E}">
        <p14:creationId xmlns:p14="http://schemas.microsoft.com/office/powerpoint/2010/main" val="3669365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valid_json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null_clause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Generates a JSON array given a list of valid JSON</a:t>
            </a:r>
            <a:endParaRPr lang="en-US" dirty="0"/>
          </a:p>
        </p:txBody>
      </p:sp>
      <p:sp>
        <p:nvSpPr>
          <p:cNvPr id="2" name="Star: 10 Points 1">
            <a:extLst>
              <a:ext uri="{FF2B5EF4-FFF2-40B4-BE49-F238E27FC236}">
                <a16:creationId xmlns:a16="http://schemas.microsoft.com/office/drawing/2014/main" id="{E8B1A511-9E0F-B6D5-D16A-F5674FB5872B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575F66A-44CA-F7A2-FF78-492618573C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171" y="5537327"/>
            <a:ext cx="2103169" cy="61024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F1BC847-ACD1-D3E0-A719-0DABA0039E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167" y="4442564"/>
            <a:ext cx="2210108" cy="62159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0B03831-85F8-C943-BF9E-6000F83127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167" y="3327534"/>
            <a:ext cx="2210108" cy="61327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64E1B24-D972-F7F4-66D9-474086D88A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8814" y="2222526"/>
            <a:ext cx="2196755" cy="60325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AF92F77-D4C9-4B64-1A37-5F3E292C484C}"/>
              </a:ext>
            </a:extLst>
          </p:cNvPr>
          <p:cNvSpPr txBox="1"/>
          <p:nvPr/>
        </p:nvSpPr>
        <p:spPr>
          <a:xfrm>
            <a:off x="5807676" y="4024464"/>
            <a:ext cx="269667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ABSENT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NULL)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14C2C0-B621-7A7C-181F-94203A9CD323}"/>
              </a:ext>
            </a:extLst>
          </p:cNvPr>
          <p:cNvSpPr txBox="1"/>
          <p:nvPr/>
        </p:nvSpPr>
        <p:spPr>
          <a:xfrm>
            <a:off x="8871202" y="5916740"/>
            <a:ext cx="29626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</p:txBody>
      </p:sp>
    </p:spTree>
    <p:extLst>
      <p:ext uri="{BB962C8B-B14F-4D97-AF65-F5344CB8AC3E}">
        <p14:creationId xmlns:p14="http://schemas.microsoft.com/office/powerpoint/2010/main" val="3541418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92C93F9-1383-E6E8-3F3C-A42C10D8539B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stringable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5D410F-360A-69F7-727E-A7088AA0819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Returns a concatenated string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E132FF-0FD4-665F-7DEA-C3CC066D25CE}"/>
              </a:ext>
            </a:extLst>
          </p:cNvPr>
          <p:cNvSpPr txBox="1"/>
          <p:nvPr/>
        </p:nvSpPr>
        <p:spPr>
          <a:xfrm>
            <a:off x="1402080" y="2126199"/>
            <a:ext cx="743712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'["'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'",'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',"'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'",'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']'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CCA13A5-38A3-879F-4921-F4126C788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8012" y="2788348"/>
            <a:ext cx="3000282" cy="23848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B57ED7F-E554-71FD-A355-51A84DDEDA57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2014+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274762677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4C8FEB0-CBA9-A021-350F-61EC979AA8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688" y="5636187"/>
            <a:ext cx="10846922" cy="6228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527422-959C-A7D1-C504-76985DDB0225}"/>
              </a:ext>
            </a:extLst>
          </p:cNvPr>
          <p:cNvSpPr txBox="1"/>
          <p:nvPr/>
        </p:nvSpPr>
        <p:spPr>
          <a:xfrm>
            <a:off x="1251984" y="1743486"/>
            <a:ext cx="6097772" cy="3547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'Jeff Foushee'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'name'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0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UNION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'Jesús Castillo'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'name'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'$1.00'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a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372421-7404-DF05-C0CD-B8C79979BAF8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66B84E-DF8A-1E41-B165-4691290E5532}"/>
              </a:ext>
            </a:extLst>
          </p:cNvPr>
          <p:cNvSpPr txBox="1"/>
          <p:nvPr/>
        </p:nvSpPr>
        <p:spPr>
          <a:xfrm>
            <a:off x="1297171" y="1233647"/>
            <a:ext cx="9428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Formats the ENTIRE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resultset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as one JSON object. 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51D8DA-E468-7077-12BB-3E660ADA4997}"/>
              </a:ext>
            </a:extLst>
          </p:cNvPr>
          <p:cNvSpPr txBox="1"/>
          <p:nvPr/>
        </p:nvSpPr>
        <p:spPr>
          <a:xfrm>
            <a:off x="8802080" y="4527394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58606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BD4CD45-7C72-34CE-29B3-3757BFDDB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25" y="3572982"/>
            <a:ext cx="10191750" cy="6477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C4A037-BD8F-2226-325F-032628CD7A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123" y="1652912"/>
            <a:ext cx="10191751" cy="585225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7245872-D40B-963D-53DA-5C3BC454D2B0}"/>
              </a:ext>
            </a:extLst>
          </p:cNvPr>
          <p:cNvCxnSpPr>
            <a:cxnSpLocks/>
          </p:cNvCxnSpPr>
          <p:nvPr/>
        </p:nvCxnSpPr>
        <p:spPr>
          <a:xfrm flipH="1">
            <a:off x="5071730" y="2340864"/>
            <a:ext cx="536590" cy="1380531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944329BE-0746-89A8-E036-63F53173CA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9036" y="5056240"/>
            <a:ext cx="5764521" cy="647699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92E722C-0483-5475-1787-CDFDFEA55173}"/>
              </a:ext>
            </a:extLst>
          </p:cNvPr>
          <p:cNvCxnSpPr>
            <a:cxnSpLocks/>
          </p:cNvCxnSpPr>
          <p:nvPr/>
        </p:nvCxnSpPr>
        <p:spPr>
          <a:xfrm>
            <a:off x="1633728" y="3896832"/>
            <a:ext cx="1219200" cy="1308256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49C7CB9-2F9A-065E-6848-C3D1F481E54F}"/>
              </a:ext>
            </a:extLst>
          </p:cNvPr>
          <p:cNvSpPr/>
          <p:nvPr/>
        </p:nvSpPr>
        <p:spPr>
          <a:xfrm>
            <a:off x="6900672" y="5205088"/>
            <a:ext cx="829056" cy="350439"/>
          </a:xfrm>
          <a:prstGeom prst="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904961-49B0-E2F3-847C-FFE27634A934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3811535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E451E-F2AA-2606-CEE2-EE14606D7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F7F999E-B6F5-E20F-72F0-C6F2BC5500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101" y="5023550"/>
            <a:ext cx="7439025" cy="11049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266975A-2D01-A332-7D1C-225365A88F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859" y="661100"/>
            <a:ext cx="10325100" cy="436245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66470C-A158-7897-724A-CC7F432FE4B1}"/>
              </a:ext>
            </a:extLst>
          </p:cNvPr>
          <p:cNvSpPr/>
          <p:nvPr/>
        </p:nvSpPr>
        <p:spPr>
          <a:xfrm>
            <a:off x="6592187" y="4146698"/>
            <a:ext cx="3168502" cy="393404"/>
          </a:xfrm>
          <a:prstGeom prst="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389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1DEAE92-6EFE-DDCA-11CF-AF190D625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676" y="5457426"/>
            <a:ext cx="10191751" cy="585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B094B62-3D14-61B6-4098-55DF89B9E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737" y="658012"/>
            <a:ext cx="10325100" cy="436245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416556-3BA8-5BEB-BA95-35BAB51CF86D}"/>
              </a:ext>
            </a:extLst>
          </p:cNvPr>
          <p:cNvSpPr/>
          <p:nvPr/>
        </p:nvSpPr>
        <p:spPr>
          <a:xfrm>
            <a:off x="6644640" y="4498848"/>
            <a:ext cx="2633472" cy="414528"/>
          </a:xfrm>
          <a:prstGeom prst="rect">
            <a:avLst/>
          </a:prstGeom>
          <a:noFill/>
          <a:ln w="635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8325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AF4995B-E86B-6000-2652-377F06D8AD01}"/>
              </a:ext>
            </a:extLst>
          </p:cNvPr>
          <p:cNvSpPr txBox="1"/>
          <p:nvPr/>
        </p:nvSpPr>
        <p:spPr>
          <a:xfrm>
            <a:off x="1365504" y="1778041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LongJson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JsonDemo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[Table_1]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...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26B038-599B-9A8F-6703-2A278666F713}"/>
              </a:ext>
            </a:extLst>
          </p:cNvPr>
          <p:cNvSpPr txBox="1"/>
          <p:nvPr/>
        </p:nvSpPr>
        <p:spPr>
          <a:xfrm>
            <a:off x="1365504" y="3833810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LongJson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JsonDemo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[Table_1]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...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AUTO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C75BB75-0A61-726A-22F7-BFCC81135A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6335" y="2802056"/>
            <a:ext cx="6350325" cy="66294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85D62FA-B097-1D43-BB38-FDA09F8C8D2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6003E6-5A5F-BD03-C1B9-5E2F9799B0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6335" y="5163203"/>
            <a:ext cx="7257514" cy="6629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0E78919-19B8-37A1-9DC0-CDDA8A7DE291}"/>
              </a:ext>
            </a:extLst>
          </p:cNvPr>
          <p:cNvSpPr txBox="1"/>
          <p:nvPr/>
        </p:nvSpPr>
        <p:spPr>
          <a:xfrm>
            <a:off x="1297171" y="1233647"/>
            <a:ext cx="9428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Formats the ENTIRE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resultset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as one JSON object. </a:t>
            </a:r>
            <a:r>
              <a:rPr lang="en-US" dirty="0">
                <a:solidFill>
                  <a:srgbClr val="111111"/>
                </a:solidFill>
                <a:highlight>
                  <a:srgbClr val="FFFF00"/>
                </a:highlight>
                <a:latin typeface="-apple-system"/>
              </a:rPr>
              <a:t>Can be used to re-export original JSON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F10020-376E-B677-B000-AC03001475BF}"/>
              </a:ext>
            </a:extLst>
          </p:cNvPr>
          <p:cNvSpPr txBox="1"/>
          <p:nvPr/>
        </p:nvSpPr>
        <p:spPr>
          <a:xfrm>
            <a:off x="7737807" y="6348092"/>
            <a:ext cx="39819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https://microsoftedge.github.io/Demos/json-dummy-data/</a:t>
            </a:r>
          </a:p>
        </p:txBody>
      </p:sp>
    </p:spTree>
    <p:extLst>
      <p:ext uri="{BB962C8B-B14F-4D97-AF65-F5344CB8AC3E}">
        <p14:creationId xmlns:p14="http://schemas.microsoft.com/office/powerpoint/2010/main" val="284160785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DFE0D-02EF-27EF-991B-C3BF47588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6711E7-6515-D143-D66C-40F426C97260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91E4DD-0133-205E-3B7A-563E8F5923D4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15928922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F1444-66D8-55DD-5150-33C0B79D9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861D728-9A50-3D14-38D2-46EAC0BFB49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PATH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4D85C5-73BE-9A85-3A9D-51E6B8E482B5}"/>
              </a:ext>
            </a:extLst>
          </p:cNvPr>
          <p:cNvSpPr txBox="1"/>
          <p:nvPr/>
        </p:nvSpPr>
        <p:spPr>
          <a:xfrm>
            <a:off x="768096" y="2279867"/>
            <a:ext cx="609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'Jesús Castillo'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'name'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'$1.00'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AllTime_Jeopardy_Winnings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PATH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Contestants</a:t>
            </a:r>
          </a:p>
          <a:p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'Jeff Foushee'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'name'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0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AllTime_Jeopardy_Winnings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PATH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AlsoEligible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PATH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F16434-EE17-C199-9EE9-5FADBDCADD4F}"/>
              </a:ext>
            </a:extLst>
          </p:cNvPr>
          <p:cNvSpPr txBox="1"/>
          <p:nvPr/>
        </p:nvSpPr>
        <p:spPr>
          <a:xfrm>
            <a:off x="1297172" y="1233647"/>
            <a:ext cx="9261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Also formats the ENTIRE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resultset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as one JSON object.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Allows for greater flexibility and control in your JSON object definition.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8C6C36-6623-C644-BEAC-F294138F0C43}"/>
              </a:ext>
            </a:extLst>
          </p:cNvPr>
          <p:cNvSpPr txBox="1"/>
          <p:nvPr/>
        </p:nvSpPr>
        <p:spPr>
          <a:xfrm>
            <a:off x="6632448" y="2126199"/>
            <a:ext cx="5120640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{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400" dirty="0" err="1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AlsoEligible</a:t>
            </a:r>
            <a:r>
              <a:rPr lang="en-US" sz="1400" dirty="0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": [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": 0,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"name": "Jeff Foushee"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}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],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"Contestants": [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": "$1.00",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": 1,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"name": "Jesús Castillo"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}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]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}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72C8CC-F2FC-3085-B52A-155082E63AD5}"/>
              </a:ext>
            </a:extLst>
          </p:cNvPr>
          <p:cNvSpPr txBox="1"/>
          <p:nvPr/>
        </p:nvSpPr>
        <p:spPr>
          <a:xfrm>
            <a:off x="8802080" y="5540654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238826023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C9975-DCC2-F97D-665B-C2ED485AB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EAE109A2-AA53-3A18-3067-5A522315564F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75E35D-1FF8-C550-9085-109B02ABB7FD}"/>
              </a:ext>
            </a:extLst>
          </p:cNvPr>
          <p:cNvSpPr txBox="1"/>
          <p:nvPr/>
        </p:nvSpPr>
        <p:spPr>
          <a:xfrm>
            <a:off x="1225296" y="1579894"/>
            <a:ext cx="9741408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Additional options: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INCLUDE_NULL_VALUES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b="1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I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ncludes null values in the JSON output of the 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 clause. </a:t>
            </a:r>
          </a:p>
          <a:p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    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Default is to exclude keys with null values (think ABSENT ON NULL).</a:t>
            </a:r>
            <a:endParaRPr lang="en-US" sz="2000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  <a:p>
            <a:endParaRPr lang="en-US" sz="2000" b="0" i="0" dirty="0">
              <a:solidFill>
                <a:srgbClr val="161616"/>
              </a:solidFill>
              <a:effectLst/>
              <a:latin typeface="SFMono-Regular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ROOT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rootname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b="0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C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reates a root level node named “</a:t>
            </a:r>
            <a:r>
              <a:rPr lang="en-US" sz="2000" b="0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rootname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” that embodies all </a:t>
            </a:r>
          </a:p>
          <a:p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   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results</a:t>
            </a:r>
          </a:p>
          <a:p>
            <a:endParaRPr lang="en-US" sz="2000" b="0" i="0" dirty="0">
              <a:solidFill>
                <a:srgbClr val="161616"/>
              </a:solidFill>
              <a:effectLst/>
              <a:latin typeface="SFMono-Regular"/>
            </a:endParaRPr>
          </a:p>
          <a:p>
            <a:pPr>
              <a:defRPr/>
            </a:pP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WITHOUT_ARRAY_WRAPPER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4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b="0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removes the outer array brackets 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[]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 of the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results</a:t>
            </a:r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1DD1B2-FCE3-849A-DDE7-2FF2CCF1AE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9190" y="2157178"/>
            <a:ext cx="3033886" cy="52349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437A28-DBBF-6FB9-D75C-0E67FE4030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223" y="3581542"/>
            <a:ext cx="1806321" cy="57473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6C9D415-392F-2381-9CB9-E6AA613C6F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223" y="5002545"/>
            <a:ext cx="1806321" cy="625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70352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38970"/>
            <a:ext cx="9348677" cy="3493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}’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 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Jeff'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'Jeff'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JSON_MODIFY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path, 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new_value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Alters the properties inside a JSON object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880ABD-C535-1042-FFC3-62D22814337A}"/>
              </a:ext>
            </a:extLst>
          </p:cNvPr>
          <p:cNvSpPr txBox="1"/>
          <p:nvPr/>
        </p:nvSpPr>
        <p:spPr>
          <a:xfrm>
            <a:off x="9615021" y="5843097"/>
            <a:ext cx="20001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05BEFB-C5DE-FBFA-FF1A-F7D9DE3CFEAD}"/>
              </a:ext>
            </a:extLst>
          </p:cNvPr>
          <p:cNvSpPr txBox="1"/>
          <p:nvPr/>
        </p:nvSpPr>
        <p:spPr>
          <a:xfrm>
            <a:off x="7804155" y="4354725"/>
            <a:ext cx="3621732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What's the difference?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539644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4585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'$.dog'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$.dog'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$.dog'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7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Property cannot be found on the specified JSON path.</a:t>
            </a:r>
          </a:p>
          <a:p>
            <a:endParaRPr lang="en-US" sz="1700" dirty="0">
              <a:solidFill>
                <a:schemeClr val="accent2">
                  <a:lumMod val="75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$.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$.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$.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JSON_MODIFY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path, 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new_value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Alters the properties inside a JSON object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A0E93E-64D5-0D91-3F9A-F998D34B9AE6}"/>
              </a:ext>
            </a:extLst>
          </p:cNvPr>
          <p:cNvSpPr txBox="1"/>
          <p:nvPr/>
        </p:nvSpPr>
        <p:spPr>
          <a:xfrm>
            <a:off x="6842335" y="3711744"/>
            <a:ext cx="4608575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Adds/sets even if non-existent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99A0C2-EB10-A1C7-CFF2-373E1669B39F}"/>
              </a:ext>
            </a:extLst>
          </p:cNvPr>
          <p:cNvSpPr txBox="1"/>
          <p:nvPr/>
        </p:nvSpPr>
        <p:spPr>
          <a:xfrm>
            <a:off x="7965981" y="4477338"/>
            <a:ext cx="344424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Must pre-exist to set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C08E9A-4EE3-FF8B-9AC1-A55F9D1BF02B}"/>
              </a:ext>
            </a:extLst>
          </p:cNvPr>
          <p:cNvSpPr txBox="1"/>
          <p:nvPr/>
        </p:nvSpPr>
        <p:spPr>
          <a:xfrm>
            <a:off x="8374412" y="5206356"/>
            <a:ext cx="3573747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Explicitly sets to null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33F358-0DB9-F772-81C2-577A66368461}"/>
              </a:ext>
            </a:extLst>
          </p:cNvPr>
          <p:cNvSpPr txBox="1"/>
          <p:nvPr/>
        </p:nvSpPr>
        <p:spPr>
          <a:xfrm>
            <a:off x="8112284" y="5840459"/>
            <a:ext cx="3573747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Removes from JSON doc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258502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778F7-2FFA-80A6-7AD0-FE60AA3A7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do we go from here?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BF32EC-1B88-B496-D1A2-6CDF7072E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1883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B94EAC-4A16-27D3-9C5B-8724180E3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799" y="1206029"/>
            <a:ext cx="5502402" cy="4445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5869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5727C96-CBF6-A96A-AAD4-6C7627A7C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1038" y="1194486"/>
            <a:ext cx="5469666" cy="44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03633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3519195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48732</TotalTime>
  <Words>7430</Words>
  <Application>Microsoft Office PowerPoint</Application>
  <PresentationFormat>Widescreen</PresentationFormat>
  <Paragraphs>1301</Paragraphs>
  <Slides>74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86" baseType="lpstr">
      <vt:lpstr>-apple-system</vt:lpstr>
      <vt:lpstr>Arial</vt:lpstr>
      <vt:lpstr>Calibri</vt:lpstr>
      <vt:lpstr>Calibri Light</vt:lpstr>
      <vt:lpstr>Cascadia Code</vt:lpstr>
      <vt:lpstr>Cascadia Mono</vt:lpstr>
      <vt:lpstr>Consolas</vt:lpstr>
      <vt:lpstr>Segoe UI</vt:lpstr>
      <vt:lpstr>SFMono-Regular</vt:lpstr>
      <vt:lpstr>Verdana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Preparing for JSON (client tools)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Preparing for JSON (table architecture)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Inspecting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Querying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Creating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Where do we go from here?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Foushee</cp:lastModifiedBy>
  <cp:revision>83</cp:revision>
  <dcterms:created xsi:type="dcterms:W3CDTF">2024-01-27T23:55:18Z</dcterms:created>
  <dcterms:modified xsi:type="dcterms:W3CDTF">2024-04-21T00:15:34Z</dcterms:modified>
</cp:coreProperties>
</file>