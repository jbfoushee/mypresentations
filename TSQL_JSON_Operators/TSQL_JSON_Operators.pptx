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1" r:id="rId3"/>
    <p:sldId id="264" r:id="rId4"/>
    <p:sldId id="265" r:id="rId5"/>
    <p:sldId id="257" r:id="rId6"/>
    <p:sldId id="258" r:id="rId7"/>
    <p:sldId id="273" r:id="rId8"/>
    <p:sldId id="266" r:id="rId9"/>
    <p:sldId id="256" r:id="rId10"/>
    <p:sldId id="262" r:id="rId11"/>
    <p:sldId id="259" r:id="rId12"/>
    <p:sldId id="260" r:id="rId13"/>
    <p:sldId id="267" r:id="rId14"/>
    <p:sldId id="268" r:id="rId15"/>
    <p:sldId id="270" r:id="rId16"/>
    <p:sldId id="271" r:id="rId17"/>
    <p:sldId id="272" r:id="rId18"/>
    <p:sldId id="269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7" autoAdjust="0"/>
    <p:restoredTop sz="94660"/>
  </p:normalViewPr>
  <p:slideViewPr>
    <p:cSldViewPr snapToGrid="0">
      <p:cViewPr varScale="1">
        <p:scale>
          <a:sx n="79" d="100"/>
          <a:sy n="79" d="100"/>
        </p:scale>
        <p:origin x="9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771554" y="1612626"/>
            <a:ext cx="68402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4800" b="1" dirty="0"/>
              <a:t> TSQL Operators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C6B709-B173-7550-C8EF-52F6514714A9}"/>
              </a:ext>
            </a:extLst>
          </p:cNvPr>
          <p:cNvSpPr txBox="1"/>
          <p:nvPr/>
        </p:nvSpPr>
        <p:spPr>
          <a:xfrm>
            <a:off x="1945757" y="1052623"/>
            <a:ext cx="75491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SQL Server Standard/Enterprise</a:t>
            </a:r>
          </a:p>
          <a:p>
            <a:r>
              <a:rPr lang="en-US" dirty="0"/>
              <a:t>Azure SQL Database</a:t>
            </a:r>
          </a:p>
          <a:p>
            <a:r>
              <a:rPr lang="en-US" dirty="0"/>
              <a:t>Azure SQL Managed Instance</a:t>
            </a:r>
          </a:p>
          <a:p>
            <a:r>
              <a:rPr lang="en-US" dirty="0"/>
              <a:t>SQL Server Azure Synapse</a:t>
            </a:r>
          </a:p>
          <a:p>
            <a:r>
              <a:rPr lang="en-US" dirty="0"/>
              <a:t>SQL Server PDW/APS</a:t>
            </a:r>
          </a:p>
        </p:txBody>
      </p:sp>
    </p:spTree>
    <p:extLst>
      <p:ext uri="{BB962C8B-B14F-4D97-AF65-F5344CB8AC3E}">
        <p14:creationId xmlns:p14="http://schemas.microsoft.com/office/powerpoint/2010/main" val="532603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endCxn id="10" idx="1"/>
          </p:cNvCxnSpPr>
          <p:nvPr/>
        </p:nvCxnSpPr>
        <p:spPr>
          <a:xfrm flipV="1">
            <a:off x="8114303" y="1830170"/>
            <a:ext cx="285419" cy="323165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BAA7DD-AFA1-C3C7-F2D1-4BA84B6B7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84" y="3043017"/>
            <a:ext cx="7467600" cy="1409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6EF85C4-A0F6-AD5E-99B5-D33673830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0495" y="2904905"/>
            <a:ext cx="7562850" cy="309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438656"/>
            <a:ext cx="6499057" cy="2950464"/>
            <a:chOff x="4547616" y="1438656"/>
            <a:chExt cx="6499057" cy="295046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438656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BB84B64-CC6D-CD7E-BAE4-23C3857BB7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67743" y="903519"/>
            <a:ext cx="5819585" cy="5050961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8" y="2393942"/>
            <a:ext cx="27188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262804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71DB434-FA90-763B-9F8D-59E10A521FB5}"/>
              </a:ext>
            </a:extLst>
          </p:cNvPr>
          <p:cNvGrpSpPr/>
          <p:nvPr/>
        </p:nvGrpSpPr>
        <p:grpSpPr>
          <a:xfrm>
            <a:off x="5647658" y="3828288"/>
            <a:ext cx="5629942" cy="2120142"/>
            <a:chOff x="5647658" y="3828288"/>
            <a:chExt cx="5629942" cy="212014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E454B44-AAF3-CB23-D768-2CFE4809C0F7}"/>
                </a:ext>
              </a:extLst>
            </p:cNvPr>
            <p:cNvCxnSpPr>
              <a:cxnSpLocks/>
            </p:cNvCxnSpPr>
            <p:nvPr/>
          </p:nvCxnSpPr>
          <p:spPr>
            <a:xfrm>
              <a:off x="7595616" y="3828288"/>
              <a:ext cx="548640" cy="636467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E4C9218-190A-862E-65D8-59E2128CB270}"/>
                </a:ext>
              </a:extLst>
            </p:cNvPr>
            <p:cNvSpPr/>
            <p:nvPr/>
          </p:nvSpPr>
          <p:spPr>
            <a:xfrm>
              <a:off x="5647658" y="5650098"/>
              <a:ext cx="582454" cy="298332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02074C2-14BD-D2CF-33AE-A293AEA1DB74}"/>
                </a:ext>
              </a:extLst>
            </p:cNvPr>
            <p:cNvSpPr/>
            <p:nvPr/>
          </p:nvSpPr>
          <p:spPr>
            <a:xfrm>
              <a:off x="10009632" y="5649204"/>
              <a:ext cx="1267968" cy="298332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09803826-6BE2-FD7D-F724-E3B1D449F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5245" y="861696"/>
            <a:ext cx="6004579" cy="526010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 one of the three literal values (false, true, null)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969527"/>
            <a:ext cx="803024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'"a"'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'2'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'"2"'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'false'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'"false"'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NULL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key":"value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key":"value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", "key2": {} 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71821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scadia Mono" panose="020B0609020000020004" pitchFamily="49" charset="0"/>
                <a:ea typeface="+mn-ea"/>
                <a:cs typeface="Cascadia Mono" panose="020B0609020000020004" pitchFamily="49" charset="0"/>
              </a:rPr>
              <a:t>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)</a:t>
            </a:r>
            <a:endParaRPr lang="en-US" sz="28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410473"/>
              </p:ext>
            </p:extLst>
          </p:nvPr>
        </p:nvGraphicFramePr>
        <p:xfrm>
          <a:off x="1801321" y="1355860"/>
          <a:ext cx="8803169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6162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648047">
                  <a:extLst>
                    <a:ext uri="{9D8B030D-6E8A-4147-A177-3AD203B41FA5}">
                      <a16:colId xmlns:a16="http://schemas.microsoft.com/office/drawing/2014/main" val="1074619443"/>
                    </a:ext>
                  </a:extLst>
                </a:gridCol>
                <a:gridCol w="1552353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573619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62988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ISJSON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key:value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 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 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8" y="1825827"/>
            <a:ext cx="732849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'$.blah'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28434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(contents of @_json)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[{"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'Not JSON-formatted'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array/object from the original JSON 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605066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NULL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Mom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'$.parents[1].name'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 false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textual value of a key within JSON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“$”,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3181793" y="1626803"/>
            <a:ext cx="609777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}'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7128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[Value] 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004738" y="3645197"/>
            <a:ext cx="49680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096000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specified JSON path.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}’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 </a:t>
            </a:r>
            <a:r>
              <a:rPr lang="da-DK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da-DK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 </a:t>
            </a:r>
            <a:r>
              <a:rPr lang="da-DK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da-DK" sz="1800" dirty="0">
                <a:solidFill>
                  <a:srgbClr val="FF0000"/>
                </a:solidFill>
                <a:latin typeface="Consolas" panose="020B0609020204030204" pitchFamily="49" charset="0"/>
              </a:rPr>
              <a:t>'$.name'</a:t>
            </a:r>
            <a:r>
              <a:rPr lang="da-DK" sz="1800" dirty="0">
                <a:solidFill>
                  <a:srgbClr val="808080"/>
                </a:solidFill>
                <a:latin typeface="Consolas" panose="020B0609020204030204" pitchFamily="49" charset="0"/>
              </a:rPr>
              <a:t>, </a:t>
            </a:r>
            <a:r>
              <a:rPr lang="da-DK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Jeff'</a:t>
            </a:r>
            <a:r>
              <a:rPr lang="da-DK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'$.dog'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'1'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da-DK" sz="18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'strict $.dog'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'1'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8789723" y="5605066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onsolas" panose="020B06090202040302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6925056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NULL)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538136" y="4024464"/>
            <a:ext cx="2735226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ABSENT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NULL)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Interprets the JSON object into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Datatable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2869" y="3555408"/>
            <a:ext cx="3862277" cy="9310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9322EC-6D2A-35CD-1D67-E062BDE65E95}"/>
              </a:ext>
            </a:extLst>
          </p:cNvPr>
          <p:cNvSpPr txBox="1"/>
          <p:nvPr/>
        </p:nvSpPr>
        <p:spPr>
          <a:xfrm>
            <a:off x="1088951" y="4821568"/>
            <a:ext cx="60977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75AAC8-B4A7-13EE-771F-2C5E76DA7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236" y="4606843"/>
            <a:ext cx="2343150" cy="79057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A62380-2056-E063-1493-18C691FCF691}"/>
              </a:ext>
            </a:extLst>
          </p:cNvPr>
          <p:cNvSpPr txBox="1"/>
          <p:nvPr/>
        </p:nvSpPr>
        <p:spPr>
          <a:xfrm>
            <a:off x="1088951" y="5634715"/>
            <a:ext cx="60977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383E929-0B22-9513-C3C3-E94517ABA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869" y="5468444"/>
            <a:ext cx="1828800" cy="504825"/>
          </a:xfrm>
          <a:prstGeom prst="rect">
            <a:avLst/>
          </a:prstGeom>
        </p:spPr>
      </p:pic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629403"/>
              </p:ext>
            </p:extLst>
          </p:nvPr>
        </p:nvGraphicFramePr>
        <p:xfrm>
          <a:off x="10260419" y="4821568"/>
          <a:ext cx="1066800" cy="1333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2386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734414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effectLst/>
                        </a:rPr>
                        <a:t>type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u="none" strike="noStrike" dirty="0">
                          <a:effectLst/>
                        </a:rPr>
                        <a:t>description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null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string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number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boolean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>
                          <a:effectLst/>
                        </a:rPr>
                        <a:t>JSON array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>
                          <a:effectLst/>
                        </a:rPr>
                        <a:t>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JSON object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Order]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504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Behaves like an INNER JOIN with a benefit tha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t the conditions are vague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[Order]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[Order]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latest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latest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Order]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Behaves like an INNER JOIN with a benefit tha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t the conditions are vague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 c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[Order] o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[Order]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WHERE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OVER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latest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latest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Order]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687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Behaves like an LEFT OUTER JOIN with a benefit tha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t the conditions are vague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 c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[Order] o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[Order]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WHERE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OVER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latest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latest</a:t>
            </a:r>
            <a:r>
              <a:rPr lang="en-US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13053</TotalTime>
  <Words>1828</Words>
  <Application>Microsoft Office PowerPoint</Application>
  <PresentationFormat>Widescreen</PresentationFormat>
  <Paragraphs>363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-apple-system</vt:lpstr>
      <vt:lpstr>Arial</vt:lpstr>
      <vt:lpstr>Calibri</vt:lpstr>
      <vt:lpstr>Calibri Light</vt:lpstr>
      <vt:lpstr>Cascadia Mono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11</cp:revision>
  <dcterms:created xsi:type="dcterms:W3CDTF">2024-01-27T23:55:18Z</dcterms:created>
  <dcterms:modified xsi:type="dcterms:W3CDTF">2024-02-06T17:27:33Z</dcterms:modified>
</cp:coreProperties>
</file>