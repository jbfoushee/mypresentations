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379" r:id="rId2"/>
    <p:sldId id="263" r:id="rId3"/>
    <p:sldId id="350" r:id="rId4"/>
    <p:sldId id="375" r:id="rId5"/>
    <p:sldId id="346" r:id="rId6"/>
    <p:sldId id="349" r:id="rId7"/>
    <p:sldId id="303" r:id="rId8"/>
    <p:sldId id="264" r:id="rId9"/>
    <p:sldId id="265" r:id="rId10"/>
    <p:sldId id="257" r:id="rId11"/>
    <p:sldId id="258" r:id="rId12"/>
    <p:sldId id="359" r:id="rId13"/>
    <p:sldId id="304" r:id="rId14"/>
    <p:sldId id="273" r:id="rId15"/>
    <p:sldId id="335" r:id="rId16"/>
    <p:sldId id="278" r:id="rId17"/>
    <p:sldId id="279" r:id="rId18"/>
    <p:sldId id="327" r:id="rId19"/>
    <p:sldId id="322" r:id="rId20"/>
    <p:sldId id="280" r:id="rId21"/>
    <p:sldId id="283" r:id="rId22"/>
    <p:sldId id="284" r:id="rId23"/>
    <p:sldId id="285" r:id="rId24"/>
    <p:sldId id="363" r:id="rId25"/>
    <p:sldId id="286" r:id="rId26"/>
    <p:sldId id="287" r:id="rId27"/>
    <p:sldId id="299" r:id="rId28"/>
    <p:sldId id="282" r:id="rId29"/>
    <p:sldId id="295" r:id="rId30"/>
    <p:sldId id="266" r:id="rId31"/>
    <p:sldId id="288" r:id="rId32"/>
    <p:sldId id="256" r:id="rId33"/>
    <p:sldId id="321" r:id="rId34"/>
    <p:sldId id="262" r:id="rId35"/>
    <p:sldId id="324" r:id="rId36"/>
    <p:sldId id="323" r:id="rId37"/>
    <p:sldId id="372" r:id="rId38"/>
    <p:sldId id="298" r:id="rId39"/>
    <p:sldId id="259" r:id="rId40"/>
    <p:sldId id="260" r:id="rId41"/>
    <p:sldId id="376" r:id="rId42"/>
    <p:sldId id="378" r:id="rId43"/>
    <p:sldId id="325" r:id="rId44"/>
    <p:sldId id="292" r:id="rId45"/>
    <p:sldId id="267" r:id="rId46"/>
    <p:sldId id="269" r:id="rId47"/>
    <p:sldId id="373" r:id="rId48"/>
    <p:sldId id="274" r:id="rId49"/>
    <p:sldId id="275" r:id="rId50"/>
    <p:sldId id="326" r:id="rId51"/>
    <p:sldId id="291" r:id="rId52"/>
    <p:sldId id="290" r:id="rId53"/>
    <p:sldId id="276" r:id="rId54"/>
    <p:sldId id="277" r:id="rId55"/>
    <p:sldId id="289" r:id="rId56"/>
    <p:sldId id="293" r:id="rId57"/>
    <p:sldId id="300" r:id="rId58"/>
    <p:sldId id="270" r:id="rId59"/>
    <p:sldId id="271" r:id="rId60"/>
    <p:sldId id="272" r:id="rId61"/>
    <p:sldId id="301" r:id="rId62"/>
    <p:sldId id="317" r:id="rId63"/>
    <p:sldId id="316" r:id="rId64"/>
    <p:sldId id="315" r:id="rId65"/>
    <p:sldId id="318" r:id="rId66"/>
    <p:sldId id="319" r:id="rId67"/>
    <p:sldId id="302" r:id="rId68"/>
    <p:sldId id="320" r:id="rId69"/>
    <p:sldId id="268" r:id="rId70"/>
    <p:sldId id="336" r:id="rId71"/>
    <p:sldId id="368" r:id="rId72"/>
    <p:sldId id="366" r:id="rId73"/>
    <p:sldId id="365" r:id="rId74"/>
    <p:sldId id="377" r:id="rId75"/>
    <p:sldId id="374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3" autoAdjust="0"/>
    <p:restoredTop sz="86815" autoAdjust="0"/>
  </p:normalViewPr>
  <p:slideViewPr>
    <p:cSldViewPr snapToGrid="0">
      <p:cViewPr varScale="1">
        <p:scale>
          <a:sx n="99" d="100"/>
          <a:sy n="99" d="100"/>
        </p:scale>
        <p:origin x="7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C881A-D32E-42E8-9070-7EB713AA357F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B6EA1-B038-4F2A-86A0-5554CC981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54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manager tells me to work with Jason, an outsider, who has an import for 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4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Jason works with semi-structured data. This type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doesn’t strictly adhere to a fixed schema or rigid data mode.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JSON represents data in a hierarchical structure using key-value pairs. Objects contain key-value pairs, and arrays can hold multiple values. 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This flexibility allows you to nest objects and arrays within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45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may be times were you need to convert one format to the other for import/export purposes.</a:t>
            </a:r>
          </a:p>
          <a:p>
            <a:r>
              <a:rPr lang="en-US" dirty="0"/>
              <a:t>Maybe you store JSON in the SQL Server in its raw format from an API, and you want to query values from it.</a:t>
            </a:r>
          </a:p>
          <a:p>
            <a:r>
              <a:rPr lang="en-US" dirty="0"/>
              <a:t>We’ll talk about the operators you need to do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57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SSMS offers an ability to view JSON.</a:t>
            </a:r>
          </a:p>
          <a:p>
            <a:r>
              <a:rPr lang="en-US" dirty="0"/>
              <a:t>When Results As Text, you only get the first 256 characters.</a:t>
            </a:r>
          </a:p>
          <a:p>
            <a:r>
              <a:rPr lang="en-US" dirty="0"/>
              <a:t>When Results As Grid, you can control how many to return. </a:t>
            </a:r>
          </a:p>
          <a:p>
            <a:r>
              <a:rPr lang="en-US" dirty="0"/>
              <a:t>However, everything is on one line and scrolls off to the right (and could potentially be truncated).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23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copy this data from SSMS, and paste into Notepad.</a:t>
            </a:r>
          </a:p>
          <a:p>
            <a:r>
              <a:rPr lang="en-US" dirty="0"/>
              <a:t>But depending how it was stored, I’m not in control if I want to scroll left-to-right across I-64, or up-and-down across I-65.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23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Notepad++ is a free tool that has a JSON plug-in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81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allows you to “pretty-print” or indent your JSON, and the option is compress or minify your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56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JSON tree viewer helps you navigate the JSON document object model, locating values and reflecting the path in JSON 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15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store JSON in SQL Server. Do I use varchar or </a:t>
            </a:r>
            <a:r>
              <a:rPr lang="en-US" dirty="0" err="1"/>
              <a:t>nvarchar</a:t>
            </a:r>
            <a:r>
              <a:rPr lang="en-US" dirty="0"/>
              <a:t>?</a:t>
            </a:r>
          </a:p>
          <a:p>
            <a:r>
              <a:rPr lang="en-US" dirty="0"/>
              <a:t>If your characters cannot be represented by the ones in red, you need </a:t>
            </a:r>
            <a:r>
              <a:rPr lang="en-US" dirty="0" err="1"/>
              <a:t>nvarchar</a:t>
            </a:r>
            <a:r>
              <a:rPr lang="en-US" dirty="0"/>
              <a:t>.</a:t>
            </a:r>
          </a:p>
          <a:p>
            <a:r>
              <a:rPr lang="en-US" dirty="0"/>
              <a:t>Notice the selection of a variety of foreign accented letters, and grammar-corrected punctuation.</a:t>
            </a:r>
          </a:p>
          <a:p>
            <a:r>
              <a:rPr lang="en-US" dirty="0"/>
              <a:t>You may also need to consider if have legal reasons to capture “exactly” what the user entered.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395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choose incorrectly, you could face issues of character demotion, substitution, or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56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some rules of JSON formatting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86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Whatever character starts must have a finishing character. Since these are curly braces, this is a JSON object. There is only one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89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outside brackets are boxed, meaning that this is an array. This array happens to contain one item.</a:t>
            </a:r>
          </a:p>
          <a:p>
            <a:r>
              <a:rPr lang="en-US" dirty="0"/>
              <a:t>Arrays in JSON are zero-based, just like in JavaScript.</a:t>
            </a:r>
          </a:p>
          <a:p>
            <a:r>
              <a:rPr lang="en-US" dirty="0"/>
              <a:t>APIs may return a JSON </a:t>
            </a:r>
            <a:r>
              <a:rPr lang="en-US" dirty="0" err="1"/>
              <a:t>resultset</a:t>
            </a:r>
            <a:r>
              <a:rPr lang="en-US" dirty="0"/>
              <a:t> as an array even when one item was returned.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22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Furthermore, an API may prefix the array with a property name, even something as trivial as “value”, “data” or “response”.</a:t>
            </a:r>
          </a:p>
          <a:p>
            <a:r>
              <a:rPr lang="en-US" dirty="0"/>
              <a:t>Notice this pushes all the data down one level lower by indention.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23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12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7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how I say unordered, yet the example shows an alphabetical list of children. </a:t>
            </a:r>
          </a:p>
          <a:p>
            <a:r>
              <a:rPr lang="en-US" dirty="0"/>
              <a:t>You cannot expect the data to return this way every time, nor can you make decisions of order in this manner.</a:t>
            </a:r>
          </a:p>
          <a:p>
            <a:r>
              <a:rPr lang="en-US" dirty="0"/>
              <a:t>If order is important, change the array of children from an array of strings to an array of JSON objects with properties “name” and “priority” for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5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smallest JSON you can make is 2 characters: curly brackets or square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14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enough rules that you could make a game show out of it, but thankfully we can let SQL Server do the heavy thinking for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509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testing various values, some JSON formatting rules have appeared</a:t>
            </a:r>
          </a:p>
          <a:p>
            <a:endParaRPr lang="en-US" dirty="0"/>
          </a:p>
          <a:p>
            <a:r>
              <a:rPr lang="en-US" dirty="0"/>
              <a:t>Arrays must be accompanied by a property name (4/5), unless the JSON originally starts with square brackets (1/3). In that case, property name is explicitly disallowed. (8)</a:t>
            </a:r>
          </a:p>
          <a:p>
            <a:endParaRPr lang="en-US" sz="1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325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Server 2022 has improved ISJSON with a second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61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Things to note: </a:t>
            </a:r>
          </a:p>
          <a:p>
            <a:pPr marL="171450" indent="-171450">
              <a:buFontTx/>
              <a:buChar char="-"/>
            </a:pPr>
            <a:r>
              <a:rPr lang="en-US" dirty="0"/>
              <a:t>TSQL NULL is not JSON</a:t>
            </a:r>
          </a:p>
          <a:p>
            <a:pPr marL="171450" indent="-171450">
              <a:buFontTx/>
              <a:buChar char="-"/>
            </a:pPr>
            <a:r>
              <a:rPr lang="en-US" dirty="0"/>
              <a:t>Text needs to be in quotes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default for ISJSON is an XOR of OBJECT|ARRAY</a:t>
            </a:r>
          </a:p>
          <a:p>
            <a:pPr marL="171450" indent="-171450">
              <a:buFontTx/>
              <a:buChar char="-"/>
            </a:pPr>
            <a:r>
              <a:rPr lang="en-US" dirty="0"/>
              <a:t>JSON null is lowercase, without quotes, and is not a scalar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85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add a column-level constraint to a table, where the text must agree to the ISJSON function before it can settle in the table data.</a:t>
            </a:r>
          </a:p>
          <a:p>
            <a:r>
              <a:rPr lang="en-US" dirty="0"/>
              <a:t>However, if you add data in a batch, all the rows’ values for that column must agree or they all get rejected as a unit-of-work.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71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SQL engine is smart enough to know that there is no extra positions of parents beyond 0 and 1,</a:t>
            </a:r>
          </a:p>
          <a:p>
            <a:r>
              <a:rPr lang="en-US" dirty="0"/>
              <a:t>And that a hyphenated property name is enclosed with double-quotes.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39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root (“$”) doesn’t even exist, you have bad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5095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I’d probably use ISJSON to test for valid JSON, and JSON_PATH_EXISTS for optional properties such as “feature-flag”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444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add a column-level constraint to a table, where the JSON text must contain a certain key before it can settle in the table data.</a:t>
            </a:r>
          </a:p>
          <a:p>
            <a:r>
              <a:rPr lang="en-US" dirty="0"/>
              <a:t>However, if you add data in a batch, all the rows’ values for that column must agree or they all get rejected as a unit-of-work.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45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If invalid JSON is passed to JSON_QUERY, an error is returned.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4322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invalid JSON is passed to JSON_VALUE, an error is returned.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5448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add a column-level constraint to a table, where the JSON text must contain a certain key and NON-NULL value before it can settle in the table data. </a:t>
            </a:r>
          </a:p>
          <a:p>
            <a:r>
              <a:rPr lang="en-US" dirty="0"/>
              <a:t>However, if you add data in a batch, all the rows’ values for that column must agree or they all get rejected as a unit-of-work.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99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quite unfortunate that these two functions would never intersect, but determine whether you get results or not.</a:t>
            </a:r>
          </a:p>
          <a:p>
            <a:r>
              <a:rPr lang="en-US" dirty="0"/>
              <a:t>Even I will mix them up so don’t get frustrated.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735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($) moves perspective as you navigate with JSON_QUERY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313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prefix the $ with keywords lax and strict.</a:t>
            </a:r>
          </a:p>
          <a:p>
            <a:r>
              <a:rPr lang="en-US" dirty="0"/>
              <a:t>Lax (default) prevents errors and results with NULL when no value is found at the JSON path given.</a:t>
            </a:r>
          </a:p>
          <a:p>
            <a:r>
              <a:rPr lang="en-US" dirty="0"/>
              <a:t>Strict throws errors only when no value is found at the JSON path given.</a:t>
            </a:r>
          </a:p>
          <a:p>
            <a:r>
              <a:rPr lang="en-US" dirty="0"/>
              <a:t>“Lax” and “strict” can applied to any JSON operator that uses the ‘$’ notation.</a:t>
            </a:r>
          </a:p>
          <a:p>
            <a:endParaRPr lang="en-US" dirty="0"/>
          </a:p>
          <a:p>
            <a:r>
              <a:rPr lang="en-US" dirty="0"/>
              <a:t>Fun fact: JSON_PATH_EXISTS will accept the lax/strict keywords, but ultimately ignores them…. providing a yes/no answer if the path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105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returned by OPENJSON is statement-scoped. Unless you send it to a table, it is lost at the next statement.</a:t>
            </a:r>
          </a:p>
          <a:p>
            <a:r>
              <a:rPr lang="en-US" dirty="0"/>
              <a:t>Notice the types returned. Perhaps you could build a hierarchical loop and process these rows differently based on the value?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682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take away from the CROSS JOIN that “for each” row in Table1, we get rows of Table2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99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known as a “lateral join”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49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the top query is syntactically correct, force yourself to write in the style of the bottom query.</a:t>
            </a:r>
          </a:p>
          <a:p>
            <a:r>
              <a:rPr lang="en-US" dirty="0"/>
              <a:t>The CROSS APPLY should form a dependency (a join) to the source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092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could not write this query using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@_json) on each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000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JSON_OBJECT can be nested, can be combined with JSON_ARRAY which we will discuss soon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923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JSON_ARRAY can be nested, can be combined with JSON_OBJECT.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Notice the defaults of ABSENT ON NULL and NULL ON NULL switch between the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074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JSON_ARRAY sounds like CONCAT, but a lot less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8146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Earlier we talked about how many characters to show in the Query Results pane. It said “Non-XML data”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70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here, this is considered “XML data.” </a:t>
            </a:r>
          </a:p>
          <a:p>
            <a:r>
              <a:rPr lang="en-US" dirty="0"/>
              <a:t>2MB is roughly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-apple-system"/>
              </a:rPr>
              <a:t>2097152 characters, so don’t go overboard. SSMS aims to please at the expense of your 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684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can get around the limit of 65K characters by re-casting the JSON as AUTO JSON to view untruncated in an XML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37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how Jeff’s “</a:t>
            </a:r>
            <a:r>
              <a:rPr lang="en-US" sz="12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AllTime_Jeopardy_Winnings</a:t>
            </a:r>
            <a:r>
              <a:rPr lang="en-US" sz="12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” value disappeared because it is NULL.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This is the default behavior of FOR JSON (AUTO|PATH). See next slide for options to include it anyways.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345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Rootname</a:t>
            </a:r>
            <a:r>
              <a:rPr lang="en-US" dirty="0"/>
              <a:t> is not the same as the </a:t>
            </a:r>
            <a:r>
              <a:rPr lang="en-US" dirty="0" err="1"/>
              <a:t>ColumnName</a:t>
            </a:r>
            <a:r>
              <a:rPr lang="en-US" dirty="0"/>
              <a:t> storing the JSON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197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473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friends “lax” and “strict” are extremely important when it comes to deleting or dropping values from 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989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566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B6EA1-B038-4F2A-86A0-5554CC981C72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3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EC4A-B344-177E-CC0F-717252058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B4024-58B8-9BC6-C2C4-E9C54B14B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C38E6-A0DA-9688-EB50-1DC647FF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BF55A-110F-FF25-534F-F0637406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1A57F-1E45-9D38-A20B-E60067BD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663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A4A3-8B10-1820-0106-8BF5D883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8A35C-1E1D-1C22-1F0B-8F88F44DE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82D6-3EF8-28BF-2AD6-9050AE80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DC5F3-06C6-DB44-F891-39D658F8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DC52E-32A0-FB45-7307-7028FC4C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4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A072-6728-C613-6033-FB4947C6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DC38D-988B-A127-F769-3AE21D0CE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67F9E-1AE5-454A-4A86-E3420EF73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1201B-D8FF-8187-4FFD-6D4AD973E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0856F-3824-A9C6-2F6A-78A2EDFC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26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E20D-4651-F3EE-0A25-C281FCAF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FBE7-4C7C-B9EE-6185-72336952A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AF380-5DB2-71C2-DA4F-66A6218DC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78C2E-26CC-DA3D-F3EF-C5BD2BE1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7F571-7E9B-2E29-AE8E-414906A9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B1F2E-A479-9AFC-96DF-FBD26094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87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4196-BAF8-6485-4498-38773458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FE994-3765-BC47-8265-CEA8F6055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C7D38-6CD7-8ED4-B038-3E2C030EFA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56361-2E03-B2E3-D5D3-30B24335C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AEFC40-DE09-F4B2-21C3-01D818FE7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E965F-3995-03F1-C065-D9004E87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C6EE2-3777-C129-37E2-88BBF634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3C1FC7-8BF4-F1E5-E954-AF558EF63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09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2E29-0571-040E-5983-62230B53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0DDE7-C51C-580C-911E-FC275654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1CDDA-4D46-4496-2E59-EC80ABA2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7D504-0FA4-487E-A556-1399760D7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7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12729-688D-3CD1-5893-1D4EC722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70233-7D41-DA8F-A8EB-CF56B759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7AAA9-E287-490B-08A6-E7137954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16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230E-E491-894F-4E99-0FF09AED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BFB9-0CA8-8C7E-64FC-C4D25B4A7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F32E1-2E6E-5729-CE34-2933CBF60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C136C-ABF5-5313-2E64-AD7125B6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83D6B-B489-DF3D-C33C-F61F64C0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54372-D4DC-B102-8825-E719788D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13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0B1B-D61C-39F8-F2BE-022F8A5F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6128C-D559-89C5-9304-300E4BD18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6BEBD-DE7E-0A5A-C361-876EC06C9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449A7-DE39-4323-4F3B-79D5BF48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FACA8-9144-A263-F50A-B3788A12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63EDD-7299-9462-8CFD-F1F0D236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17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4708-7E9B-A1B8-D203-F864C0E3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E9B5F-F6C7-D532-024F-C087874B3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A7CB0-AACC-72A1-6164-0F9AFB570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34C05-05CC-148F-9549-AE59E7EB0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37AEB-0CBB-C9FD-4D34-ACBFFD5F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2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11D8B1-35E5-FE9E-14BB-B63977163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99F59-8FFB-27A4-537F-1FB44AA76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721C5-FCE8-8496-07D7-200C84A8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BC29-C3A0-3AE4-10F2-8B812A2B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96BF5-DFF7-46B6-815F-4BEC3883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5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1CEBB-A314-72EB-4E82-E664E935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49815-D47F-8E8B-4DCE-6CF8B8324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77C57-7585-6B1F-3866-BBE4706F8B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727D6-2A34-4C60-8A36-E80BB1BFD15E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74E81-6DEA-4A24-C969-5237F84FF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040C6-0A46-D0FE-0D61-ABED4EBEE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6670FF-8781-47ED-84E8-EE47E4BA6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2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jpeg"/><Relationship Id="rId12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2.png"/><Relationship Id="rId5" Type="http://schemas.openxmlformats.org/officeDocument/2006/relationships/image" Target="../media/image2.jpe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9F34-9CC1-E59F-E59F-51DB3D97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after the presentation?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7A4AD-2DB8-D681-74A7-3A47132B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49" y="2184885"/>
            <a:ext cx="10096500" cy="13620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330FE9-AB35-44BA-F17A-6FD0DAAB70CE}"/>
              </a:ext>
            </a:extLst>
          </p:cNvPr>
          <p:cNvSpPr txBox="1"/>
          <p:nvPr/>
        </p:nvSpPr>
        <p:spPr>
          <a:xfrm>
            <a:off x="2152997" y="4735629"/>
            <a:ext cx="7886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 sure to enable the Notes for slide-specific content</a:t>
            </a:r>
          </a:p>
        </p:txBody>
      </p:sp>
    </p:spTree>
    <p:extLst>
      <p:ext uri="{BB962C8B-B14F-4D97-AF65-F5344CB8AC3E}">
        <p14:creationId xmlns:p14="http://schemas.microsoft.com/office/powerpoint/2010/main" val="134696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ve Instructor-Led SQL Querying Advanced Training - Hands-on Course">
            <a:extLst>
              <a:ext uri="{FF2B5EF4-FFF2-40B4-BE49-F238E27FC236}">
                <a16:creationId xmlns:a16="http://schemas.microsoft.com/office/drawing/2014/main" id="{CBDA142E-B6AA-0CE4-512D-E046762D8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63" y="4829875"/>
            <a:ext cx="1698570" cy="178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9FBDC4-6B90-0B55-CFD0-525E83D440FA}"/>
              </a:ext>
            </a:extLst>
          </p:cNvPr>
          <p:cNvSpPr txBox="1"/>
          <p:nvPr/>
        </p:nvSpPr>
        <p:spPr>
          <a:xfrm>
            <a:off x="2682240" y="1612626"/>
            <a:ext cx="6929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The </a:t>
            </a:r>
            <a:r>
              <a:rPr lang="en-US" sz="4800" dirty="0">
                <a:solidFill>
                  <a:srgbClr val="FF00FF"/>
                </a:solidFill>
                <a:latin typeface="Consolas" panose="020B0609020204030204" pitchFamily="49" charset="0"/>
              </a:rPr>
              <a:t>JSON</a:t>
            </a:r>
            <a:r>
              <a:rPr lang="en-US" sz="3600" b="1" dirty="0"/>
              <a:t>  </a:t>
            </a:r>
            <a:r>
              <a:rPr lang="en-US" sz="4800" b="1" dirty="0"/>
              <a:t>T-SQL Operators</a:t>
            </a:r>
            <a:endParaRPr lang="en-US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0ADC9-0801-A08A-74F5-830AB9857B57}"/>
              </a:ext>
            </a:extLst>
          </p:cNvPr>
          <p:cNvSpPr txBox="1"/>
          <p:nvPr/>
        </p:nvSpPr>
        <p:spPr>
          <a:xfrm>
            <a:off x="1255776" y="3178289"/>
            <a:ext cx="31455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AUTO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PATH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•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026" name="Picture 2" descr="Image result for json icon">
            <a:extLst>
              <a:ext uri="{FF2B5EF4-FFF2-40B4-BE49-F238E27FC236}">
                <a16:creationId xmlns:a16="http://schemas.microsoft.com/office/drawing/2014/main" id="{6E43A857-1D75-6FE1-B5A1-A8D445D06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04" y="4995522"/>
            <a:ext cx="1451229" cy="145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07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94EAC-4A16-27D3-9C5B-8724180E3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799" y="1206029"/>
            <a:ext cx="5502402" cy="44459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D0B63B-A4BC-B177-BFBA-AD0E9C2D37C9}"/>
              </a:ext>
            </a:extLst>
          </p:cNvPr>
          <p:cNvSpPr txBox="1"/>
          <p:nvPr/>
        </p:nvSpPr>
        <p:spPr>
          <a:xfrm>
            <a:off x="8847201" y="6252518"/>
            <a:ext cx="27187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(With permission from </a:t>
            </a:r>
            <a:r>
              <a:rPr lang="en-US" sz="1200" b="0" i="0" dirty="0">
                <a:solidFill>
                  <a:srgbClr val="000000"/>
                </a:solidFill>
                <a:effectLst/>
                <a:highlight>
                  <a:srgbClr val="F5F5F7"/>
                </a:highlight>
              </a:rPr>
              <a:t>Ephraim </a:t>
            </a:r>
            <a:r>
              <a:rPr lang="en-US" sz="1200" b="0" i="0" dirty="0" err="1">
                <a:solidFill>
                  <a:srgbClr val="000000"/>
                </a:solidFill>
                <a:effectLst/>
                <a:highlight>
                  <a:srgbClr val="F5F5F7"/>
                </a:highlight>
              </a:rPr>
              <a:t>Ndoro</a:t>
            </a:r>
            <a:r>
              <a:rPr lang="en-US" sz="1200" b="0" i="0" dirty="0">
                <a:solidFill>
                  <a:srgbClr val="000000"/>
                </a:solidFill>
                <a:effectLst/>
                <a:highlight>
                  <a:srgbClr val="F5F5F7"/>
                </a:highlight>
              </a:rPr>
              <a:t>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4175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C42EA2-AB66-BFE8-1633-89D834BE9BCA}"/>
              </a:ext>
            </a:extLst>
          </p:cNvPr>
          <p:cNvSpPr txBox="1"/>
          <p:nvPr/>
        </p:nvSpPr>
        <p:spPr>
          <a:xfrm>
            <a:off x="676053" y="197346"/>
            <a:ext cx="696833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D38D2-60EB-6C7F-3C1E-E728A2541FBF}"/>
              </a:ext>
            </a:extLst>
          </p:cNvPr>
          <p:cNvSpPr txBox="1"/>
          <p:nvPr/>
        </p:nvSpPr>
        <p:spPr>
          <a:xfrm>
            <a:off x="9256577" y="6383655"/>
            <a:ext cx="2531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(https://en.wikipedia.org/wiki/JSON)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AC2430-78D2-8E54-C755-A1B8DBE4F816}"/>
              </a:ext>
            </a:extLst>
          </p:cNvPr>
          <p:cNvGrpSpPr/>
          <p:nvPr/>
        </p:nvGrpSpPr>
        <p:grpSpPr>
          <a:xfrm>
            <a:off x="926757" y="1538554"/>
            <a:ext cx="6989956" cy="1476495"/>
            <a:chOff x="926757" y="1538554"/>
            <a:chExt cx="6989956" cy="1476495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F2CD30E-09B9-4BBE-6BD0-2359B50DE930}"/>
                </a:ext>
              </a:extLst>
            </p:cNvPr>
            <p:cNvSpPr/>
            <p:nvPr/>
          </p:nvSpPr>
          <p:spPr>
            <a:xfrm>
              <a:off x="926757" y="1538554"/>
              <a:ext cx="5139930" cy="1476495"/>
            </a:xfrm>
            <a:custGeom>
              <a:avLst/>
              <a:gdLst>
                <a:gd name="connsiteX0" fmla="*/ 1532238 w 5139930"/>
                <a:gd name="connsiteY0" fmla="*/ 67824 h 1476495"/>
                <a:gd name="connsiteX1" fmla="*/ 1482811 w 5139930"/>
                <a:gd name="connsiteY1" fmla="*/ 327316 h 1476495"/>
                <a:gd name="connsiteX2" fmla="*/ 1359243 w 5139930"/>
                <a:gd name="connsiteY2" fmla="*/ 314960 h 1476495"/>
                <a:gd name="connsiteX3" fmla="*/ 729048 w 5139930"/>
                <a:gd name="connsiteY3" fmla="*/ 314960 h 1476495"/>
                <a:gd name="connsiteX4" fmla="*/ 630194 w 5139930"/>
                <a:gd name="connsiteY4" fmla="*/ 327316 h 1476495"/>
                <a:gd name="connsiteX5" fmla="*/ 543697 w 5139930"/>
                <a:gd name="connsiteY5" fmla="*/ 339673 h 1476495"/>
                <a:gd name="connsiteX6" fmla="*/ 481913 w 5139930"/>
                <a:gd name="connsiteY6" fmla="*/ 352030 h 1476495"/>
                <a:gd name="connsiteX7" fmla="*/ 407773 w 5139930"/>
                <a:gd name="connsiteY7" fmla="*/ 364387 h 1476495"/>
                <a:gd name="connsiteX8" fmla="*/ 321275 w 5139930"/>
                <a:gd name="connsiteY8" fmla="*/ 401457 h 1476495"/>
                <a:gd name="connsiteX9" fmla="*/ 308919 w 5139930"/>
                <a:gd name="connsiteY9" fmla="*/ 438527 h 1476495"/>
                <a:gd name="connsiteX10" fmla="*/ 296562 w 5139930"/>
                <a:gd name="connsiteY10" fmla="*/ 487954 h 1476495"/>
                <a:gd name="connsiteX11" fmla="*/ 247135 w 5139930"/>
                <a:gd name="connsiteY11" fmla="*/ 611522 h 1476495"/>
                <a:gd name="connsiteX12" fmla="*/ 222421 w 5139930"/>
                <a:gd name="connsiteY12" fmla="*/ 710376 h 1476495"/>
                <a:gd name="connsiteX13" fmla="*/ 210065 w 5139930"/>
                <a:gd name="connsiteY13" fmla="*/ 809230 h 1476495"/>
                <a:gd name="connsiteX14" fmla="*/ 74140 w 5139930"/>
                <a:gd name="connsiteY14" fmla="*/ 994581 h 1476495"/>
                <a:gd name="connsiteX15" fmla="*/ 0 w 5139930"/>
                <a:gd name="connsiteY15" fmla="*/ 1167576 h 1476495"/>
                <a:gd name="connsiteX16" fmla="*/ 37070 w 5139930"/>
                <a:gd name="connsiteY16" fmla="*/ 1365284 h 1476495"/>
                <a:gd name="connsiteX17" fmla="*/ 49427 w 5139930"/>
                <a:gd name="connsiteY17" fmla="*/ 1414711 h 1476495"/>
                <a:gd name="connsiteX18" fmla="*/ 111211 w 5139930"/>
                <a:gd name="connsiteY18" fmla="*/ 1476495 h 1476495"/>
                <a:gd name="connsiteX19" fmla="*/ 271848 w 5139930"/>
                <a:gd name="connsiteY19" fmla="*/ 1402354 h 1476495"/>
                <a:gd name="connsiteX20" fmla="*/ 345989 w 5139930"/>
                <a:gd name="connsiteY20" fmla="*/ 1377641 h 1476495"/>
                <a:gd name="connsiteX21" fmla="*/ 407773 w 5139930"/>
                <a:gd name="connsiteY21" fmla="*/ 1352927 h 1476495"/>
                <a:gd name="connsiteX22" fmla="*/ 3756454 w 5139930"/>
                <a:gd name="connsiteY22" fmla="*/ 1365284 h 1476495"/>
                <a:gd name="connsiteX23" fmla="*/ 3966519 w 5139930"/>
                <a:gd name="connsiteY23" fmla="*/ 1377641 h 1476495"/>
                <a:gd name="connsiteX24" fmla="*/ 4596713 w 5139930"/>
                <a:gd name="connsiteY24" fmla="*/ 1365284 h 1476495"/>
                <a:gd name="connsiteX25" fmla="*/ 4732638 w 5139930"/>
                <a:gd name="connsiteY25" fmla="*/ 1303500 h 1476495"/>
                <a:gd name="connsiteX26" fmla="*/ 4769708 w 5139930"/>
                <a:gd name="connsiteY26" fmla="*/ 1278787 h 1476495"/>
                <a:gd name="connsiteX27" fmla="*/ 4868562 w 5139930"/>
                <a:gd name="connsiteY27" fmla="*/ 1167576 h 1476495"/>
                <a:gd name="connsiteX28" fmla="*/ 5004486 w 5139930"/>
                <a:gd name="connsiteY28" fmla="*/ 1019295 h 1476495"/>
                <a:gd name="connsiteX29" fmla="*/ 5066270 w 5139930"/>
                <a:gd name="connsiteY29" fmla="*/ 920441 h 1476495"/>
                <a:gd name="connsiteX30" fmla="*/ 5078627 w 5139930"/>
                <a:gd name="connsiteY30" fmla="*/ 871014 h 1476495"/>
                <a:gd name="connsiteX31" fmla="*/ 5090984 w 5139930"/>
                <a:gd name="connsiteY31" fmla="*/ 833943 h 1476495"/>
                <a:gd name="connsiteX32" fmla="*/ 5103340 w 5139930"/>
                <a:gd name="connsiteY32" fmla="*/ 685662 h 1476495"/>
                <a:gd name="connsiteX33" fmla="*/ 5103340 w 5139930"/>
                <a:gd name="connsiteY33" fmla="*/ 339673 h 1476495"/>
                <a:gd name="connsiteX34" fmla="*/ 5029200 w 5139930"/>
                <a:gd name="connsiteY34" fmla="*/ 277889 h 1476495"/>
                <a:gd name="connsiteX35" fmla="*/ 4658497 w 5139930"/>
                <a:gd name="connsiteY35" fmla="*/ 166678 h 1476495"/>
                <a:gd name="connsiteX36" fmla="*/ 4510216 w 5139930"/>
                <a:gd name="connsiteY36" fmla="*/ 154322 h 1476495"/>
                <a:gd name="connsiteX37" fmla="*/ 3880021 w 5139930"/>
                <a:gd name="connsiteY37" fmla="*/ 117251 h 1476495"/>
                <a:gd name="connsiteX38" fmla="*/ 3373394 w 5139930"/>
                <a:gd name="connsiteY38" fmla="*/ 67824 h 1476495"/>
                <a:gd name="connsiteX39" fmla="*/ 2162432 w 5139930"/>
                <a:gd name="connsiteY39" fmla="*/ 18397 h 1476495"/>
                <a:gd name="connsiteX40" fmla="*/ 1519881 w 5139930"/>
                <a:gd name="connsiteY40" fmla="*/ 18397 h 1476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39930" h="1476495">
                  <a:moveTo>
                    <a:pt x="1532238" y="67824"/>
                  </a:moveTo>
                  <a:cubicBezTo>
                    <a:pt x="1531401" y="84560"/>
                    <a:pt x="1596208" y="327316"/>
                    <a:pt x="1482811" y="327316"/>
                  </a:cubicBezTo>
                  <a:cubicBezTo>
                    <a:pt x="1441416" y="327316"/>
                    <a:pt x="1400432" y="319079"/>
                    <a:pt x="1359243" y="314960"/>
                  </a:cubicBezTo>
                  <a:cubicBezTo>
                    <a:pt x="1136180" y="240604"/>
                    <a:pt x="1310756" y="294185"/>
                    <a:pt x="729048" y="314960"/>
                  </a:cubicBezTo>
                  <a:cubicBezTo>
                    <a:pt x="695861" y="316145"/>
                    <a:pt x="663110" y="322927"/>
                    <a:pt x="630194" y="327316"/>
                  </a:cubicBezTo>
                  <a:cubicBezTo>
                    <a:pt x="601324" y="331165"/>
                    <a:pt x="572426" y="334885"/>
                    <a:pt x="543697" y="339673"/>
                  </a:cubicBezTo>
                  <a:cubicBezTo>
                    <a:pt x="522980" y="343126"/>
                    <a:pt x="502577" y="348273"/>
                    <a:pt x="481913" y="352030"/>
                  </a:cubicBezTo>
                  <a:cubicBezTo>
                    <a:pt x="457263" y="356512"/>
                    <a:pt x="432486" y="360268"/>
                    <a:pt x="407773" y="364387"/>
                  </a:cubicBezTo>
                  <a:cubicBezTo>
                    <a:pt x="378940" y="376744"/>
                    <a:pt x="346370" y="382636"/>
                    <a:pt x="321275" y="401457"/>
                  </a:cubicBezTo>
                  <a:cubicBezTo>
                    <a:pt x="310855" y="409272"/>
                    <a:pt x="312497" y="426003"/>
                    <a:pt x="308919" y="438527"/>
                  </a:cubicBezTo>
                  <a:cubicBezTo>
                    <a:pt x="304254" y="454856"/>
                    <a:pt x="301228" y="471625"/>
                    <a:pt x="296562" y="487954"/>
                  </a:cubicBezTo>
                  <a:cubicBezTo>
                    <a:pt x="273199" y="569721"/>
                    <a:pt x="291950" y="477076"/>
                    <a:pt x="247135" y="611522"/>
                  </a:cubicBezTo>
                  <a:cubicBezTo>
                    <a:pt x="236394" y="643745"/>
                    <a:pt x="230659" y="677425"/>
                    <a:pt x="222421" y="710376"/>
                  </a:cubicBezTo>
                  <a:cubicBezTo>
                    <a:pt x="218302" y="743327"/>
                    <a:pt x="225426" y="779789"/>
                    <a:pt x="210065" y="809230"/>
                  </a:cubicBezTo>
                  <a:cubicBezTo>
                    <a:pt x="174625" y="877157"/>
                    <a:pt x="108403" y="926053"/>
                    <a:pt x="74140" y="994581"/>
                  </a:cubicBezTo>
                  <a:cubicBezTo>
                    <a:pt x="4762" y="1133339"/>
                    <a:pt x="23526" y="1073473"/>
                    <a:pt x="0" y="1167576"/>
                  </a:cubicBezTo>
                  <a:cubicBezTo>
                    <a:pt x="19699" y="1384260"/>
                    <a:pt x="-7139" y="1232654"/>
                    <a:pt x="37070" y="1365284"/>
                  </a:cubicBezTo>
                  <a:cubicBezTo>
                    <a:pt x="42440" y="1381395"/>
                    <a:pt x="42737" y="1399101"/>
                    <a:pt x="49427" y="1414711"/>
                  </a:cubicBezTo>
                  <a:cubicBezTo>
                    <a:pt x="65903" y="1453155"/>
                    <a:pt x="78259" y="1454527"/>
                    <a:pt x="111211" y="1476495"/>
                  </a:cubicBezTo>
                  <a:cubicBezTo>
                    <a:pt x="376804" y="1417473"/>
                    <a:pt x="114799" y="1496582"/>
                    <a:pt x="271848" y="1402354"/>
                  </a:cubicBezTo>
                  <a:cubicBezTo>
                    <a:pt x="294186" y="1388951"/>
                    <a:pt x="321802" y="1387316"/>
                    <a:pt x="345989" y="1377641"/>
                  </a:cubicBezTo>
                  <a:lnTo>
                    <a:pt x="407773" y="1352927"/>
                  </a:lnTo>
                  <a:lnTo>
                    <a:pt x="3756454" y="1365284"/>
                  </a:lnTo>
                  <a:cubicBezTo>
                    <a:pt x="3826595" y="1365771"/>
                    <a:pt x="3896376" y="1377641"/>
                    <a:pt x="3966519" y="1377641"/>
                  </a:cubicBezTo>
                  <a:cubicBezTo>
                    <a:pt x="4176624" y="1377641"/>
                    <a:pt x="4386648" y="1369403"/>
                    <a:pt x="4596713" y="1365284"/>
                  </a:cubicBezTo>
                  <a:cubicBezTo>
                    <a:pt x="4634178" y="1349228"/>
                    <a:pt x="4693889" y="1325642"/>
                    <a:pt x="4732638" y="1303500"/>
                  </a:cubicBezTo>
                  <a:cubicBezTo>
                    <a:pt x="4745532" y="1296132"/>
                    <a:pt x="4758532" y="1288566"/>
                    <a:pt x="4769708" y="1278787"/>
                  </a:cubicBezTo>
                  <a:cubicBezTo>
                    <a:pt x="4883632" y="1179104"/>
                    <a:pt x="4787446" y="1256805"/>
                    <a:pt x="4868562" y="1167576"/>
                  </a:cubicBezTo>
                  <a:cubicBezTo>
                    <a:pt x="5043817" y="974794"/>
                    <a:pt x="4884240" y="1169601"/>
                    <a:pt x="5004486" y="1019295"/>
                  </a:cubicBezTo>
                  <a:cubicBezTo>
                    <a:pt x="5038213" y="918114"/>
                    <a:pt x="4982323" y="1071544"/>
                    <a:pt x="5066270" y="920441"/>
                  </a:cubicBezTo>
                  <a:cubicBezTo>
                    <a:pt x="5074518" y="905595"/>
                    <a:pt x="5073961" y="887343"/>
                    <a:pt x="5078627" y="871014"/>
                  </a:cubicBezTo>
                  <a:cubicBezTo>
                    <a:pt x="5082205" y="858490"/>
                    <a:pt x="5086865" y="846300"/>
                    <a:pt x="5090984" y="833943"/>
                  </a:cubicBezTo>
                  <a:cubicBezTo>
                    <a:pt x="5095103" y="784516"/>
                    <a:pt x="5097545" y="734921"/>
                    <a:pt x="5103340" y="685662"/>
                  </a:cubicBezTo>
                  <a:cubicBezTo>
                    <a:pt x="5121159" y="534196"/>
                    <a:pt x="5175911" y="629959"/>
                    <a:pt x="5103340" y="339673"/>
                  </a:cubicBezTo>
                  <a:cubicBezTo>
                    <a:pt x="5095538" y="308464"/>
                    <a:pt x="5057721" y="292770"/>
                    <a:pt x="5029200" y="277889"/>
                  </a:cubicBezTo>
                  <a:cubicBezTo>
                    <a:pt x="4867992" y="193780"/>
                    <a:pt x="4823186" y="186441"/>
                    <a:pt x="4658497" y="166678"/>
                  </a:cubicBezTo>
                  <a:cubicBezTo>
                    <a:pt x="4609252" y="160769"/>
                    <a:pt x="4559715" y="157465"/>
                    <a:pt x="4510216" y="154322"/>
                  </a:cubicBezTo>
                  <a:cubicBezTo>
                    <a:pt x="4300211" y="140988"/>
                    <a:pt x="4089585" y="136302"/>
                    <a:pt x="3880021" y="117251"/>
                  </a:cubicBezTo>
                  <a:cubicBezTo>
                    <a:pt x="3529804" y="85414"/>
                    <a:pt x="3698663" y="102063"/>
                    <a:pt x="3373394" y="67824"/>
                  </a:cubicBezTo>
                  <a:cubicBezTo>
                    <a:pt x="2929125" y="-59108"/>
                    <a:pt x="3282920" y="34068"/>
                    <a:pt x="2162432" y="18397"/>
                  </a:cubicBezTo>
                  <a:cubicBezTo>
                    <a:pt x="1948269" y="15402"/>
                    <a:pt x="1734065" y="18397"/>
                    <a:pt x="1519881" y="18397"/>
                  </a:cubicBezTo>
                </a:path>
              </a:pathLst>
            </a:custGeom>
            <a:noFill/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EBB955-CF21-1C08-4DF3-3E816038C09B}"/>
                </a:ext>
              </a:extLst>
            </p:cNvPr>
            <p:cNvSpPr txBox="1"/>
            <p:nvPr/>
          </p:nvSpPr>
          <p:spPr>
            <a:xfrm>
              <a:off x="6339016" y="1538554"/>
              <a:ext cx="1577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JSON object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7E012A-BABB-A052-B77B-6BFF5C35C10B}"/>
              </a:ext>
            </a:extLst>
          </p:cNvPr>
          <p:cNvGrpSpPr/>
          <p:nvPr/>
        </p:nvGrpSpPr>
        <p:grpSpPr>
          <a:xfrm>
            <a:off x="2545492" y="5177481"/>
            <a:ext cx="5816064" cy="840260"/>
            <a:chOff x="2545492" y="5177481"/>
            <a:chExt cx="5816064" cy="84026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A5FD31-9DA7-EDB4-E3AE-B77060E856E7}"/>
                </a:ext>
              </a:extLst>
            </p:cNvPr>
            <p:cNvSpPr/>
            <p:nvPr/>
          </p:nvSpPr>
          <p:spPr>
            <a:xfrm>
              <a:off x="2545492" y="5659395"/>
              <a:ext cx="4522573" cy="358346"/>
            </a:xfrm>
            <a:prstGeom prst="rect">
              <a:avLst/>
            </a:prstGeom>
            <a:noFill/>
            <a:ln w="444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4EC817E-0608-EC1A-62E8-4BB2C779D70A}"/>
                </a:ext>
              </a:extLst>
            </p:cNvPr>
            <p:cNvSpPr txBox="1"/>
            <p:nvPr/>
          </p:nvSpPr>
          <p:spPr>
            <a:xfrm>
              <a:off x="6783859" y="5177481"/>
              <a:ext cx="15776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JSON array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21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69F3F55-69E2-9924-4F78-83368A27E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919" y="1270807"/>
            <a:ext cx="4460858" cy="1588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C42EA2-AB66-BFE8-1633-89D834BE9BCA}"/>
              </a:ext>
            </a:extLst>
          </p:cNvPr>
          <p:cNvSpPr txBox="1"/>
          <p:nvPr/>
        </p:nvSpPr>
        <p:spPr>
          <a:xfrm>
            <a:off x="676054" y="488196"/>
            <a:ext cx="390026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"type": "home"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"646 555-4567", 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"type": "office"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"Thomas"]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sz="12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AEE842-C7C1-2FE7-20AE-F9F1498B7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385" y="2859767"/>
            <a:ext cx="6632562" cy="3341091"/>
          </a:xfrm>
          <a:prstGeom prst="rect">
            <a:avLst/>
          </a:prstGeom>
        </p:spPr>
      </p:pic>
      <p:pic>
        <p:nvPicPr>
          <p:cNvPr id="14" name="Picture 13" descr="Live Instructor-Led SQL Querying Advanced Training - Hands-on Course">
            <a:extLst>
              <a:ext uri="{FF2B5EF4-FFF2-40B4-BE49-F238E27FC236}">
                <a16:creationId xmlns:a16="http://schemas.microsoft.com/office/drawing/2014/main" id="{BB642230-99AB-2E0A-08D2-8698EDCE0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815" y="4705727"/>
            <a:ext cx="1772312" cy="1865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mongodb">
            <a:extLst>
              <a:ext uri="{FF2B5EF4-FFF2-40B4-BE49-F238E27FC236}">
                <a16:creationId xmlns:a16="http://schemas.microsoft.com/office/drawing/2014/main" id="{3BD3B244-9621-C112-65DE-FBD021F71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15" y="5132389"/>
            <a:ext cx="1418324" cy="474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cassandra db icon">
            <a:extLst>
              <a:ext uri="{FF2B5EF4-FFF2-40B4-BE49-F238E27FC236}">
                <a16:creationId xmlns:a16="http://schemas.microsoft.com/office/drawing/2014/main" id="{D12B84FE-3DC1-6A87-0634-96D511D77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735" y="5950807"/>
            <a:ext cx="872724" cy="62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Ya fue liberada la nueva versión de Apache CouchDB 3.0 y estos son sus ...">
            <a:extLst>
              <a:ext uri="{FF2B5EF4-FFF2-40B4-BE49-F238E27FC236}">
                <a16:creationId xmlns:a16="http://schemas.microsoft.com/office/drawing/2014/main" id="{E3FD43AE-B1EF-E3C6-E5B7-05FC7D759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16" y="5752201"/>
            <a:ext cx="1418323" cy="460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D1362C-D3FE-4B79-4646-4F801D2C8A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845" y="6264988"/>
            <a:ext cx="1418323" cy="3829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3B0590-29F5-FF4E-D986-6BBEFAF51D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8341" y="5074526"/>
            <a:ext cx="1224748" cy="68103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2D8D13-B297-8D30-A995-B015397BA076}"/>
              </a:ext>
            </a:extLst>
          </p:cNvPr>
          <p:cNvCxnSpPr>
            <a:cxnSpLocks/>
          </p:cNvCxnSpPr>
          <p:nvPr/>
        </p:nvCxnSpPr>
        <p:spPr>
          <a:xfrm>
            <a:off x="4778747" y="2384854"/>
            <a:ext cx="0" cy="4263081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99667-1DC6-8993-7DB5-3E311B2851F7}"/>
              </a:ext>
            </a:extLst>
          </p:cNvPr>
          <p:cNvCxnSpPr/>
          <p:nvPr/>
        </p:nvCxnSpPr>
        <p:spPr>
          <a:xfrm flipH="1">
            <a:off x="4778747" y="2384854"/>
            <a:ext cx="6935458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A448DC-F925-232F-23FA-B9F6D55A35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6206" y="424604"/>
            <a:ext cx="2002900" cy="1432200"/>
          </a:xfrm>
          <a:prstGeom prst="rect">
            <a:avLst/>
          </a:prstGeom>
        </p:spPr>
      </p:pic>
      <p:sp>
        <p:nvSpPr>
          <p:cNvPr id="6" name="Arrow: Bent-Up 5">
            <a:extLst>
              <a:ext uri="{FF2B5EF4-FFF2-40B4-BE49-F238E27FC236}">
                <a16:creationId xmlns:a16="http://schemas.microsoft.com/office/drawing/2014/main" id="{4E1EAA66-D8F6-F4AF-58C4-4AD4CD919171}"/>
              </a:ext>
            </a:extLst>
          </p:cNvPr>
          <p:cNvSpPr/>
          <p:nvPr/>
        </p:nvSpPr>
        <p:spPr>
          <a:xfrm flipH="1">
            <a:off x="4028307" y="5299372"/>
            <a:ext cx="1224745" cy="109839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Image result for json icon">
            <a:extLst>
              <a:ext uri="{FF2B5EF4-FFF2-40B4-BE49-F238E27FC236}">
                <a16:creationId xmlns:a16="http://schemas.microsoft.com/office/drawing/2014/main" id="{29A66535-F841-D6C8-FAE9-0F2F880C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459" y="424604"/>
            <a:ext cx="623344" cy="62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Image result for json icon">
            <a:extLst>
              <a:ext uri="{FF2B5EF4-FFF2-40B4-BE49-F238E27FC236}">
                <a16:creationId xmlns:a16="http://schemas.microsoft.com/office/drawing/2014/main" id="{25C3F785-3A4E-80C7-5C95-34085AFE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493" y="407039"/>
            <a:ext cx="623344" cy="62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3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014BE0B-5E89-8A06-24B5-EF1DF4E65A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879" y="4371263"/>
            <a:ext cx="1628368" cy="161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37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87BC-FC35-CA96-FEC8-DD4A00DB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JSON (client tools)</a:t>
            </a:r>
          </a:p>
        </p:txBody>
      </p:sp>
    </p:spTree>
    <p:extLst>
      <p:ext uri="{BB962C8B-B14F-4D97-AF65-F5344CB8AC3E}">
        <p14:creationId xmlns:p14="http://schemas.microsoft.com/office/powerpoint/2010/main" val="2412006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CB5D10-CB03-B334-F1EE-7B88307F4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906" y="2547717"/>
            <a:ext cx="9544050" cy="38766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571653-AE10-33CD-275C-3198E447428E}"/>
              </a:ext>
            </a:extLst>
          </p:cNvPr>
          <p:cNvSpPr txBox="1"/>
          <p:nvPr/>
        </p:nvSpPr>
        <p:spPr>
          <a:xfrm>
            <a:off x="8399722" y="1507004"/>
            <a:ext cx="288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characters do you want to see on the screen?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FE876-E85C-0487-DA58-8593D3A62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78" y="582320"/>
            <a:ext cx="5518258" cy="453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07566C-241A-1A23-A506-997010010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78" y="1141582"/>
            <a:ext cx="7439025" cy="1104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EF6833-8803-70E5-B6D5-DF910DB09705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8114303" y="1830170"/>
            <a:ext cx="285419" cy="30000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18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DB9B34-A1EC-64CA-7D74-3E2D1DA8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78" y="433608"/>
            <a:ext cx="7439025" cy="1971675"/>
          </a:xfrm>
          <a:prstGeom prst="rect">
            <a:avLst/>
          </a:prstGeom>
        </p:spPr>
      </p:pic>
      <p:pic>
        <p:nvPicPr>
          <p:cNvPr id="1026" name="Picture 2" descr="copy Vector Icons free download in SVG, PNG Format">
            <a:extLst>
              <a:ext uri="{FF2B5EF4-FFF2-40B4-BE49-F238E27FC236}">
                <a16:creationId xmlns:a16="http://schemas.microsoft.com/office/drawing/2014/main" id="{7C25E6DA-C179-8E50-2C24-9DD7DE84E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303" y="1609344"/>
            <a:ext cx="531816" cy="531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723199E-8B8B-9934-4477-B75149C55D2E}"/>
              </a:ext>
            </a:extLst>
          </p:cNvPr>
          <p:cNvGrpSpPr/>
          <p:nvPr/>
        </p:nvGrpSpPr>
        <p:grpSpPr>
          <a:xfrm>
            <a:off x="862584" y="2800067"/>
            <a:ext cx="7467600" cy="1652650"/>
            <a:chOff x="862584" y="2800067"/>
            <a:chExt cx="7467600" cy="165265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BAA7DD-AFA1-C3C7-F2D1-4BA84B6B7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2584" y="3043017"/>
              <a:ext cx="7467600" cy="1409700"/>
            </a:xfrm>
            <a:prstGeom prst="rect">
              <a:avLst/>
            </a:prstGeom>
          </p:spPr>
        </p:pic>
        <p:pic>
          <p:nvPicPr>
            <p:cNvPr id="1028" name="Picture 4" descr="Image result for paste icon clipart">
              <a:extLst>
                <a:ext uri="{FF2B5EF4-FFF2-40B4-BE49-F238E27FC236}">
                  <a16:creationId xmlns:a16="http://schemas.microsoft.com/office/drawing/2014/main" id="{567D78F5-5648-7596-572B-82335B79C4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1424" y="2800067"/>
              <a:ext cx="518293" cy="485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4BC9049-CBE5-6A82-E715-5FC4DD8C166D}"/>
              </a:ext>
            </a:extLst>
          </p:cNvPr>
          <p:cNvGrpSpPr/>
          <p:nvPr/>
        </p:nvGrpSpPr>
        <p:grpSpPr>
          <a:xfrm>
            <a:off x="3960495" y="2800067"/>
            <a:ext cx="7562850" cy="3200463"/>
            <a:chOff x="3960495" y="2800067"/>
            <a:chExt cx="7562850" cy="320046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6EF85C4-A0F6-AD5E-99B5-D33673830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60495" y="2904905"/>
              <a:ext cx="7562850" cy="3095625"/>
            </a:xfrm>
            <a:prstGeom prst="rect">
              <a:avLst/>
            </a:prstGeom>
          </p:spPr>
        </p:pic>
        <p:pic>
          <p:nvPicPr>
            <p:cNvPr id="2" name="Picture 4" descr="Image result for paste icon clipart">
              <a:extLst>
                <a:ext uri="{FF2B5EF4-FFF2-40B4-BE49-F238E27FC236}">
                  <a16:creationId xmlns:a16="http://schemas.microsoft.com/office/drawing/2014/main" id="{2E34ADF1-6344-7AC7-F3EC-54559DF959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6400" y="2800067"/>
              <a:ext cx="518293" cy="485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104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AC732-664C-A660-BD98-7B68234B9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86" y="567844"/>
            <a:ext cx="5188532" cy="1526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F24335-30B9-35A7-0A4B-D2564CAA5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348" y="1653694"/>
            <a:ext cx="6524625" cy="1733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D00801-AE63-ABAD-8406-B699E18261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731" y="3063394"/>
            <a:ext cx="55721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8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3C9F4CB-173E-A4C8-BA30-24175A497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48" y="551121"/>
            <a:ext cx="10220325" cy="1952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4163A4-6547-A728-BF66-3F74C058B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23" y="2854067"/>
            <a:ext cx="10229850" cy="300037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1B6BED-88E9-3614-486E-EB9AAB89448B}"/>
              </a:ext>
            </a:extLst>
          </p:cNvPr>
          <p:cNvCxnSpPr/>
          <p:nvPr/>
        </p:nvCxnSpPr>
        <p:spPr>
          <a:xfrm flipH="1">
            <a:off x="7325833" y="1297172"/>
            <a:ext cx="2296632" cy="3242930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6F6D6CE7-0DD0-E3AF-9237-30F1F26C5DBE}"/>
              </a:ext>
            </a:extLst>
          </p:cNvPr>
          <p:cNvGrpSpPr/>
          <p:nvPr/>
        </p:nvGrpSpPr>
        <p:grpSpPr>
          <a:xfrm>
            <a:off x="4547616" y="1385491"/>
            <a:ext cx="6499057" cy="3003629"/>
            <a:chOff x="4547616" y="1385491"/>
            <a:chExt cx="6499057" cy="300362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01EE4FC-DC44-264F-DB53-CA26F7AA1A8E}"/>
                </a:ext>
              </a:extLst>
            </p:cNvPr>
            <p:cNvSpPr/>
            <p:nvPr/>
          </p:nvSpPr>
          <p:spPr>
            <a:xfrm>
              <a:off x="7144512" y="1385491"/>
              <a:ext cx="3902161" cy="219456"/>
            </a:xfrm>
            <a:prstGeom prst="rect">
              <a:avLst/>
            </a:prstGeom>
            <a:noFill/>
            <a:ln w="508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9FEFA88-1225-E011-37B4-6C5C9FF9E2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7616" y="1669028"/>
              <a:ext cx="2596896" cy="2720092"/>
            </a:xfrm>
            <a:prstGeom prst="straightConnector1">
              <a:avLst/>
            </a:prstGeom>
            <a:ln w="508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249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140F3D-C024-85E5-C0DA-F63B63C4B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01" y="561587"/>
            <a:ext cx="8439150" cy="2447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7C5F91-BDF7-C278-762B-2C24BB851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157" y="2607276"/>
            <a:ext cx="9493639" cy="3775505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0FB3D12-4829-E416-DC93-793B964F2AD5}"/>
              </a:ext>
            </a:extLst>
          </p:cNvPr>
          <p:cNvCxnSpPr>
            <a:cxnSpLocks/>
          </p:cNvCxnSpPr>
          <p:nvPr/>
        </p:nvCxnSpPr>
        <p:spPr>
          <a:xfrm>
            <a:off x="7784758" y="2323070"/>
            <a:ext cx="0" cy="102561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E7648CB-46CF-DFE6-1AF9-A478C04B447B}"/>
              </a:ext>
            </a:extLst>
          </p:cNvPr>
          <p:cNvSpPr/>
          <p:nvPr/>
        </p:nvSpPr>
        <p:spPr>
          <a:xfrm>
            <a:off x="7142205" y="2075935"/>
            <a:ext cx="2123046" cy="247135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F9F227-0201-54A7-7256-E275B5541E36}"/>
              </a:ext>
            </a:extLst>
          </p:cNvPr>
          <p:cNvCxnSpPr>
            <a:cxnSpLocks/>
          </p:cNvCxnSpPr>
          <p:nvPr/>
        </p:nvCxnSpPr>
        <p:spPr>
          <a:xfrm flipV="1">
            <a:off x="5029200" y="4856205"/>
            <a:ext cx="2273643" cy="64255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6239F89-9EC9-72DD-19E4-633785A83E08}"/>
              </a:ext>
            </a:extLst>
          </p:cNvPr>
          <p:cNvCxnSpPr>
            <a:cxnSpLocks/>
          </p:cNvCxnSpPr>
          <p:nvPr/>
        </p:nvCxnSpPr>
        <p:spPr>
          <a:xfrm>
            <a:off x="5029200" y="5498757"/>
            <a:ext cx="2879124" cy="39541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813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9CA9-A37E-7C13-A64D-1F3ADF00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JSON (table architecture)</a:t>
            </a:r>
          </a:p>
        </p:txBody>
      </p:sp>
    </p:spTree>
    <p:extLst>
      <p:ext uri="{BB962C8B-B14F-4D97-AF65-F5344CB8AC3E}">
        <p14:creationId xmlns:p14="http://schemas.microsoft.com/office/powerpoint/2010/main" val="3481471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932DF6F-2782-6F8F-F136-52885939B545}"/>
              </a:ext>
            </a:extLst>
          </p:cNvPr>
          <p:cNvSpPr txBox="1"/>
          <p:nvPr/>
        </p:nvSpPr>
        <p:spPr>
          <a:xfrm>
            <a:off x="1085087" y="2393942"/>
            <a:ext cx="41418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 err="1">
                <a:solidFill>
                  <a:srgbClr val="161616"/>
                </a:solidFill>
                <a:latin typeface="Segoe UI" panose="020B0502040204020203" pitchFamily="34" charset="0"/>
              </a:rPr>
              <a:t>n</a:t>
            </a:r>
            <a:r>
              <a:rPr lang="en-US" b="1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varchar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(</a:t>
            </a:r>
            <a:r>
              <a:rPr lang="en-US" b="1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n|MAX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) : (n up to 4000)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 storage size is larger per character:</a:t>
            </a:r>
          </a:p>
          <a:p>
            <a:pPr algn="l"/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[#(</a:t>
            </a:r>
            <a:r>
              <a:rPr lang="en-US" i="1" dirty="0">
                <a:solidFill>
                  <a:srgbClr val="161616"/>
                </a:solidFill>
                <a:latin typeface="Segoe UI" panose="020B0502040204020203" pitchFamily="34" charset="0"/>
              </a:rPr>
              <a:t>chars</a:t>
            </a:r>
            <a:r>
              <a:rPr lang="en-US" dirty="0">
                <a:solidFill>
                  <a:srgbClr val="161616"/>
                </a:solidFill>
                <a:latin typeface="Segoe UI" panose="020B0502040204020203" pitchFamily="34" charset="0"/>
              </a:rPr>
              <a:t>) * 2] + 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2 bytes.</a:t>
            </a:r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85F44-4BD9-DB9B-6BBA-7853C3B95FB9}"/>
              </a:ext>
            </a:extLst>
          </p:cNvPr>
          <p:cNvSpPr txBox="1"/>
          <p:nvPr/>
        </p:nvSpPr>
        <p:spPr>
          <a:xfrm>
            <a:off x="1085088" y="1156454"/>
            <a:ext cx="4141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161616"/>
                </a:solidFill>
                <a:latin typeface="Segoe UI" panose="020B0502040204020203" pitchFamily="34" charset="0"/>
              </a:rPr>
              <a:t>v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archar(</a:t>
            </a:r>
            <a:r>
              <a:rPr lang="en-US" b="1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n|MAX</a:t>
            </a:r>
            <a:r>
              <a:rPr lang="en-US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) : (n up to 8000)</a:t>
            </a:r>
          </a:p>
          <a:p>
            <a:pPr algn="l"/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 storage size is </a:t>
            </a:r>
            <a:r>
              <a:rPr lang="en-US" b="0" i="1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#(chars) 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+ 2 bytes.</a:t>
            </a:r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4133D-95A2-9F86-93A3-48307ABD667E}"/>
              </a:ext>
            </a:extLst>
          </p:cNvPr>
          <p:cNvSpPr txBox="1"/>
          <p:nvPr/>
        </p:nvSpPr>
        <p:spPr>
          <a:xfrm>
            <a:off x="1085087" y="5650098"/>
            <a:ext cx="6039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Refresher:</a:t>
            </a:r>
          </a:p>
          <a:p>
            <a:r>
              <a:rPr lang="en-US" dirty="0"/>
              <a:t>FF (hex) = 255 (decimal) = 1111 1111 (binary)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C6B92B-BFFE-ECA9-8CD0-8EB3E52D2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533" y="5579098"/>
            <a:ext cx="1200150" cy="457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86EAC03-D63B-4D91-0BDD-5A13DC205F54}"/>
              </a:ext>
            </a:extLst>
          </p:cNvPr>
          <p:cNvSpPr txBox="1"/>
          <p:nvPr/>
        </p:nvSpPr>
        <p:spPr>
          <a:xfrm>
            <a:off x="3713131" y="5280766"/>
            <a:ext cx="1095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byte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988A3D-5DFF-48F1-C4C8-606AE223D7B5}"/>
              </a:ext>
            </a:extLst>
          </p:cNvPr>
          <p:cNvSpPr txBox="1"/>
          <p:nvPr/>
        </p:nvSpPr>
        <p:spPr>
          <a:xfrm>
            <a:off x="1039700" y="3576215"/>
            <a:ext cx="3142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char(n) : </a:t>
            </a:r>
          </a:p>
          <a:p>
            <a:pPr algn="l"/>
            <a:r>
              <a:rPr 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The storage size is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rPr>
              <a:t> </a:t>
            </a:r>
            <a:r>
              <a:rPr 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bytes.</a:t>
            </a:r>
            <a:endParaRPr lang="en-US" b="1" i="0" dirty="0">
              <a:solidFill>
                <a:schemeClr val="bg1">
                  <a:lumMod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603B99-97C9-83E8-50E8-34AC138009AC}"/>
              </a:ext>
            </a:extLst>
          </p:cNvPr>
          <p:cNvSpPr txBox="1"/>
          <p:nvPr/>
        </p:nvSpPr>
        <p:spPr>
          <a:xfrm>
            <a:off x="1039699" y="4375492"/>
            <a:ext cx="3142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 err="1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nchar</a:t>
            </a:r>
            <a:r>
              <a:rPr lang="en-US" b="1" i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(n) : </a:t>
            </a:r>
          </a:p>
          <a:p>
            <a:pPr algn="l"/>
            <a:r>
              <a:rPr 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The storage size is 2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rPr>
              <a:t>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</a:rPr>
              <a:t> </a:t>
            </a:r>
            <a:r>
              <a:rPr 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egoe UI" panose="020B0502040204020203" pitchFamily="34" charset="0"/>
              </a:rPr>
              <a:t>bytes.</a:t>
            </a:r>
            <a:endParaRPr lang="en-US" b="1" i="0" dirty="0">
              <a:solidFill>
                <a:schemeClr val="bg1">
                  <a:lumMod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E913E8-592A-276C-14DA-23656EA1E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208" y="354245"/>
            <a:ext cx="6039040" cy="61495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81D4184-80ED-3FD2-76C4-9E84B81544DD}"/>
              </a:ext>
            </a:extLst>
          </p:cNvPr>
          <p:cNvSpPr txBox="1"/>
          <p:nvPr/>
        </p:nvSpPr>
        <p:spPr>
          <a:xfrm>
            <a:off x="5847853" y="5851632"/>
            <a:ext cx="560686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you only need the characters in red, you can use varchar</a:t>
            </a:r>
          </a:p>
        </p:txBody>
      </p:sp>
    </p:spTree>
    <p:extLst>
      <p:ext uri="{BB962C8B-B14F-4D97-AF65-F5344CB8AC3E}">
        <p14:creationId xmlns:p14="http://schemas.microsoft.com/office/powerpoint/2010/main" val="388900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0E9301-0D69-C561-3524-FF3DF6F9811F}"/>
              </a:ext>
            </a:extLst>
          </p:cNvPr>
          <p:cNvSpPr txBox="1"/>
          <p:nvPr/>
        </p:nvSpPr>
        <p:spPr>
          <a:xfrm>
            <a:off x="1036320" y="1247894"/>
            <a:ext cx="91927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@_text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nvarchar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'ĀāĂăĄąĆćĈĉƐƑƩɪʸ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●♫'</a:t>
            </a: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@_text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@_text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3DFF64-174F-B0B9-738C-372C78859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677" y="5198016"/>
            <a:ext cx="4803739" cy="1164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D4C19F-F7BE-0677-C505-F31D58A9E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677" y="2956054"/>
            <a:ext cx="4784172" cy="11648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39E63C-19CB-A6EA-3F69-598F87DB89CA}"/>
              </a:ext>
            </a:extLst>
          </p:cNvPr>
          <p:cNvSpPr txBox="1"/>
          <p:nvPr/>
        </p:nvSpPr>
        <p:spPr>
          <a:xfrm>
            <a:off x="5328677" y="778476"/>
            <a:ext cx="3358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Shortcut for  </a:t>
            </a:r>
            <a:r>
              <a:rPr lang="en-US" sz="1200" b="1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200" b="1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2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nvarchar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text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) </a:t>
            </a:r>
            <a:endParaRPr 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55805F-8299-59E1-90FC-C7B7BD5C1B79}"/>
              </a:ext>
            </a:extLst>
          </p:cNvPr>
          <p:cNvCxnSpPr/>
          <p:nvPr/>
        </p:nvCxnSpPr>
        <p:spPr>
          <a:xfrm flipH="1">
            <a:off x="6227805" y="1043118"/>
            <a:ext cx="86498" cy="20477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29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C42EA2-AB66-BFE8-1633-89D834BE9BCA}"/>
              </a:ext>
            </a:extLst>
          </p:cNvPr>
          <p:cNvSpPr txBox="1"/>
          <p:nvPr/>
        </p:nvSpPr>
        <p:spPr>
          <a:xfrm>
            <a:off x="676053" y="197346"/>
            <a:ext cx="696833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BD38D2-60EB-6C7F-3C1E-E728A2541FBF}"/>
              </a:ext>
            </a:extLst>
          </p:cNvPr>
          <p:cNvSpPr txBox="1"/>
          <p:nvPr/>
        </p:nvSpPr>
        <p:spPr>
          <a:xfrm>
            <a:off x="9256577" y="6383655"/>
            <a:ext cx="2531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(https://en.wikipedia.org/wiki/JSON)</a:t>
            </a:r>
          </a:p>
        </p:txBody>
      </p:sp>
    </p:spTree>
    <p:extLst>
      <p:ext uri="{BB962C8B-B14F-4D97-AF65-F5344CB8AC3E}">
        <p14:creationId xmlns:p14="http://schemas.microsoft.com/office/powerpoint/2010/main" val="265442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CFB8-F509-2BD1-4838-DCAECC31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3153CF8-C4BA-F2DA-DD65-CE339498C856}"/>
              </a:ext>
            </a:extLst>
          </p:cNvPr>
          <p:cNvSpPr txBox="1"/>
          <p:nvPr/>
        </p:nvSpPr>
        <p:spPr>
          <a:xfrm>
            <a:off x="676053" y="197346"/>
            <a:ext cx="695613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b="1" dirty="0"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7E6F9F-4112-EBF3-1F2E-B33A50880288}"/>
              </a:ext>
            </a:extLst>
          </p:cNvPr>
          <p:cNvGrpSpPr/>
          <p:nvPr/>
        </p:nvGrpSpPr>
        <p:grpSpPr>
          <a:xfrm>
            <a:off x="1133856" y="414528"/>
            <a:ext cx="2596896" cy="6028944"/>
            <a:chOff x="1133856" y="414528"/>
            <a:chExt cx="2596896" cy="6028944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7CC55481-A17B-D08B-E84E-C97FA984E2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856" y="414528"/>
              <a:ext cx="2596896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A61019C-7EA8-40D6-ACF8-086263FD86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856" y="6443472"/>
              <a:ext cx="2596896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D575B8-39E9-EA68-A44C-074F5B1F08F8}"/>
              </a:ext>
            </a:extLst>
          </p:cNvPr>
          <p:cNvSpPr txBox="1"/>
          <p:nvPr/>
        </p:nvSpPr>
        <p:spPr>
          <a:xfrm>
            <a:off x="8093677" y="2174789"/>
            <a:ext cx="239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$.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address.state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FF42BF7-88E4-7517-208D-CB843AA2ED1D}"/>
              </a:ext>
            </a:extLst>
          </p:cNvPr>
          <p:cNvCxnSpPr>
            <a:cxnSpLocks/>
          </p:cNvCxnSpPr>
          <p:nvPr/>
        </p:nvCxnSpPr>
        <p:spPr>
          <a:xfrm flipH="1">
            <a:off x="5496781" y="2358658"/>
            <a:ext cx="2596896" cy="0"/>
          </a:xfrm>
          <a:prstGeom prst="straightConnector1">
            <a:avLst/>
          </a:prstGeom>
          <a:ln w="4762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150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2ADA3-8614-7823-89CF-B27455C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A75DDC-3B43-EB16-0BC8-FB361C3D6047}"/>
              </a:ext>
            </a:extLst>
          </p:cNvPr>
          <p:cNvSpPr txBox="1"/>
          <p:nvPr/>
        </p:nvSpPr>
        <p:spPr>
          <a:xfrm>
            <a:off x="676053" y="197346"/>
            <a:ext cx="695613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[{</a:t>
            </a:r>
            <a:endParaRPr lang="en-US" sz="1800" b="1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}]</a:t>
            </a:r>
            <a:endParaRPr lang="en-US" b="1" dirty="0"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966187-3E7C-B46C-9622-CE9C6EC63409}"/>
              </a:ext>
            </a:extLst>
          </p:cNvPr>
          <p:cNvGrpSpPr/>
          <p:nvPr/>
        </p:nvGrpSpPr>
        <p:grpSpPr>
          <a:xfrm>
            <a:off x="2696842" y="414528"/>
            <a:ext cx="2596896" cy="6028944"/>
            <a:chOff x="1133856" y="414528"/>
            <a:chExt cx="2596896" cy="6028944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2A265B-CB84-6900-4B95-52A5015CA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856" y="414528"/>
              <a:ext cx="2596896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9C7A8B-6D68-E463-36BF-D51CE4A32A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856" y="6443472"/>
              <a:ext cx="2596896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7B3403-E04B-B0BE-9BFD-89D9D1A06D4B}"/>
              </a:ext>
            </a:extLst>
          </p:cNvPr>
          <p:cNvSpPr txBox="1"/>
          <p:nvPr/>
        </p:nvSpPr>
        <p:spPr>
          <a:xfrm>
            <a:off x="8093677" y="2174789"/>
            <a:ext cx="342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$[0].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address.state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8C98F58-BABA-2BD7-C8A6-A66887BBEBD7}"/>
              </a:ext>
            </a:extLst>
          </p:cNvPr>
          <p:cNvCxnSpPr>
            <a:cxnSpLocks/>
          </p:cNvCxnSpPr>
          <p:nvPr/>
        </p:nvCxnSpPr>
        <p:spPr>
          <a:xfrm flipH="1">
            <a:off x="5496781" y="2358658"/>
            <a:ext cx="2596896" cy="0"/>
          </a:xfrm>
          <a:prstGeom prst="straightConnector1">
            <a:avLst/>
          </a:prstGeom>
          <a:ln w="4762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8723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2ADA3-8614-7823-89CF-B27455C0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5A75DDC-3B43-EB16-0BC8-FB361C3D6047}"/>
              </a:ext>
            </a:extLst>
          </p:cNvPr>
          <p:cNvSpPr txBox="1"/>
          <p:nvPr/>
        </p:nvSpPr>
        <p:spPr>
          <a:xfrm>
            <a:off x="676053" y="58846"/>
            <a:ext cx="6956139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{ "data":</a:t>
            </a:r>
          </a:p>
          <a:p>
            <a:r>
              <a:rPr lang="en-US" sz="17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[{</a:t>
            </a:r>
            <a:endParaRPr lang="en-US" sz="1700" b="1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"age"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"address"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"state"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7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{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"number": "212 555-1234", 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"type": "home"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},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{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"number": "646 555-4567", 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"type": "office"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}</a:t>
            </a: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"children"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"spouse"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}]</a:t>
            </a:r>
          </a:p>
          <a:p>
            <a:r>
              <a:rPr lang="en-US" sz="1700" b="1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sz="1700" b="1" dirty="0"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966187-3E7C-B46C-9622-CE9C6EC63409}"/>
              </a:ext>
            </a:extLst>
          </p:cNvPr>
          <p:cNvGrpSpPr/>
          <p:nvPr/>
        </p:nvGrpSpPr>
        <p:grpSpPr>
          <a:xfrm>
            <a:off x="2696842" y="414528"/>
            <a:ext cx="2596896" cy="6028944"/>
            <a:chOff x="1133856" y="414528"/>
            <a:chExt cx="2596896" cy="6028944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2A265B-CB84-6900-4B95-52A5015CA1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856" y="414528"/>
              <a:ext cx="2596896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59C7A8B-6D68-E463-36BF-D51CE4A32A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3856" y="6443472"/>
              <a:ext cx="2596896" cy="0"/>
            </a:xfrm>
            <a:prstGeom prst="straightConnector1">
              <a:avLst/>
            </a:prstGeom>
            <a:ln w="476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B2640D-AB29-E277-4F60-5F91A1C0375A}"/>
              </a:ext>
            </a:extLst>
          </p:cNvPr>
          <p:cNvSpPr txBox="1"/>
          <p:nvPr/>
        </p:nvSpPr>
        <p:spPr>
          <a:xfrm>
            <a:off x="8093677" y="2173992"/>
            <a:ext cx="347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$.data[0].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address.state</a:t>
            </a:r>
            <a:endParaRPr lang="en-US" dirty="0">
              <a:solidFill>
                <a:schemeClr val="bg1">
                  <a:lumMod val="6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0B2B38B-F83D-38E3-CA98-32ABACAFF94F}"/>
              </a:ext>
            </a:extLst>
          </p:cNvPr>
          <p:cNvCxnSpPr>
            <a:cxnSpLocks/>
          </p:cNvCxnSpPr>
          <p:nvPr/>
        </p:nvCxnSpPr>
        <p:spPr>
          <a:xfrm flipH="1">
            <a:off x="5496781" y="2358658"/>
            <a:ext cx="2596896" cy="0"/>
          </a:xfrm>
          <a:prstGeom prst="straightConnector1">
            <a:avLst/>
          </a:prstGeom>
          <a:ln w="47625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242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DC93-08AF-8CD3-A97F-F9A108E9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58E91E-E11A-6790-4EEC-C775B09E1625}"/>
              </a:ext>
            </a:extLst>
          </p:cNvPr>
          <p:cNvSpPr txBox="1"/>
          <p:nvPr/>
        </p:nvSpPr>
        <p:spPr>
          <a:xfrm>
            <a:off x="676053" y="197346"/>
            <a:ext cx="700490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"646 555-4567",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989B15-5266-B927-833D-BEC70E0D6306}"/>
              </a:ext>
            </a:extLst>
          </p:cNvPr>
          <p:cNvSpPr txBox="1"/>
          <p:nvPr/>
        </p:nvSpPr>
        <p:spPr>
          <a:xfrm>
            <a:off x="6944497" y="1297172"/>
            <a:ext cx="4432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values are enclosed in double-quotes</a:t>
            </a:r>
          </a:p>
          <a:p>
            <a:endParaRPr lang="en-US" dirty="0"/>
          </a:p>
          <a:p>
            <a:r>
              <a:rPr lang="en-US" dirty="0"/>
              <a:t>Numbers are not enclosed in quotes</a:t>
            </a:r>
          </a:p>
          <a:p>
            <a:endParaRPr lang="en-US" dirty="0"/>
          </a:p>
          <a:p>
            <a:r>
              <a:rPr lang="en-US" dirty="0"/>
              <a:t>Boolean/null values are </a:t>
            </a:r>
            <a:r>
              <a:rPr lang="en-US" b="1" dirty="0"/>
              <a:t>lowercase</a:t>
            </a:r>
            <a:r>
              <a:rPr lang="en-US" dirty="0"/>
              <a:t> and unquoted</a:t>
            </a:r>
          </a:p>
        </p:txBody>
      </p:sp>
    </p:spTree>
    <p:extLst>
      <p:ext uri="{BB962C8B-B14F-4D97-AF65-F5344CB8AC3E}">
        <p14:creationId xmlns:p14="http://schemas.microsoft.com/office/powerpoint/2010/main" val="2244490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05E2-D3D3-D0B4-2BE8-595EC732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F97122E-019F-C7E3-D4CE-2E7E78541B76}"/>
              </a:ext>
            </a:extLst>
          </p:cNvPr>
          <p:cNvSpPr txBox="1"/>
          <p:nvPr/>
        </p:nvSpPr>
        <p:spPr>
          <a:xfrm>
            <a:off x="676053" y="197346"/>
            <a:ext cx="676106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"age"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"address"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"state"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"number":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"212 555-1234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"type":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"number":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"646 555-4567",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"type":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"children"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"spouse"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4BB514-CA1F-AA42-4D46-187E4BA88381}"/>
              </a:ext>
            </a:extLst>
          </p:cNvPr>
          <p:cNvSpPr txBox="1"/>
          <p:nvPr/>
        </p:nvSpPr>
        <p:spPr>
          <a:xfrm>
            <a:off x="6974958" y="1297172"/>
            <a:ext cx="44018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Properties (keys) must be enclosed in quotes</a:t>
            </a:r>
          </a:p>
          <a:p>
            <a:endParaRPr lang="en-US" dirty="0"/>
          </a:p>
          <a:p>
            <a:r>
              <a:rPr lang="en-US" dirty="0"/>
              <a:t>No restrictions on property naming:</a:t>
            </a:r>
          </a:p>
          <a:p>
            <a:r>
              <a:rPr lang="en-US" dirty="0"/>
              <a:t>- uniqueness*</a:t>
            </a:r>
          </a:p>
          <a:p>
            <a:r>
              <a:rPr lang="en-US" dirty="0"/>
              <a:t>- special characters (almost all of them)</a:t>
            </a:r>
          </a:p>
          <a:p>
            <a:r>
              <a:rPr lang="en-US" dirty="0"/>
              <a:t>- blanks</a:t>
            </a:r>
          </a:p>
        </p:txBody>
      </p:sp>
    </p:spTree>
    <p:extLst>
      <p:ext uri="{BB962C8B-B14F-4D97-AF65-F5344CB8AC3E}">
        <p14:creationId xmlns:p14="http://schemas.microsoft.com/office/powerpoint/2010/main" val="408887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6A13-2A82-5DFE-A085-FA7DF77F8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6F5808E-72D0-8EA1-3FE9-520CF4CCBFF0}"/>
              </a:ext>
            </a:extLst>
          </p:cNvPr>
          <p:cNvSpPr txBox="1"/>
          <p:nvPr/>
        </p:nvSpPr>
        <p:spPr>
          <a:xfrm>
            <a:off x="676053" y="197346"/>
            <a:ext cx="700490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b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4D5DED-A8D6-3909-267E-614390D0765A}"/>
              </a:ext>
            </a:extLst>
          </p:cNvPr>
          <p:cNvSpPr txBox="1"/>
          <p:nvPr/>
        </p:nvSpPr>
        <p:spPr>
          <a:xfrm>
            <a:off x="6974958" y="1297172"/>
            <a:ext cx="4401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are paired to the right of the property</a:t>
            </a:r>
          </a:p>
        </p:txBody>
      </p:sp>
    </p:spTree>
    <p:extLst>
      <p:ext uri="{BB962C8B-B14F-4D97-AF65-F5344CB8AC3E}">
        <p14:creationId xmlns:p14="http://schemas.microsoft.com/office/powerpoint/2010/main" val="624650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D3F75-0B72-B39E-0C0D-FAE5295D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36ACEC-7FD9-157D-EE3D-1632E3AD96ED}"/>
              </a:ext>
            </a:extLst>
          </p:cNvPr>
          <p:cNvSpPr txBox="1"/>
          <p:nvPr/>
        </p:nvSpPr>
        <p:spPr>
          <a:xfrm>
            <a:off x="676053" y="197346"/>
            <a:ext cx="699271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b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"Smith"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"212 555-1234"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"646 555-4567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08090-8F93-A97E-8BC6-52DCFF09351A}"/>
              </a:ext>
            </a:extLst>
          </p:cNvPr>
          <p:cNvSpPr txBox="1"/>
          <p:nvPr/>
        </p:nvSpPr>
        <p:spPr>
          <a:xfrm>
            <a:off x="6974958" y="1297172"/>
            <a:ext cx="44018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are paired to the right of the property</a:t>
            </a:r>
          </a:p>
          <a:p>
            <a:endParaRPr lang="en-US" dirty="0"/>
          </a:p>
          <a:p>
            <a:r>
              <a:rPr lang="en-US" dirty="0"/>
              <a:t>They can be “scalar” (number or string).</a:t>
            </a:r>
          </a:p>
        </p:txBody>
      </p:sp>
    </p:spTree>
    <p:extLst>
      <p:ext uri="{BB962C8B-B14F-4D97-AF65-F5344CB8AC3E}">
        <p14:creationId xmlns:p14="http://schemas.microsoft.com/office/powerpoint/2010/main" val="1369334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D3F75-0B72-B39E-0C0D-FAE5295D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36ACEC-7FD9-157D-EE3D-1632E3AD96ED}"/>
              </a:ext>
            </a:extLst>
          </p:cNvPr>
          <p:cNvSpPr txBox="1"/>
          <p:nvPr/>
        </p:nvSpPr>
        <p:spPr>
          <a:xfrm>
            <a:off x="676053" y="197346"/>
            <a:ext cx="699271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b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08090-8F93-A97E-8BC6-52DCFF09351A}"/>
              </a:ext>
            </a:extLst>
          </p:cNvPr>
          <p:cNvSpPr txBox="1"/>
          <p:nvPr/>
        </p:nvSpPr>
        <p:spPr>
          <a:xfrm>
            <a:off x="6974958" y="1297172"/>
            <a:ext cx="4401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are paired to the right of the property</a:t>
            </a:r>
          </a:p>
          <a:p>
            <a:endParaRPr lang="en-US" dirty="0"/>
          </a:p>
          <a:p>
            <a:r>
              <a:rPr lang="en-US" dirty="0"/>
              <a:t>They can be Boolean or null </a:t>
            </a:r>
          </a:p>
          <a:p>
            <a:r>
              <a:rPr lang="en-US" dirty="0"/>
              <a:t>      (not considered scalar).</a:t>
            </a:r>
          </a:p>
        </p:txBody>
      </p:sp>
    </p:spTree>
    <p:extLst>
      <p:ext uri="{BB962C8B-B14F-4D97-AF65-F5344CB8AC3E}">
        <p14:creationId xmlns:p14="http://schemas.microsoft.com/office/powerpoint/2010/main" val="972899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79EC-1877-1150-F9B2-79672A226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B33AB0-727E-CEF2-04FC-2DBD1149138E}"/>
              </a:ext>
            </a:extLst>
          </p:cNvPr>
          <p:cNvSpPr txBox="1"/>
          <p:nvPr/>
        </p:nvSpPr>
        <p:spPr>
          <a:xfrm>
            <a:off x="676053" y="197346"/>
            <a:ext cx="695613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b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E52A9-404D-83DE-4DA8-1D3B3C3C4A4C}"/>
              </a:ext>
            </a:extLst>
          </p:cNvPr>
          <p:cNvSpPr txBox="1"/>
          <p:nvPr/>
        </p:nvSpPr>
        <p:spPr>
          <a:xfrm>
            <a:off x="6974958" y="1297172"/>
            <a:ext cx="4401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are paired to the right of the property</a:t>
            </a:r>
          </a:p>
          <a:p>
            <a:endParaRPr lang="en-US" dirty="0"/>
          </a:p>
          <a:p>
            <a:r>
              <a:rPr lang="en-US" dirty="0"/>
              <a:t>They can be a (nested) JSON object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{}</a:t>
            </a:r>
            <a:r>
              <a:rPr lang="en-US" dirty="0"/>
              <a:t>, of which you only get one</a:t>
            </a:r>
          </a:p>
        </p:txBody>
      </p:sp>
    </p:spTree>
    <p:extLst>
      <p:ext uri="{BB962C8B-B14F-4D97-AF65-F5344CB8AC3E}">
        <p14:creationId xmlns:p14="http://schemas.microsoft.com/office/powerpoint/2010/main" val="724519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7703-4D56-C777-BAE6-F9F50D634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F9CDA12-021D-62BA-50B5-1C33B5408533}"/>
              </a:ext>
            </a:extLst>
          </p:cNvPr>
          <p:cNvSpPr txBox="1"/>
          <p:nvPr/>
        </p:nvSpPr>
        <p:spPr>
          <a:xfrm>
            <a:off x="676053" y="197346"/>
            <a:ext cx="7041483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b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first_name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"John"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last_name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"Smith"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is_alive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true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"age"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27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"address"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street_address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"21 2nd Street"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"state"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"NY"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postal_code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"10021-3100"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phone_numbers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"212 555-1234",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"type": "home"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},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{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  "number": "646 555-4567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"type": "office"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"children"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["Catherine", "Thomas", "Trevor"]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"spouse"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b="1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endParaRPr lang="en-US" b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CF460-DD6E-73B0-197A-9E95FDF5BC99}"/>
              </a:ext>
            </a:extLst>
          </p:cNvPr>
          <p:cNvSpPr txBox="1"/>
          <p:nvPr/>
        </p:nvSpPr>
        <p:spPr>
          <a:xfrm>
            <a:off x="6974958" y="1297172"/>
            <a:ext cx="4401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Values are paired to the right of the property.</a:t>
            </a:r>
          </a:p>
          <a:p>
            <a:endParaRPr lang="en-US" dirty="0"/>
          </a:p>
          <a:p>
            <a:r>
              <a:rPr lang="en-US" dirty="0"/>
              <a:t>Or they can be a (nested) JSON Array 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[]</a:t>
            </a:r>
            <a:r>
              <a:rPr lang="en-US" dirty="0"/>
              <a:t>, identifying an unordered list of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93C10-21CA-A73F-6A73-55A60B183C76}"/>
              </a:ext>
            </a:extLst>
          </p:cNvPr>
          <p:cNvSpPr txBox="1"/>
          <p:nvPr/>
        </p:nvSpPr>
        <p:spPr>
          <a:xfrm>
            <a:off x="5231502" y="3824820"/>
            <a:ext cx="248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(Array of JSON objects)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D2766-C037-35FE-4466-4E160DBCF09D}"/>
              </a:ext>
            </a:extLst>
          </p:cNvPr>
          <p:cNvSpPr txBox="1"/>
          <p:nvPr/>
        </p:nvSpPr>
        <p:spPr>
          <a:xfrm>
            <a:off x="6353166" y="5203865"/>
            <a:ext cx="1766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(Array of strings)</a:t>
            </a:r>
          </a:p>
        </p:txBody>
      </p:sp>
    </p:spTree>
    <p:extLst>
      <p:ext uri="{BB962C8B-B14F-4D97-AF65-F5344CB8AC3E}">
        <p14:creationId xmlns:p14="http://schemas.microsoft.com/office/powerpoint/2010/main" val="3768884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C062-CC08-F542-55E1-71927EBB8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Inspecting JSON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64E229-02F5-5DB5-2FB0-A3D2E3FAE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549861"/>
              </p:ext>
            </p:extLst>
          </p:nvPr>
        </p:nvGraphicFramePr>
        <p:xfrm>
          <a:off x="1085335" y="2391032"/>
          <a:ext cx="9625914" cy="140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5141">
                  <a:extLst>
                    <a:ext uri="{9D8B030D-6E8A-4147-A177-3AD203B41FA5}">
                      <a16:colId xmlns:a16="http://schemas.microsoft.com/office/drawing/2014/main" val="655592811"/>
                    </a:ext>
                  </a:extLst>
                </a:gridCol>
                <a:gridCol w="1989438">
                  <a:extLst>
                    <a:ext uri="{9D8B030D-6E8A-4147-A177-3AD203B41FA5}">
                      <a16:colId xmlns:a16="http://schemas.microsoft.com/office/drawing/2014/main" val="1658826356"/>
                    </a:ext>
                  </a:extLst>
                </a:gridCol>
                <a:gridCol w="2432221">
                  <a:extLst>
                    <a:ext uri="{9D8B030D-6E8A-4147-A177-3AD203B41FA5}">
                      <a16:colId xmlns:a16="http://schemas.microsoft.com/office/drawing/2014/main" val="1271733941"/>
                    </a:ext>
                  </a:extLst>
                </a:gridCol>
                <a:gridCol w="939114">
                  <a:extLst>
                    <a:ext uri="{9D8B030D-6E8A-4147-A177-3AD203B41FA5}">
                      <a16:colId xmlns:a16="http://schemas.microsoft.com/office/drawing/2014/main" val="2043404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T-SQL keywords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WHERE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onsolas" panose="020B0609020204030204" pitchFamily="49" charset="0"/>
                        </a:rPr>
                        <a:t>CROSS APPLY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(Other)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04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ISJSON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5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JSON_PATH_EXISTS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503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8477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85293D-4C41-225F-9D44-15AEAC28F575}"/>
              </a:ext>
            </a:extLst>
          </p:cNvPr>
          <p:cNvSpPr txBox="1"/>
          <p:nvPr/>
        </p:nvSpPr>
        <p:spPr>
          <a:xfrm>
            <a:off x="1275907" y="1978409"/>
            <a:ext cx="56804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@_json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{}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@_json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@_json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@_json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@_json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--DECLARE @_json char(2) = '['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--DECLARE @_json char(2) = '.'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@_json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0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5A764A-D124-5790-79A7-6B0FF10B2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566" y="4450525"/>
            <a:ext cx="2694213" cy="76226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D4E6507-8C86-0B2E-13FE-7F1F904C3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964" y="3108970"/>
            <a:ext cx="2674614" cy="76226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F0345CD-D82D-EBBC-C0E4-679539E9B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165" y="1841157"/>
            <a:ext cx="2674614" cy="7622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44E49A-3A0D-E1FC-BDCD-123B100B425B}"/>
              </a:ext>
            </a:extLst>
          </p:cNvPr>
          <p:cNvSpPr txBox="1"/>
          <p:nvPr/>
        </p:nvSpPr>
        <p:spPr>
          <a:xfrm>
            <a:off x="901109" y="646629"/>
            <a:ext cx="6243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(what)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48A1C-A0CD-8E39-75B9-0116084EEE7C}"/>
              </a:ext>
            </a:extLst>
          </p:cNvPr>
          <p:cNvSpPr txBox="1"/>
          <p:nvPr/>
        </p:nvSpPr>
        <p:spPr>
          <a:xfrm>
            <a:off x="1275907" y="1233647"/>
            <a:ext cx="899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Tests for a valid JSON object or array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75DF09-7893-5EF6-5616-13B35FF0F4DC}"/>
              </a:ext>
            </a:extLst>
          </p:cNvPr>
          <p:cNvSpPr txBox="1"/>
          <p:nvPr/>
        </p:nvSpPr>
        <p:spPr>
          <a:xfrm>
            <a:off x="8789723" y="5293513"/>
            <a:ext cx="2962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  <a:p>
            <a:r>
              <a:rPr lang="en-US" sz="1200" dirty="0"/>
              <a:t>SQL analytics endpoint in Microsoft Fabric</a:t>
            </a:r>
          </a:p>
          <a:p>
            <a:r>
              <a:rPr lang="en-US" sz="1200" dirty="0"/>
              <a:t>Warehouse in Microsoft Fabric</a:t>
            </a:r>
          </a:p>
        </p:txBody>
      </p:sp>
    </p:spTree>
    <p:extLst>
      <p:ext uri="{BB962C8B-B14F-4D97-AF65-F5344CB8AC3E}">
        <p14:creationId xmlns:p14="http://schemas.microsoft.com/office/powerpoint/2010/main" val="3298006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D57A83-5B76-9863-3EBD-34394061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28625"/>
            <a:ext cx="114300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499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20636E-11AD-7BF3-8097-9CD4053110CC}"/>
              </a:ext>
            </a:extLst>
          </p:cNvPr>
          <p:cNvSpPr txBox="1"/>
          <p:nvPr/>
        </p:nvSpPr>
        <p:spPr>
          <a:xfrm>
            <a:off x="901109" y="646629"/>
            <a:ext cx="62439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(what)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E19F4-8F02-541B-A38F-7A77B7C0E31C}"/>
              </a:ext>
            </a:extLst>
          </p:cNvPr>
          <p:cNvSpPr txBox="1"/>
          <p:nvPr/>
        </p:nvSpPr>
        <p:spPr>
          <a:xfrm>
            <a:off x="1275907" y="1233647"/>
            <a:ext cx="899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Tests for a valid JSON object or array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280BCF-82E6-D74F-0616-80EC1B3597DC}"/>
              </a:ext>
            </a:extLst>
          </p:cNvPr>
          <p:cNvSpPr txBox="1"/>
          <p:nvPr/>
        </p:nvSpPr>
        <p:spPr>
          <a:xfrm>
            <a:off x="1275907" y="1756876"/>
            <a:ext cx="527374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'[]'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2.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'{}'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3.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'[{}]'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4.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'{[]}'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5.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'{"key":[]}'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6.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'[{"key":{}}]'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7.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'[1,2]'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8.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'"key":[1,2]'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9.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'{[1,2]}'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10.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'{},{}'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11.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'[{},{}]'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-- 1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12.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'{[],[]}'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  <a:p>
            <a:endParaRPr lang="en-US" sz="1600" dirty="0">
              <a:solidFill>
                <a:srgbClr val="008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13.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(NULL)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600" dirty="0">
                <a:solidFill>
                  <a:srgbClr val="00B0F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14.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'NULL'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  <a:p>
            <a:r>
              <a:rPr lang="en-US" sz="1600" dirty="0">
                <a:latin typeface="Cascadia Mono" panose="020B0609020000020004" pitchFamily="49" charset="0"/>
                <a:cs typeface="Cascadia Mono" panose="020B0609020000020004" pitchFamily="49" charset="0"/>
              </a:rPr>
              <a:t>15.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'null'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06B04-4EC0-023F-32FB-F3CE12CA24DA}"/>
              </a:ext>
            </a:extLst>
          </p:cNvPr>
          <p:cNvSpPr txBox="1"/>
          <p:nvPr/>
        </p:nvSpPr>
        <p:spPr>
          <a:xfrm>
            <a:off x="8789723" y="5293513"/>
            <a:ext cx="2962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  <a:p>
            <a:r>
              <a:rPr lang="en-US" sz="1200" dirty="0"/>
              <a:t>SQL analytics endpoint in Microsoft Fabric</a:t>
            </a:r>
          </a:p>
          <a:p>
            <a:r>
              <a:rPr lang="en-US" sz="1200" dirty="0"/>
              <a:t>Warehouse in Microsoft Fabric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A5D17-D173-98F3-0228-842BFE7BEBF4}"/>
              </a:ext>
            </a:extLst>
          </p:cNvPr>
          <p:cNvSpPr txBox="1"/>
          <p:nvPr/>
        </p:nvSpPr>
        <p:spPr>
          <a:xfrm>
            <a:off x="7532914" y="1666777"/>
            <a:ext cx="3884729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Property names require outer JSON objects to contain them</a:t>
            </a:r>
          </a:p>
          <a:p>
            <a:endParaRPr lang="en-US" dirty="0"/>
          </a:p>
          <a:p>
            <a:r>
              <a:rPr lang="en-US" dirty="0"/>
              <a:t>Arrays must be accompanied by a property name (4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1, 5), unless the JSON originally started with square brackets (1, 3). In that case, property name is explicitly disallowed (8 </a:t>
            </a:r>
            <a:r>
              <a:rPr lang="en-US" dirty="0">
                <a:sym typeface="Wingdings" panose="05000000000000000000" pitchFamily="2" charset="2"/>
              </a:rPr>
              <a:t> 7, 5</a:t>
            </a:r>
            <a:r>
              <a:rPr lang="en-US" dirty="0"/>
              <a:t>).</a:t>
            </a:r>
          </a:p>
          <a:p>
            <a:endParaRPr lang="en-US" sz="1400" dirty="0"/>
          </a:p>
          <a:p>
            <a:r>
              <a:rPr lang="en-US" dirty="0"/>
              <a:t>There can only be one JSON object, unless enclosed in an array</a:t>
            </a:r>
          </a:p>
          <a:p>
            <a:endParaRPr lang="en-US" sz="1400" dirty="0"/>
          </a:p>
          <a:p>
            <a:r>
              <a:rPr lang="en-US" dirty="0"/>
              <a:t>NULLs are not JSON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4DA0F7-DC3A-D644-5712-056B82987029}"/>
              </a:ext>
            </a:extLst>
          </p:cNvPr>
          <p:cNvCxnSpPr>
            <a:cxnSpLocks/>
          </p:cNvCxnSpPr>
          <p:nvPr/>
        </p:nvCxnSpPr>
        <p:spPr>
          <a:xfrm>
            <a:off x="5845629" y="2862943"/>
            <a:ext cx="1687284" cy="130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CD77C1-80D0-9112-138D-B83BDFB5E5C7}"/>
              </a:ext>
            </a:extLst>
          </p:cNvPr>
          <p:cNvCxnSpPr>
            <a:cxnSpLocks/>
          </p:cNvCxnSpPr>
          <p:nvPr/>
        </p:nvCxnSpPr>
        <p:spPr>
          <a:xfrm flipV="1">
            <a:off x="5845629" y="2993457"/>
            <a:ext cx="1700109" cy="860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C11FB2-F24E-E6EF-522D-A6429743ED08}"/>
              </a:ext>
            </a:extLst>
          </p:cNvPr>
          <p:cNvCxnSpPr>
            <a:cxnSpLocks/>
          </p:cNvCxnSpPr>
          <p:nvPr/>
        </p:nvCxnSpPr>
        <p:spPr>
          <a:xfrm flipV="1">
            <a:off x="5845628" y="1920324"/>
            <a:ext cx="1700110" cy="1246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E47B4D-67A2-26E5-C4CD-9EF49165DA01}"/>
              </a:ext>
            </a:extLst>
          </p:cNvPr>
          <p:cNvCxnSpPr>
            <a:cxnSpLocks/>
          </p:cNvCxnSpPr>
          <p:nvPr/>
        </p:nvCxnSpPr>
        <p:spPr>
          <a:xfrm flipV="1">
            <a:off x="5845629" y="1889408"/>
            <a:ext cx="1700109" cy="22196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068AED-9A58-55E5-D4C1-265DB9402342}"/>
              </a:ext>
            </a:extLst>
          </p:cNvPr>
          <p:cNvCxnSpPr>
            <a:cxnSpLocks/>
          </p:cNvCxnSpPr>
          <p:nvPr/>
        </p:nvCxnSpPr>
        <p:spPr>
          <a:xfrm flipV="1">
            <a:off x="5845629" y="4350058"/>
            <a:ext cx="1668148" cy="494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5A8A95-67E2-07F3-BFD8-584366AA15DF}"/>
              </a:ext>
            </a:extLst>
          </p:cNvPr>
          <p:cNvCxnSpPr>
            <a:cxnSpLocks/>
          </p:cNvCxnSpPr>
          <p:nvPr/>
        </p:nvCxnSpPr>
        <p:spPr>
          <a:xfrm flipV="1">
            <a:off x="5845628" y="4366653"/>
            <a:ext cx="1668149" cy="724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794027-DFF7-4E58-074D-B81E36330EDE}"/>
              </a:ext>
            </a:extLst>
          </p:cNvPr>
          <p:cNvCxnSpPr>
            <a:cxnSpLocks/>
          </p:cNvCxnSpPr>
          <p:nvPr/>
        </p:nvCxnSpPr>
        <p:spPr>
          <a:xfrm flipV="1">
            <a:off x="6197643" y="4963934"/>
            <a:ext cx="1335270" cy="794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530032-CECE-3D9E-CA4B-530F454AC6C6}"/>
              </a:ext>
            </a:extLst>
          </p:cNvPr>
          <p:cNvCxnSpPr>
            <a:cxnSpLocks/>
          </p:cNvCxnSpPr>
          <p:nvPr/>
        </p:nvCxnSpPr>
        <p:spPr>
          <a:xfrm flipV="1">
            <a:off x="5845628" y="4968592"/>
            <a:ext cx="1700110" cy="11459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CC9A94-29AB-E565-D87D-677B5D3B7F8F}"/>
              </a:ext>
            </a:extLst>
          </p:cNvPr>
          <p:cNvCxnSpPr>
            <a:cxnSpLocks/>
          </p:cNvCxnSpPr>
          <p:nvPr/>
        </p:nvCxnSpPr>
        <p:spPr>
          <a:xfrm flipV="1">
            <a:off x="5994358" y="4988301"/>
            <a:ext cx="1551380" cy="131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019F0A-24F2-3941-ACCF-53ADA0DB001E}"/>
              </a:ext>
            </a:extLst>
          </p:cNvPr>
          <p:cNvCxnSpPr>
            <a:cxnSpLocks/>
          </p:cNvCxnSpPr>
          <p:nvPr/>
        </p:nvCxnSpPr>
        <p:spPr>
          <a:xfrm flipV="1">
            <a:off x="5845628" y="2993457"/>
            <a:ext cx="1687285" cy="1115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C4B53B-4288-970C-549F-2862ED6289FF}"/>
              </a:ext>
            </a:extLst>
          </p:cNvPr>
          <p:cNvCxnSpPr>
            <a:cxnSpLocks/>
          </p:cNvCxnSpPr>
          <p:nvPr/>
        </p:nvCxnSpPr>
        <p:spPr>
          <a:xfrm flipV="1">
            <a:off x="5845628" y="2993457"/>
            <a:ext cx="1668149" cy="1730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8099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EDD89-8B8B-5DD5-B969-A2CFD1C4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5A6C07-BD41-6AEA-0A58-AB45F3954924}"/>
              </a:ext>
            </a:extLst>
          </p:cNvPr>
          <p:cNvSpPr txBox="1"/>
          <p:nvPr/>
        </p:nvSpPr>
        <p:spPr>
          <a:xfrm>
            <a:off x="901109" y="646629"/>
            <a:ext cx="10014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(what [, </a:t>
            </a:r>
            <a:r>
              <a:rPr lang="en-US" sz="28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json_type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] = 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OBJECT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|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ARRAY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)] 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B5C55-03D6-C599-A935-3F560886CAF8}"/>
              </a:ext>
            </a:extLst>
          </p:cNvPr>
          <p:cNvSpPr txBox="1"/>
          <p:nvPr/>
        </p:nvSpPr>
        <p:spPr>
          <a:xfrm>
            <a:off x="1275907" y="1233647"/>
            <a:ext cx="8995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Tests for a valid JSON value. This can be a JSON object, array, number, string or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one of the three literal values of (false, true, null)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3C4FE-1715-F424-733B-758B393D1B51}"/>
              </a:ext>
            </a:extLst>
          </p:cNvPr>
          <p:cNvSpPr txBox="1"/>
          <p:nvPr/>
        </p:nvSpPr>
        <p:spPr>
          <a:xfrm>
            <a:off x="8789723" y="6211371"/>
            <a:ext cx="2962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2022+</a:t>
            </a:r>
          </a:p>
        </p:txBody>
      </p:sp>
      <p:sp>
        <p:nvSpPr>
          <p:cNvPr id="8" name="Star: 10 Points 7">
            <a:extLst>
              <a:ext uri="{FF2B5EF4-FFF2-40B4-BE49-F238E27FC236}">
                <a16:creationId xmlns:a16="http://schemas.microsoft.com/office/drawing/2014/main" id="{C14F43F0-B609-148B-9D22-48E9DA5D6038}"/>
              </a:ext>
            </a:extLst>
          </p:cNvPr>
          <p:cNvSpPr/>
          <p:nvPr/>
        </p:nvSpPr>
        <p:spPr>
          <a:xfrm rot="20706229">
            <a:off x="9082864" y="1403245"/>
            <a:ext cx="2083981" cy="1919177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for SQL Server 2022!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C48B69D-E770-DE16-0D9E-6E5C7AD30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112184"/>
              </p:ext>
            </p:extLst>
          </p:nvPr>
        </p:nvGraphicFramePr>
        <p:xfrm>
          <a:off x="999744" y="2834242"/>
          <a:ext cx="7721209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732">
                  <a:extLst>
                    <a:ext uri="{9D8B030D-6E8A-4147-A177-3AD203B41FA5}">
                      <a16:colId xmlns:a16="http://schemas.microsoft.com/office/drawing/2014/main" val="52433680"/>
                    </a:ext>
                  </a:extLst>
                </a:gridCol>
                <a:gridCol w="5656477">
                  <a:extLst>
                    <a:ext uri="{9D8B030D-6E8A-4147-A177-3AD203B41FA5}">
                      <a16:colId xmlns:a16="http://schemas.microsoft.com/office/drawing/2014/main" val="30044025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JSON_type</a:t>
                      </a:r>
                      <a:r>
                        <a:rPr lang="en-US" dirty="0"/>
                        <a:t>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04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ARRAY</a:t>
                      </a:r>
                      <a:endParaRPr lang="en-US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for a valid JSON array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26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OBJECT</a:t>
                      </a:r>
                      <a:endParaRPr lang="en-US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Tests for a valid JSON 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33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SCALAR</a:t>
                      </a:r>
                      <a:endParaRPr lang="en-US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for a valid JSON scalar – number or string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05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VALUE</a:t>
                      </a:r>
                      <a:endParaRPr lang="en-US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Tests for anything that qualifies to be a value of a key/value pair: This can be a JSON object, array, number, string or one of the three literal values in (false, true, null)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63873"/>
                  </a:ext>
                </a:extLst>
              </a:tr>
            </a:tbl>
          </a:graphicData>
        </a:graphic>
      </p:graphicFrame>
      <p:sp>
        <p:nvSpPr>
          <p:cNvPr id="2" name="Star: 10 Points 1">
            <a:extLst>
              <a:ext uri="{FF2B5EF4-FFF2-40B4-BE49-F238E27FC236}">
                <a16:creationId xmlns:a16="http://schemas.microsoft.com/office/drawing/2014/main" id="{43F5F796-6F83-F31A-BAA8-1E4A4FC9C2FA}"/>
              </a:ext>
            </a:extLst>
          </p:cNvPr>
          <p:cNvSpPr/>
          <p:nvPr/>
        </p:nvSpPr>
        <p:spPr>
          <a:xfrm rot="20706229">
            <a:off x="2202458" y="4330606"/>
            <a:ext cx="561987" cy="432085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/>
              <a:t>New for SQL Server 2022!</a:t>
            </a:r>
          </a:p>
        </p:txBody>
      </p:sp>
      <p:sp>
        <p:nvSpPr>
          <p:cNvPr id="3" name="Star: 10 Points 2">
            <a:extLst>
              <a:ext uri="{FF2B5EF4-FFF2-40B4-BE49-F238E27FC236}">
                <a16:creationId xmlns:a16="http://schemas.microsoft.com/office/drawing/2014/main" id="{434CF406-CB01-CA11-D1F9-B15F64189BE5}"/>
              </a:ext>
            </a:extLst>
          </p:cNvPr>
          <p:cNvSpPr/>
          <p:nvPr/>
        </p:nvSpPr>
        <p:spPr>
          <a:xfrm rot="20706229">
            <a:off x="2202457" y="3926269"/>
            <a:ext cx="561987" cy="432085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dirty="0"/>
              <a:t>New for SQL Server 2022!</a:t>
            </a:r>
          </a:p>
        </p:txBody>
      </p:sp>
      <p:pic>
        <p:nvPicPr>
          <p:cNvPr id="1026" name="Picture 2" descr="remember symbol clipart 10 free Cliparts | Download images on Clipground 2024">
            <a:extLst>
              <a:ext uri="{FF2B5EF4-FFF2-40B4-BE49-F238E27FC236}">
                <a16:creationId xmlns:a16="http://schemas.microsoft.com/office/drawing/2014/main" id="{416A17DE-F248-ACA1-CF5F-069825661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265" y="5263691"/>
            <a:ext cx="259780" cy="259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A0913-3FA7-486F-8C4C-A11F1C49088B}"/>
              </a:ext>
            </a:extLst>
          </p:cNvPr>
          <p:cNvSpPr txBox="1"/>
          <p:nvPr/>
        </p:nvSpPr>
        <p:spPr>
          <a:xfrm>
            <a:off x="7358344" y="5190011"/>
            <a:ext cx="1355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(lowercase!)</a:t>
            </a:r>
          </a:p>
        </p:txBody>
      </p:sp>
    </p:spTree>
    <p:extLst>
      <p:ext uri="{BB962C8B-B14F-4D97-AF65-F5344CB8AC3E}">
        <p14:creationId xmlns:p14="http://schemas.microsoft.com/office/powerpoint/2010/main" val="6956735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20636E-11AD-7BF3-8097-9CD4053110CC}"/>
              </a:ext>
            </a:extLst>
          </p:cNvPr>
          <p:cNvSpPr txBox="1"/>
          <p:nvPr/>
        </p:nvSpPr>
        <p:spPr>
          <a:xfrm>
            <a:off x="901108" y="646629"/>
            <a:ext cx="90190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ISJSON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(what [, </a:t>
            </a:r>
            <a:r>
              <a:rPr lang="en-US" sz="28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json_type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]</a:t>
            </a:r>
            <a:r>
              <a:rPr lang="en-US" sz="2800" i="1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= 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OBJECT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|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ARRAY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)] )</a:t>
            </a:r>
            <a:endParaRPr lang="en-US" sz="2800" dirty="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5E55BF-ACA8-7CAD-430C-4FDD62C7C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09946"/>
              </p:ext>
            </p:extLst>
          </p:nvPr>
        </p:nvGraphicFramePr>
        <p:xfrm>
          <a:off x="1441148" y="1366493"/>
          <a:ext cx="9309703" cy="505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439">
                  <a:extLst>
                    <a:ext uri="{9D8B030D-6E8A-4147-A177-3AD203B41FA5}">
                      <a16:colId xmlns:a16="http://schemas.microsoft.com/office/drawing/2014/main" val="1962960265"/>
                    </a:ext>
                  </a:extLst>
                </a:gridCol>
                <a:gridCol w="1404748">
                  <a:extLst>
                    <a:ext uri="{9D8B030D-6E8A-4147-A177-3AD203B41FA5}">
                      <a16:colId xmlns:a16="http://schemas.microsoft.com/office/drawing/2014/main" val="1960977839"/>
                    </a:ext>
                  </a:extLst>
                </a:gridCol>
                <a:gridCol w="1482811">
                  <a:extLst>
                    <a:ext uri="{9D8B030D-6E8A-4147-A177-3AD203B41FA5}">
                      <a16:colId xmlns:a16="http://schemas.microsoft.com/office/drawing/2014/main" val="1657064559"/>
                    </a:ext>
                  </a:extLst>
                </a:gridCol>
                <a:gridCol w="1495168">
                  <a:extLst>
                    <a:ext uri="{9D8B030D-6E8A-4147-A177-3AD203B41FA5}">
                      <a16:colId xmlns:a16="http://schemas.microsoft.com/office/drawing/2014/main" val="2559841676"/>
                    </a:ext>
                  </a:extLst>
                </a:gridCol>
                <a:gridCol w="1507524">
                  <a:extLst>
                    <a:ext uri="{9D8B030D-6E8A-4147-A177-3AD203B41FA5}">
                      <a16:colId xmlns:a16="http://schemas.microsoft.com/office/drawing/2014/main" val="791409100"/>
                    </a:ext>
                  </a:extLst>
                </a:gridCol>
                <a:gridCol w="989013">
                  <a:extLst>
                    <a:ext uri="{9D8B030D-6E8A-4147-A177-3AD203B41FA5}">
                      <a16:colId xmlns:a16="http://schemas.microsoft.com/office/drawing/2014/main" val="2936314179"/>
                    </a:ext>
                  </a:extLst>
                </a:gridCol>
              </a:tblGrid>
              <a:tr h="35106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800" dirty="0"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uLnTx/>
                          <a:uFillTx/>
                          <a:latin typeface="Cascadia Mono" panose="020B0609020000020004" pitchFamily="49" charset="0"/>
                          <a:ea typeface="+mn-ea"/>
                          <a:cs typeface="Cascadia Mono" panose="020B0609020000020004" pitchFamily="49" charset="0"/>
                        </a:rPr>
                        <a:t>ISJSON</a:t>
                      </a:r>
                      <a:r>
                        <a:rPr lang="en-US" sz="18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800" dirty="0"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Cascadia Mono" panose="020B0609020000020004" pitchFamily="49" charset="0"/>
                          <a:ea typeface="+mn-ea"/>
                          <a:cs typeface="Cascadia Mono" panose="020B0609020000020004" pitchFamily="49" charset="0"/>
                        </a:rPr>
                        <a:t>VALUE</a:t>
                      </a:r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800" dirty="0"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SCALAR</a:t>
                      </a:r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800" dirty="0"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OBJECT</a:t>
                      </a:r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800" dirty="0"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ARRAY</a:t>
                      </a:r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811667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692602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'NULL'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084534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'null'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434742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'a'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07793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'"a"'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634560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'2'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704714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'"2"'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047043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'false'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348471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'"false"'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320358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'[]'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79796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'[1,2,4]'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01048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'{}'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970081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'{"</a:t>
                      </a:r>
                      <a:r>
                        <a:rPr lang="en-US" sz="1600" dirty="0" err="1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key":"value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"}'</a:t>
                      </a:r>
                      <a:endParaRPr lang="en-US" sz="160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00FF00"/>
                          </a:highlight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94606"/>
                  </a:ext>
                </a:extLst>
              </a:tr>
              <a:tr h="321809">
                <a:tc>
                  <a:txBody>
                    <a:bodyPr/>
                    <a:lstStyle/>
                    <a:p>
                      <a:r>
                        <a:rPr lang="en-US" sz="1600" dirty="0"/>
                        <a:t>(malformed JSON)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76854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71383321-41DD-D40B-1CE0-9A51B12C9493}"/>
              </a:ext>
            </a:extLst>
          </p:cNvPr>
          <p:cNvGrpSpPr/>
          <p:nvPr/>
        </p:nvGrpSpPr>
        <p:grpSpPr>
          <a:xfrm>
            <a:off x="6697362" y="1260389"/>
            <a:ext cx="4053489" cy="5165784"/>
            <a:chOff x="6697362" y="1260389"/>
            <a:chExt cx="4053489" cy="51657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A8C3C7F-E907-AC6F-9FB0-94A885BAE7D1}"/>
                </a:ext>
              </a:extLst>
            </p:cNvPr>
            <p:cNvSpPr/>
            <p:nvPr/>
          </p:nvSpPr>
          <p:spPr>
            <a:xfrm>
              <a:off x="6697362" y="1260389"/>
              <a:ext cx="4053489" cy="516578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BF59DE-C75C-444C-1AD7-196F1D09A277}"/>
                </a:ext>
              </a:extLst>
            </p:cNvPr>
            <p:cNvSpPr txBox="1"/>
            <p:nvPr/>
          </p:nvSpPr>
          <p:spPr>
            <a:xfrm>
              <a:off x="7241060" y="5012836"/>
              <a:ext cx="25454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</a:rPr>
                <a:t>XOR            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90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28375B-FE41-84DB-DBCD-2F6E5273B05D}"/>
              </a:ext>
            </a:extLst>
          </p:cNvPr>
          <p:cNvSpPr txBox="1"/>
          <p:nvPr/>
        </p:nvSpPr>
        <p:spPr>
          <a:xfrm>
            <a:off x="1316736" y="966430"/>
            <a:ext cx="83483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ALTER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TABLE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Table1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WITH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CHECK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CONSTRAINT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[chk_dbo.Table1_JsonData__IsJson]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CHECK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 </a:t>
            </a:r>
            <a:r>
              <a:rPr lang="en-US" sz="20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JsonData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=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0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D1203D-8BAE-9408-969E-42A9035AF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155" y="2433330"/>
            <a:ext cx="9381690" cy="380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4D13C6-5314-7759-BA83-15D245790A58}"/>
              </a:ext>
            </a:extLst>
          </p:cNvPr>
          <p:cNvSpPr txBox="1"/>
          <p:nvPr/>
        </p:nvSpPr>
        <p:spPr>
          <a:xfrm>
            <a:off x="1028697" y="1825827"/>
            <a:ext cx="84449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'$.parents[0].name'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'$.parents[10]'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-- 1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'$."bogus-field"'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069AAA-642C-24E7-2DF8-6921B768BAF8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JSON_PATH_EXISTS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 path)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02F32-77B5-C37E-0CF9-5739455591A0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Returns confirmation if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path exists to an array or value inside the valid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json</a:t>
            </a:r>
            <a:endParaRPr lang="en-US" dirty="0"/>
          </a:p>
        </p:txBody>
      </p:sp>
      <p:sp>
        <p:nvSpPr>
          <p:cNvPr id="9" name="Star: 10 Points 8">
            <a:extLst>
              <a:ext uri="{FF2B5EF4-FFF2-40B4-BE49-F238E27FC236}">
                <a16:creationId xmlns:a16="http://schemas.microsoft.com/office/drawing/2014/main" id="{60145506-C846-1185-B0A4-40B15B23F448}"/>
              </a:ext>
            </a:extLst>
          </p:cNvPr>
          <p:cNvSpPr/>
          <p:nvPr/>
        </p:nvSpPr>
        <p:spPr>
          <a:xfrm rot="20706229">
            <a:off x="9082864" y="1403245"/>
            <a:ext cx="2083981" cy="1919177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for SQL Server 2022!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96DB4A-1739-666A-5125-9EB7D470190C}"/>
              </a:ext>
            </a:extLst>
          </p:cNvPr>
          <p:cNvSpPr txBox="1"/>
          <p:nvPr/>
        </p:nvSpPr>
        <p:spPr>
          <a:xfrm>
            <a:off x="8871202" y="5690370"/>
            <a:ext cx="2962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2022+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049BA-0030-3DB9-A7F7-1C46C9BEB260}"/>
              </a:ext>
            </a:extLst>
          </p:cNvPr>
          <p:cNvSpPr txBox="1"/>
          <p:nvPr/>
        </p:nvSpPr>
        <p:spPr>
          <a:xfrm>
            <a:off x="5293503" y="4566378"/>
            <a:ext cx="39371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[10]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"bogus-field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85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C7709-3427-AD7D-C798-1401B1A8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C38BED-ACFC-216F-1FD1-7466B8EB79D8}"/>
              </a:ext>
            </a:extLst>
          </p:cNvPr>
          <p:cNvSpPr txBox="1"/>
          <p:nvPr/>
        </p:nvSpPr>
        <p:spPr>
          <a:xfrm>
            <a:off x="1028697" y="1825827"/>
            <a:ext cx="88276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'{'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or other malformed JSON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'$."bogus-field"'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-- 0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643BD-8192-128E-1384-BFF93E157F39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JSON_PATH_EXISTS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 path)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D39BE-FC4B-EC80-17AA-D1C70029B2FB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Returns confirmation if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path exists inside the valid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json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2BDB42-D629-7ACE-EF32-E09BB0D2E342}"/>
              </a:ext>
            </a:extLst>
          </p:cNvPr>
          <p:cNvSpPr/>
          <p:nvPr/>
        </p:nvSpPr>
        <p:spPr>
          <a:xfrm>
            <a:off x="1028697" y="3503596"/>
            <a:ext cx="7756957" cy="289928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5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08F4-BCF5-BACB-924E-9D551FA3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F40FD7-94AE-B543-CFCE-44371B0D910B}"/>
              </a:ext>
            </a:extLst>
          </p:cNvPr>
          <p:cNvSpPr txBox="1"/>
          <p:nvPr/>
        </p:nvSpPr>
        <p:spPr>
          <a:xfrm>
            <a:off x="1028697" y="1825827"/>
            <a:ext cx="90934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BEGIN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'$."karate-</a:t>
            </a:r>
            <a:r>
              <a:rPr lang="en-US" sz="1800" dirty="0" err="1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belt_color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"'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BEGIN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PRINT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'Stay away!'</a:t>
            </a:r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END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END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ELSE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'Not JSON-formatted'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5DE166-B732-9217-5FF5-BD153ACD96FB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JSON_PATH_EXISTS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 path)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5FBE7-BB22-E20C-9E26-09355A778CFB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Returns confirmation if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path exists inside the valid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json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198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28375B-FE41-84DB-DBCD-2F6E5273B05D}"/>
              </a:ext>
            </a:extLst>
          </p:cNvPr>
          <p:cNvSpPr txBox="1"/>
          <p:nvPr/>
        </p:nvSpPr>
        <p:spPr>
          <a:xfrm>
            <a:off x="1316735" y="966430"/>
            <a:ext cx="938421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ALTER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TABLE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en-US" sz="20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dbo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[Table1]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WITH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CONSTRAINT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[chk_dbo.Table1_JsonData__name.Exists] </a:t>
            </a:r>
          </a:p>
          <a:p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CHECK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 </a:t>
            </a:r>
            <a:r>
              <a:rPr lang="en-US" sz="20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JSON_PATH_EXISTS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JsonData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'$.name'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= </a:t>
            </a:r>
            <a:r>
              <a:rPr lang="en-US" sz="20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 </a:t>
            </a:r>
            <a:r>
              <a:rPr lang="en-US" sz="20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sz="20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BE3010-FCF5-64ED-47A9-A80EB96AC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140" y="2541791"/>
            <a:ext cx="9035719" cy="3682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8063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56E7-BA56-CD7A-8E29-839436B41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JSON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54A310-F359-15F9-F9FA-235327BCB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983543"/>
              </p:ext>
            </p:extLst>
          </p:nvPr>
        </p:nvGraphicFramePr>
        <p:xfrm>
          <a:off x="1085335" y="2391032"/>
          <a:ext cx="9625914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5141">
                  <a:extLst>
                    <a:ext uri="{9D8B030D-6E8A-4147-A177-3AD203B41FA5}">
                      <a16:colId xmlns:a16="http://schemas.microsoft.com/office/drawing/2014/main" val="655592811"/>
                    </a:ext>
                  </a:extLst>
                </a:gridCol>
                <a:gridCol w="1952367">
                  <a:extLst>
                    <a:ext uri="{9D8B030D-6E8A-4147-A177-3AD203B41FA5}">
                      <a16:colId xmlns:a16="http://schemas.microsoft.com/office/drawing/2014/main" val="1658826356"/>
                    </a:ext>
                  </a:extLst>
                </a:gridCol>
                <a:gridCol w="2469292">
                  <a:extLst>
                    <a:ext uri="{9D8B030D-6E8A-4147-A177-3AD203B41FA5}">
                      <a16:colId xmlns:a16="http://schemas.microsoft.com/office/drawing/2014/main" val="1271733941"/>
                    </a:ext>
                  </a:extLst>
                </a:gridCol>
                <a:gridCol w="939114">
                  <a:extLst>
                    <a:ext uri="{9D8B030D-6E8A-4147-A177-3AD203B41FA5}">
                      <a16:colId xmlns:a16="http://schemas.microsoft.com/office/drawing/2014/main" val="2043404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T-SQL keywords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WHERE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onsolas" panose="020B0609020204030204" pitchFamily="49" charset="0"/>
                        </a:rPr>
                        <a:t>CROSS APPLY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(Other)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04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JSON_QUERY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5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JSON_VALUE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503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OPENJSON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998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1154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028698" y="1826613"/>
            <a:ext cx="107236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"children":[]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{entire contents of @_json}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[{"</a:t>
            </a:r>
            <a:r>
              <a:rPr lang="en-US" dirty="0" err="1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dirty="0" err="1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[{"</a:t>
            </a:r>
            <a:r>
              <a:rPr lang="en-US" dirty="0" err="1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'$.parents[0].name'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dirty="0">
              <a:solidFill>
                <a:srgbClr val="008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'$.parents[1]'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[{"</a:t>
            </a:r>
            <a:r>
              <a:rPr lang="en-US" dirty="0" err="1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dirty="0">
                <a:solidFill>
                  <a:srgbClr val="66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'$.children'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   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[]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JSON_QUERY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[, </a:t>
            </a:r>
            <a:r>
              <a:rPr lang="en-US" sz="2800" i="1" dirty="0">
                <a:solidFill>
                  <a:srgbClr val="808080"/>
                </a:solidFill>
                <a:latin typeface="Consolas" panose="020B0609020204030204" pitchFamily="49" charset="0"/>
              </a:rPr>
              <a:t>path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'$'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])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1" y="1233647"/>
            <a:ext cx="9675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Returns a well-formatted 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JSON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array or object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from the original JSON ,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but not scalar/Boolean values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A96AEB-6343-5E6A-23C8-32DF36550836}"/>
              </a:ext>
            </a:extLst>
          </p:cNvPr>
          <p:cNvSpPr txBox="1"/>
          <p:nvPr/>
        </p:nvSpPr>
        <p:spPr>
          <a:xfrm>
            <a:off x="8789723" y="5790419"/>
            <a:ext cx="2962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  </a:t>
            </a:r>
          </a:p>
          <a:p>
            <a:r>
              <a:rPr lang="en-US" sz="1200" dirty="0"/>
              <a:t>Azure SQL Managed Instance  </a:t>
            </a:r>
          </a:p>
          <a:p>
            <a:r>
              <a:rPr lang="en-US" sz="1200" dirty="0"/>
              <a:t>Azure Synapse Analytics</a:t>
            </a:r>
          </a:p>
        </p:txBody>
      </p:sp>
    </p:spTree>
    <p:extLst>
      <p:ext uri="{BB962C8B-B14F-4D97-AF65-F5344CB8AC3E}">
        <p14:creationId xmlns:p14="http://schemas.microsoft.com/office/powerpoint/2010/main" val="124841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028699" y="1826613"/>
            <a:ext cx="93486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spouse_name":null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800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i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800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i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Jeff Foushee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800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sz="1800" i="1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'$.parents[0].name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Mom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'$.parents[1].name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Dad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false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spouse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_name</a:t>
            </a:r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 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en-US" sz="1800" i="1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endParaRPr lang="en-US" i="1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JSON_VALUE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 path)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2" y="1233647"/>
            <a:ext cx="8919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Returns the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stringable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value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of a key within JSON,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but will not return a JSON object/array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DEFB4-808C-5CD3-FB68-AA30180AF563}"/>
              </a:ext>
            </a:extLst>
          </p:cNvPr>
          <p:cNvSpPr txBox="1"/>
          <p:nvPr/>
        </p:nvSpPr>
        <p:spPr>
          <a:xfrm>
            <a:off x="8789723" y="5624353"/>
            <a:ext cx="2962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  </a:t>
            </a:r>
          </a:p>
          <a:p>
            <a:r>
              <a:rPr lang="en-US" sz="1200" dirty="0"/>
              <a:t>Azure SQL Managed Instance  </a:t>
            </a:r>
          </a:p>
          <a:p>
            <a:r>
              <a:rPr lang="en-US" sz="1200" dirty="0"/>
              <a:t>Azure Synapse Analytics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BC82B2-543F-22B5-453D-FD029257A2A7}"/>
              </a:ext>
            </a:extLst>
          </p:cNvPr>
          <p:cNvGrpSpPr/>
          <p:nvPr/>
        </p:nvGrpSpPr>
        <p:grpSpPr>
          <a:xfrm>
            <a:off x="8587946" y="3429000"/>
            <a:ext cx="3021241" cy="2699951"/>
            <a:chOff x="8587946" y="3429000"/>
            <a:chExt cx="3021241" cy="26999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EC938C-0E03-0B43-D75E-45B78099EE66}"/>
                </a:ext>
              </a:extLst>
            </p:cNvPr>
            <p:cNvSpPr txBox="1"/>
            <p:nvPr/>
          </p:nvSpPr>
          <p:spPr>
            <a:xfrm>
              <a:off x="10216896" y="3429000"/>
              <a:ext cx="139229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Illegit NULL</a:t>
              </a:r>
            </a:p>
            <a:p>
              <a:endParaRPr lang="en-US" dirty="0"/>
            </a:p>
            <a:p>
              <a:r>
                <a:rPr lang="en-US" dirty="0"/>
                <a:t>Legit NULL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2ADA59A-67EE-5CEC-67C2-8A603A53A5BB}"/>
                </a:ext>
              </a:extLst>
            </p:cNvPr>
            <p:cNvCxnSpPr/>
            <p:nvPr/>
          </p:nvCxnSpPr>
          <p:spPr>
            <a:xfrm flipV="1">
              <a:off x="8637373" y="4337222"/>
              <a:ext cx="1579523" cy="17917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75EDB70-3DD9-1919-D2CF-4F1630405BDA}"/>
                </a:ext>
              </a:extLst>
            </p:cNvPr>
            <p:cNvCxnSpPr/>
            <p:nvPr/>
          </p:nvCxnSpPr>
          <p:spPr>
            <a:xfrm flipV="1">
              <a:off x="8587946" y="3595816"/>
              <a:ext cx="1615574" cy="4929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581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E3E79FD-2816-5EB1-6794-B79EDB11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333" y="2623614"/>
            <a:ext cx="9187333" cy="3732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8375B-FE41-84DB-DBCD-2F6E5273B05D}"/>
              </a:ext>
            </a:extLst>
          </p:cNvPr>
          <p:cNvSpPr txBox="1"/>
          <p:nvPr/>
        </p:nvSpPr>
        <p:spPr>
          <a:xfrm>
            <a:off x="918475" y="592289"/>
            <a:ext cx="934640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[Table_1]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CHECK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CONSTRAINT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[chk_dbo.Table1_JsonData__name.HasValue] 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CHECK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              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JSON_VALUE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'$.name'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!=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JSON_VALUE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JsonData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'$.name'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0D3A8D-0501-D301-4C8F-79E70344E7BC}"/>
              </a:ext>
            </a:extLst>
          </p:cNvPr>
          <p:cNvSpPr/>
          <p:nvPr/>
        </p:nvSpPr>
        <p:spPr>
          <a:xfrm>
            <a:off x="2589959" y="1438826"/>
            <a:ext cx="6406557" cy="61773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D37E75E-FCA2-B6C9-F448-F296AEC10601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8996516" y="2056563"/>
            <a:ext cx="1375677" cy="15452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6322026-728B-2619-FBBF-C06FE4927752}"/>
              </a:ext>
            </a:extLst>
          </p:cNvPr>
          <p:cNvSpPr/>
          <p:nvPr/>
        </p:nvSpPr>
        <p:spPr>
          <a:xfrm>
            <a:off x="10194372" y="3601804"/>
            <a:ext cx="355642" cy="3146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68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790FC6-2530-AE54-FD60-487CCAE839A2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JSON Check Constraints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8D5E4-C0BE-8320-AEDE-7E5E15262F40}"/>
              </a:ext>
            </a:extLst>
          </p:cNvPr>
          <p:cNvSpPr txBox="1"/>
          <p:nvPr/>
        </p:nvSpPr>
        <p:spPr>
          <a:xfrm>
            <a:off x="4437888" y="2816352"/>
            <a:ext cx="33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28593601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2A84-EEF4-D02B-473D-F95F3067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583DED-79F7-76F6-CFAA-19E02FCBE11C}"/>
              </a:ext>
            </a:extLst>
          </p:cNvPr>
          <p:cNvSpPr txBox="1"/>
          <p:nvPr/>
        </p:nvSpPr>
        <p:spPr>
          <a:xfrm>
            <a:off x="1012747" y="1674674"/>
            <a:ext cx="64975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056A2-D664-6BA0-1A2E-F400294E290B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JSON_QUERY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() vs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 JSON_VALUE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() </a:t>
            </a:r>
            <a:endParaRPr lang="en-US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F29795-34C0-4286-C86D-5A5A90B2D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079032"/>
              </p:ext>
            </p:extLst>
          </p:nvPr>
        </p:nvGraphicFramePr>
        <p:xfrm>
          <a:off x="1012747" y="3617733"/>
          <a:ext cx="9954736" cy="2331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069">
                  <a:extLst>
                    <a:ext uri="{9D8B030D-6E8A-4147-A177-3AD203B41FA5}">
                      <a16:colId xmlns:a16="http://schemas.microsoft.com/office/drawing/2014/main" val="398802349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3194749352"/>
                    </a:ext>
                  </a:extLst>
                </a:gridCol>
                <a:gridCol w="1640603">
                  <a:extLst>
                    <a:ext uri="{9D8B030D-6E8A-4147-A177-3AD203B41FA5}">
                      <a16:colId xmlns:a16="http://schemas.microsoft.com/office/drawing/2014/main" val="1747772036"/>
                    </a:ext>
                  </a:extLst>
                </a:gridCol>
              </a:tblGrid>
              <a:tr h="276553">
                <a:tc>
                  <a:txBody>
                    <a:bodyPr/>
                    <a:lstStyle/>
                    <a:p>
                      <a:r>
                        <a:rPr lang="en-US" sz="1450" b="0" dirty="0">
                          <a:solidFill>
                            <a:schemeClr val="tx1"/>
                          </a:solidFill>
                        </a:rPr>
                        <a:t>SQL Statement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JSON_QUERY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45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JSON_VALUE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  <a:endParaRPr lang="en-US" sz="145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339950"/>
                  </a:ext>
                </a:extLst>
              </a:tr>
              <a:tr h="336472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&lt;</a:t>
                      </a:r>
                      <a:r>
                        <a:rPr lang="en-US" sz="1450" dirty="0" err="1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func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&gt;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@_json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45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'$'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  <a:endParaRPr 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{entire contents of @_json}</a:t>
                      </a:r>
                      <a:endParaRPr lang="en-US" sz="1450" dirty="0">
                        <a:solidFill>
                          <a:srgbClr val="000000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NULL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61949"/>
                  </a:ext>
                </a:extLst>
              </a:tr>
              <a:tr h="336472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&lt;</a:t>
                      </a:r>
                      <a:r>
                        <a:rPr lang="en-US" sz="1450" dirty="0" err="1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func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&gt;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@_json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45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'$.parents'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  <a:endParaRPr 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[{"</a:t>
                      </a:r>
                      <a:r>
                        <a:rPr lang="en-US" sz="1450" dirty="0" err="1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name":"Mom</a:t>
                      </a:r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"},{"</a:t>
                      </a:r>
                      <a:r>
                        <a:rPr lang="en-US" sz="1450" dirty="0" err="1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name":"Dad</a:t>
                      </a:r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"}]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NULL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324098"/>
                  </a:ext>
                </a:extLst>
              </a:tr>
              <a:tr h="336472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&lt;</a:t>
                      </a:r>
                      <a:r>
                        <a:rPr lang="en-US" sz="1450" dirty="0" err="1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func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&gt;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@_json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45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'$.name'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  <a:endParaRPr 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NULL</a:t>
                      </a:r>
                      <a:endParaRPr lang="en-US" sz="1450" dirty="0">
                        <a:solidFill>
                          <a:srgbClr val="000000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Jeff Foushee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634431"/>
                  </a:ext>
                </a:extLst>
              </a:tr>
              <a:tr h="336472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&lt;</a:t>
                      </a:r>
                      <a:r>
                        <a:rPr lang="en-US" sz="1450" dirty="0" err="1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func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&gt;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@_json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45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'$.parents[0]'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  <a:endParaRPr 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[{"</a:t>
                      </a:r>
                      <a:r>
                        <a:rPr lang="en-US" sz="1450" dirty="0" err="1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name":"Mom</a:t>
                      </a:r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"}]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NULL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00580"/>
                  </a:ext>
                </a:extLst>
              </a:tr>
              <a:tr h="336472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&lt;</a:t>
                      </a:r>
                      <a:r>
                        <a:rPr lang="en-US" sz="1450" dirty="0" err="1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func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&gt;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@_json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45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'$.parents[0].name'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  <a:endParaRPr 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NULL</a:t>
                      </a:r>
                      <a:endParaRPr lang="en-US" sz="1450" dirty="0">
                        <a:solidFill>
                          <a:srgbClr val="008000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Mom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415542"/>
                  </a:ext>
                </a:extLst>
              </a:tr>
              <a:tr h="336472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SELECT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 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&lt;</a:t>
                      </a:r>
                      <a:r>
                        <a:rPr lang="en-US" sz="1450" dirty="0" err="1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func</a:t>
                      </a:r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&gt;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(</a:t>
                      </a:r>
                      <a:r>
                        <a:rPr lang="en-US" sz="1450" dirty="0">
                          <a:solidFill>
                            <a:srgbClr val="00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@_json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,</a:t>
                      </a:r>
                      <a:r>
                        <a:rPr lang="en-US" sz="1450" dirty="0">
                          <a:solidFill>
                            <a:srgbClr val="FF0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'$.parents[1].name'</a:t>
                      </a: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)</a:t>
                      </a:r>
                      <a:endParaRPr lang="en-US" sz="14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50" dirty="0">
                          <a:solidFill>
                            <a:srgbClr val="80808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NULL</a:t>
                      </a:r>
                      <a:endParaRPr lang="en-US" sz="1450" dirty="0">
                        <a:solidFill>
                          <a:srgbClr val="000000"/>
                        </a:solidFill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008000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Dad</a:t>
                      </a:r>
                      <a:endParaRPr lang="en-US" sz="1450" dirty="0">
                        <a:latin typeface="Cascadia Mono" panose="020B0609020000020004" pitchFamily="49" charset="0"/>
                        <a:cs typeface="Cascadia Mono" panose="020B06090200000200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7828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4ACCC1D-06A1-7A87-505C-1CC154A85886}"/>
              </a:ext>
            </a:extLst>
          </p:cNvPr>
          <p:cNvSpPr txBox="1"/>
          <p:nvPr/>
        </p:nvSpPr>
        <p:spPr>
          <a:xfrm>
            <a:off x="8068964" y="4821024"/>
            <a:ext cx="1248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Another  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XOR?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4FA655-7A5E-869C-D8DC-303652F01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311839"/>
              </p:ext>
            </p:extLst>
          </p:nvPr>
        </p:nvGraphicFramePr>
        <p:xfrm>
          <a:off x="5788452" y="3605375"/>
          <a:ext cx="5179031" cy="2331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031">
                  <a:extLst>
                    <a:ext uri="{9D8B030D-6E8A-4147-A177-3AD203B41FA5}">
                      <a16:colId xmlns:a16="http://schemas.microsoft.com/office/drawing/2014/main" val="3420614832"/>
                    </a:ext>
                  </a:extLst>
                </a:gridCol>
              </a:tblGrid>
              <a:tr h="333036">
                <a:tc>
                  <a:txBody>
                    <a:bodyPr/>
                    <a:lstStyle/>
                    <a:p>
                      <a:r>
                        <a:rPr lang="en-US" sz="1450" dirty="0">
                          <a:solidFill>
                            <a:srgbClr val="FF00FF"/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JSON_PATH_EXISTS</a:t>
                      </a:r>
                      <a:r>
                        <a:rPr lang="en-US" sz="145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()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87862"/>
                  </a:ext>
                </a:extLst>
              </a:tr>
              <a:tr h="333036">
                <a:tc>
                  <a:txBody>
                    <a:bodyPr/>
                    <a:lstStyle/>
                    <a:p>
                      <a:r>
                        <a:rPr lang="en-US" sz="14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934800"/>
                  </a:ext>
                </a:extLst>
              </a:tr>
              <a:tr h="333036">
                <a:tc>
                  <a:txBody>
                    <a:bodyPr/>
                    <a:lstStyle/>
                    <a:p>
                      <a:r>
                        <a:rPr lang="en-US" sz="14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360770"/>
                  </a:ext>
                </a:extLst>
              </a:tr>
              <a:tr h="333036">
                <a:tc>
                  <a:txBody>
                    <a:bodyPr/>
                    <a:lstStyle/>
                    <a:p>
                      <a:r>
                        <a:rPr lang="en-US" sz="14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424082"/>
                  </a:ext>
                </a:extLst>
              </a:tr>
              <a:tr h="333036">
                <a:tc>
                  <a:txBody>
                    <a:bodyPr/>
                    <a:lstStyle/>
                    <a:p>
                      <a:r>
                        <a:rPr lang="en-US" sz="14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970429"/>
                  </a:ext>
                </a:extLst>
              </a:tr>
              <a:tr h="333036">
                <a:tc>
                  <a:txBody>
                    <a:bodyPr/>
                    <a:lstStyle/>
                    <a:p>
                      <a:r>
                        <a:rPr lang="en-US" sz="14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548491"/>
                  </a:ext>
                </a:extLst>
              </a:tr>
              <a:tr h="333036">
                <a:tc>
                  <a:txBody>
                    <a:bodyPr/>
                    <a:lstStyle/>
                    <a:p>
                      <a:r>
                        <a:rPr lang="en-US" sz="145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355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8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F569F2-6380-781B-95F6-9EEDBB594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42" y="227076"/>
            <a:ext cx="1914878" cy="2211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369FF6-E481-4FF6-0C16-2935D4171B3D}"/>
              </a:ext>
            </a:extLst>
          </p:cNvPr>
          <p:cNvSpPr txBox="1"/>
          <p:nvPr/>
        </p:nvSpPr>
        <p:spPr>
          <a:xfrm>
            <a:off x="2828544" y="689788"/>
            <a:ext cx="74858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20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20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"parents":[{"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2000" dirty="0" err="1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20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20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74F861-2090-92A6-E2CD-AF2F82CBB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205" y="3990850"/>
            <a:ext cx="2486678" cy="7033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EC9BC2E-8AA8-FAC1-5F9A-EDC6FB5719DE}"/>
              </a:ext>
            </a:extLst>
          </p:cNvPr>
          <p:cNvSpPr txBox="1"/>
          <p:nvPr/>
        </p:nvSpPr>
        <p:spPr>
          <a:xfrm>
            <a:off x="999744" y="3154137"/>
            <a:ext cx="4224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7030A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FA4160-811F-559D-44AA-92D7B44D0C97}"/>
              </a:ext>
            </a:extLst>
          </p:cNvPr>
          <p:cNvSpPr txBox="1"/>
          <p:nvPr/>
        </p:nvSpPr>
        <p:spPr>
          <a:xfrm>
            <a:off x="999744" y="5064682"/>
            <a:ext cx="5096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7030A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7030A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'$[0]'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C72BE-0DE7-B542-F855-8B6AD0BD6DC5}"/>
              </a:ext>
            </a:extLst>
          </p:cNvPr>
          <p:cNvSpPr txBox="1"/>
          <p:nvPr/>
        </p:nvSpPr>
        <p:spPr>
          <a:xfrm>
            <a:off x="6571488" y="4880445"/>
            <a:ext cx="53157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7030A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7030A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QUERY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'$[0]'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9DE548-9222-A250-0536-6B726AB2EF33}"/>
              </a:ext>
            </a:extLst>
          </p:cNvPr>
          <p:cNvSpPr txBox="1"/>
          <p:nvPr/>
        </p:nvSpPr>
        <p:spPr>
          <a:xfrm>
            <a:off x="6571488" y="3160232"/>
            <a:ext cx="4224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</a:t>
            </a:r>
            <a:r>
              <a:rPr lang="en-US" sz="1800" dirty="0">
                <a:solidFill>
                  <a:srgbClr val="C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</a:p>
          <a:p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'$.parents[0].name'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BC3805F-A562-F375-1489-5F3505CE0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131" y="3983673"/>
            <a:ext cx="2486677" cy="71047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131C5B-D0D0-AB60-E10A-56E90E1EDC54}"/>
              </a:ext>
            </a:extLst>
          </p:cNvPr>
          <p:cNvCxnSpPr/>
          <p:nvPr/>
        </p:nvCxnSpPr>
        <p:spPr>
          <a:xfrm>
            <a:off x="6096000" y="3154137"/>
            <a:ext cx="0" cy="3271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46BF03F-5115-0BBF-E5E4-ED80C7858512}"/>
              </a:ext>
            </a:extLst>
          </p:cNvPr>
          <p:cNvGrpSpPr/>
          <p:nvPr/>
        </p:nvGrpSpPr>
        <p:grpSpPr>
          <a:xfrm>
            <a:off x="1399779" y="5357069"/>
            <a:ext cx="1843934" cy="879301"/>
            <a:chOff x="1399779" y="5357069"/>
            <a:chExt cx="1843934" cy="87930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FCECEB9-313D-4F49-F8AB-2D95D5C163FD}"/>
                </a:ext>
              </a:extLst>
            </p:cNvPr>
            <p:cNvSpPr txBox="1"/>
            <p:nvPr/>
          </p:nvSpPr>
          <p:spPr>
            <a:xfrm>
              <a:off x="1399780" y="5357069"/>
              <a:ext cx="184393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F09F75-CC80-B83A-E659-8DAD40C494C8}"/>
                </a:ext>
              </a:extLst>
            </p:cNvPr>
            <p:cNvSpPr txBox="1"/>
            <p:nvPr/>
          </p:nvSpPr>
          <p:spPr>
            <a:xfrm>
              <a:off x="1399779" y="5928593"/>
              <a:ext cx="1843933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E6989C-BA0D-85E8-8472-7993AFBF538A}"/>
              </a:ext>
            </a:extLst>
          </p:cNvPr>
          <p:cNvGrpSpPr/>
          <p:nvPr/>
        </p:nvGrpSpPr>
        <p:grpSpPr>
          <a:xfrm>
            <a:off x="6984491" y="5158938"/>
            <a:ext cx="2271252" cy="1464880"/>
            <a:chOff x="6984491" y="5158938"/>
            <a:chExt cx="2271252" cy="14648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B25D0D-08A8-B382-1778-5B29B08D7AC7}"/>
                </a:ext>
              </a:extLst>
            </p:cNvPr>
            <p:cNvSpPr txBox="1"/>
            <p:nvPr/>
          </p:nvSpPr>
          <p:spPr>
            <a:xfrm>
              <a:off x="6984491" y="5158938"/>
              <a:ext cx="227125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D69122-D078-7107-A979-9F38E3E89B46}"/>
                </a:ext>
              </a:extLst>
            </p:cNvPr>
            <p:cNvSpPr txBox="1"/>
            <p:nvPr/>
          </p:nvSpPr>
          <p:spPr>
            <a:xfrm>
              <a:off x="6984491" y="6300653"/>
              <a:ext cx="2271252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5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916074-57CF-6A6B-80D4-105544895837}"/>
              </a:ext>
            </a:extLst>
          </p:cNvPr>
          <p:cNvGrpSpPr/>
          <p:nvPr/>
        </p:nvGrpSpPr>
        <p:grpSpPr>
          <a:xfrm>
            <a:off x="7164593" y="5466695"/>
            <a:ext cx="2311002" cy="902394"/>
            <a:chOff x="7164593" y="5466695"/>
            <a:chExt cx="2311002" cy="9023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95069A-D57A-C42A-D8A8-D245DCBA71C6}"/>
                </a:ext>
              </a:extLst>
            </p:cNvPr>
            <p:cNvSpPr txBox="1"/>
            <p:nvPr/>
          </p:nvSpPr>
          <p:spPr>
            <a:xfrm>
              <a:off x="7204343" y="5466695"/>
              <a:ext cx="227125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9CDB56-B8F7-D27C-F276-D79C74D425ED}"/>
                </a:ext>
              </a:extLst>
            </p:cNvPr>
            <p:cNvSpPr txBox="1"/>
            <p:nvPr/>
          </p:nvSpPr>
          <p:spPr>
            <a:xfrm>
              <a:off x="7164593" y="6045924"/>
              <a:ext cx="2271252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1018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366435-5F3A-0592-0DF6-0BD00CD29EAA}"/>
              </a:ext>
            </a:extLst>
          </p:cNvPr>
          <p:cNvSpPr txBox="1"/>
          <p:nvPr/>
        </p:nvSpPr>
        <p:spPr>
          <a:xfrm>
            <a:off x="1555897" y="584662"/>
            <a:ext cx="9080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“path” argument always starts with “</a:t>
            </a:r>
            <a:r>
              <a:rPr lang="en-US" sz="32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$</a:t>
            </a:r>
            <a:r>
              <a:rPr lang="en-US" sz="3200" dirty="0"/>
              <a:t>”, right?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803966-BE63-3D59-6A0F-91F41F2AC75A}"/>
              </a:ext>
            </a:extLst>
          </p:cNvPr>
          <p:cNvSpPr txBox="1"/>
          <p:nvPr/>
        </p:nvSpPr>
        <p:spPr>
          <a:xfrm>
            <a:off x="2925919" y="1578025"/>
            <a:ext cx="634015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AB0DBE-9477-09BB-A733-A8165CB3BC60}"/>
              </a:ext>
            </a:extLst>
          </p:cNvPr>
          <p:cNvSpPr txBox="1"/>
          <p:nvPr/>
        </p:nvSpPr>
        <p:spPr>
          <a:xfrm>
            <a:off x="1018067" y="3645197"/>
            <a:ext cx="48219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JSON_VALUE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lax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$.blah'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[Value] 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02CD0D-31EA-86EE-DDBC-9768CBB58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060" y="4773830"/>
            <a:ext cx="1829466" cy="9147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44EC14-8B2F-445B-7F56-11208FD9FEE3}"/>
              </a:ext>
            </a:extLst>
          </p:cNvPr>
          <p:cNvSpPr txBox="1"/>
          <p:nvPr/>
        </p:nvSpPr>
        <p:spPr>
          <a:xfrm>
            <a:off x="6114465" y="3645197"/>
            <a:ext cx="51691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strict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$.blah'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[Value]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BE617D-D540-AF87-B207-D831E975F330}"/>
              </a:ext>
            </a:extLst>
          </p:cNvPr>
          <p:cNvSpPr txBox="1"/>
          <p:nvPr/>
        </p:nvSpPr>
        <p:spPr>
          <a:xfrm>
            <a:off x="6230112" y="4765044"/>
            <a:ext cx="44125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Msg 13608, Level 16, State 1</a:t>
            </a: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Property cannot be found on the </a:t>
            </a:r>
          </a:p>
          <a:p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specified JSON path.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080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107556" y="1937722"/>
            <a:ext cx="61908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6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OPENJSON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[, </a:t>
            </a:r>
            <a:r>
              <a:rPr lang="en-US" sz="2800" i="1" dirty="0">
                <a:solidFill>
                  <a:srgbClr val="808080"/>
                </a:solidFill>
                <a:latin typeface="Consolas" panose="020B0609020204030204" pitchFamily="49" charset="0"/>
              </a:rPr>
              <a:t>path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'$'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])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Interprets the JSON object into a relational view, using a </a:t>
            </a:r>
            <a:r>
              <a:rPr lang="en-US" b="0" i="0" dirty="0" err="1">
                <a:solidFill>
                  <a:srgbClr val="111111"/>
                </a:solidFill>
                <a:effectLst/>
                <a:latin typeface="-apple-system"/>
              </a:rPr>
              <a:t>DataFrame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B9C45-45E5-295F-71E5-BD52F779F890}"/>
              </a:ext>
            </a:extLst>
          </p:cNvPr>
          <p:cNvSpPr txBox="1"/>
          <p:nvPr/>
        </p:nvSpPr>
        <p:spPr>
          <a:xfrm>
            <a:off x="1107556" y="3812698"/>
            <a:ext cx="41227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2D9AE9-4718-5934-AA85-6CEC906EE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233" y="3423801"/>
            <a:ext cx="4364781" cy="105213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58519FF-7EFA-9D9C-7515-7743BCA1B66A}"/>
              </a:ext>
            </a:extLst>
          </p:cNvPr>
          <p:cNvGrpSpPr/>
          <p:nvPr/>
        </p:nvGrpSpPr>
        <p:grpSpPr>
          <a:xfrm>
            <a:off x="1088951" y="4666829"/>
            <a:ext cx="7144652" cy="894251"/>
            <a:chOff x="1088951" y="4666829"/>
            <a:chExt cx="7144652" cy="89425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9322EC-6D2A-35CD-1D67-E062BDE65E95}"/>
                </a:ext>
              </a:extLst>
            </p:cNvPr>
            <p:cNvSpPr txBox="1"/>
            <p:nvPr/>
          </p:nvSpPr>
          <p:spPr>
            <a:xfrm>
              <a:off x="1088951" y="4821568"/>
              <a:ext cx="422599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SELECT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*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FROM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</a:p>
            <a:p>
              <a:r>
                <a:rPr lang="en-US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OPENJSON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@_json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'$.parents'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)</a:t>
              </a:r>
              <a:endParaRPr lang="en-US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B75AAC8-B4A7-13EE-771F-2C5E76DA72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3172" y="4666829"/>
              <a:ext cx="2650431" cy="89425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81AB0D-1CBE-965E-7BC4-E6C696F6B122}"/>
              </a:ext>
            </a:extLst>
          </p:cNvPr>
          <p:cNvGrpSpPr/>
          <p:nvPr/>
        </p:nvGrpSpPr>
        <p:grpSpPr>
          <a:xfrm>
            <a:off x="1088951" y="5634715"/>
            <a:ext cx="6579098" cy="646331"/>
            <a:chOff x="1088951" y="5634715"/>
            <a:chExt cx="6579098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A62380-2056-E063-1493-18C691FCF691}"/>
                </a:ext>
              </a:extLst>
            </p:cNvPr>
            <p:cNvSpPr txBox="1"/>
            <p:nvPr/>
          </p:nvSpPr>
          <p:spPr>
            <a:xfrm>
              <a:off x="1088951" y="5634715"/>
              <a:ext cx="44949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SELECT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*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FROM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</a:p>
            <a:p>
              <a:r>
                <a:rPr lang="en-US" dirty="0">
                  <a:solidFill>
                    <a:srgbClr val="0000FF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OPENJSON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(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@_json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,</a:t>
              </a:r>
              <a:r>
                <a:rPr lang="en-US" dirty="0">
                  <a:solidFill>
                    <a:srgbClr val="00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'$.parents[0]'</a:t>
              </a:r>
              <a:r>
                <a:rPr lang="en-US" dirty="0">
                  <a:solidFill>
                    <a:srgbClr val="808080"/>
                  </a:solidFill>
                  <a:latin typeface="Cascadia Mono" panose="020B0609020000020004" pitchFamily="49" charset="0"/>
                  <a:cs typeface="Cascadia Mono" panose="020B0609020000020004" pitchFamily="49" charset="0"/>
                </a:rPr>
                <a:t>)</a:t>
              </a:r>
              <a:endParaRPr lang="en-US" dirty="0">
                <a:latin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3E929-0B22-9513-C3C3-E94517ABA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3172" y="5697536"/>
              <a:ext cx="2084877" cy="575513"/>
            </a:xfrm>
            <a:prstGeom prst="rect">
              <a:avLst/>
            </a:prstGeom>
          </p:spPr>
        </p:pic>
      </p:grp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4F6E84B-8841-0FB6-4043-CB9B2A286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901607"/>
              </p:ext>
            </p:extLst>
          </p:nvPr>
        </p:nvGraphicFramePr>
        <p:xfrm>
          <a:off x="9728790" y="1271130"/>
          <a:ext cx="1524426" cy="1560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4970">
                  <a:extLst>
                    <a:ext uri="{9D8B030D-6E8A-4147-A177-3AD203B41FA5}">
                      <a16:colId xmlns:a16="http://schemas.microsoft.com/office/drawing/2014/main" val="114812362"/>
                    </a:ext>
                  </a:extLst>
                </a:gridCol>
                <a:gridCol w="1049456">
                  <a:extLst>
                    <a:ext uri="{9D8B030D-6E8A-4147-A177-3AD203B41FA5}">
                      <a16:colId xmlns:a16="http://schemas.microsoft.com/office/drawing/2014/main" val="401378235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type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description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583400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null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8467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string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51296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62235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boolean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55440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JSON array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98729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JSON object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072612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5B68FC1-27E1-5467-4B04-DBBAC3D01E7F}"/>
              </a:ext>
            </a:extLst>
          </p:cNvPr>
          <p:cNvSpPr txBox="1"/>
          <p:nvPr/>
        </p:nvSpPr>
        <p:spPr>
          <a:xfrm>
            <a:off x="8789723" y="5293513"/>
            <a:ext cx="2962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  <a:p>
            <a:r>
              <a:rPr lang="en-US" sz="1200" dirty="0"/>
              <a:t>SQL analytics endpoint in Microsoft Fabric</a:t>
            </a:r>
          </a:p>
          <a:p>
            <a:r>
              <a:rPr lang="en-US" sz="1200" dirty="0"/>
              <a:t>Warehouse in Microsoft Fabric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AC9B30-F64C-6141-9815-0F808C5F12FE}"/>
              </a:ext>
            </a:extLst>
          </p:cNvPr>
          <p:cNvGrpSpPr/>
          <p:nvPr/>
        </p:nvGrpSpPr>
        <p:grpSpPr>
          <a:xfrm>
            <a:off x="7183449" y="3423801"/>
            <a:ext cx="2704263" cy="2828788"/>
            <a:chOff x="7183449" y="3423801"/>
            <a:chExt cx="2704263" cy="282878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A3A69FF-E3AF-9F32-CAE3-5B1B1A4FCBA1}"/>
                </a:ext>
              </a:extLst>
            </p:cNvPr>
            <p:cNvSpPr/>
            <p:nvPr/>
          </p:nvSpPr>
          <p:spPr>
            <a:xfrm>
              <a:off x="9447878" y="3423801"/>
              <a:ext cx="439834" cy="1052131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CBD71F-150D-FCBB-831A-18E8028DDFBC}"/>
                </a:ext>
              </a:extLst>
            </p:cNvPr>
            <p:cNvSpPr/>
            <p:nvPr/>
          </p:nvSpPr>
          <p:spPr>
            <a:xfrm>
              <a:off x="7793769" y="4645406"/>
              <a:ext cx="439834" cy="822494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F275313-1CD1-C5ED-75CF-866D605D3062}"/>
                </a:ext>
              </a:extLst>
            </p:cNvPr>
            <p:cNvSpPr/>
            <p:nvPr/>
          </p:nvSpPr>
          <p:spPr>
            <a:xfrm>
              <a:off x="7183449" y="5677076"/>
              <a:ext cx="484599" cy="575513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546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irit Level Set - Lidl — Northern Ireland - Specials archive">
            <a:extLst>
              <a:ext uri="{FF2B5EF4-FFF2-40B4-BE49-F238E27FC236}">
                <a16:creationId xmlns:a16="http://schemas.microsoft.com/office/drawing/2014/main" id="{C03725A5-E480-063B-31D9-AA91FDF62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560" y="994410"/>
            <a:ext cx="7231380" cy="542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379E86-9C8F-00E3-B9DC-0F7F94CB2C93}"/>
              </a:ext>
            </a:extLst>
          </p:cNvPr>
          <p:cNvSpPr txBox="1"/>
          <p:nvPr/>
        </p:nvSpPr>
        <p:spPr>
          <a:xfrm>
            <a:off x="742950" y="674370"/>
            <a:ext cx="8873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for a level-set….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ADB1CC-A580-CD65-8EA0-59EDAD3F3E47}"/>
              </a:ext>
            </a:extLst>
          </p:cNvPr>
          <p:cNvSpPr txBox="1"/>
          <p:nvPr/>
        </p:nvSpPr>
        <p:spPr>
          <a:xfrm>
            <a:off x="5634990" y="4994910"/>
            <a:ext cx="131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(level set)</a:t>
            </a:r>
          </a:p>
        </p:txBody>
      </p:sp>
    </p:spTree>
    <p:extLst>
      <p:ext uri="{BB962C8B-B14F-4D97-AF65-F5344CB8AC3E}">
        <p14:creationId xmlns:p14="http://schemas.microsoft.com/office/powerpoint/2010/main" val="4037735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7086CB-1688-850D-5C28-1D19510C2829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304027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7086CB-1688-850D-5C28-1D19510C2829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JOIN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B112C-3F74-BA86-71E2-E3EB0D4D4EC1}"/>
              </a:ext>
            </a:extLst>
          </p:cNvPr>
          <p:cNvSpPr txBox="1"/>
          <p:nvPr/>
        </p:nvSpPr>
        <p:spPr>
          <a:xfrm>
            <a:off x="1297171" y="1233647"/>
            <a:ext cx="934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Not a JSON function. Makes a cartesian product of the rows between two tables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E04E2-E2FA-499B-AFDB-EA898D27D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716975"/>
              </p:ext>
            </p:extLst>
          </p:nvPr>
        </p:nvGraphicFramePr>
        <p:xfrm>
          <a:off x="1202181" y="4474802"/>
          <a:ext cx="32458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343">
                  <a:extLst>
                    <a:ext uri="{9D8B030D-6E8A-4147-A177-3AD203B41FA5}">
                      <a16:colId xmlns:a16="http://schemas.microsoft.com/office/drawing/2014/main" val="859083813"/>
                    </a:ext>
                  </a:extLst>
                </a:gridCol>
                <a:gridCol w="1082993">
                  <a:extLst>
                    <a:ext uri="{9D8B030D-6E8A-4147-A177-3AD203B41FA5}">
                      <a16:colId xmlns:a16="http://schemas.microsoft.com/office/drawing/2014/main" val="3271539360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176546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ColumnX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06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2_1_X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2_1_Z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0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2_2_X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2_2_Y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2_2_Z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3796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A06262-A41C-8AA6-3E1C-BE184A34F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502431"/>
              </p:ext>
            </p:extLst>
          </p:nvPr>
        </p:nvGraphicFramePr>
        <p:xfrm>
          <a:off x="1202181" y="2722785"/>
          <a:ext cx="215963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818">
                  <a:extLst>
                    <a:ext uri="{9D8B030D-6E8A-4147-A177-3AD203B41FA5}">
                      <a16:colId xmlns:a16="http://schemas.microsoft.com/office/drawing/2014/main" val="166289701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3278040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14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1_1_1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1_1_2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8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1_2_1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1_2_2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0153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95F361-5AAD-553E-F3B9-E1B918EA55BC}"/>
              </a:ext>
            </a:extLst>
          </p:cNvPr>
          <p:cNvSpPr txBox="1"/>
          <p:nvPr/>
        </p:nvSpPr>
        <p:spPr>
          <a:xfrm>
            <a:off x="1202181" y="2346386"/>
            <a:ext cx="177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8895C-CE80-B328-701B-2F4CACE68173}"/>
              </a:ext>
            </a:extLst>
          </p:cNvPr>
          <p:cNvSpPr txBox="1"/>
          <p:nvPr/>
        </p:nvSpPr>
        <p:spPr>
          <a:xfrm>
            <a:off x="1175386" y="4098403"/>
            <a:ext cx="120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Table_2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B4E370-8A8B-DB33-BE61-21E270E5EE24}"/>
              </a:ext>
            </a:extLst>
          </p:cNvPr>
          <p:cNvSpPr txBox="1"/>
          <p:nvPr/>
        </p:nvSpPr>
        <p:spPr>
          <a:xfrm>
            <a:off x="5535168" y="2126199"/>
            <a:ext cx="3608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Table_1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Table_2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C547F63-8889-CE2B-C1AF-BAE82CBD4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472400"/>
              </p:ext>
            </p:extLst>
          </p:nvPr>
        </p:nvGraphicFramePr>
        <p:xfrm>
          <a:off x="5611173" y="3249411"/>
          <a:ext cx="54054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818">
                  <a:extLst>
                    <a:ext uri="{9D8B030D-6E8A-4147-A177-3AD203B41FA5}">
                      <a16:colId xmlns:a16="http://schemas.microsoft.com/office/drawing/2014/main" val="950280349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819817413"/>
                    </a:ext>
                  </a:extLst>
                </a:gridCol>
                <a:gridCol w="1089343">
                  <a:extLst>
                    <a:ext uri="{9D8B030D-6E8A-4147-A177-3AD203B41FA5}">
                      <a16:colId xmlns:a16="http://schemas.microsoft.com/office/drawing/2014/main" val="1670243958"/>
                    </a:ext>
                  </a:extLst>
                </a:gridCol>
                <a:gridCol w="1082993">
                  <a:extLst>
                    <a:ext uri="{9D8B030D-6E8A-4147-A177-3AD203B41FA5}">
                      <a16:colId xmlns:a16="http://schemas.microsoft.com/office/drawing/2014/main" val="650292759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1511642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81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2_1_X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2_1_Z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2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2_2_X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2_2_Z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88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1_2_1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1_2_2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2_1_X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2_1_Z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8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1_2_1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1_2_2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2_2_X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2_2_Z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2678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F3F036C-36B0-BD7F-A25B-C8AE94FEC0E7}"/>
              </a:ext>
            </a:extLst>
          </p:cNvPr>
          <p:cNvSpPr txBox="1"/>
          <p:nvPr/>
        </p:nvSpPr>
        <p:spPr>
          <a:xfrm>
            <a:off x="9740699" y="6196341"/>
            <a:ext cx="1597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(ANSI-standard SQL)</a:t>
            </a:r>
          </a:p>
        </p:txBody>
      </p:sp>
    </p:spTree>
    <p:extLst>
      <p:ext uri="{BB962C8B-B14F-4D97-AF65-F5344CB8AC3E}">
        <p14:creationId xmlns:p14="http://schemas.microsoft.com/office/powerpoint/2010/main" val="37845255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900F-8C4D-7B9C-E3B7-84DC7D49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4CB0B8-DDDB-927F-0F33-3702684E8906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endParaRPr lang="en-US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FE2F0-6FBE-6DD0-2DBE-1B66D27044FA}"/>
              </a:ext>
            </a:extLst>
          </p:cNvPr>
          <p:cNvSpPr txBox="1"/>
          <p:nvPr/>
        </p:nvSpPr>
        <p:spPr>
          <a:xfrm>
            <a:off x="1297171" y="1233647"/>
            <a:ext cx="9346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Not a JSON function. Makes a cartesian product of the rows between two tables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FDE23-F45B-E5F0-1BD1-0D1038EEC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776638"/>
              </p:ext>
            </p:extLst>
          </p:nvPr>
        </p:nvGraphicFramePr>
        <p:xfrm>
          <a:off x="6298437" y="2344833"/>
          <a:ext cx="324580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9343">
                  <a:extLst>
                    <a:ext uri="{9D8B030D-6E8A-4147-A177-3AD203B41FA5}">
                      <a16:colId xmlns:a16="http://schemas.microsoft.com/office/drawing/2014/main" val="859083813"/>
                    </a:ext>
                  </a:extLst>
                </a:gridCol>
                <a:gridCol w="1082993">
                  <a:extLst>
                    <a:ext uri="{9D8B030D-6E8A-4147-A177-3AD203B41FA5}">
                      <a16:colId xmlns:a16="http://schemas.microsoft.com/office/drawing/2014/main" val="3271539360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176546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ColumnX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06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2_1_X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2_1_Z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0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2_2_X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2_2_Y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2_2_Z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37965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EEEFBD-CA08-EAAE-D9EA-D0AB56775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490265"/>
              </p:ext>
            </p:extLst>
          </p:nvPr>
        </p:nvGraphicFramePr>
        <p:xfrm>
          <a:off x="1202181" y="2344833"/>
          <a:ext cx="215963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818">
                  <a:extLst>
                    <a:ext uri="{9D8B030D-6E8A-4147-A177-3AD203B41FA5}">
                      <a16:colId xmlns:a16="http://schemas.microsoft.com/office/drawing/2014/main" val="166289701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3278040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147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1_1_1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1_1_2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88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1_2_1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1_2_2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0153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BF9F0D-5E64-1C11-3B98-A2D5FA08CD83}"/>
              </a:ext>
            </a:extLst>
          </p:cNvPr>
          <p:cNvSpPr txBox="1"/>
          <p:nvPr/>
        </p:nvSpPr>
        <p:spPr>
          <a:xfrm>
            <a:off x="1202181" y="1968434"/>
            <a:ext cx="1775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65E6C-9AE4-2587-DC25-77D9CDC7672D}"/>
              </a:ext>
            </a:extLst>
          </p:cNvPr>
          <p:cNvSpPr txBox="1"/>
          <p:nvPr/>
        </p:nvSpPr>
        <p:spPr>
          <a:xfrm>
            <a:off x="6271642" y="1968434"/>
            <a:ext cx="120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Table_2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11C27B1-D382-EE13-7E2F-58748A8AEF11}"/>
              </a:ext>
            </a:extLst>
          </p:cNvPr>
          <p:cNvGrpSpPr/>
          <p:nvPr/>
        </p:nvGrpSpPr>
        <p:grpSpPr>
          <a:xfrm>
            <a:off x="3414775" y="2866629"/>
            <a:ext cx="2819527" cy="439515"/>
            <a:chOff x="3414775" y="2866629"/>
            <a:chExt cx="2819527" cy="43951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4BB49A-D55F-F9C0-6B37-76C67C353128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3414775" y="2866629"/>
              <a:ext cx="2734183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B1F458-4CC3-9129-9231-53D9BC8874D6}"/>
                </a:ext>
              </a:extLst>
            </p:cNvPr>
            <p:cNvCxnSpPr>
              <a:cxnSpLocks/>
              <a:endCxn id="3" idx="3"/>
            </p:cNvCxnSpPr>
            <p:nvPr/>
          </p:nvCxnSpPr>
          <p:spPr>
            <a:xfrm flipH="1" flipV="1">
              <a:off x="3414775" y="2866629"/>
              <a:ext cx="2819527" cy="43951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24A7AF-364E-C99A-3B59-392E4BF668AA}"/>
              </a:ext>
            </a:extLst>
          </p:cNvPr>
          <p:cNvGrpSpPr/>
          <p:nvPr/>
        </p:nvGrpSpPr>
        <p:grpSpPr>
          <a:xfrm flipV="1">
            <a:off x="3425952" y="2856336"/>
            <a:ext cx="2819527" cy="439517"/>
            <a:chOff x="3361817" y="3279045"/>
            <a:chExt cx="2819527" cy="439515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8AF678D-9B7E-93CD-4762-ECB0765EECF4}"/>
                </a:ext>
              </a:extLst>
            </p:cNvPr>
            <p:cNvCxnSpPr>
              <a:cxnSpLocks/>
            </p:cNvCxnSpPr>
            <p:nvPr/>
          </p:nvCxnSpPr>
          <p:spPr>
            <a:xfrm>
              <a:off x="3361817" y="3279045"/>
              <a:ext cx="2734183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4918A65-DB4E-1FCC-D654-FA4E374119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817" y="3279045"/>
              <a:ext cx="2819527" cy="43951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CF8073-5D41-4B31-3409-88025D4C2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22775"/>
              </p:ext>
            </p:extLst>
          </p:nvPr>
        </p:nvGraphicFramePr>
        <p:xfrm>
          <a:off x="3478624" y="3896867"/>
          <a:ext cx="54054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818">
                  <a:extLst>
                    <a:ext uri="{9D8B030D-6E8A-4147-A177-3AD203B41FA5}">
                      <a16:colId xmlns:a16="http://schemas.microsoft.com/office/drawing/2014/main" val="950280349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819817413"/>
                    </a:ext>
                  </a:extLst>
                </a:gridCol>
                <a:gridCol w="1089343">
                  <a:extLst>
                    <a:ext uri="{9D8B030D-6E8A-4147-A177-3AD203B41FA5}">
                      <a16:colId xmlns:a16="http://schemas.microsoft.com/office/drawing/2014/main" val="1670243958"/>
                    </a:ext>
                  </a:extLst>
                </a:gridCol>
                <a:gridCol w="1082993">
                  <a:extLst>
                    <a:ext uri="{9D8B030D-6E8A-4147-A177-3AD203B41FA5}">
                      <a16:colId xmlns:a16="http://schemas.microsoft.com/office/drawing/2014/main" val="650292759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1511642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81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2_1_X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2_1_Z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126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1_1_2</a:t>
                      </a: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2_2_X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2_2_Z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8836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B11B103-0090-AF42-5F09-0B3E93BD9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97666"/>
              </p:ext>
            </p:extLst>
          </p:nvPr>
        </p:nvGraphicFramePr>
        <p:xfrm>
          <a:off x="3478624" y="5222320"/>
          <a:ext cx="54054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818">
                  <a:extLst>
                    <a:ext uri="{9D8B030D-6E8A-4147-A177-3AD203B41FA5}">
                      <a16:colId xmlns:a16="http://schemas.microsoft.com/office/drawing/2014/main" val="950280349"/>
                    </a:ext>
                  </a:extLst>
                </a:gridCol>
                <a:gridCol w="1079818">
                  <a:extLst>
                    <a:ext uri="{9D8B030D-6E8A-4147-A177-3AD203B41FA5}">
                      <a16:colId xmlns:a16="http://schemas.microsoft.com/office/drawing/2014/main" val="1819817413"/>
                    </a:ext>
                  </a:extLst>
                </a:gridCol>
                <a:gridCol w="1089343">
                  <a:extLst>
                    <a:ext uri="{9D8B030D-6E8A-4147-A177-3AD203B41FA5}">
                      <a16:colId xmlns:a16="http://schemas.microsoft.com/office/drawing/2014/main" val="1670243958"/>
                    </a:ext>
                  </a:extLst>
                </a:gridCol>
                <a:gridCol w="1082993">
                  <a:extLst>
                    <a:ext uri="{9D8B030D-6E8A-4147-A177-3AD203B41FA5}">
                      <a16:colId xmlns:a16="http://schemas.microsoft.com/office/drawing/2014/main" val="650292759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1511642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Column2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ColumnZ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813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1_2_1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1_2_2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2_1_X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2_1_Z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8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1_2_1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1_2_2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2_2_X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2_2_Y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2_2_Z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267899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68F3FD5D-05CB-1056-0B8D-82385C11B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995" y="3841195"/>
            <a:ext cx="6257925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8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D722-E16C-83E5-A415-0BCB0FCCA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08E2ED-3CA1-74AE-187F-456F223A2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201" y="2126199"/>
            <a:ext cx="2628900" cy="2819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A7B088-47C5-B1A2-56D6-A7857E8AB272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APPLY</a:t>
            </a:r>
            <a:endParaRPr lang="en-US" sz="40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4931B-13A0-1D60-E6DB-657B5A41A9E7}"/>
              </a:ext>
            </a:extLst>
          </p:cNvPr>
          <p:cNvSpPr txBox="1"/>
          <p:nvPr/>
        </p:nvSpPr>
        <p:spPr>
          <a:xfrm>
            <a:off x="6790944" y="2126199"/>
            <a:ext cx="4876800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.*,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ca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.*</a:t>
            </a:r>
            <a:endParaRPr lang="en-US" sz="18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Customers c</a:t>
            </a: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TOP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Orders o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DESC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ca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2838F-7AEE-27B0-BA12-47486D80968B}"/>
              </a:ext>
            </a:extLst>
          </p:cNvPr>
          <p:cNvSpPr txBox="1"/>
          <p:nvPr/>
        </p:nvSpPr>
        <p:spPr>
          <a:xfrm>
            <a:off x="1297171" y="1233647"/>
            <a:ext cx="9504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Not a JSON function. Acquires a subset of data for each row found by the outer query. </a:t>
            </a:r>
            <a:b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Behaves like an INNER JOIN: if no subset if found, the outer row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disappears from the result set.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CBF9FB-39DB-C162-A636-C9C15661ECDC}"/>
              </a:ext>
            </a:extLst>
          </p:cNvPr>
          <p:cNvSpPr txBox="1"/>
          <p:nvPr/>
        </p:nvSpPr>
        <p:spPr>
          <a:xfrm>
            <a:off x="1097280" y="2126199"/>
            <a:ext cx="55839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.*,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.*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Customers c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Orders o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MAX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Orders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GROUP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latest1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D3DC76-DE31-EFD1-BADB-2D1EC477DED9}"/>
              </a:ext>
            </a:extLst>
          </p:cNvPr>
          <p:cNvSpPr txBox="1"/>
          <p:nvPr/>
        </p:nvSpPr>
        <p:spPr>
          <a:xfrm>
            <a:off x="8789723" y="5293513"/>
            <a:ext cx="2962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2005+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  <a:p>
            <a:r>
              <a:rPr lang="en-US" sz="1200" dirty="0"/>
              <a:t>SQL analytics endpoint in Microsoft Fabric</a:t>
            </a:r>
          </a:p>
          <a:p>
            <a:r>
              <a:rPr lang="en-US" sz="1200" dirty="0"/>
              <a:t>Warehouse in Microsoft Fabric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F8C99F-4109-BD17-001D-0FFAADEC0BA3}"/>
              </a:ext>
            </a:extLst>
          </p:cNvPr>
          <p:cNvSpPr/>
          <p:nvPr/>
        </p:nvSpPr>
        <p:spPr>
          <a:xfrm>
            <a:off x="1890584" y="3521676"/>
            <a:ext cx="4423719" cy="1136821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023A2E-A17C-E22F-D1B6-BEBCEF270359}"/>
              </a:ext>
            </a:extLst>
          </p:cNvPr>
          <p:cNvSpPr/>
          <p:nvPr/>
        </p:nvSpPr>
        <p:spPr>
          <a:xfrm>
            <a:off x="1097839" y="2158733"/>
            <a:ext cx="4895188" cy="1136821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FD5F48-9E43-315A-0198-A9F1AC623A62}"/>
              </a:ext>
            </a:extLst>
          </p:cNvPr>
          <p:cNvSpPr/>
          <p:nvPr/>
        </p:nvSpPr>
        <p:spPr>
          <a:xfrm>
            <a:off x="1625922" y="4914380"/>
            <a:ext cx="5055294" cy="608890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5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8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0B24-E89B-B969-B97C-7EBBF68D0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5E718B-D12A-D175-1F95-BFE19790432B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CROSS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F95087-00E1-C5F2-02DE-F9C91C46C2C1}"/>
              </a:ext>
            </a:extLst>
          </p:cNvPr>
          <p:cNvSpPr txBox="1"/>
          <p:nvPr/>
        </p:nvSpPr>
        <p:spPr>
          <a:xfrm>
            <a:off x="6790944" y="2126199"/>
            <a:ext cx="487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.*,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ca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.*</a:t>
            </a:r>
            <a:endParaRPr lang="en-US" sz="18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Customers c</a:t>
            </a: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TOP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2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Orders o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DESC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ca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0CB7C-F3A0-4758-1CA3-6E8D4522A900}"/>
              </a:ext>
            </a:extLst>
          </p:cNvPr>
          <p:cNvSpPr txBox="1"/>
          <p:nvPr/>
        </p:nvSpPr>
        <p:spPr>
          <a:xfrm>
            <a:off x="1097280" y="2126199"/>
            <a:ext cx="549859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.*,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.*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Customers c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Orders o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INNER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FROM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(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ROW_NUMBER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OVER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PARTITION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DESC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 AS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[Rank]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Orders</a:t>
            </a: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[Rank] 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2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latest2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latest2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latest2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B49D15-5EA3-EF4A-28B6-FD5428D4139F}"/>
              </a:ext>
            </a:extLst>
          </p:cNvPr>
          <p:cNvSpPr txBox="1"/>
          <p:nvPr/>
        </p:nvSpPr>
        <p:spPr>
          <a:xfrm>
            <a:off x="1297171" y="1233647"/>
            <a:ext cx="9504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Not a JSON function. Acquires a subset of data for each row found by the outer query. </a:t>
            </a:r>
            <a:b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Behaves like an INNER JOIN: if no subset if found, the outer row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disappears from the result 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07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7086CB-1688-850D-5C28-1D19510C2829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OUTER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APPLY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929FC3-C0B3-1041-8515-E4D2E0148530}"/>
              </a:ext>
            </a:extLst>
          </p:cNvPr>
          <p:cNvSpPr txBox="1"/>
          <p:nvPr/>
        </p:nvSpPr>
        <p:spPr>
          <a:xfrm>
            <a:off x="6790944" y="2126199"/>
            <a:ext cx="4876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.*,</a:t>
            </a:r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 ca</a:t>
            </a:r>
            <a:r>
              <a:rPr lang="en-US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.*</a:t>
            </a:r>
            <a:endParaRPr lang="en-US" sz="18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Customers c</a:t>
            </a: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OUTER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TOP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dirty="0">
                <a:latin typeface="Cascadia Mono" panose="020B0609020000020004" pitchFamily="49" charset="0"/>
                <a:cs typeface="Cascadia Mono" panose="020B0609020000020004" pitchFamily="49" charset="0"/>
              </a:rPr>
              <a:t>s</a:t>
            </a:r>
            <a:r>
              <a:rPr lang="en-US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 o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DESC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ca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E1634-CD63-FFA6-3741-B6C59C76A58E}"/>
              </a:ext>
            </a:extLst>
          </p:cNvPr>
          <p:cNvSpPr txBox="1"/>
          <p:nvPr/>
        </p:nvSpPr>
        <p:spPr>
          <a:xfrm>
            <a:off x="1097280" y="2126199"/>
            <a:ext cx="549859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.*,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.*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Customers c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Orders o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JOIN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FROM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(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SELECT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ROW_NUMBER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OVER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PARTITION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DESC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  AS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[Rank]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  FROM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Orders</a:t>
            </a:r>
          </a:p>
          <a:p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WHERE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[Rank]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latest2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latest2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CustomerId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</a:t>
            </a:r>
            <a:r>
              <a:rPr lang="en-US" sz="14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latest2</a:t>
            </a:r>
            <a:r>
              <a:rPr lang="en-US" sz="1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OrderDate</a:t>
            </a:r>
            <a:endParaRPr lang="en-US" sz="1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540292-162B-3A16-2365-5FA3A4841979}"/>
              </a:ext>
            </a:extLst>
          </p:cNvPr>
          <p:cNvSpPr txBox="1"/>
          <p:nvPr/>
        </p:nvSpPr>
        <p:spPr>
          <a:xfrm>
            <a:off x="1297171" y="1233647"/>
            <a:ext cx="9504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Not a JSON function. Acquires a subset of data for each row found by the outer query. </a:t>
            </a:r>
            <a:b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</a:b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Behaves like an LEFT JOIN: if no subset if found, the outer row 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appears in the result set anyway.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CCC32-94B5-4589-CB32-BC8CA29E7B01}"/>
              </a:ext>
            </a:extLst>
          </p:cNvPr>
          <p:cNvSpPr txBox="1"/>
          <p:nvPr/>
        </p:nvSpPr>
        <p:spPr>
          <a:xfrm>
            <a:off x="8789723" y="5293513"/>
            <a:ext cx="2962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2005+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  <a:p>
            <a:r>
              <a:rPr lang="en-US" sz="1200" dirty="0"/>
              <a:t>SQL analytics endpoint in Microsoft Fabric</a:t>
            </a:r>
          </a:p>
          <a:p>
            <a:r>
              <a:rPr lang="en-US" sz="1200" dirty="0"/>
              <a:t>Warehouse in Microsoft Fabric</a:t>
            </a:r>
          </a:p>
        </p:txBody>
      </p:sp>
    </p:spTree>
    <p:extLst>
      <p:ext uri="{BB962C8B-B14F-4D97-AF65-F5344CB8AC3E}">
        <p14:creationId xmlns:p14="http://schemas.microsoft.com/office/powerpoint/2010/main" val="24304647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790FC6-2530-AE54-FD60-487CCAE839A2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OPENJSON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+ CROSS APPLY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8D5E4-C0BE-8320-AEDE-7E5E15262F40}"/>
              </a:ext>
            </a:extLst>
          </p:cNvPr>
          <p:cNvSpPr txBox="1"/>
          <p:nvPr/>
        </p:nvSpPr>
        <p:spPr>
          <a:xfrm>
            <a:off x="4437888" y="2816352"/>
            <a:ext cx="33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23677683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AB85-7A46-25FF-ED9D-2791DB641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E42AB6-A562-890F-5570-9A82AB124719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OPENJSON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+ CROSS APPLY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89AEA-E27D-0570-BDDB-33C127C30A4D}"/>
              </a:ext>
            </a:extLst>
          </p:cNvPr>
          <p:cNvSpPr txBox="1"/>
          <p:nvPr/>
        </p:nvSpPr>
        <p:spPr>
          <a:xfrm>
            <a:off x="901107" y="1594907"/>
            <a:ext cx="7732530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[$.name]</a:t>
            </a:r>
          </a:p>
          <a:p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[key]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j.key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k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[$.parents.name]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'$.parents'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k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[key]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'parents'</a:t>
            </a:r>
          </a:p>
          <a:p>
            <a:endParaRPr lang="en-US" sz="160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[$.name]</a:t>
            </a:r>
          </a:p>
          <a:p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[key]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j.key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k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[$.parents.name]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j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 k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[key]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'parents'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8308E0-98C6-7DFF-01A9-5F36E778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710" y="4324575"/>
            <a:ext cx="4090183" cy="9076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0B862A-DBC1-FDA2-C7AE-4637D36E6859}"/>
              </a:ext>
            </a:extLst>
          </p:cNvPr>
          <p:cNvCxnSpPr/>
          <p:nvPr/>
        </p:nvCxnSpPr>
        <p:spPr>
          <a:xfrm>
            <a:off x="901107" y="4917989"/>
            <a:ext cx="58703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3406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C9F1-6BE5-5B8D-C2FA-8715A3CC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56C069-28B9-19F9-3EF8-81CC36BDF7DA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OPENJSON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+ CROSS APPLY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9A948-B89B-4D36-FF18-3D378BFF78D2}"/>
              </a:ext>
            </a:extLst>
          </p:cNvPr>
          <p:cNvSpPr txBox="1"/>
          <p:nvPr/>
        </p:nvSpPr>
        <p:spPr>
          <a:xfrm>
            <a:off x="901106" y="1594907"/>
            <a:ext cx="7840557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name":"Jesús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Castillo"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name":"Mary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name":"Joseph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6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json_expert":true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</a:p>
          <a:p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[$.name]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k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[key]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k.key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[$.parents.name]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j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k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CROSS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APPLY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k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[value]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'$'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l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k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[key]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'parents'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CD9458-3680-0ED6-A44B-B42EC2129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793" y="3042804"/>
            <a:ext cx="4180428" cy="1541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330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31C9-7330-FCD1-219A-7C5F5767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JSON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D524A2-F771-AFA5-337A-0666AC751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725459"/>
              </p:ext>
            </p:extLst>
          </p:nvPr>
        </p:nvGraphicFramePr>
        <p:xfrm>
          <a:off x="1085335" y="2391032"/>
          <a:ext cx="9625914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655592811"/>
                    </a:ext>
                  </a:extLst>
                </a:gridCol>
                <a:gridCol w="1977081">
                  <a:extLst>
                    <a:ext uri="{9D8B030D-6E8A-4147-A177-3AD203B41FA5}">
                      <a16:colId xmlns:a16="http://schemas.microsoft.com/office/drawing/2014/main" val="1658826356"/>
                    </a:ext>
                  </a:extLst>
                </a:gridCol>
                <a:gridCol w="2518719">
                  <a:extLst>
                    <a:ext uri="{9D8B030D-6E8A-4147-A177-3AD203B41FA5}">
                      <a16:colId xmlns:a16="http://schemas.microsoft.com/office/drawing/2014/main" val="1271733941"/>
                    </a:ext>
                  </a:extLst>
                </a:gridCol>
                <a:gridCol w="939114">
                  <a:extLst>
                    <a:ext uri="{9D8B030D-6E8A-4147-A177-3AD203B41FA5}">
                      <a16:colId xmlns:a16="http://schemas.microsoft.com/office/drawing/2014/main" val="2043404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T-SQL keywords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SELECT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WHERE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FROM</a:t>
                      </a:r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en-US" dirty="0"/>
                        <a:t> </a:t>
                      </a:r>
                      <a:r>
                        <a:rPr 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onsolas" panose="020B0609020204030204" pitchFamily="49" charset="0"/>
                        </a:rPr>
                        <a:t>CROSS APPLY</a:t>
                      </a:r>
                      <a:endParaRPr lang="en-US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(Other)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041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JSON_OBJECT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58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JSON_ARRAY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>
                        <a:solidFill>
                          <a:srgbClr val="FF00FF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503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JSON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AUTO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998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JSON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PATH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973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>
                          <a:solidFill>
                            <a:srgbClr val="FF00FF"/>
                          </a:solidFill>
                          <a:latin typeface="Consolas" panose="020B0609020204030204" pitchFamily="49" charset="0"/>
                        </a:rPr>
                        <a:t>JSON_MODIFY</a:t>
                      </a:r>
                      <a:r>
                        <a:rPr lang="en-US" sz="2800" dirty="0">
                          <a:solidFill>
                            <a:srgbClr val="80808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245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7909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028699" y="1826613"/>
            <a:ext cx="934867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name'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'value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'type'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name'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'value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type'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:NULL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name'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'value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type'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:NULL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ABSENT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NULL)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1035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JSON_OBJECT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(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[</a:t>
            </a:r>
            <a:r>
              <a:rPr lang="en-US" sz="28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key_name</a:t>
            </a:r>
            <a:r>
              <a:rPr lang="en-US" sz="28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: </a:t>
            </a:r>
            <a:r>
              <a:rPr lang="en-US" sz="28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valid_json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,]</a:t>
            </a:r>
            <a:r>
              <a:rPr lang="en-US" sz="2800" b="0" i="0" baseline="300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n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8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null_clause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Generates a JSON object</a:t>
            </a:r>
            <a:endParaRPr lang="en-US" dirty="0"/>
          </a:p>
        </p:txBody>
      </p:sp>
      <p:sp>
        <p:nvSpPr>
          <p:cNvPr id="2" name="Star: 10 Points 1">
            <a:extLst>
              <a:ext uri="{FF2B5EF4-FFF2-40B4-BE49-F238E27FC236}">
                <a16:creationId xmlns:a16="http://schemas.microsoft.com/office/drawing/2014/main" id="{E8B1A511-9E0F-B6D5-D16A-F5674FB5872B}"/>
              </a:ext>
            </a:extLst>
          </p:cNvPr>
          <p:cNvSpPr/>
          <p:nvPr/>
        </p:nvSpPr>
        <p:spPr>
          <a:xfrm rot="20706229">
            <a:off x="9082864" y="1403245"/>
            <a:ext cx="2083981" cy="1919177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for SQL Server 2022!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F30FB4-4C0D-29B5-531A-BA73C8A1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72" y="2227932"/>
            <a:ext cx="2210112" cy="6215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2FDA2B-0BCB-E299-7844-6890E3C53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172" y="3335248"/>
            <a:ext cx="2589975" cy="621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6EAB54-85C3-B168-AD5C-55B9025510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171" y="4442564"/>
            <a:ext cx="2791309" cy="6215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406970-70D6-BCAB-CC5F-9DA1693A6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648" y="5540356"/>
            <a:ext cx="2359319" cy="6601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F4C01BB-6634-1E90-1295-4B319D79D568}"/>
              </a:ext>
            </a:extLst>
          </p:cNvPr>
          <p:cNvSpPr txBox="1"/>
          <p:nvPr/>
        </p:nvSpPr>
        <p:spPr>
          <a:xfrm>
            <a:off x="7278624" y="4026931"/>
            <a:ext cx="221894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NULL)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CF1C79-B923-40BC-2406-4E0CE7263C3D}"/>
              </a:ext>
            </a:extLst>
          </p:cNvPr>
          <p:cNvSpPr txBox="1"/>
          <p:nvPr/>
        </p:nvSpPr>
        <p:spPr>
          <a:xfrm>
            <a:off x="8871202" y="5916740"/>
            <a:ext cx="2962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2022+</a:t>
            </a:r>
          </a:p>
          <a:p>
            <a:r>
              <a:rPr lang="en-US" sz="1200" dirty="0"/>
              <a:t>Azure SQL Database</a:t>
            </a:r>
          </a:p>
        </p:txBody>
      </p:sp>
    </p:spTree>
    <p:extLst>
      <p:ext uri="{BB962C8B-B14F-4D97-AF65-F5344CB8AC3E}">
        <p14:creationId xmlns:p14="http://schemas.microsoft.com/office/powerpoint/2010/main" val="366936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028699" y="1826613"/>
            <a:ext cx="934867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'a'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'b'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800" dirty="0">
              <a:solidFill>
                <a:srgbClr val="0000FF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'a'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'b'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NULL)</a:t>
            </a: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'a'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'b'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NULL)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1035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JSON_ARRAY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(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[</a:t>
            </a:r>
            <a:r>
              <a:rPr lang="en-US" sz="28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valid_json</a:t>
            </a:r>
            <a:r>
              <a:rPr lang="en-US" sz="28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,]</a:t>
            </a:r>
            <a:r>
              <a:rPr lang="en-US" sz="2800" b="0" i="0" baseline="300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n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800" i="1" dirty="0" err="1">
                <a:solidFill>
                  <a:srgbClr val="808080"/>
                </a:solidFill>
                <a:latin typeface="Consolas" panose="020B0609020204030204" pitchFamily="49" charset="0"/>
              </a:rPr>
              <a:t>null_clause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Generates a JSON array given a list of valid JSON</a:t>
            </a:r>
            <a:endParaRPr lang="en-US" dirty="0"/>
          </a:p>
        </p:txBody>
      </p:sp>
      <p:sp>
        <p:nvSpPr>
          <p:cNvPr id="2" name="Star: 10 Points 1">
            <a:extLst>
              <a:ext uri="{FF2B5EF4-FFF2-40B4-BE49-F238E27FC236}">
                <a16:creationId xmlns:a16="http://schemas.microsoft.com/office/drawing/2014/main" id="{E8B1A511-9E0F-B6D5-D16A-F5674FB5872B}"/>
              </a:ext>
            </a:extLst>
          </p:cNvPr>
          <p:cNvSpPr/>
          <p:nvPr/>
        </p:nvSpPr>
        <p:spPr>
          <a:xfrm rot="20706229">
            <a:off x="9082864" y="1403245"/>
            <a:ext cx="2083981" cy="1919177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for SQL Server 2022!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75F66A-44CA-F7A2-FF78-49261857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71" y="5537327"/>
            <a:ext cx="2103169" cy="6102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1BC847-ACD1-D3E0-A719-0DABA0039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167" y="4442564"/>
            <a:ext cx="2210108" cy="6215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B03831-85F8-C943-BF9E-6000F8312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167" y="3327534"/>
            <a:ext cx="2210108" cy="6132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4E1B24-D972-F7F4-66D9-474086D88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8814" y="2222526"/>
            <a:ext cx="2196755" cy="60325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AF92F77-D4C9-4B64-1A37-5F3E292C484C}"/>
              </a:ext>
            </a:extLst>
          </p:cNvPr>
          <p:cNvSpPr txBox="1"/>
          <p:nvPr/>
        </p:nvSpPr>
        <p:spPr>
          <a:xfrm>
            <a:off x="5807676" y="4024464"/>
            <a:ext cx="269667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ABSENT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NULL)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14C2C0-B621-7A7C-181F-94203A9CD323}"/>
              </a:ext>
            </a:extLst>
          </p:cNvPr>
          <p:cNvSpPr txBox="1"/>
          <p:nvPr/>
        </p:nvSpPr>
        <p:spPr>
          <a:xfrm>
            <a:off x="8871202" y="5916740"/>
            <a:ext cx="2962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2022+</a:t>
            </a:r>
          </a:p>
          <a:p>
            <a:r>
              <a:rPr lang="en-US" sz="1200" dirty="0"/>
              <a:t>Azure SQL Database</a:t>
            </a:r>
          </a:p>
        </p:txBody>
      </p:sp>
    </p:spTree>
    <p:extLst>
      <p:ext uri="{BB962C8B-B14F-4D97-AF65-F5344CB8AC3E}">
        <p14:creationId xmlns:p14="http://schemas.microsoft.com/office/powerpoint/2010/main" val="354141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2C93F9-1383-E6E8-3F3C-A42C10D8539B}"/>
              </a:ext>
            </a:extLst>
          </p:cNvPr>
          <p:cNvSpPr txBox="1"/>
          <p:nvPr/>
        </p:nvSpPr>
        <p:spPr>
          <a:xfrm>
            <a:off x="901107" y="710427"/>
            <a:ext cx="1035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(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ascadia Mono" panose="020B0609020000020004" pitchFamily="49" charset="0"/>
              </a:rPr>
              <a:t>[</a:t>
            </a:r>
            <a:r>
              <a:rPr lang="en-US" sz="280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stringable</a:t>
            </a:r>
            <a:r>
              <a:rPr lang="en-US" sz="2800" b="0" i="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,]</a:t>
            </a:r>
            <a:r>
              <a:rPr lang="en-US" sz="2800" b="0" i="0" baseline="30000" dirty="0">
                <a:solidFill>
                  <a:schemeClr val="bg1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ascadia Mono" panose="020B0609020000020004" pitchFamily="49" charset="0"/>
              </a:rPr>
              <a:t>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D410F-360A-69F7-727E-A7088AA0819B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Not a JSON function. Returns a concatenated string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E132FF-0FD4-665F-7DEA-C3CC066D25CE}"/>
              </a:ext>
            </a:extLst>
          </p:cNvPr>
          <p:cNvSpPr txBox="1"/>
          <p:nvPr/>
        </p:nvSpPr>
        <p:spPr>
          <a:xfrm>
            <a:off x="1402080" y="2126199"/>
            <a:ext cx="7437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'a'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'b'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'["'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'a'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'",'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',"'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'b'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'",'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2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']'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sz="24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A13A5-38A3-879F-4921-F4126C788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012" y="2788348"/>
            <a:ext cx="3000282" cy="2384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57ED7F-E554-71FD-A355-51A84DDEDA57}"/>
              </a:ext>
            </a:extLst>
          </p:cNvPr>
          <p:cNvSpPr txBox="1"/>
          <p:nvPr/>
        </p:nvSpPr>
        <p:spPr>
          <a:xfrm>
            <a:off x="8789723" y="5293513"/>
            <a:ext cx="29626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2014+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  <a:p>
            <a:r>
              <a:rPr lang="en-US" sz="1200" dirty="0"/>
              <a:t>SQL analytics endpoint in Microsoft Fabric</a:t>
            </a:r>
          </a:p>
          <a:p>
            <a:r>
              <a:rPr lang="en-US" sz="1200" dirty="0"/>
              <a:t>Warehouse in Microsoft Fabric</a:t>
            </a:r>
          </a:p>
        </p:txBody>
      </p:sp>
    </p:spTree>
    <p:extLst>
      <p:ext uri="{BB962C8B-B14F-4D97-AF65-F5344CB8AC3E}">
        <p14:creationId xmlns:p14="http://schemas.microsoft.com/office/powerpoint/2010/main" val="27476267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C8FEB0-CBA9-A021-350F-61EC979AA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88" y="5636187"/>
            <a:ext cx="10846922" cy="622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527422-959C-A7D1-C504-76985DDB0225}"/>
              </a:ext>
            </a:extLst>
          </p:cNvPr>
          <p:cNvSpPr txBox="1"/>
          <p:nvPr/>
        </p:nvSpPr>
        <p:spPr>
          <a:xfrm>
            <a:off x="1251984" y="1743486"/>
            <a:ext cx="6097772" cy="354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*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'Jeff Foushee'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'name'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0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AllTime_Jeopardy_Winnings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05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UNION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ALL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1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'Jesús Castillo'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'name'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1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'$1.00'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AllTime_Jeopardy_Winnings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a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AUTO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72421-7404-DF05-C0CD-B8C79979BAF8}"/>
              </a:ext>
            </a:extLst>
          </p:cNvPr>
          <p:cNvSpPr txBox="1"/>
          <p:nvPr/>
        </p:nvSpPr>
        <p:spPr>
          <a:xfrm>
            <a:off x="901107" y="710427"/>
            <a:ext cx="1035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6B84E-DF8A-1E41-B165-4691290E5532}"/>
              </a:ext>
            </a:extLst>
          </p:cNvPr>
          <p:cNvSpPr txBox="1"/>
          <p:nvPr/>
        </p:nvSpPr>
        <p:spPr>
          <a:xfrm>
            <a:off x="1297171" y="1233647"/>
            <a:ext cx="942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-apple-system"/>
              </a:rPr>
              <a:t>Formats the ENTIRE 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resultset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 as one JSON object.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51D8DA-E468-7077-12BB-3E660ADA4997}"/>
              </a:ext>
            </a:extLst>
          </p:cNvPr>
          <p:cNvSpPr txBox="1"/>
          <p:nvPr/>
        </p:nvSpPr>
        <p:spPr>
          <a:xfrm>
            <a:off x="8802080" y="4527394"/>
            <a:ext cx="2962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</p:txBody>
      </p:sp>
    </p:spTree>
    <p:extLst>
      <p:ext uri="{BB962C8B-B14F-4D97-AF65-F5344CB8AC3E}">
        <p14:creationId xmlns:p14="http://schemas.microsoft.com/office/powerpoint/2010/main" val="5860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D4CD45-7C72-34CE-29B3-3757BFDDB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572982"/>
            <a:ext cx="10191750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C4A037-BD8F-2226-325F-032628CD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3" y="1652912"/>
            <a:ext cx="10191751" cy="58522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245872-D40B-963D-53DA-5C3BC454D2B0}"/>
              </a:ext>
            </a:extLst>
          </p:cNvPr>
          <p:cNvCxnSpPr>
            <a:cxnSpLocks/>
          </p:cNvCxnSpPr>
          <p:nvPr/>
        </p:nvCxnSpPr>
        <p:spPr>
          <a:xfrm flipH="1">
            <a:off x="5071730" y="2340864"/>
            <a:ext cx="536590" cy="138053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44329BE-0746-89A8-E036-63F53173C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36" y="5056240"/>
            <a:ext cx="5764521" cy="6476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2E722C-0483-5475-1787-CDFDFEA55173}"/>
              </a:ext>
            </a:extLst>
          </p:cNvPr>
          <p:cNvCxnSpPr>
            <a:cxnSpLocks/>
          </p:cNvCxnSpPr>
          <p:nvPr/>
        </p:nvCxnSpPr>
        <p:spPr>
          <a:xfrm>
            <a:off x="1633728" y="3896832"/>
            <a:ext cx="1219200" cy="130825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49C7CB9-2F9A-065E-6848-C3D1F481E54F}"/>
              </a:ext>
            </a:extLst>
          </p:cNvPr>
          <p:cNvSpPr/>
          <p:nvPr/>
        </p:nvSpPr>
        <p:spPr>
          <a:xfrm>
            <a:off x="6900672" y="5205088"/>
            <a:ext cx="829056" cy="350439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04961-49B0-E2F3-847C-FFE27634A934}"/>
              </a:ext>
            </a:extLst>
          </p:cNvPr>
          <p:cNvSpPr txBox="1"/>
          <p:nvPr/>
        </p:nvSpPr>
        <p:spPr>
          <a:xfrm>
            <a:off x="901107" y="710427"/>
            <a:ext cx="1035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1153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E451E-F2AA-2606-CEE2-EE14606D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7F999E-B6F5-E20F-72F0-C6F2BC550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01" y="5023550"/>
            <a:ext cx="7439025" cy="1104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66975A-2D01-A332-7D1C-225365A88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59" y="661100"/>
            <a:ext cx="10325100" cy="4362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66470C-A158-7897-724A-CC7F432FE4B1}"/>
              </a:ext>
            </a:extLst>
          </p:cNvPr>
          <p:cNvSpPr/>
          <p:nvPr/>
        </p:nvSpPr>
        <p:spPr>
          <a:xfrm>
            <a:off x="6592187" y="4146698"/>
            <a:ext cx="3168502" cy="393404"/>
          </a:xfrm>
          <a:prstGeom prst="rect">
            <a:avLst/>
          </a:pr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238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DEAE92-6EFE-DDCA-11CF-AF190D625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76" y="5457426"/>
            <a:ext cx="10191751" cy="585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094B62-3D14-61B6-4098-55DF89B9E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37" y="658012"/>
            <a:ext cx="10325100" cy="4362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416556-3BA8-5BEB-BA95-35BAB51CF86D}"/>
              </a:ext>
            </a:extLst>
          </p:cNvPr>
          <p:cNvSpPr/>
          <p:nvPr/>
        </p:nvSpPr>
        <p:spPr>
          <a:xfrm>
            <a:off x="6644640" y="4498848"/>
            <a:ext cx="2633472" cy="414528"/>
          </a:xfrm>
          <a:prstGeom prst="rect">
            <a:avLst/>
          </a:prstGeom>
          <a:noFill/>
          <a:ln w="635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32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F4995B-E86B-6000-2652-377F06D8AD01}"/>
              </a:ext>
            </a:extLst>
          </p:cNvPr>
          <p:cNvSpPr txBox="1"/>
          <p:nvPr/>
        </p:nvSpPr>
        <p:spPr>
          <a:xfrm>
            <a:off x="1365504" y="17780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ArbitraryID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LongJson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JsonDemo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[Table_1]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...</a:t>
            </a:r>
            <a:endParaRPr lang="en-US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26B038-599B-9A8F-6703-2A278666F713}"/>
              </a:ext>
            </a:extLst>
          </p:cNvPr>
          <p:cNvSpPr txBox="1"/>
          <p:nvPr/>
        </p:nvSpPr>
        <p:spPr>
          <a:xfrm>
            <a:off x="1365504" y="383381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JSON_QUERY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LongJson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[value]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JsonDemo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dbo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[Table_1]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...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r>
              <a:rPr lang="en-US" sz="18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AUTO</a:t>
            </a:r>
            <a:endParaRPr 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75BB75-0A61-726A-22F7-BFCC81135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335" y="2802056"/>
            <a:ext cx="6350325" cy="6629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5D62FA-B097-1D43-BB38-FDA09F8C8D22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6003E6-5A5F-BD03-C1B9-5E2F9799B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335" y="5163203"/>
            <a:ext cx="7257514" cy="662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E78919-19B8-37A1-9DC0-CDDA8A7DE291}"/>
              </a:ext>
            </a:extLst>
          </p:cNvPr>
          <p:cNvSpPr txBox="1"/>
          <p:nvPr/>
        </p:nvSpPr>
        <p:spPr>
          <a:xfrm>
            <a:off x="1297171" y="1233647"/>
            <a:ext cx="9428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-apple-system"/>
              </a:rPr>
              <a:t>Formats the ENTIRE 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resultset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 as one JSON object. </a:t>
            </a:r>
            <a:r>
              <a:rPr lang="en-US" dirty="0">
                <a:solidFill>
                  <a:srgbClr val="111111"/>
                </a:solidFill>
                <a:highlight>
                  <a:srgbClr val="FFFF00"/>
                </a:highlight>
                <a:latin typeface="-apple-system"/>
              </a:rPr>
              <a:t>Can be used to re-export original JSON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10020-376E-B677-B000-AC03001475BF}"/>
              </a:ext>
            </a:extLst>
          </p:cNvPr>
          <p:cNvSpPr txBox="1"/>
          <p:nvPr/>
        </p:nvSpPr>
        <p:spPr>
          <a:xfrm>
            <a:off x="7737807" y="6348092"/>
            <a:ext cx="39819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https://microsoftedge.github.io/Demos/json-dummy-data/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7DB64E-F909-E3D3-AB1E-4EC9E5A57BCB}"/>
              </a:ext>
            </a:extLst>
          </p:cNvPr>
          <p:cNvSpPr/>
          <p:nvPr/>
        </p:nvSpPr>
        <p:spPr>
          <a:xfrm>
            <a:off x="2360141" y="5402947"/>
            <a:ext cx="877329" cy="423202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DFE0D-02EF-27EF-991B-C3BF4758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6711E7-6515-D143-D66C-40F426C97260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91E4DD-0133-205E-3B7A-563E8F5923D4}"/>
              </a:ext>
            </a:extLst>
          </p:cNvPr>
          <p:cNvSpPr txBox="1"/>
          <p:nvPr/>
        </p:nvSpPr>
        <p:spPr>
          <a:xfrm>
            <a:off x="4437888" y="2816352"/>
            <a:ext cx="33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159289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1444-66D8-55DD-5150-33C0B79D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861D728-9A50-3D14-38D2-46EAC0BFB491}"/>
              </a:ext>
            </a:extLst>
          </p:cNvPr>
          <p:cNvSpPr txBox="1"/>
          <p:nvPr/>
        </p:nvSpPr>
        <p:spPr>
          <a:xfrm>
            <a:off x="901107" y="710427"/>
            <a:ext cx="1035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PATH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D85C5-73BE-9A85-3A9D-51E6B8E482B5}"/>
              </a:ext>
            </a:extLst>
          </p:cNvPr>
          <p:cNvSpPr txBox="1"/>
          <p:nvPr/>
        </p:nvSpPr>
        <p:spPr>
          <a:xfrm>
            <a:off x="1002876" y="2279867"/>
            <a:ext cx="558327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</a:p>
          <a:p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'Jesús Castillo'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'name'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1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6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json_expert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'$1.00'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AllTime_Jeopardy_Winnings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PATH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Contestants</a:t>
            </a:r>
          </a:p>
          <a:p>
            <a:endParaRPr lang="en-US" sz="1600" dirty="0">
              <a:solidFill>
                <a:srgbClr val="80808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SELECT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'Jeff Foushee'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'name'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0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r>
              <a:rPr lang="en-US" sz="160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json_expert</a:t>
            </a:r>
            <a:r>
              <a:rPr lang="en-US" sz="16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AllTime_Jeopardy_Winnings</a:t>
            </a:r>
            <a:endParaRPr lang="en-US" sz="1600" dirty="0">
              <a:solidFill>
                <a:srgbClr val="00000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PATH</a:t>
            </a:r>
          </a:p>
          <a:p>
            <a:r>
              <a:rPr lang="en-US" sz="1600" dirty="0">
                <a:solidFill>
                  <a:srgbClr val="0000F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600" dirty="0">
                <a:solidFill>
                  <a:srgbClr val="80808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AlsoEligible</a:t>
            </a:r>
            <a:endParaRPr lang="en-US" sz="1600" dirty="0">
              <a:solidFill>
                <a:srgbClr val="000000"/>
              </a:solidFill>
              <a:highlight>
                <a:srgbClr val="FFFF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dirty="0">
              <a:solidFill>
                <a:srgbClr val="0000FF"/>
              </a:solidFill>
              <a:highlight>
                <a:srgbClr val="FFFF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JSON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00"/>
                </a:highlight>
                <a:latin typeface="Cascadia Code" panose="020B0609020000020004" pitchFamily="49" charset="0"/>
                <a:cs typeface="Cascadia Code" panose="020B0609020000020004" pitchFamily="49" charset="0"/>
              </a:rPr>
              <a:t>PATH</a:t>
            </a:r>
            <a:endParaRPr lang="en-US" sz="1600" dirty="0">
              <a:highlight>
                <a:srgbClr val="FFFF00"/>
              </a:highlight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16434-EE17-C199-9EE9-5FADBDCADD4F}"/>
              </a:ext>
            </a:extLst>
          </p:cNvPr>
          <p:cNvSpPr txBox="1"/>
          <p:nvPr/>
        </p:nvSpPr>
        <p:spPr>
          <a:xfrm>
            <a:off x="1297172" y="1233647"/>
            <a:ext cx="926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-apple-system"/>
              </a:rPr>
              <a:t>Also formats the ENTIRE </a:t>
            </a:r>
            <a:r>
              <a:rPr lang="en-US" dirty="0" err="1">
                <a:solidFill>
                  <a:srgbClr val="111111"/>
                </a:solidFill>
                <a:latin typeface="-apple-system"/>
              </a:rPr>
              <a:t>resultset</a:t>
            </a:r>
            <a:r>
              <a:rPr lang="en-US" dirty="0">
                <a:solidFill>
                  <a:srgbClr val="111111"/>
                </a:solidFill>
                <a:latin typeface="-apple-system"/>
              </a:rPr>
              <a:t> as one JSON object.</a:t>
            </a:r>
          </a:p>
          <a:p>
            <a:r>
              <a:rPr lang="en-US" dirty="0">
                <a:solidFill>
                  <a:srgbClr val="111111"/>
                </a:solidFill>
                <a:latin typeface="-apple-system"/>
              </a:rPr>
              <a:t>Allows for greater flexibility and control in your JSON object definition.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8C6C36-6623-C644-BEAC-F294138F0C43}"/>
              </a:ext>
            </a:extLst>
          </p:cNvPr>
          <p:cNvSpPr txBox="1"/>
          <p:nvPr/>
        </p:nvSpPr>
        <p:spPr>
          <a:xfrm>
            <a:off x="6780731" y="2126199"/>
            <a:ext cx="512064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[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{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</a:t>
            </a:r>
            <a:r>
              <a:rPr lang="en-US" sz="1400" dirty="0" err="1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AlsoEligible</a:t>
            </a:r>
            <a:r>
              <a:rPr lang="en-US" sz="1400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": [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{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": 0,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"name": "Jeff Foushee"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}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],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dirty="0"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"Contestants": [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{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AllTime_Jeopardy_Winnings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": "$1.00",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4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": 1,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"name": "Jesús Castillo"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}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  }</a:t>
            </a:r>
          </a:p>
          <a:p>
            <a:r>
              <a:rPr lang="en-US" sz="1400" dirty="0">
                <a:latin typeface="Cascadia Mono" panose="020B0609020000020004" pitchFamily="49" charset="0"/>
                <a:cs typeface="Cascadia Mono" panose="020B0609020000020004" pitchFamily="49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2C8CC-F2FC-3085-B52A-155082E63AD5}"/>
              </a:ext>
            </a:extLst>
          </p:cNvPr>
          <p:cNvSpPr txBox="1"/>
          <p:nvPr/>
        </p:nvSpPr>
        <p:spPr>
          <a:xfrm>
            <a:off x="8802080" y="5540654"/>
            <a:ext cx="2962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</a:t>
            </a:r>
          </a:p>
          <a:p>
            <a:r>
              <a:rPr lang="en-US" sz="1200" dirty="0"/>
              <a:t>Azure SQL Managed Instance</a:t>
            </a:r>
          </a:p>
          <a:p>
            <a:r>
              <a:rPr lang="en-US" sz="1200" dirty="0"/>
              <a:t>Azure Synapse Analytics</a:t>
            </a:r>
          </a:p>
        </p:txBody>
      </p:sp>
    </p:spTree>
    <p:extLst>
      <p:ext uri="{BB962C8B-B14F-4D97-AF65-F5344CB8AC3E}">
        <p14:creationId xmlns:p14="http://schemas.microsoft.com/office/powerpoint/2010/main" val="23882602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C9975-DCC2-F97D-665B-C2ED485AB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AE109A2-AA53-3A18-3067-5A522315564F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(AUTO|PATH)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5E35D-1FF8-C550-9085-109B02ABB7FD}"/>
              </a:ext>
            </a:extLst>
          </p:cNvPr>
          <p:cNvSpPr txBox="1"/>
          <p:nvPr/>
        </p:nvSpPr>
        <p:spPr>
          <a:xfrm>
            <a:off x="1225296" y="1579894"/>
            <a:ext cx="974140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Additional options:</a:t>
            </a:r>
          </a:p>
          <a:p>
            <a:endParaRPr lang="en-US" sz="20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(AUTO|PATH)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INCLUDE_NULL_VALUES</a:t>
            </a:r>
          </a:p>
          <a:p>
            <a:endParaRPr lang="en-US" sz="20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000" b="1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2000" dirty="0">
                <a:solidFill>
                  <a:srgbClr val="161616"/>
                </a:solidFill>
                <a:latin typeface="Segoe UI" panose="020B0502040204020203" pitchFamily="34" charset="0"/>
              </a:rPr>
              <a:t>I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ncludes null values in the JSON output of the 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FOR JSON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 clause. </a:t>
            </a:r>
          </a:p>
          <a:p>
            <a:r>
              <a:rPr lang="en-US" sz="2000" dirty="0">
                <a:solidFill>
                  <a:srgbClr val="161616"/>
                </a:solidFill>
                <a:latin typeface="Segoe UI" panose="020B0502040204020203" pitchFamily="34" charset="0"/>
              </a:rPr>
              <a:t>      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Default is to exclude keys with null values (think ABSENT ON NULL).</a:t>
            </a:r>
            <a:endParaRPr lang="en-US" sz="2000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endParaRPr lang="en-US" sz="2000" b="0" i="0" dirty="0">
              <a:solidFill>
                <a:srgbClr val="161616"/>
              </a:solidFill>
              <a:effectLst/>
              <a:latin typeface="SFMono-Regular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(AUTO|PATH)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ROOT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rootname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sz="20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r>
              <a:rPr lang="en-US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161616"/>
                </a:solidFill>
                <a:latin typeface="Segoe UI" panose="020B0502040204020203" pitchFamily="34" charset="0"/>
              </a:rPr>
              <a:t>C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reates a root level node named “</a:t>
            </a:r>
            <a:r>
              <a:rPr lang="en-US" sz="2000" b="0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rootname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” that embodies all </a:t>
            </a:r>
          </a:p>
          <a:p>
            <a:r>
              <a:rPr lang="en-US" sz="2000" dirty="0">
                <a:solidFill>
                  <a:srgbClr val="161616"/>
                </a:solidFill>
                <a:latin typeface="Segoe UI" panose="020B0502040204020203" pitchFamily="34" charset="0"/>
              </a:rPr>
              <a:t>     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the 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FOR JSON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results</a:t>
            </a:r>
          </a:p>
          <a:p>
            <a:endParaRPr lang="en-US" sz="2000" b="0" i="0" dirty="0">
              <a:solidFill>
                <a:srgbClr val="161616"/>
              </a:solidFill>
              <a:effectLst/>
              <a:latin typeface="SFMono-Regular"/>
            </a:endParaRPr>
          </a:p>
          <a:p>
            <a:pPr>
              <a:defRPr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JSON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(AUTO|PATH)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WITHOUT_ARRAY_WRAPPER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0" i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removes the outer array brackets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[]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of the 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FOR JSON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results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1DD1B2-FCE3-849A-DDE7-2FF2CCF1A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190" y="2157178"/>
            <a:ext cx="3033886" cy="523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437A28-DBBF-6FB9-D75C-0E67FE403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223" y="3581542"/>
            <a:ext cx="1806321" cy="5747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C9D415-392F-2381-9CB9-E6AA613C6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223" y="5002545"/>
            <a:ext cx="1806321" cy="62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035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028699" y="1838970"/>
            <a:ext cx="9348677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}’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da-DK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 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Jeff'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da-DK" sz="17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'$.name'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'Jeff'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endParaRPr lang="da-DK" sz="17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JSON_MODIFY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 path,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new_value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Alters the properties inside a JSON object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880ABD-C535-1042-FFC3-62D22814337A}"/>
              </a:ext>
            </a:extLst>
          </p:cNvPr>
          <p:cNvSpPr txBox="1"/>
          <p:nvPr/>
        </p:nvSpPr>
        <p:spPr>
          <a:xfrm>
            <a:off x="9615021" y="5843097"/>
            <a:ext cx="20001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SQL Server 2016+</a:t>
            </a:r>
          </a:p>
          <a:p>
            <a:r>
              <a:rPr lang="en-US" sz="1200" dirty="0"/>
              <a:t>Azure SQL Database  </a:t>
            </a:r>
          </a:p>
          <a:p>
            <a:r>
              <a:rPr lang="en-US" sz="1200" dirty="0"/>
              <a:t>Azure SQL Managed Instance  </a:t>
            </a:r>
          </a:p>
          <a:p>
            <a:r>
              <a:rPr lang="en-US" sz="1200" dirty="0"/>
              <a:t>Azure Synapse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05BEFB-C5DE-FBFA-FF1A-F7D9DE3CFEAD}"/>
              </a:ext>
            </a:extLst>
          </p:cNvPr>
          <p:cNvSpPr txBox="1"/>
          <p:nvPr/>
        </p:nvSpPr>
        <p:spPr>
          <a:xfrm>
            <a:off x="7804155" y="4354725"/>
            <a:ext cx="362173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What's the difference?</a:t>
            </a:r>
            <a:endParaRPr lang="en-US" sz="1700" dirty="0">
              <a:solidFill>
                <a:schemeClr val="accent6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3964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FC95D3-6050-F3C6-BD15-C7892DE1C6EF}"/>
              </a:ext>
            </a:extLst>
          </p:cNvPr>
          <p:cNvSpPr txBox="1"/>
          <p:nvPr/>
        </p:nvSpPr>
        <p:spPr>
          <a:xfrm>
            <a:off x="1028699" y="1826613"/>
            <a:ext cx="934867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DECLARE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@_json </a:t>
            </a:r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varchar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8000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{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name":"Jeff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Foushee"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"parents":[{"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name":"Mom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"},{"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name":"Dad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"}]</a:t>
            </a: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, "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json_expert":false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}'</a:t>
            </a:r>
            <a:endParaRPr lang="en-US" sz="17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1700" dirty="0">
              <a:solidFill>
                <a:srgbClr val="0000FF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'$.dog'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'1'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7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lax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$.dog'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'1'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da-DK" sz="17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da-DK" sz="17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7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strict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$.dog'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'1'</a:t>
            </a:r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1700" dirty="0">
                <a:solidFill>
                  <a:schemeClr val="accent2">
                    <a:lumMod val="75000"/>
                  </a:schemeClr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Property cannot be found on the specified JSON path.</a:t>
            </a:r>
          </a:p>
          <a:p>
            <a:endParaRPr lang="en-US" sz="1700" dirty="0">
              <a:solidFill>
                <a:schemeClr val="accent2">
                  <a:lumMod val="75000"/>
                </a:schemeClr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da-DK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7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strict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$.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endParaRPr lang="da-DK" sz="1700" dirty="0">
              <a:solidFill>
                <a:srgbClr val="80808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da-DK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$.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  <a:p>
            <a:r>
              <a:rPr lang="en-US" sz="17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SELECT </a:t>
            </a:r>
            <a:r>
              <a:rPr lang="da-DK" sz="17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@_json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en-US" sz="1700" dirty="0">
                <a:solidFill>
                  <a:srgbClr val="FF0000"/>
                </a:solidFill>
                <a:highlight>
                  <a:srgbClr val="FFFF00"/>
                </a:highlight>
                <a:latin typeface="Cascadia Mono" panose="020B0609020000020004" pitchFamily="49" charset="0"/>
                <a:cs typeface="Cascadia Mono" panose="020B0609020000020004" pitchFamily="49" charset="0"/>
              </a:rPr>
              <a:t>lax</a:t>
            </a:r>
            <a:r>
              <a:rPr lang="en-US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$.</a:t>
            </a:r>
            <a:r>
              <a:rPr lang="en-US" sz="17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json_expert</a:t>
            </a:r>
            <a:r>
              <a:rPr lang="da-DK" sz="17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'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null</a:t>
            </a:r>
            <a:r>
              <a:rPr lang="da-DK" sz="17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08BC6-1DF8-BAA2-2D7F-67C69A308151}"/>
              </a:ext>
            </a:extLst>
          </p:cNvPr>
          <p:cNvSpPr txBox="1"/>
          <p:nvPr/>
        </p:nvSpPr>
        <p:spPr>
          <a:xfrm>
            <a:off x="901107" y="710427"/>
            <a:ext cx="8827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JSON_MODIFY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valid_json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 path, </a:t>
            </a:r>
            <a:r>
              <a:rPr lang="en-US" sz="2800" dirty="0" err="1">
                <a:solidFill>
                  <a:srgbClr val="808080"/>
                </a:solidFill>
                <a:latin typeface="Consolas" panose="020B0609020204030204" pitchFamily="49" charset="0"/>
              </a:rPr>
              <a:t>new_value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C26BD-DFC6-51AA-978E-ED5D3D24C8F5}"/>
              </a:ext>
            </a:extLst>
          </p:cNvPr>
          <p:cNvSpPr txBox="1"/>
          <p:nvPr/>
        </p:nvSpPr>
        <p:spPr>
          <a:xfrm>
            <a:off x="1297172" y="1233647"/>
            <a:ext cx="803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 Alters the properties inside a JSON object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A0E93E-64D5-0D91-3F9A-F998D34B9AE6}"/>
              </a:ext>
            </a:extLst>
          </p:cNvPr>
          <p:cNvSpPr txBox="1"/>
          <p:nvPr/>
        </p:nvSpPr>
        <p:spPr>
          <a:xfrm>
            <a:off x="6842335" y="3711744"/>
            <a:ext cx="46085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Adds/sets even if non-existent</a:t>
            </a:r>
            <a:endParaRPr lang="en-US" sz="1700" dirty="0">
              <a:solidFill>
                <a:schemeClr val="accent6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99A0C2-EB10-A1C7-CFF2-373E1669B39F}"/>
              </a:ext>
            </a:extLst>
          </p:cNvPr>
          <p:cNvSpPr txBox="1"/>
          <p:nvPr/>
        </p:nvSpPr>
        <p:spPr>
          <a:xfrm>
            <a:off x="7965981" y="4477338"/>
            <a:ext cx="34442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Must pre-exist to set</a:t>
            </a:r>
            <a:endParaRPr lang="en-US" sz="1700" dirty="0">
              <a:solidFill>
                <a:schemeClr val="accent6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08E9A-4EE3-FF8B-9AC1-A55F9D1BF02B}"/>
              </a:ext>
            </a:extLst>
          </p:cNvPr>
          <p:cNvSpPr txBox="1"/>
          <p:nvPr/>
        </p:nvSpPr>
        <p:spPr>
          <a:xfrm>
            <a:off x="8374412" y="5206356"/>
            <a:ext cx="35737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Explicitly sets to null</a:t>
            </a:r>
            <a:endParaRPr lang="en-US" sz="1700" dirty="0">
              <a:solidFill>
                <a:schemeClr val="accent6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33F358-0DB9-F772-81C2-577A66368461}"/>
              </a:ext>
            </a:extLst>
          </p:cNvPr>
          <p:cNvSpPr txBox="1"/>
          <p:nvPr/>
        </p:nvSpPr>
        <p:spPr>
          <a:xfrm>
            <a:off x="8112284" y="5840459"/>
            <a:ext cx="35737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-- Removes from JSON doc</a:t>
            </a:r>
            <a:endParaRPr lang="en-US" sz="1700" dirty="0">
              <a:solidFill>
                <a:schemeClr val="accent6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5850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78F7-2FFA-80A6-7AD0-FE60AA3A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go from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F32EC-1B88-B496-D1A2-6CDF7072E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Learned all the JSON operators</a:t>
            </a:r>
          </a:p>
          <a:p>
            <a:endParaRPr lang="en-US" sz="500" dirty="0"/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AUTO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</a:t>
            </a:r>
            <a:r>
              <a:rPr lang="en-US" sz="28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PATH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ISJSON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           </a:t>
            </a:r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(updated for SQL 2022)</a:t>
            </a: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JSON_ARRAY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       </a:t>
            </a:r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for SQL 2022)</a:t>
            </a: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JSON_MODIFY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JSON_OBJECT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      </a:t>
            </a:r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for SQL 2022)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JSON_PATH_EXISTS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 </a:t>
            </a:r>
            <a:r>
              <a:rPr lang="en-US" sz="2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(new for SQL 2022)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JSON_QUERY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JSON_VALUE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sz="28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lvl="1"/>
            <a:r>
              <a:rPr lang="en-US" sz="2800" dirty="0"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28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</a:p>
          <a:p>
            <a:pPr marL="457200" lvl="1" indent="0">
              <a:buNone/>
            </a:pPr>
            <a:endParaRPr lang="en-US" sz="700" dirty="0"/>
          </a:p>
          <a:p>
            <a:r>
              <a:rPr lang="en-US" dirty="0"/>
              <a:t>Learned about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CROSS APPLY</a:t>
            </a:r>
            <a:r>
              <a:rPr lang="en-US" dirty="0"/>
              <a:t>, in conjunction with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OPENJSON</a:t>
            </a:r>
            <a:r>
              <a:rPr lang="en-US" sz="2400" dirty="0">
                <a:solidFill>
                  <a:srgbClr val="808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()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/>
              <a:t>Learned how to update Management Studio to review “all the JSON”</a:t>
            </a:r>
          </a:p>
        </p:txBody>
      </p:sp>
    </p:spTree>
    <p:extLst>
      <p:ext uri="{BB962C8B-B14F-4D97-AF65-F5344CB8AC3E}">
        <p14:creationId xmlns:p14="http://schemas.microsoft.com/office/powerpoint/2010/main" val="26071883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94EAC-4A16-27D3-9C5B-8724180E3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799" y="1206029"/>
            <a:ext cx="5502402" cy="444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86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727C96-CBF6-A96A-AAD4-6C7627A7C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681" y="1198606"/>
            <a:ext cx="5498757" cy="44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363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B94EAC-4A16-27D3-9C5B-8724180E3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4799" y="1206029"/>
            <a:ext cx="5502402" cy="444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709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60B561-9B3E-A968-2B4E-7319150C79C4}"/>
              </a:ext>
            </a:extLst>
          </p:cNvPr>
          <p:cNvSpPr txBox="1"/>
          <p:nvPr/>
        </p:nvSpPr>
        <p:spPr>
          <a:xfrm>
            <a:off x="1510146" y="5437227"/>
            <a:ext cx="6802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latin typeface="Verdana" panose="020B0604030504040204" pitchFamily="34" charset="0"/>
                <a:ea typeface="Verdana" panose="020B0604030504040204" pitchFamily="34" charset="0"/>
              </a:rPr>
              <a:t>https://github.com/jbfoushee/MyPresentations/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7E1BF-9545-970E-5C17-B09523F51437}"/>
              </a:ext>
            </a:extLst>
          </p:cNvPr>
          <p:cNvSpPr txBox="1"/>
          <p:nvPr/>
        </p:nvSpPr>
        <p:spPr>
          <a:xfrm>
            <a:off x="1510146" y="4895212"/>
            <a:ext cx="7439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</a:rPr>
              <a:t>https://www.linkedin.com/in/jeff-foushee/</a:t>
            </a:r>
          </a:p>
        </p:txBody>
      </p:sp>
      <p:pic>
        <p:nvPicPr>
          <p:cNvPr id="1026" name="Picture 2" descr="Linkedin-logo | myCloudDoor - Expertise for Cloud Transition">
            <a:extLst>
              <a:ext uri="{FF2B5EF4-FFF2-40B4-BE49-F238E27FC236}">
                <a16:creationId xmlns:a16="http://schemas.microsoft.com/office/drawing/2014/main" id="{7541C2E9-3409-6A8C-14FE-E2F786407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4897215"/>
            <a:ext cx="678873" cy="381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Logo, symbol, meaning, history, PNG, brand">
            <a:extLst>
              <a:ext uri="{FF2B5EF4-FFF2-40B4-BE49-F238E27FC236}">
                <a16:creationId xmlns:a16="http://schemas.microsoft.com/office/drawing/2014/main" id="{4A4A3218-5674-2C67-8D76-BCC0445E3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2" y="5451764"/>
            <a:ext cx="678874" cy="38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63783-B000-A4BC-CCBD-ECC8D1236D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90" y="1578919"/>
            <a:ext cx="2228212" cy="2228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A32F5C-E514-95A5-9E67-696F9A1524ED}"/>
              </a:ext>
            </a:extLst>
          </p:cNvPr>
          <p:cNvSpPr txBox="1"/>
          <p:nvPr/>
        </p:nvSpPr>
        <p:spPr>
          <a:xfrm>
            <a:off x="4225637" y="1020663"/>
            <a:ext cx="6442363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Verdana" panose="020B0604030504040204" pitchFamily="34" charset="0"/>
                <a:ea typeface="Verdana" panose="020B0604030504040204" pitchFamily="34" charset="0"/>
              </a:rPr>
              <a:t>Jeff Foushee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Server Database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Programmer</a:t>
            </a:r>
          </a:p>
          <a:p>
            <a:endParaRPr lang="en-US" sz="1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SQL Saturday speaker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Blackjack dealer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57E111-7964-7A4E-D12D-B2330A8BFF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7879" y="4371263"/>
            <a:ext cx="1628368" cy="161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9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52393</TotalTime>
  <Words>8163</Words>
  <Application>Microsoft Office PowerPoint</Application>
  <PresentationFormat>Widescreen</PresentationFormat>
  <Paragraphs>1386</Paragraphs>
  <Slides>75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7" baseType="lpstr">
      <vt:lpstr>-apple-system</vt:lpstr>
      <vt:lpstr>Arial</vt:lpstr>
      <vt:lpstr>Calibri</vt:lpstr>
      <vt:lpstr>Calibri Light</vt:lpstr>
      <vt:lpstr>Cascadia Code</vt:lpstr>
      <vt:lpstr>Cascadia Mono</vt:lpstr>
      <vt:lpstr>Consolas</vt:lpstr>
      <vt:lpstr>Segoe UI</vt:lpstr>
      <vt:lpstr>SFMono-Regular</vt:lpstr>
      <vt:lpstr>Verdana</vt:lpstr>
      <vt:lpstr>Wingdings</vt:lpstr>
      <vt:lpstr>Office Theme</vt:lpstr>
      <vt:lpstr>Reviewing after the presentation?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Preparing for JSON (client tools)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Preparing for JSON (table architecture)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Inspecting 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Querying 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Where do we go from here?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F</dc:creator>
  <cp:lastModifiedBy>Jeff Foushee</cp:lastModifiedBy>
  <cp:revision>109</cp:revision>
  <dcterms:created xsi:type="dcterms:W3CDTF">2024-01-27T23:55:18Z</dcterms:created>
  <dcterms:modified xsi:type="dcterms:W3CDTF">2024-05-09T19:39:47Z</dcterms:modified>
</cp:coreProperties>
</file>