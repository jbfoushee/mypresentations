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303" r:id="rId3"/>
    <p:sldId id="264" r:id="rId4"/>
    <p:sldId id="265" r:id="rId5"/>
    <p:sldId id="257" r:id="rId6"/>
    <p:sldId id="258" r:id="rId7"/>
    <p:sldId id="304" r:id="rId8"/>
    <p:sldId id="273" r:id="rId9"/>
    <p:sldId id="278" r:id="rId10"/>
    <p:sldId id="279" r:id="rId11"/>
    <p:sldId id="322" r:id="rId12"/>
    <p:sldId id="280" r:id="rId13"/>
    <p:sldId id="283" r:id="rId14"/>
    <p:sldId id="284" r:id="rId15"/>
    <p:sldId id="285" r:id="rId16"/>
    <p:sldId id="286" r:id="rId17"/>
    <p:sldId id="287" r:id="rId18"/>
    <p:sldId id="299" r:id="rId19"/>
    <p:sldId id="295" r:id="rId20"/>
    <p:sldId id="282" r:id="rId21"/>
    <p:sldId id="266" r:id="rId22"/>
    <p:sldId id="288" r:id="rId23"/>
    <p:sldId id="256" r:id="rId24"/>
    <p:sldId id="321" r:id="rId25"/>
    <p:sldId id="262" r:id="rId26"/>
    <p:sldId id="324" r:id="rId27"/>
    <p:sldId id="323" r:id="rId28"/>
    <p:sldId id="298" r:id="rId29"/>
    <p:sldId id="259" r:id="rId30"/>
    <p:sldId id="260" r:id="rId31"/>
    <p:sldId id="325" r:id="rId32"/>
    <p:sldId id="292" r:id="rId33"/>
    <p:sldId id="267" r:id="rId34"/>
    <p:sldId id="269" r:id="rId35"/>
    <p:sldId id="274" r:id="rId36"/>
    <p:sldId id="275" r:id="rId37"/>
    <p:sldId id="326" r:id="rId38"/>
    <p:sldId id="291" r:id="rId39"/>
    <p:sldId id="290" r:id="rId40"/>
    <p:sldId id="276" r:id="rId41"/>
    <p:sldId id="277" r:id="rId42"/>
    <p:sldId id="289" r:id="rId43"/>
    <p:sldId id="293" r:id="rId44"/>
    <p:sldId id="300" r:id="rId45"/>
    <p:sldId id="270" r:id="rId46"/>
    <p:sldId id="301" r:id="rId47"/>
    <p:sldId id="317" r:id="rId48"/>
    <p:sldId id="316" r:id="rId49"/>
    <p:sldId id="315" r:id="rId50"/>
    <p:sldId id="318" r:id="rId51"/>
    <p:sldId id="319" r:id="rId52"/>
    <p:sldId id="320" r:id="rId53"/>
    <p:sldId id="302" r:id="rId54"/>
    <p:sldId id="271" r:id="rId55"/>
    <p:sldId id="272" r:id="rId56"/>
    <p:sldId id="268" r:id="rId57"/>
    <p:sldId id="311" r:id="rId58"/>
    <p:sldId id="296" r:id="rId59"/>
    <p:sldId id="297" r:id="rId60"/>
    <p:sldId id="305" r:id="rId61"/>
    <p:sldId id="306" r:id="rId62"/>
    <p:sldId id="307" r:id="rId63"/>
    <p:sldId id="308" r:id="rId64"/>
    <p:sldId id="309" r:id="rId65"/>
    <p:sldId id="312" r:id="rId66"/>
    <p:sldId id="310" r:id="rId67"/>
    <p:sldId id="313" r:id="rId68"/>
    <p:sldId id="314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7" autoAdjust="0"/>
    <p:restoredTop sz="94660"/>
  </p:normalViewPr>
  <p:slideViewPr>
    <p:cSldViewPr snapToGrid="0">
      <p:cViewPr varScale="1">
        <p:scale>
          <a:sx n="79" d="100"/>
          <a:sy n="79" d="100"/>
        </p:scale>
        <p:origin x="96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" Type="http://schemas.openxmlformats.org/officeDocument/2006/relationships/slide" Target="slides/slide6.xml"/><Relationship Id="rId71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EC4A-B344-177E-CC0F-717252058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B4024-58B8-9BC6-C2C4-E9C54B14B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38E6-A0DA-9688-EB50-1DC647FF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3/10/2024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BF55A-110F-FF25-534F-F06374063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1A57F-1E45-9D38-A20B-E60067BD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6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5A4A3-8B10-1820-0106-8BF5D8839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8A35C-1E1D-1C22-1F0B-8F88F44DE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82D6-3EF8-28BF-2AD6-9050AE801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3/10/2024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DC5F3-06C6-DB44-F891-39D658F8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DC52E-32A0-FB45-7307-7028FC4CB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45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8A072-6728-C613-6033-FB4947C6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DC38D-988B-A127-F769-3AE21D0CE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67F9E-1AE5-454A-4A86-E3420EF73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3/10/2024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1201B-D8FF-8187-4FFD-6D4AD973E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0856F-3824-A9C6-2F6A-78A2EDFC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2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E20D-4651-F3EE-0A25-C281FCAF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5FBE7-4C7C-B9EE-6185-72336952A3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AF380-5DB2-71C2-DA4F-66A6218DC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A78C2E-26CC-DA3D-F3EF-C5BD2BE1D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3/10/2024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7F571-7E9B-2E29-AE8E-414906A9B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B1F2E-A479-9AFC-96DF-FBD26094B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87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4196-BAF8-6485-4498-3877345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FE994-3765-BC47-8265-CEA8F6055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C7D38-6CD7-8ED4-B038-3E2C030EF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256361-2E03-B2E3-D5D3-30B24335C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AEFC40-DE09-F4B2-21C3-01D818FE79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E965F-3995-03F1-C065-D9004E87A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3/10/2024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C6EE2-3777-C129-37E2-88BBF6348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C1FC7-8BF4-F1E5-E954-AF558EF6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09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F2E29-0571-040E-5983-62230B53D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0DDE7-C51C-580C-911E-FC275654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3/10/2024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1CDDA-4D46-4496-2E59-EC80ABA2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7D504-0FA4-487E-A556-1399760D7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70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12729-688D-3CD1-5893-1D4EC722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70233-7D41-DA8F-A8EB-CF56B759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7AAA9-E287-490B-08A6-E7137954A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116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230E-E491-894F-4E99-0FF09AEDA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3BFB9-0CA8-8C7E-64FC-C4D25B4A7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2F32E1-2E6E-5729-CE34-2933CBF6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C136C-ABF5-5313-2E64-AD7125B6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3/10/2024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83D6B-B489-DF3D-C33C-F61F64C04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54372-D4DC-B102-8825-E719788D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013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0B1B-D61C-39F8-F2BE-022F8A5F0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36128C-D559-89C5-9304-300E4BD18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6BEBD-DE7E-0A5A-C361-876EC06C9A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449A7-DE39-4323-4F3B-79D5BF48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3/10/2024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FACA8-9144-A263-F50A-B3788A12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63EDD-7299-9462-8CFD-F1F0D2361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171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34708-7E9B-A1B8-D203-F864C0E37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5E9B5F-F6C7-D532-024F-C087874B31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A7CB0-AACC-72A1-6164-0F9AFB570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3/10/2024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34C05-05CC-148F-9549-AE59E7EB0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37AEB-0CBB-C9FD-4D34-ACBFFD5F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28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1D8B1-35E5-FE9E-14BB-B63977163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99F59-8FFB-27A4-537F-1FB44AA76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721C5-FCE8-8496-07D7-200C84A8F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3/10/2024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FBC29-C3A0-3AE4-10F2-8B812A2B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96BF5-DFF7-46B6-815F-4BEC38830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55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B1CEBB-A314-72EB-4E82-E664E935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49815-D47F-8E8B-4DCE-6CF8B8324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77C57-7585-6B1F-3866-BBE4706F8B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3727D6-2A34-4C60-8A36-E80BB1BFD15E}" type="datetimeFigureOut">
              <a:rPr lang="en-US" smtClean="0"/>
              <a:t>3/10/2024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74E81-6DEA-4A24-C969-5237F84FF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040C6-0A46-D0FE-0D61-ABED4EBEE9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2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ive Instructor-Led SQL Querying Advanced Training - Hands-on Course">
            <a:extLst>
              <a:ext uri="{FF2B5EF4-FFF2-40B4-BE49-F238E27FC236}">
                <a16:creationId xmlns:a16="http://schemas.microsoft.com/office/drawing/2014/main" id="{CBDA142E-B6AA-0CE4-512D-E046762D8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FBDC4-6B90-0B55-CFD0-525E83D440FA}"/>
              </a:ext>
            </a:extLst>
          </p:cNvPr>
          <p:cNvSpPr txBox="1"/>
          <p:nvPr/>
        </p:nvSpPr>
        <p:spPr>
          <a:xfrm>
            <a:off x="2771554" y="1612626"/>
            <a:ext cx="68402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JSON</a:t>
            </a:r>
            <a:r>
              <a:rPr lang="en-US" sz="4800" b="1" dirty="0"/>
              <a:t> TSQL Operators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938075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87BC-FC35-CA96-FEC8-DD4A00DB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(client tools)</a:t>
            </a:r>
          </a:p>
        </p:txBody>
      </p:sp>
    </p:spTree>
    <p:extLst>
      <p:ext uri="{BB962C8B-B14F-4D97-AF65-F5344CB8AC3E}">
        <p14:creationId xmlns:p14="http://schemas.microsoft.com/office/powerpoint/2010/main" val="24120065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9CB5D10-CB03-B334-F1EE-7B88307F4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906" y="2547717"/>
            <a:ext cx="9544050" cy="38766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571653-AE10-33CD-275C-3198E447428E}"/>
              </a:ext>
            </a:extLst>
          </p:cNvPr>
          <p:cNvSpPr txBox="1"/>
          <p:nvPr/>
        </p:nvSpPr>
        <p:spPr>
          <a:xfrm>
            <a:off x="8399722" y="1507004"/>
            <a:ext cx="2883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characters do you want to see on the screen?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FE876-E85C-0487-DA58-8593D3A629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582320"/>
            <a:ext cx="5518258" cy="4537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07566C-241A-1A23-A506-997010010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78" y="1141582"/>
            <a:ext cx="7439025" cy="1104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EF6833-8803-70E5-B6D5-DF910DB09705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8114303" y="1830170"/>
            <a:ext cx="285419" cy="300008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18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DDB9B34-A1EC-64CA-7D74-3E2D1DA89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278" y="433608"/>
            <a:ext cx="7439025" cy="1971675"/>
          </a:xfrm>
          <a:prstGeom prst="rect">
            <a:avLst/>
          </a:prstGeom>
        </p:spPr>
      </p:pic>
      <p:pic>
        <p:nvPicPr>
          <p:cNvPr id="1026" name="Picture 2" descr="copy Vector Icons free download in SVG, PNG Format">
            <a:extLst>
              <a:ext uri="{FF2B5EF4-FFF2-40B4-BE49-F238E27FC236}">
                <a16:creationId xmlns:a16="http://schemas.microsoft.com/office/drawing/2014/main" id="{7C25E6DA-C179-8E50-2C24-9DD7DE84E9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303" y="1609344"/>
            <a:ext cx="531816" cy="53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1723199E-8B8B-9934-4477-B75149C55D2E}"/>
              </a:ext>
            </a:extLst>
          </p:cNvPr>
          <p:cNvGrpSpPr/>
          <p:nvPr/>
        </p:nvGrpSpPr>
        <p:grpSpPr>
          <a:xfrm>
            <a:off x="862584" y="2800067"/>
            <a:ext cx="7467600" cy="1652650"/>
            <a:chOff x="862584" y="2800067"/>
            <a:chExt cx="7467600" cy="16526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BAA7DD-AFA1-C3C7-F2D1-4BA84B6B7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62584" y="3043017"/>
              <a:ext cx="7467600" cy="1409700"/>
            </a:xfrm>
            <a:prstGeom prst="rect">
              <a:avLst/>
            </a:prstGeom>
          </p:spPr>
        </p:pic>
        <p:pic>
          <p:nvPicPr>
            <p:cNvPr id="1028" name="Picture 4" descr="Image result for paste icon clipart">
              <a:extLst>
                <a:ext uri="{FF2B5EF4-FFF2-40B4-BE49-F238E27FC236}">
                  <a16:creationId xmlns:a16="http://schemas.microsoft.com/office/drawing/2014/main" id="{567D78F5-5648-7596-572B-82335B79C4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1424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4BC9049-CBE5-6A82-E715-5FC4DD8C166D}"/>
              </a:ext>
            </a:extLst>
          </p:cNvPr>
          <p:cNvGrpSpPr/>
          <p:nvPr/>
        </p:nvGrpSpPr>
        <p:grpSpPr>
          <a:xfrm>
            <a:off x="3960495" y="2800067"/>
            <a:ext cx="7562850" cy="3200463"/>
            <a:chOff x="3960495" y="2800067"/>
            <a:chExt cx="7562850" cy="320046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6EF85C4-A0F6-AD5E-99B5-D33673830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960495" y="2904905"/>
              <a:ext cx="7562850" cy="3095625"/>
            </a:xfrm>
            <a:prstGeom prst="rect">
              <a:avLst/>
            </a:prstGeom>
          </p:spPr>
        </p:pic>
        <p:pic>
          <p:nvPicPr>
            <p:cNvPr id="2" name="Picture 4" descr="Image result for paste icon clipart">
              <a:extLst>
                <a:ext uri="{FF2B5EF4-FFF2-40B4-BE49-F238E27FC236}">
                  <a16:creationId xmlns:a16="http://schemas.microsoft.com/office/drawing/2014/main" id="{2E34ADF1-6344-7AC7-F3EC-54559DF959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6400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104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9AC732-664C-A660-BD98-7B68234B94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386" y="567844"/>
            <a:ext cx="5188532" cy="1526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F24335-30B9-35A7-0A4B-D2564CAA5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0348" y="1653694"/>
            <a:ext cx="6524625" cy="1733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D00801-AE63-ABAD-8406-B699E18261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731" y="3063394"/>
            <a:ext cx="5572125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88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3C9F4CB-173E-A4C8-BA30-24175A497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48" y="551121"/>
            <a:ext cx="10220325" cy="1952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4163A4-6547-A728-BF66-3F74C058BA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823" y="2854067"/>
            <a:ext cx="10229850" cy="300037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1B6BED-88E9-3614-486E-EB9AAB89448B}"/>
              </a:ext>
            </a:extLst>
          </p:cNvPr>
          <p:cNvCxnSpPr/>
          <p:nvPr/>
        </p:nvCxnSpPr>
        <p:spPr>
          <a:xfrm flipH="1">
            <a:off x="7325833" y="1297172"/>
            <a:ext cx="2296632" cy="324293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F6D6CE7-0DD0-E3AF-9237-30F1F26C5DBE}"/>
              </a:ext>
            </a:extLst>
          </p:cNvPr>
          <p:cNvGrpSpPr/>
          <p:nvPr/>
        </p:nvGrpSpPr>
        <p:grpSpPr>
          <a:xfrm>
            <a:off x="4547616" y="1438656"/>
            <a:ext cx="6499057" cy="2950464"/>
            <a:chOff x="4547616" y="1438656"/>
            <a:chExt cx="6499057" cy="295046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01EE4FC-DC44-264F-DB53-CA26F7AA1A8E}"/>
                </a:ext>
              </a:extLst>
            </p:cNvPr>
            <p:cNvSpPr/>
            <p:nvPr/>
          </p:nvSpPr>
          <p:spPr>
            <a:xfrm>
              <a:off x="7144512" y="1438656"/>
              <a:ext cx="3902161" cy="219456"/>
            </a:xfrm>
            <a:prstGeom prst="rect">
              <a:avLst/>
            </a:prstGeom>
            <a:noFill/>
            <a:ln w="508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B9FEFA88-1225-E011-37B4-6C5C9FF9E2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47616" y="1669028"/>
              <a:ext cx="2596896" cy="2720092"/>
            </a:xfrm>
            <a:prstGeom prst="straightConnector1">
              <a:avLst/>
            </a:prstGeom>
            <a:ln w="508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249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49CA9-A37E-7C13-A64D-1F3ADF00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(table architecture)</a:t>
            </a:r>
          </a:p>
        </p:txBody>
      </p:sp>
    </p:spTree>
    <p:extLst>
      <p:ext uri="{BB962C8B-B14F-4D97-AF65-F5344CB8AC3E}">
        <p14:creationId xmlns:p14="http://schemas.microsoft.com/office/powerpoint/2010/main" val="3481471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BB84B64-CC6D-CD7E-BAE4-23C3857BB7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67743" y="903519"/>
            <a:ext cx="5819585" cy="5050961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32DF6F-2782-6F8F-F136-52885939B545}"/>
              </a:ext>
            </a:extLst>
          </p:cNvPr>
          <p:cNvSpPr txBox="1"/>
          <p:nvPr/>
        </p:nvSpPr>
        <p:spPr>
          <a:xfrm>
            <a:off x="1085088" y="2393942"/>
            <a:ext cx="27188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 err="1">
                <a:solidFill>
                  <a:srgbClr val="161616"/>
                </a:solidFill>
                <a:latin typeface="Segoe UI" panose="020B0502040204020203" pitchFamily="34" charset="0"/>
              </a:rPr>
              <a:t>n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varchar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</a:p>
          <a:p>
            <a:pPr algn="l"/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[#(</a:t>
            </a:r>
            <a:r>
              <a:rPr lang="en-US" i="1" dirty="0">
                <a:solidFill>
                  <a:srgbClr val="161616"/>
                </a:solidFill>
                <a:latin typeface="Segoe UI" panose="020B0502040204020203" pitchFamily="34" charset="0"/>
              </a:rPr>
              <a:t>chars</a:t>
            </a: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) * 2] +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85F44-4BD9-DB9B-6BBA-7853C3B95FB9}"/>
              </a:ext>
            </a:extLst>
          </p:cNvPr>
          <p:cNvSpPr txBox="1"/>
          <p:nvPr/>
        </p:nvSpPr>
        <p:spPr>
          <a:xfrm>
            <a:off x="1085088" y="1156454"/>
            <a:ext cx="26280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rgbClr val="161616"/>
                </a:solidFill>
                <a:latin typeface="Segoe UI" panose="020B0502040204020203" pitchFamily="34" charset="0"/>
              </a:rPr>
              <a:t>v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archar(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b="0" i="1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#(chars)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+ 2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4133D-95A2-9F86-93A3-48307ABD667E}"/>
              </a:ext>
            </a:extLst>
          </p:cNvPr>
          <p:cNvSpPr txBox="1"/>
          <p:nvPr/>
        </p:nvSpPr>
        <p:spPr>
          <a:xfrm>
            <a:off x="1085087" y="5650098"/>
            <a:ext cx="6039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Refresher:</a:t>
            </a:r>
          </a:p>
          <a:p>
            <a:r>
              <a:rPr lang="en-US" dirty="0"/>
              <a:t>FF (hex) = 255 (decimal) = 1111 1111 (binary)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C6B92B-BFFE-ECA9-8CD0-8EB3E52D2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533" y="5579098"/>
            <a:ext cx="1200150" cy="4572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86EAC03-D63B-4D91-0BDD-5A13DC205F54}"/>
              </a:ext>
            </a:extLst>
          </p:cNvPr>
          <p:cNvSpPr txBox="1"/>
          <p:nvPr/>
        </p:nvSpPr>
        <p:spPr>
          <a:xfrm>
            <a:off x="3713131" y="5280766"/>
            <a:ext cx="109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byte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71DB434-FA90-763B-9F8D-59E10A521FB5}"/>
              </a:ext>
            </a:extLst>
          </p:cNvPr>
          <p:cNvGrpSpPr/>
          <p:nvPr/>
        </p:nvGrpSpPr>
        <p:grpSpPr>
          <a:xfrm>
            <a:off x="5647658" y="3828288"/>
            <a:ext cx="5629942" cy="2120142"/>
            <a:chOff x="5647658" y="3828288"/>
            <a:chExt cx="5629942" cy="212014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E454B44-AAF3-CB23-D768-2CFE4809C0F7}"/>
                </a:ext>
              </a:extLst>
            </p:cNvPr>
            <p:cNvCxnSpPr>
              <a:cxnSpLocks/>
            </p:cNvCxnSpPr>
            <p:nvPr/>
          </p:nvCxnSpPr>
          <p:spPr>
            <a:xfrm>
              <a:off x="7595616" y="3828288"/>
              <a:ext cx="548640" cy="636467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E4C9218-190A-862E-65D8-59E2128CB270}"/>
                </a:ext>
              </a:extLst>
            </p:cNvPr>
            <p:cNvSpPr/>
            <p:nvPr/>
          </p:nvSpPr>
          <p:spPr>
            <a:xfrm>
              <a:off x="5647658" y="5650098"/>
              <a:ext cx="582454" cy="298332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02074C2-14BD-D2CF-33AE-A293AEA1DB74}"/>
                </a:ext>
              </a:extLst>
            </p:cNvPr>
            <p:cNvSpPr/>
            <p:nvPr/>
          </p:nvSpPr>
          <p:spPr>
            <a:xfrm>
              <a:off x="10009632" y="5649204"/>
              <a:ext cx="1267968" cy="298332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09803826-6BE2-FD7D-F724-E3B1D449F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5245" y="861696"/>
            <a:ext cx="6004579" cy="526010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A988A3D-5DFF-48F1-C4C8-606AE223D7B5}"/>
              </a:ext>
            </a:extLst>
          </p:cNvPr>
          <p:cNvSpPr txBox="1"/>
          <p:nvPr/>
        </p:nvSpPr>
        <p:spPr>
          <a:xfrm>
            <a:off x="1039700" y="3576215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char(n)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603B99-97C9-83E8-50E8-34AC138009AC}"/>
              </a:ext>
            </a:extLst>
          </p:cNvPr>
          <p:cNvSpPr txBox="1"/>
          <p:nvPr/>
        </p:nvSpPr>
        <p:spPr>
          <a:xfrm>
            <a:off x="1039699" y="4375492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 err="1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nchar</a:t>
            </a:r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2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90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CD39AD-3376-4763-5C53-79CF772302E4}"/>
              </a:ext>
            </a:extLst>
          </p:cNvPr>
          <p:cNvSpPr txBox="1"/>
          <p:nvPr/>
        </p:nvSpPr>
        <p:spPr>
          <a:xfrm>
            <a:off x="7897333" y="6200186"/>
            <a:ext cx="38835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https://en.wikipedia.org/wiki/JSON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A0280B-7989-7E6D-B860-CA294489E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711" y="303722"/>
            <a:ext cx="6252548" cy="3612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424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CCFB8-F509-2BD1-4838-DCAECC31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3153CF8-C4BA-F2DA-DD65-CE339498C856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7E6F9F-4112-EBF3-1F2E-B33A50880288}"/>
              </a:ext>
            </a:extLst>
          </p:cNvPr>
          <p:cNvGrpSpPr/>
          <p:nvPr/>
        </p:nvGrpSpPr>
        <p:grpSpPr>
          <a:xfrm>
            <a:off x="1133856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7CC55481-A17B-D08B-E84E-C97FA984E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A61019C-7EA8-40D6-ACF8-086263FD86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3150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"data"</a:t>
            </a:r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: 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}]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4242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4DC93-08AF-8CD3-A97F-F9A108E97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58E91E-E11A-6790-4EEC-C775B09E1625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989B15-5266-B927-833D-BEC70E0D6306}"/>
              </a:ext>
            </a:extLst>
          </p:cNvPr>
          <p:cNvSpPr txBox="1"/>
          <p:nvPr/>
        </p:nvSpPr>
        <p:spPr>
          <a:xfrm>
            <a:off x="6974958" y="1297172"/>
            <a:ext cx="44018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values are enclosed in double-quotes</a:t>
            </a:r>
          </a:p>
          <a:p>
            <a:endParaRPr lang="en-US" dirty="0"/>
          </a:p>
          <a:p>
            <a:r>
              <a:rPr lang="en-US" dirty="0"/>
              <a:t>Numbers are not enclosed in quotes</a:t>
            </a:r>
          </a:p>
          <a:p>
            <a:endParaRPr lang="en-US" dirty="0"/>
          </a:p>
          <a:p>
            <a:r>
              <a:rPr lang="en-US" dirty="0"/>
              <a:t>Boolean/null values are lowercase</a:t>
            </a:r>
          </a:p>
        </p:txBody>
      </p:sp>
    </p:spTree>
    <p:extLst>
      <p:ext uri="{BB962C8B-B14F-4D97-AF65-F5344CB8AC3E}">
        <p14:creationId xmlns:p14="http://schemas.microsoft.com/office/powerpoint/2010/main" val="22444908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B05E2-D3D3-D0B4-2BE8-595EC7328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F97122E-019F-C7E3-D4CE-2E7E78541B76}"/>
              </a:ext>
            </a:extLst>
          </p:cNvPr>
          <p:cNvSpPr txBox="1"/>
          <p:nvPr/>
        </p:nvSpPr>
        <p:spPr>
          <a:xfrm>
            <a:off x="676053" y="197346"/>
            <a:ext cx="676106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"age"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"address"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"children"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"spouse"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4BB514-CA1F-AA42-4D46-187E4BA88381}"/>
              </a:ext>
            </a:extLst>
          </p:cNvPr>
          <p:cNvSpPr txBox="1"/>
          <p:nvPr/>
        </p:nvSpPr>
        <p:spPr>
          <a:xfrm>
            <a:off x="6974958" y="1297172"/>
            <a:ext cx="4401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Properties (keys) must be enclosed in quotes</a:t>
            </a:r>
          </a:p>
          <a:p>
            <a:endParaRPr lang="en-US" dirty="0"/>
          </a:p>
          <a:p>
            <a:r>
              <a:rPr lang="en-US" dirty="0"/>
              <a:t>No restrictions on property naming:</a:t>
            </a:r>
          </a:p>
          <a:p>
            <a:r>
              <a:rPr lang="en-US" dirty="0"/>
              <a:t>- uniqueness</a:t>
            </a:r>
          </a:p>
          <a:p>
            <a:r>
              <a:rPr lang="en-US" dirty="0"/>
              <a:t>- characters</a:t>
            </a:r>
          </a:p>
          <a:p>
            <a:r>
              <a:rPr lang="en-US" dirty="0"/>
              <a:t>- blanks</a:t>
            </a:r>
          </a:p>
        </p:txBody>
      </p:sp>
    </p:spTree>
    <p:extLst>
      <p:ext uri="{BB962C8B-B14F-4D97-AF65-F5344CB8AC3E}">
        <p14:creationId xmlns:p14="http://schemas.microsoft.com/office/powerpoint/2010/main" val="4088871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36A13-2A82-5DFE-A085-FA7DF77F8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6F5808E-72D0-8EA1-3FE9-520CF4CCBFF0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4D5DED-A8D6-3909-267E-614390D0765A}"/>
              </a:ext>
            </a:extLst>
          </p:cNvPr>
          <p:cNvSpPr txBox="1"/>
          <p:nvPr/>
        </p:nvSpPr>
        <p:spPr>
          <a:xfrm>
            <a:off x="6974958" y="1297172"/>
            <a:ext cx="4401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</p:txBody>
      </p:sp>
    </p:spTree>
    <p:extLst>
      <p:ext uri="{BB962C8B-B14F-4D97-AF65-F5344CB8AC3E}">
        <p14:creationId xmlns:p14="http://schemas.microsoft.com/office/powerpoint/2010/main" val="624650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"Smith"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"212 555-1234"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scalar (number or string).</a:t>
            </a:r>
          </a:p>
        </p:txBody>
      </p:sp>
    </p:spTree>
    <p:extLst>
      <p:ext uri="{BB962C8B-B14F-4D97-AF65-F5344CB8AC3E}">
        <p14:creationId xmlns:p14="http://schemas.microsoft.com/office/powerpoint/2010/main" val="13693347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F79EC-1877-1150-F9B2-79672A22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0B33AB0-727E-CEF2-04FC-2DBD1149138E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3E52A9-404D-83DE-4DA8-1D3B3C3C4A4C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JSON object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{}</a:t>
            </a:r>
            <a:r>
              <a:rPr lang="en-US" dirty="0"/>
              <a:t>, of which you only get one</a:t>
            </a:r>
          </a:p>
        </p:txBody>
      </p:sp>
    </p:spTree>
    <p:extLst>
      <p:ext uri="{BB962C8B-B14F-4D97-AF65-F5344CB8AC3E}">
        <p14:creationId xmlns:p14="http://schemas.microsoft.com/office/powerpoint/2010/main" val="724519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C7703-4D56-C777-BAE6-F9F50D634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F9CDA12-021D-62BA-50B5-1C33B5408533}"/>
              </a:ext>
            </a:extLst>
          </p:cNvPr>
          <p:cNvSpPr txBox="1"/>
          <p:nvPr/>
        </p:nvSpPr>
        <p:spPr>
          <a:xfrm>
            <a:off x="676053" y="197346"/>
            <a:ext cx="7041483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ECF460-DD6E-73B0-197A-9E95FDF5BC99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property.</a:t>
            </a:r>
          </a:p>
          <a:p>
            <a:endParaRPr lang="en-US" dirty="0"/>
          </a:p>
          <a:p>
            <a:r>
              <a:rPr lang="en-US" dirty="0"/>
              <a:t>Or they can be a JSON Array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[]</a:t>
            </a:r>
            <a:r>
              <a:rPr lang="en-US" dirty="0"/>
              <a:t>, identifying an unordered list of values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D93C10-21CA-A73F-6A73-55A60B183C76}"/>
              </a:ext>
            </a:extLst>
          </p:cNvPr>
          <p:cNvSpPr txBox="1"/>
          <p:nvPr/>
        </p:nvSpPr>
        <p:spPr>
          <a:xfrm>
            <a:off x="5231502" y="3824820"/>
            <a:ext cx="248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JSON objects)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3D2766-C037-35FE-4466-4E160DBCF09D}"/>
              </a:ext>
            </a:extLst>
          </p:cNvPr>
          <p:cNvSpPr txBox="1"/>
          <p:nvPr/>
        </p:nvSpPr>
        <p:spPr>
          <a:xfrm>
            <a:off x="6353166" y="5203865"/>
            <a:ext cx="176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strings)</a:t>
            </a:r>
          </a:p>
        </p:txBody>
      </p:sp>
    </p:spTree>
    <p:extLst>
      <p:ext uri="{BB962C8B-B14F-4D97-AF65-F5344CB8AC3E}">
        <p14:creationId xmlns:p14="http://schemas.microsoft.com/office/powerpoint/2010/main" val="37688849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3C062-CC08-F542-55E1-71927EBB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Inspecting JSON</a:t>
            </a:r>
          </a:p>
        </p:txBody>
      </p:sp>
    </p:spTree>
    <p:extLst>
      <p:ext uri="{BB962C8B-B14F-4D97-AF65-F5344CB8AC3E}">
        <p14:creationId xmlns:p14="http://schemas.microsoft.com/office/powerpoint/2010/main" val="37328477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D57A83-5B76-9863-3EBD-34394061E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428625"/>
            <a:ext cx="11430000" cy="600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99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85293D-4C41-225F-9D44-15AEAC28F575}"/>
              </a:ext>
            </a:extLst>
          </p:cNvPr>
          <p:cNvSpPr txBox="1"/>
          <p:nvPr/>
        </p:nvSpPr>
        <p:spPr>
          <a:xfrm>
            <a:off x="816048" y="1011220"/>
            <a:ext cx="5680445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{}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[]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'['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'.'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5A764A-D124-5790-79A7-6B0FF10B2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7671" y="5018150"/>
            <a:ext cx="3163253" cy="89496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D4E6507-8C86-0B2E-13FE-7F1F904C32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671" y="2815971"/>
            <a:ext cx="3140242" cy="89496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F0345CD-D82D-EBBC-C0E4-679539E9B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671" y="996329"/>
            <a:ext cx="3140242" cy="894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0065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6E19F4-8F02-541B-A38F-7A77B7C0E31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280BCF-82E6-D74F-0616-80EC1B3597DC}"/>
              </a:ext>
            </a:extLst>
          </p:cNvPr>
          <p:cNvSpPr txBox="1"/>
          <p:nvPr/>
        </p:nvSpPr>
        <p:spPr>
          <a:xfrm>
            <a:off x="1275907" y="1756876"/>
            <a:ext cx="5273749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'{"key":[]}'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'{[1,2]}'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-- 0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(NULL)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NULL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</a:p>
          <a:p>
            <a:endParaRPr lang="en-US" sz="1600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'{},{}'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-- 0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'[{},{}]'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-- 1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'{[],[]}'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906B04-4EC0-023F-32FB-F3CE12CA24DA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13838099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EDD89-8B8B-5DD5-B969-A2CFD1C4A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5A6C07-BD41-6AEA-0A58-AB45F3954924}"/>
              </a:ext>
            </a:extLst>
          </p:cNvPr>
          <p:cNvSpPr txBox="1"/>
          <p:nvPr/>
        </p:nvSpPr>
        <p:spPr>
          <a:xfrm>
            <a:off x="901109" y="646629"/>
            <a:ext cx="10014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 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8B5C55-03D6-C599-A935-3F560886CAF8}"/>
              </a:ext>
            </a:extLst>
          </p:cNvPr>
          <p:cNvSpPr txBox="1"/>
          <p:nvPr/>
        </p:nvSpPr>
        <p:spPr>
          <a:xfrm>
            <a:off x="1275907" y="1233647"/>
            <a:ext cx="8995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value. This can be a JSON object, array, number, string or one of the three literal values of (false, true, null)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03C4FE-1715-F424-733B-758B393D1B51}"/>
              </a:ext>
            </a:extLst>
          </p:cNvPr>
          <p:cNvSpPr txBox="1"/>
          <p:nvPr/>
        </p:nvSpPr>
        <p:spPr>
          <a:xfrm>
            <a:off x="8789723" y="6211371"/>
            <a:ext cx="2962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</p:txBody>
      </p:sp>
      <p:sp>
        <p:nvSpPr>
          <p:cNvPr id="8" name="Star: 10 Points 7">
            <a:extLst>
              <a:ext uri="{FF2B5EF4-FFF2-40B4-BE49-F238E27FC236}">
                <a16:creationId xmlns:a16="http://schemas.microsoft.com/office/drawing/2014/main" id="{C14F43F0-B609-148B-9D22-48E9DA5D603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C48B69D-E770-DE16-0D9E-6E5C7AD30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116700"/>
              </p:ext>
            </p:extLst>
          </p:nvPr>
        </p:nvGraphicFramePr>
        <p:xfrm>
          <a:off x="999744" y="2834242"/>
          <a:ext cx="7721209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8670">
                  <a:extLst>
                    <a:ext uri="{9D8B030D-6E8A-4147-A177-3AD203B41FA5}">
                      <a16:colId xmlns:a16="http://schemas.microsoft.com/office/drawing/2014/main" val="52433680"/>
                    </a:ext>
                  </a:extLst>
                </a:gridCol>
                <a:gridCol w="5412539">
                  <a:extLst>
                    <a:ext uri="{9D8B030D-6E8A-4147-A177-3AD203B41FA5}">
                      <a16:colId xmlns:a16="http://schemas.microsoft.com/office/drawing/2014/main" val="3004402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JSON_type</a:t>
                      </a:r>
                      <a:r>
                        <a:rPr lang="en-US" dirty="0"/>
                        <a:t> 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040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array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626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dirty="0">
                          <a:effectLst/>
                        </a:rPr>
                        <a:t>Tests for a valid JSON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3338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scalar – number or string</a:t>
                      </a:r>
                      <a:endParaRPr lang="en-US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05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VALUE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value of a key/value pair. This can be a JSON object, array, number, string or one of the three literal values in (false, true, null)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963873"/>
                  </a:ext>
                </a:extLst>
              </a:tr>
            </a:tbl>
          </a:graphicData>
        </a:graphic>
      </p:graphicFrame>
      <p:sp>
        <p:nvSpPr>
          <p:cNvPr id="2" name="Star: 10 Points 1">
            <a:extLst>
              <a:ext uri="{FF2B5EF4-FFF2-40B4-BE49-F238E27FC236}">
                <a16:creationId xmlns:a16="http://schemas.microsoft.com/office/drawing/2014/main" id="{43F5F796-6F83-F31A-BAA8-1E4A4FC9C2FA}"/>
              </a:ext>
            </a:extLst>
          </p:cNvPr>
          <p:cNvSpPr/>
          <p:nvPr/>
        </p:nvSpPr>
        <p:spPr>
          <a:xfrm rot="20706229">
            <a:off x="2202458" y="4330606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sp>
        <p:nvSpPr>
          <p:cNvPr id="3" name="Star: 10 Points 2">
            <a:extLst>
              <a:ext uri="{FF2B5EF4-FFF2-40B4-BE49-F238E27FC236}">
                <a16:creationId xmlns:a16="http://schemas.microsoft.com/office/drawing/2014/main" id="{434CF406-CB01-CA11-D1F9-B15F64189BE5}"/>
              </a:ext>
            </a:extLst>
          </p:cNvPr>
          <p:cNvSpPr/>
          <p:nvPr/>
        </p:nvSpPr>
        <p:spPr>
          <a:xfrm rot="20706229">
            <a:off x="2202457" y="3926269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</p:spTree>
    <p:extLst>
      <p:ext uri="{BB962C8B-B14F-4D97-AF65-F5344CB8AC3E}">
        <p14:creationId xmlns:p14="http://schemas.microsoft.com/office/powerpoint/2010/main" val="6956735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8" y="646629"/>
            <a:ext cx="90190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>
              <a:latin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75E55BF-ACA8-7CAD-430C-4FDD62C7CA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01635"/>
              </p:ext>
            </p:extLst>
          </p:nvPr>
        </p:nvGraphicFramePr>
        <p:xfrm>
          <a:off x="1441148" y="1366493"/>
          <a:ext cx="9309703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439">
                  <a:extLst>
                    <a:ext uri="{9D8B030D-6E8A-4147-A177-3AD203B41FA5}">
                      <a16:colId xmlns:a16="http://schemas.microsoft.com/office/drawing/2014/main" val="1962960265"/>
                    </a:ext>
                  </a:extLst>
                </a:gridCol>
                <a:gridCol w="1666826">
                  <a:extLst>
                    <a:ext uri="{9D8B030D-6E8A-4147-A177-3AD203B41FA5}">
                      <a16:colId xmlns:a16="http://schemas.microsoft.com/office/drawing/2014/main" val="1960977839"/>
                    </a:ext>
                  </a:extLst>
                </a:gridCol>
                <a:gridCol w="1461089">
                  <a:extLst>
                    <a:ext uri="{9D8B030D-6E8A-4147-A177-3AD203B41FA5}">
                      <a16:colId xmlns:a16="http://schemas.microsoft.com/office/drawing/2014/main" val="1657064559"/>
                    </a:ext>
                  </a:extLst>
                </a:gridCol>
                <a:gridCol w="1412187">
                  <a:extLst>
                    <a:ext uri="{9D8B030D-6E8A-4147-A177-3AD203B41FA5}">
                      <a16:colId xmlns:a16="http://schemas.microsoft.com/office/drawing/2014/main" val="2559841676"/>
                    </a:ext>
                  </a:extLst>
                </a:gridCol>
                <a:gridCol w="1456661">
                  <a:extLst>
                    <a:ext uri="{9D8B030D-6E8A-4147-A177-3AD203B41FA5}">
                      <a16:colId xmlns:a16="http://schemas.microsoft.com/office/drawing/2014/main" val="791409100"/>
                    </a:ext>
                  </a:extLst>
                </a:gridCol>
                <a:gridCol w="882501">
                  <a:extLst>
                    <a:ext uri="{9D8B030D-6E8A-4147-A177-3AD203B41FA5}">
                      <a16:colId xmlns:a16="http://schemas.microsoft.com/office/drawing/2014/main" val="2936314179"/>
                    </a:ext>
                  </a:extLst>
                </a:gridCol>
              </a:tblGrid>
              <a:tr h="351064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FF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ISJSON</a:t>
                      </a:r>
                      <a:r>
                        <a:rPr lang="en-US" sz="1800" dirty="0">
                          <a:solidFill>
                            <a:schemeClr val="bg1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VALUE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)</a:t>
                      </a: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811667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69260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408453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43474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'a'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60779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'2'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1634560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'"2"'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70471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'false'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04704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'"false"'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34847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32035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07979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key:value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0104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 "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key":"value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 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97008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'{"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key":"value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9460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(malformed JSON)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7685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909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6" y="966430"/>
            <a:ext cx="672998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[chk_dbo.Table1_JsonCheck]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((</a:t>
            </a:r>
            <a:r>
              <a:rPr lang="en-US" sz="20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JsonColumn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)=(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)))</a:t>
            </a:r>
            <a:endParaRPr lang="en-US" sz="20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DC66A8-FE89-8C27-21F5-333841799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987" y="2274703"/>
            <a:ext cx="9746316" cy="370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21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4D13C6-5314-7759-BA83-15D245790A58}"/>
              </a:ext>
            </a:extLst>
          </p:cNvPr>
          <p:cNvSpPr txBox="1"/>
          <p:nvPr/>
        </p:nvSpPr>
        <p:spPr>
          <a:xfrm>
            <a:off x="1028697" y="1825827"/>
            <a:ext cx="844491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69AAA-642C-24E7-2DF8-6921B768BAF8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D02F32-77B5-C37E-0CF9-5739455591A0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9" name="Star: 10 Points 8">
            <a:extLst>
              <a:ext uri="{FF2B5EF4-FFF2-40B4-BE49-F238E27FC236}">
                <a16:creationId xmlns:a16="http://schemas.microsoft.com/office/drawing/2014/main" id="{60145506-C846-1185-B0A4-40B15B23F44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96DB4A-1739-666A-5125-9EB7D470190C}"/>
              </a:ext>
            </a:extLst>
          </p:cNvPr>
          <p:cNvSpPr txBox="1"/>
          <p:nvPr/>
        </p:nvSpPr>
        <p:spPr>
          <a:xfrm>
            <a:off x="8871202" y="5690370"/>
            <a:ext cx="2962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</p:txBody>
      </p:sp>
    </p:spTree>
    <p:extLst>
      <p:ext uri="{BB962C8B-B14F-4D97-AF65-F5344CB8AC3E}">
        <p14:creationId xmlns:p14="http://schemas.microsoft.com/office/powerpoint/2010/main" val="30038585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C7709-3427-AD7D-C798-1401B1A87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C38BED-ACFC-216F-1FD1-7466B8EB79D8}"/>
              </a:ext>
            </a:extLst>
          </p:cNvPr>
          <p:cNvSpPr txBox="1"/>
          <p:nvPr/>
        </p:nvSpPr>
        <p:spPr>
          <a:xfrm>
            <a:off x="1028697" y="1825827"/>
            <a:ext cx="844491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3643BD-8192-128E-1384-BFF93E157F3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FD39BE-FC4B-EC80-17AA-D1C70029B2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90512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E08F4-BCF5-BACB-924E-9D551FA3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F40FD7-94AE-B543-CFCE-44371B0D910B}"/>
              </a:ext>
            </a:extLst>
          </p:cNvPr>
          <p:cNvSpPr txBox="1"/>
          <p:nvPr/>
        </p:nvSpPr>
        <p:spPr>
          <a:xfrm>
            <a:off x="1028697" y="1825827"/>
            <a:ext cx="909349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’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'Not JSON-formatted'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5DE166-B732-9217-5FF5-BD153ACD96F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5FBE7-BB22-E20C-9E26-09355A778C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3198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256E7-BA56-CD7A-8E29-839436B41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JSON</a:t>
            </a:r>
          </a:p>
        </p:txBody>
      </p:sp>
    </p:spTree>
    <p:extLst>
      <p:ext uri="{BB962C8B-B14F-4D97-AF65-F5344CB8AC3E}">
        <p14:creationId xmlns:p14="http://schemas.microsoft.com/office/powerpoint/2010/main" val="13081154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8" y="1826613"/>
            <a:ext cx="1072368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(entire contents of @_json)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'Not JSON-formatted'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1" y="1233647"/>
            <a:ext cx="8750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a well-formatted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JSON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array or object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from the original JSON 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values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A96AEB-6343-5E6A-23C8-32DF36550836}"/>
              </a:ext>
            </a:extLst>
          </p:cNvPr>
          <p:cNvSpPr txBox="1"/>
          <p:nvPr/>
        </p:nvSpPr>
        <p:spPr>
          <a:xfrm>
            <a:off x="8789723" y="5605066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1248417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Jeff Foushee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Mom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Dad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false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919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the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stringable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value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of a key within JSON,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a JSON object/array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2DEFB4-808C-5CD3-FB68-AA30180AF563}"/>
              </a:ext>
            </a:extLst>
          </p:cNvPr>
          <p:cNvSpPr txBox="1"/>
          <p:nvPr/>
        </p:nvSpPr>
        <p:spPr>
          <a:xfrm>
            <a:off x="8789723" y="5624353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4758136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2A84-EEF4-D02B-473D-F95F30672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583DED-79F7-76F6-CFAA-19E02FCBE11C}"/>
              </a:ext>
            </a:extLst>
          </p:cNvPr>
          <p:cNvSpPr txBox="1"/>
          <p:nvPr/>
        </p:nvSpPr>
        <p:spPr>
          <a:xfrm>
            <a:off x="1012747" y="1674674"/>
            <a:ext cx="934867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1056A2-D664-6BA0-1A2E-F400294E290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vs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 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endParaRPr lang="en-US" sz="28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2F29795-34C0-4286-C86D-5A5A90B2DF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1840603"/>
              </p:ext>
            </p:extLst>
          </p:nvPr>
        </p:nvGraphicFramePr>
        <p:xfrm>
          <a:off x="1012747" y="3617733"/>
          <a:ext cx="9954736" cy="2529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3517">
                  <a:extLst>
                    <a:ext uri="{9D8B030D-6E8A-4147-A177-3AD203B41FA5}">
                      <a16:colId xmlns:a16="http://schemas.microsoft.com/office/drawing/2014/main" val="398802349"/>
                    </a:ext>
                  </a:extLst>
                </a:gridCol>
                <a:gridCol w="3476847">
                  <a:extLst>
                    <a:ext uri="{9D8B030D-6E8A-4147-A177-3AD203B41FA5}">
                      <a16:colId xmlns:a16="http://schemas.microsoft.com/office/drawing/2014/main" val="3194749352"/>
                    </a:ext>
                  </a:extLst>
                </a:gridCol>
                <a:gridCol w="1754372">
                  <a:extLst>
                    <a:ext uri="{9D8B030D-6E8A-4147-A177-3AD203B41FA5}">
                      <a16:colId xmlns:a16="http://schemas.microsoft.com/office/drawing/2014/main" val="17477720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SQL Statement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JSON_QUERY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1400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JSON_VALUE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1400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83399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0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'$'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{entire contents of @_json}</a:t>
                      </a:r>
                      <a:endParaRPr lang="en-US" sz="140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61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0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'$.parents'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0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0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"},{"</a:t>
                      </a:r>
                      <a:r>
                        <a:rPr lang="en-US" sz="140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name":"Dad</a:t>
                      </a:r>
                      <a:r>
                        <a:rPr lang="en-US" sz="140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324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0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'$.name'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0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Jeff Foushee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634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0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'$.parents[0].name'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0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Mom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2200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0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'$.parents[0]'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0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0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0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4155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0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'$.parents[1].name'</a:t>
                      </a:r>
                      <a:r>
                        <a:rPr lang="en-US" sz="140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0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Dad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7828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2877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F569F2-6380-781B-95F6-9EEDBB594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342" y="227076"/>
            <a:ext cx="1914878" cy="2211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369FF6-E481-4FF6-0C16-2935D4171B3D}"/>
              </a:ext>
            </a:extLst>
          </p:cNvPr>
          <p:cNvSpPr txBox="1"/>
          <p:nvPr/>
        </p:nvSpPr>
        <p:spPr>
          <a:xfrm>
            <a:off x="2828544" y="689788"/>
            <a:ext cx="74858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74F861-2090-92A6-E2CD-AF2F82CBB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205" y="3990850"/>
            <a:ext cx="2486678" cy="70330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EC9BC2E-8AA8-FAC1-5F9A-EDC6FB5719DE}"/>
              </a:ext>
            </a:extLst>
          </p:cNvPr>
          <p:cNvSpPr txBox="1"/>
          <p:nvPr/>
        </p:nvSpPr>
        <p:spPr>
          <a:xfrm>
            <a:off x="999744" y="3154137"/>
            <a:ext cx="42242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D767DFA-19CE-1ACF-BCF6-8A06926769B0}"/>
              </a:ext>
            </a:extLst>
          </p:cNvPr>
          <p:cNvGrpSpPr/>
          <p:nvPr/>
        </p:nvGrpSpPr>
        <p:grpSpPr>
          <a:xfrm>
            <a:off x="999744" y="4880445"/>
            <a:ext cx="10887456" cy="2031325"/>
            <a:chOff x="999744" y="4880445"/>
            <a:chExt cx="10887456" cy="203132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2FA4160-811F-559D-44AA-92D7B44D0C97}"/>
                </a:ext>
              </a:extLst>
            </p:cNvPr>
            <p:cNvSpPr txBox="1"/>
            <p:nvPr/>
          </p:nvSpPr>
          <p:spPr>
            <a:xfrm>
              <a:off x="999744" y="5064682"/>
              <a:ext cx="5096256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'$[0]'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09C72BE-0DE7-B542-F855-8B6AD0BD6DC5}"/>
                </a:ext>
              </a:extLst>
            </p:cNvPr>
            <p:cNvSpPr txBox="1"/>
            <p:nvPr/>
          </p:nvSpPr>
          <p:spPr>
            <a:xfrm>
              <a:off x="6571488" y="4880445"/>
              <a:ext cx="5315712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JSON_VALUE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'$[0]'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'$.name'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8B9DE548-9222-A250-0536-6B726AB2EF33}"/>
              </a:ext>
            </a:extLst>
          </p:cNvPr>
          <p:cNvSpPr txBox="1"/>
          <p:nvPr/>
        </p:nvSpPr>
        <p:spPr>
          <a:xfrm>
            <a:off x="6571488" y="3160232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BC3805F-A562-F375-1489-5F3505CE00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5131" y="3983673"/>
            <a:ext cx="2486677" cy="710479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131C5B-D0D0-AB60-E10A-56E90E1EDC54}"/>
              </a:ext>
            </a:extLst>
          </p:cNvPr>
          <p:cNvCxnSpPr/>
          <p:nvPr/>
        </p:nvCxnSpPr>
        <p:spPr>
          <a:xfrm>
            <a:off x="6096000" y="3154137"/>
            <a:ext cx="0" cy="3271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187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366435-5F3A-0592-0DF6-0BD00CD29EAA}"/>
              </a:ext>
            </a:extLst>
          </p:cNvPr>
          <p:cNvSpPr txBox="1"/>
          <p:nvPr/>
        </p:nvSpPr>
        <p:spPr>
          <a:xfrm>
            <a:off x="1555897" y="584662"/>
            <a:ext cx="90802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The “path” argument always starts with “$”, right?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803966-BE63-3D59-6A0F-91F41F2AC75A}"/>
              </a:ext>
            </a:extLst>
          </p:cNvPr>
          <p:cNvSpPr txBox="1"/>
          <p:nvPr/>
        </p:nvSpPr>
        <p:spPr>
          <a:xfrm>
            <a:off x="2925919" y="1578025"/>
            <a:ext cx="63401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AB0DBE-9477-09BB-A733-A8165CB3BC60}"/>
              </a:ext>
            </a:extLst>
          </p:cNvPr>
          <p:cNvSpPr txBox="1"/>
          <p:nvPr/>
        </p:nvSpPr>
        <p:spPr>
          <a:xfrm>
            <a:off x="1018067" y="3645197"/>
            <a:ext cx="48219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502CD0D-31EA-86EE-DDBC-9768CBB58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060" y="4773830"/>
            <a:ext cx="1829466" cy="9147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944EC14-8B2F-445B-7F56-11208FD9FEE3}"/>
              </a:ext>
            </a:extLst>
          </p:cNvPr>
          <p:cNvSpPr txBox="1"/>
          <p:nvPr/>
        </p:nvSpPr>
        <p:spPr>
          <a:xfrm>
            <a:off x="6114465" y="3645197"/>
            <a:ext cx="51691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E617D-D540-AF87-B207-D831E975F330}"/>
              </a:ext>
            </a:extLst>
          </p:cNvPr>
          <p:cNvSpPr txBox="1"/>
          <p:nvPr/>
        </p:nvSpPr>
        <p:spPr>
          <a:xfrm>
            <a:off x="6230112" y="4765044"/>
            <a:ext cx="44125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Msg 13608, Level 16, State 1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specified JSON path.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0803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107556" y="1937722"/>
            <a:ext cx="61908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Interprets the JSON object into a relational view, using a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DataFrame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7B9C45-45E5-295F-71E5-BD52F779F890}"/>
              </a:ext>
            </a:extLst>
          </p:cNvPr>
          <p:cNvSpPr txBox="1"/>
          <p:nvPr/>
        </p:nvSpPr>
        <p:spPr>
          <a:xfrm>
            <a:off x="1107556" y="3812698"/>
            <a:ext cx="41227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2D9AE9-4718-5934-AA85-6CEC906EE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233" y="3423801"/>
            <a:ext cx="4364781" cy="10521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9322EC-6D2A-35CD-1D67-E062BDE65E95}"/>
              </a:ext>
            </a:extLst>
          </p:cNvPr>
          <p:cNvSpPr txBox="1"/>
          <p:nvPr/>
        </p:nvSpPr>
        <p:spPr>
          <a:xfrm>
            <a:off x="1088951" y="4821568"/>
            <a:ext cx="42259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B75AAC8-B4A7-13EE-771F-2C5E76DA7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3172" y="4666829"/>
            <a:ext cx="2650431" cy="89425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3A62380-2056-E063-1493-18C691FCF691}"/>
              </a:ext>
            </a:extLst>
          </p:cNvPr>
          <p:cNvSpPr txBox="1"/>
          <p:nvPr/>
        </p:nvSpPr>
        <p:spPr>
          <a:xfrm>
            <a:off x="1088951" y="5634715"/>
            <a:ext cx="44949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383E929-0B22-9513-C3C3-E94517ABA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3172" y="5697536"/>
            <a:ext cx="2084877" cy="575513"/>
          </a:xfrm>
          <a:prstGeom prst="rect">
            <a:avLst/>
          </a:prstGeom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4F6E84B-8841-0FB6-4043-CB9B2A286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901607"/>
              </p:ext>
            </p:extLst>
          </p:nvPr>
        </p:nvGraphicFramePr>
        <p:xfrm>
          <a:off x="9728790" y="1271130"/>
          <a:ext cx="1524426" cy="15601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4970">
                  <a:extLst>
                    <a:ext uri="{9D8B030D-6E8A-4147-A177-3AD203B41FA5}">
                      <a16:colId xmlns:a16="http://schemas.microsoft.com/office/drawing/2014/main" val="114812362"/>
                    </a:ext>
                  </a:extLst>
                </a:gridCol>
                <a:gridCol w="1049456">
                  <a:extLst>
                    <a:ext uri="{9D8B030D-6E8A-4147-A177-3AD203B41FA5}">
                      <a16:colId xmlns:a16="http://schemas.microsoft.com/office/drawing/2014/main" val="401378235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u="none" strike="noStrike" dirty="0">
                          <a:effectLst/>
                        </a:rPr>
                        <a:t>type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 dirty="0">
                          <a:effectLst/>
                        </a:rPr>
                        <a:t>description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83400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null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48467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15129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562235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 err="1">
                          <a:effectLst/>
                        </a:rPr>
                        <a:t>boolean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655440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array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098729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object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6072612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5B68FC1-27E1-5467-4B04-DBBAC3D01E7F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CAC9B30-F64C-6141-9815-0F808C5F12FE}"/>
              </a:ext>
            </a:extLst>
          </p:cNvPr>
          <p:cNvGrpSpPr/>
          <p:nvPr/>
        </p:nvGrpSpPr>
        <p:grpSpPr>
          <a:xfrm>
            <a:off x="7183449" y="3423801"/>
            <a:ext cx="2704263" cy="2828788"/>
            <a:chOff x="7183449" y="3423801"/>
            <a:chExt cx="2704263" cy="282878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A3A69FF-E3AF-9F32-CAE3-5B1B1A4FCBA1}"/>
                </a:ext>
              </a:extLst>
            </p:cNvPr>
            <p:cNvSpPr/>
            <p:nvPr/>
          </p:nvSpPr>
          <p:spPr>
            <a:xfrm>
              <a:off x="9447878" y="3423801"/>
              <a:ext cx="439834" cy="1052131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6CBD71F-150D-FCBB-831A-18E8028DDFBC}"/>
                </a:ext>
              </a:extLst>
            </p:cNvPr>
            <p:cNvSpPr/>
            <p:nvPr/>
          </p:nvSpPr>
          <p:spPr>
            <a:xfrm>
              <a:off x="7793769" y="4645406"/>
              <a:ext cx="439834" cy="82249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F275313-1CD1-C5ED-75CF-866D605D3062}"/>
                </a:ext>
              </a:extLst>
            </p:cNvPr>
            <p:cNvSpPr/>
            <p:nvPr/>
          </p:nvSpPr>
          <p:spPr>
            <a:xfrm>
              <a:off x="7183449" y="5677076"/>
              <a:ext cx="484599" cy="575513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8546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7304027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B112C-3F74-BA86-71E2-E3EB0D4D4EC1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10E04E2-E2FA-499B-AFDB-EA898D27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16975"/>
              </p:ext>
            </p:extLst>
          </p:nvPr>
        </p:nvGraphicFramePr>
        <p:xfrm>
          <a:off x="1202181" y="4474802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A06262-A41C-8AA6-3E1C-BE184A34F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502431"/>
              </p:ext>
            </p:extLst>
          </p:nvPr>
        </p:nvGraphicFramePr>
        <p:xfrm>
          <a:off x="1202181" y="2722785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D95F361-5AAD-553E-F3B9-E1B918EA55BC}"/>
              </a:ext>
            </a:extLst>
          </p:cNvPr>
          <p:cNvSpPr txBox="1"/>
          <p:nvPr/>
        </p:nvSpPr>
        <p:spPr>
          <a:xfrm>
            <a:off x="1202181" y="2346386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58895C-CE80-B328-701B-2F4CACE68173}"/>
              </a:ext>
            </a:extLst>
          </p:cNvPr>
          <p:cNvSpPr txBox="1"/>
          <p:nvPr/>
        </p:nvSpPr>
        <p:spPr>
          <a:xfrm>
            <a:off x="1175386" y="4098403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B4E370-8A8B-DB33-BE61-21E270E5EE24}"/>
              </a:ext>
            </a:extLst>
          </p:cNvPr>
          <p:cNvSpPr txBox="1"/>
          <p:nvPr/>
        </p:nvSpPr>
        <p:spPr>
          <a:xfrm>
            <a:off x="5535168" y="2126199"/>
            <a:ext cx="36088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C547F63-8889-CE2B-C1AF-BAE82CBD4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472400"/>
              </p:ext>
            </p:extLst>
          </p:nvPr>
        </p:nvGraphicFramePr>
        <p:xfrm>
          <a:off x="5611173" y="3249411"/>
          <a:ext cx="54054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F3F036C-36B0-BD7F-A25B-C8AE94FEC0E7}"/>
              </a:ext>
            </a:extLst>
          </p:cNvPr>
          <p:cNvSpPr txBox="1"/>
          <p:nvPr/>
        </p:nvSpPr>
        <p:spPr>
          <a:xfrm>
            <a:off x="9740699" y="6196341"/>
            <a:ext cx="15978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(ANSI-standard SQL)</a:t>
            </a:r>
          </a:p>
        </p:txBody>
      </p:sp>
    </p:spTree>
    <p:extLst>
      <p:ext uri="{BB962C8B-B14F-4D97-AF65-F5344CB8AC3E}">
        <p14:creationId xmlns:p14="http://schemas.microsoft.com/office/powerpoint/2010/main" val="37845255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900F-8C4D-7B9C-E3B7-84DC7D494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4CB0B8-DDDB-927F-0F33-3702684E8906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6FE2F0-6FBE-6DD0-2DBE-1B66D27044FA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FFDE23-F45B-E5F0-1BD1-0D1038EEC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0876718"/>
              </p:ext>
            </p:extLst>
          </p:nvPr>
        </p:nvGraphicFramePr>
        <p:xfrm>
          <a:off x="6298437" y="2722785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EEEFBD-CA08-EAAE-D9EA-D0AB56775610}"/>
              </a:ext>
            </a:extLst>
          </p:cNvPr>
          <p:cNvGraphicFramePr>
            <a:graphicFrameLocks noGrp="1"/>
          </p:cNvGraphicFramePr>
          <p:nvPr/>
        </p:nvGraphicFramePr>
        <p:xfrm>
          <a:off x="1202181" y="2722785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BF9F0D-5E64-1C11-3B98-A2D5FA08CD83}"/>
              </a:ext>
            </a:extLst>
          </p:cNvPr>
          <p:cNvSpPr txBox="1"/>
          <p:nvPr/>
        </p:nvSpPr>
        <p:spPr>
          <a:xfrm>
            <a:off x="1202181" y="2346386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F65E6C-9AE4-2587-DC25-77D9CDC7672D}"/>
              </a:ext>
            </a:extLst>
          </p:cNvPr>
          <p:cNvSpPr txBox="1"/>
          <p:nvPr/>
        </p:nvSpPr>
        <p:spPr>
          <a:xfrm>
            <a:off x="6271642" y="2346386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1BB843-CADA-E8A5-8AB3-30C58504D67D}"/>
              </a:ext>
            </a:extLst>
          </p:cNvPr>
          <p:cNvSpPr txBox="1"/>
          <p:nvPr/>
        </p:nvSpPr>
        <p:spPr>
          <a:xfrm>
            <a:off x="9740699" y="6196341"/>
            <a:ext cx="15978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(ANSI-standard SQL)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42941C6-B97E-0A8E-3D68-5FCCB79E77BA}"/>
              </a:ext>
            </a:extLst>
          </p:cNvPr>
          <p:cNvGrpSpPr/>
          <p:nvPr/>
        </p:nvGrpSpPr>
        <p:grpSpPr>
          <a:xfrm>
            <a:off x="3361817" y="3279045"/>
            <a:ext cx="2819527" cy="439515"/>
            <a:chOff x="3361817" y="3279045"/>
            <a:chExt cx="2819527" cy="43951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4BB49A-D55F-F9C0-6B37-76C67C353128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3361817" y="3279045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1B1F458-4CC3-9129-9231-53D9BC8874D6}"/>
                </a:ext>
              </a:extLst>
            </p:cNvPr>
            <p:cNvCxnSpPr>
              <a:cxnSpLocks/>
              <a:endCxn id="3" idx="3"/>
            </p:cNvCxnSpPr>
            <p:nvPr/>
          </p:nvCxnSpPr>
          <p:spPr>
            <a:xfrm flipH="1" flipV="1">
              <a:off x="3361817" y="3279045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24A7AF-364E-C99A-3B59-392E4BF668AA}"/>
              </a:ext>
            </a:extLst>
          </p:cNvPr>
          <p:cNvGrpSpPr/>
          <p:nvPr/>
        </p:nvGrpSpPr>
        <p:grpSpPr>
          <a:xfrm flipV="1">
            <a:off x="3377691" y="3279043"/>
            <a:ext cx="2819527" cy="439517"/>
            <a:chOff x="3361817" y="3279045"/>
            <a:chExt cx="2819527" cy="439515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AF678D-9B7E-93CD-4762-ECB0765EECF4}"/>
                </a:ext>
              </a:extLst>
            </p:cNvPr>
            <p:cNvCxnSpPr>
              <a:cxnSpLocks/>
            </p:cNvCxnSpPr>
            <p:nvPr/>
          </p:nvCxnSpPr>
          <p:spPr>
            <a:xfrm>
              <a:off x="3361817" y="3279045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4918A65-DB4E-1FCC-D654-FA4E374119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61817" y="3279045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438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CD722-E16C-83E5-A415-0BCB0FCC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08E2ED-3CA1-74AE-187F-456F223A24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0201" y="2126199"/>
            <a:ext cx="2628900" cy="2819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A7B088-47C5-B1A2-56D6-A7857E8AB27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04931B-13A0-1D60-E6DB-657B5A41A9E7}"/>
              </a:ext>
            </a:extLst>
          </p:cNvPr>
          <p:cNvSpPr txBox="1"/>
          <p:nvPr/>
        </p:nvSpPr>
        <p:spPr>
          <a:xfrm>
            <a:off x="6790944" y="2126199"/>
            <a:ext cx="4876800" cy="286232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42838F-7AEE-27B0-BA12-47486D80968B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BF9FB-39DB-C162-A636-C9C15661ECDC}"/>
              </a:ext>
            </a:extLst>
          </p:cNvPr>
          <p:cNvSpPr txBox="1"/>
          <p:nvPr/>
        </p:nvSpPr>
        <p:spPr>
          <a:xfrm>
            <a:off x="1097280" y="2126199"/>
            <a:ext cx="55839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MAX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GROUP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D3DC76-DE31-EFD1-BADB-2D1EC477DED9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24635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10B24-E89B-B969-B97C-7EBBF68D0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5E718B-D12A-D175-1F95-BFE19790432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95087-00E1-C5F2-02DE-F9C91C46C2C1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E0CB7C-F3A0-4758-1CA3-6E8D4522A900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OVER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AS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B49D15-5EA3-EF4A-28B6-FD5428D4139F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07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OUTER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929FC3-C0B3-1041-8515-E4D2E0148530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OUTER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Order]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1634-CD63-FFA6-3741-B6C59C76A58E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OVER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AS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540292-162B-3A16-2365-5FA3A4841979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LEFT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appears in the result set anyway.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5CCC32-94B5-4589-CB32-BC8CA29E7B01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4304647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3677683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3AB85-7A46-25FF-ED9D-2791DB641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E42AB6-A562-890F-5570-9A82AB12471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89AEA-E27D-0570-BDDB-33C127C30A4D}"/>
              </a:ext>
            </a:extLst>
          </p:cNvPr>
          <p:cNvSpPr txBox="1"/>
          <p:nvPr/>
        </p:nvSpPr>
        <p:spPr>
          <a:xfrm>
            <a:off x="901107" y="1594907"/>
            <a:ext cx="7732530" cy="5001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'parents’</a:t>
            </a:r>
          </a:p>
          <a:p>
            <a:endParaRPr lang="en-US" sz="16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8308E0-98C6-7DFF-01A9-5F36E7786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710" y="4324575"/>
            <a:ext cx="4090183" cy="907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3406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9C9F1-6BE5-5B8D-C2FA-8715A3CC3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56C069-28B9-19F9-3EF8-81CC36BDF7DA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29A948-B89B-4D36-FF18-3D378BFF78D2}"/>
              </a:ext>
            </a:extLst>
          </p:cNvPr>
          <p:cNvSpPr txBox="1"/>
          <p:nvPr/>
        </p:nvSpPr>
        <p:spPr>
          <a:xfrm>
            <a:off x="901106" y="1594907"/>
            <a:ext cx="7840557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[{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CD9458-3680-0ED6-A44B-B42EC2129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7793" y="3042804"/>
            <a:ext cx="4180428" cy="154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3330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31C9-7330-FCD1-219A-7C5F57675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JSON</a:t>
            </a:r>
          </a:p>
        </p:txBody>
      </p:sp>
    </p:spTree>
    <p:extLst>
      <p:ext uri="{BB962C8B-B14F-4D97-AF65-F5344CB8AC3E}">
        <p14:creationId xmlns:p14="http://schemas.microsoft.com/office/powerpoint/2010/main" val="18087909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'type'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key_name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: </a:t>
            </a:r>
            <a:r>
              <a:rPr lang="en-US" sz="2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object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F30FB4-4C0D-29B5-531A-BA73C8A13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172" y="2227932"/>
            <a:ext cx="2210112" cy="6215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FDA2B-0BCB-E299-7844-6890E3C53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2" y="3335248"/>
            <a:ext cx="2589975" cy="6215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6EAB54-85C3-B168-AD5C-55B9025510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71" y="4442564"/>
            <a:ext cx="2791309" cy="6215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9406970-70D6-BCAB-CC5F-9DA1693A6F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7648" y="5540356"/>
            <a:ext cx="2359319" cy="6601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F4C01BB-6634-1E90-1295-4B319D79D568}"/>
              </a:ext>
            </a:extLst>
          </p:cNvPr>
          <p:cNvSpPr txBox="1"/>
          <p:nvPr/>
        </p:nvSpPr>
        <p:spPr>
          <a:xfrm>
            <a:off x="7278624" y="4026931"/>
            <a:ext cx="2218944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CF1C79-B923-40BC-2406-4E0CE7263C3D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669365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8FEB0-CBA9-A021-350F-61EC979AA8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88" y="5636187"/>
            <a:ext cx="10846922" cy="6228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527422-959C-A7D1-C504-76985DDB0225}"/>
              </a:ext>
            </a:extLst>
          </p:cNvPr>
          <p:cNvSpPr txBox="1"/>
          <p:nvPr/>
        </p:nvSpPr>
        <p:spPr>
          <a:xfrm>
            <a:off x="1251984" y="1743486"/>
            <a:ext cx="6097772" cy="3547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 Foushee'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0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UNION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'Jesús Castillo'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'$1.00'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372421-7404-DF05-C0CD-B8C79979BAF8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66B84E-DF8A-1E41-B165-4691290E5532}"/>
              </a:ext>
            </a:extLst>
          </p:cNvPr>
          <p:cNvSpPr txBox="1"/>
          <p:nvPr/>
        </p:nvSpPr>
        <p:spPr>
          <a:xfrm>
            <a:off x="1297172" y="1233647"/>
            <a:ext cx="4798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FA959A2-A31E-0EB2-CA6A-8E1DFCD885B7}"/>
              </a:ext>
            </a:extLst>
          </p:cNvPr>
          <p:cNvGrpSpPr/>
          <p:nvPr/>
        </p:nvGrpSpPr>
        <p:grpSpPr>
          <a:xfrm>
            <a:off x="2035496" y="2877028"/>
            <a:ext cx="9224383" cy="3362512"/>
            <a:chOff x="2035496" y="2877028"/>
            <a:chExt cx="9224383" cy="3362512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B09C2BF-BAD8-8155-2829-ED99075D2EAD}"/>
                </a:ext>
              </a:extLst>
            </p:cNvPr>
            <p:cNvSpPr/>
            <p:nvPr/>
          </p:nvSpPr>
          <p:spPr>
            <a:xfrm>
              <a:off x="2035497" y="2877028"/>
              <a:ext cx="4922874" cy="34024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024F7BD-7B52-191C-022B-610EF1FE2F9A}"/>
                </a:ext>
              </a:extLst>
            </p:cNvPr>
            <p:cNvSpPr/>
            <p:nvPr/>
          </p:nvSpPr>
          <p:spPr>
            <a:xfrm>
              <a:off x="2035496" y="4308990"/>
              <a:ext cx="5314259" cy="34024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F07A234-4609-9520-FD73-8FBB9474ED22}"/>
                </a:ext>
              </a:extLst>
            </p:cNvPr>
            <p:cNvSpPr/>
            <p:nvPr/>
          </p:nvSpPr>
          <p:spPr>
            <a:xfrm>
              <a:off x="7888224" y="5899298"/>
              <a:ext cx="3371655" cy="34024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7C9BE78-5E42-32C7-2C09-C63ED00DFC49}"/>
              </a:ext>
            </a:extLst>
          </p:cNvPr>
          <p:cNvSpPr txBox="1"/>
          <p:nvPr/>
        </p:nvSpPr>
        <p:spPr>
          <a:xfrm>
            <a:off x="5995149" y="1233647"/>
            <a:ext cx="3913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Fixed to ABSENT ON NULL setting.</a:t>
            </a:r>
          </a:p>
        </p:txBody>
      </p:sp>
    </p:spTree>
    <p:extLst>
      <p:ext uri="{BB962C8B-B14F-4D97-AF65-F5344CB8AC3E}">
        <p14:creationId xmlns:p14="http://schemas.microsoft.com/office/powerpoint/2010/main" val="58606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D4CD45-7C72-34CE-29B3-3757BFDDB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25" y="3572982"/>
            <a:ext cx="10191750" cy="647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C4A037-BD8F-2226-325F-032628CD7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23" y="1652912"/>
            <a:ext cx="10191751" cy="58522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7245872-D40B-963D-53DA-5C3BC454D2B0}"/>
              </a:ext>
            </a:extLst>
          </p:cNvPr>
          <p:cNvCxnSpPr>
            <a:cxnSpLocks/>
          </p:cNvCxnSpPr>
          <p:nvPr/>
        </p:nvCxnSpPr>
        <p:spPr>
          <a:xfrm flipH="1">
            <a:off x="5071730" y="2340864"/>
            <a:ext cx="536590" cy="138053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44329BE-0746-89A8-E036-63F53173CA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9036" y="5056240"/>
            <a:ext cx="5764521" cy="647699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92E722C-0483-5475-1787-CDFDFEA55173}"/>
              </a:ext>
            </a:extLst>
          </p:cNvPr>
          <p:cNvCxnSpPr>
            <a:cxnSpLocks/>
          </p:cNvCxnSpPr>
          <p:nvPr/>
        </p:nvCxnSpPr>
        <p:spPr>
          <a:xfrm>
            <a:off x="1633728" y="3896832"/>
            <a:ext cx="1219200" cy="1308256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49C7CB9-2F9A-065E-6848-C3D1F481E54F}"/>
              </a:ext>
            </a:extLst>
          </p:cNvPr>
          <p:cNvSpPr/>
          <p:nvPr/>
        </p:nvSpPr>
        <p:spPr>
          <a:xfrm>
            <a:off x="6900672" y="5205088"/>
            <a:ext cx="829056" cy="350439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904961-49B0-E2F3-847C-FFE27634A934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81153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E451E-F2AA-2606-CEE2-EE14606D7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E507B49-EF76-0167-5746-EEB0C5875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906" y="2547717"/>
            <a:ext cx="9544050" cy="38766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0B6F120-275F-B89A-1F01-0AC234143F2B}"/>
              </a:ext>
            </a:extLst>
          </p:cNvPr>
          <p:cNvSpPr txBox="1"/>
          <p:nvPr/>
        </p:nvSpPr>
        <p:spPr>
          <a:xfrm>
            <a:off x="8399722" y="1507004"/>
            <a:ext cx="2883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characters do you want to see on the screen?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C5E957-91D2-DD9F-E082-B71A166DD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582320"/>
            <a:ext cx="5518258" cy="4537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F7F999E-B6F5-E20F-72F0-C6F2BC5500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78" y="1141582"/>
            <a:ext cx="7439025" cy="1104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FC4CEBA-2F01-6CF3-FF5C-5B048EB4D0F8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8114303" y="1830170"/>
            <a:ext cx="285419" cy="300008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9923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C496B7E-AE7B-3879-073B-D88A49F19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509" y="1694688"/>
            <a:ext cx="10318525" cy="4364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832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AF4995B-E86B-6000-2652-377F06D8AD01}"/>
              </a:ext>
            </a:extLst>
          </p:cNvPr>
          <p:cNvSpPr txBox="1"/>
          <p:nvPr/>
        </p:nvSpPr>
        <p:spPr>
          <a:xfrm>
            <a:off x="1365504" y="1592687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LongJson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26B038-599B-9A8F-6703-2A278666F713}"/>
              </a:ext>
            </a:extLst>
          </p:cNvPr>
          <p:cNvSpPr txBox="1"/>
          <p:nvPr/>
        </p:nvSpPr>
        <p:spPr>
          <a:xfrm>
            <a:off x="1365504" y="364845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 t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LongJson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75BB75-0A61-726A-22F7-BFCC81135A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6335" y="2616702"/>
            <a:ext cx="6350325" cy="6629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6CBD7A4-909B-5BB0-9B5B-0A851E8C80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6063" y="5265992"/>
            <a:ext cx="6700490" cy="66294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85D62FA-B097-1D43-BB38-FDA09F8C8D2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8416078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DFE0D-02EF-27EF-991B-C3BF47588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6711E7-6515-D143-D66C-40F426C97260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91E4DD-0133-205E-3B7A-563E8F5923D4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15928922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9975-DCC2-F97D-665B-C2ED485AB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AE109A2-AA53-3A18-3067-5A522315564F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75E35D-1FF8-C550-9085-109B02ABB7FD}"/>
              </a:ext>
            </a:extLst>
          </p:cNvPr>
          <p:cNvSpPr txBox="1"/>
          <p:nvPr/>
        </p:nvSpPr>
        <p:spPr>
          <a:xfrm>
            <a:off x="1225296" y="1579894"/>
            <a:ext cx="9741408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Additional options: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INCLUDE_NULL_VALUES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1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I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ncludes null values in the JSON output of the 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 clause.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Default is to exclude key/value pairs of null values.</a:t>
            </a:r>
            <a:endParaRPr lang="en-US" sz="2000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ROOT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rootname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C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reates a root level node named “</a:t>
            </a:r>
            <a:r>
              <a:rPr lang="en-US" sz="2000" b="0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rootname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” that embodies all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pPr>
              <a:defRPr/>
            </a:pP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WITHOUT_ARRAY_WRAPPER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removes the outer brackets of 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1DD1B2-FCE3-849A-DDE7-2FF2CCF1A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190" y="2157178"/>
            <a:ext cx="3033886" cy="5234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437A28-DBBF-6FB9-D75C-0E67FE403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223" y="3581542"/>
            <a:ext cx="1806321" cy="5747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6C9D415-392F-2381-9CB9-E6AA613C6F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206" y="4990737"/>
            <a:ext cx="1660354" cy="57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7035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F1444-66D8-55DD-5150-33C0B79D9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861D728-9A50-3D14-38D2-46EAC0BFB49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PATH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38826023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array given a list of valid JSON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75F66A-44CA-F7A2-FF78-492618573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171" y="5537327"/>
            <a:ext cx="2103169" cy="61024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1BC847-ACD1-D3E0-A719-0DABA0039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67" y="4442564"/>
            <a:ext cx="2210108" cy="62159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0B03831-85F8-C943-BF9E-6000F83127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67" y="3327534"/>
            <a:ext cx="2210108" cy="6132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4E1B24-D972-F7F4-66D9-474086D88A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8814" y="2222526"/>
            <a:ext cx="2196755" cy="60325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AF92F77-D4C9-4B64-1A37-5F3E292C484C}"/>
              </a:ext>
            </a:extLst>
          </p:cNvPr>
          <p:cNvSpPr txBox="1"/>
          <p:nvPr/>
        </p:nvSpPr>
        <p:spPr>
          <a:xfrm>
            <a:off x="5818552" y="4024464"/>
            <a:ext cx="2735226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NULL)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4C2C0-B621-7A7C-181F-94203A9CD323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54141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2C93F9-1383-E6E8-3F3C-A42C10D8539B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stringable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5D410F-360A-69F7-727E-A7088AA0819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Returns a concatenated string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132FF-0FD4-665F-7DEA-C3CC066D25CE}"/>
              </a:ext>
            </a:extLst>
          </p:cNvPr>
          <p:cNvSpPr txBox="1"/>
          <p:nvPr/>
        </p:nvSpPr>
        <p:spPr>
          <a:xfrm>
            <a:off x="1402080" y="2126199"/>
            <a:ext cx="74371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',"'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']'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CA13A5-38A3-879F-4921-F4126C788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012" y="2788348"/>
            <a:ext cx="3000282" cy="23848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57ED7F-E554-71FD-A355-51A84DDEDA57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2014+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7476267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da-DK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da-DK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da-DK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Jeff'</a:t>
            </a:r>
            <a:r>
              <a:rPr lang="da-DK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da-DK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'$.dog'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da-DK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da-DK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specified JSON path.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80ABD-C535-1042-FFC3-62D22814337A}"/>
              </a:ext>
            </a:extLst>
          </p:cNvPr>
          <p:cNvSpPr txBox="1"/>
          <p:nvPr/>
        </p:nvSpPr>
        <p:spPr>
          <a:xfrm>
            <a:off x="8789723" y="5605066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A0E93E-64D5-0D91-3F9A-F998D34B9AE6}"/>
              </a:ext>
            </a:extLst>
          </p:cNvPr>
          <p:cNvSpPr txBox="1"/>
          <p:nvPr/>
        </p:nvSpPr>
        <p:spPr>
          <a:xfrm>
            <a:off x="6827520" y="4630548"/>
            <a:ext cx="4608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Adds/sets even if non-existent</a:t>
            </a:r>
            <a:endParaRPr lang="en-US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3964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033FA-C9E7-4C62-33D2-267D444E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Indexing JSON</a:t>
            </a:r>
          </a:p>
        </p:txBody>
      </p:sp>
    </p:spTree>
    <p:extLst>
      <p:ext uri="{BB962C8B-B14F-4D97-AF65-F5344CB8AC3E}">
        <p14:creationId xmlns:p14="http://schemas.microsoft.com/office/powerpoint/2010/main" val="58840294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04C3-E652-A3C8-F4DC-9D0A1D66B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Indexing JSON (1 object, 1 value)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B76C4-57D0-374A-4940-5AD05203B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9" y="1690688"/>
            <a:ext cx="3987560" cy="11130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6C3FFF-E679-5EE6-60AD-ACE3D52EFE24}"/>
              </a:ext>
            </a:extLst>
          </p:cNvPr>
          <p:cNvSpPr txBox="1"/>
          <p:nvPr/>
        </p:nvSpPr>
        <p:spPr>
          <a:xfrm>
            <a:off x="1032128" y="3482138"/>
            <a:ext cx="70633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00FFFF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0463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FE8F2-198D-75DC-F552-AD672475D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4ACB5-50F2-41F2-2E63-AD450555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Indexing JSON (1 object, 1 value)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EE4A33-1691-2B04-DE8C-C5390B3BCAC3}"/>
              </a:ext>
            </a:extLst>
          </p:cNvPr>
          <p:cNvSpPr txBox="1"/>
          <p:nvPr/>
        </p:nvSpPr>
        <p:spPr>
          <a:xfrm>
            <a:off x="5619750" y="4533465"/>
            <a:ext cx="43403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TOP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[name]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JsonDemo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B89996-376D-0C4F-8BD3-50ACE272D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750" y="5476113"/>
            <a:ext cx="5734050" cy="5143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50F33B-222B-E1A0-137E-37A87531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65969"/>
            <a:ext cx="5042768" cy="270981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C5FF805-00BA-32F3-5AC9-E877A5093165}"/>
              </a:ext>
            </a:extLst>
          </p:cNvPr>
          <p:cNvSpPr/>
          <p:nvPr/>
        </p:nvSpPr>
        <p:spPr>
          <a:xfrm>
            <a:off x="3447880" y="3786556"/>
            <a:ext cx="2343320" cy="441960"/>
          </a:xfrm>
          <a:prstGeom prst="rect">
            <a:avLst/>
          </a:prstGeom>
          <a:noFill/>
          <a:ln w="349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07DEF1-CC2A-D8A4-FB3A-9164778730D5}"/>
              </a:ext>
            </a:extLst>
          </p:cNvPr>
          <p:cNvSpPr txBox="1"/>
          <p:nvPr/>
        </p:nvSpPr>
        <p:spPr>
          <a:xfrm>
            <a:off x="6119622" y="2951630"/>
            <a:ext cx="42428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EDD8E2-EB7E-3442-E089-BC41A3452461}"/>
              </a:ext>
            </a:extLst>
          </p:cNvPr>
          <p:cNvCxnSpPr>
            <a:cxnSpLocks/>
          </p:cNvCxnSpPr>
          <p:nvPr/>
        </p:nvCxnSpPr>
        <p:spPr>
          <a:xfrm flipV="1">
            <a:off x="5827014" y="3344596"/>
            <a:ext cx="292608" cy="44196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F53EAAC-2A19-F0DD-9A1F-0CEF3B09FB4D}"/>
              </a:ext>
            </a:extLst>
          </p:cNvPr>
          <p:cNvSpPr txBox="1"/>
          <p:nvPr/>
        </p:nvSpPr>
        <p:spPr>
          <a:xfrm>
            <a:off x="1840992" y="4435952"/>
            <a:ext cx="148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PERSISTED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A2A9FE0-8162-BC61-18DC-DD67297335A7}"/>
              </a:ext>
            </a:extLst>
          </p:cNvPr>
          <p:cNvCxnSpPr>
            <a:cxnSpLocks/>
          </p:cNvCxnSpPr>
          <p:nvPr/>
        </p:nvCxnSpPr>
        <p:spPr>
          <a:xfrm flipV="1">
            <a:off x="3136200" y="4178658"/>
            <a:ext cx="292608" cy="44196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665604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E015-E68F-2C38-7EA6-FF5F1780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5801AC3-1F2F-8A58-96E1-25B9A2F2B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008" y="1565871"/>
            <a:ext cx="5354574" cy="2650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6B9977-5D80-F6B4-271F-EC2F3557D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Indexing JSON (1 object, 1 value)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4352FD-E253-E572-B5B6-D743D45F15D9}"/>
              </a:ext>
            </a:extLst>
          </p:cNvPr>
          <p:cNvSpPr txBox="1"/>
          <p:nvPr/>
        </p:nvSpPr>
        <p:spPr>
          <a:xfrm>
            <a:off x="5623562" y="4520523"/>
            <a:ext cx="43403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TOP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last_name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JsonDemo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  <a:endParaRPr lang="en-US" sz="1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61823F-9636-9362-D007-EBD6FC683F74}"/>
              </a:ext>
            </a:extLst>
          </p:cNvPr>
          <p:cNvSpPr/>
          <p:nvPr/>
        </p:nvSpPr>
        <p:spPr>
          <a:xfrm>
            <a:off x="3447880" y="3786556"/>
            <a:ext cx="2818808" cy="441960"/>
          </a:xfrm>
          <a:prstGeom prst="rect">
            <a:avLst/>
          </a:prstGeom>
          <a:noFill/>
          <a:ln w="349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27698A-AE3C-F2BF-B06D-B8C5C518844D}"/>
              </a:ext>
            </a:extLst>
          </p:cNvPr>
          <p:cNvSpPr txBox="1"/>
          <p:nvPr/>
        </p:nvSpPr>
        <p:spPr>
          <a:xfrm>
            <a:off x="6400800" y="1939581"/>
            <a:ext cx="567778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RIGHT(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LEN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-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CHARINDEX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F994E4E-338A-E0D9-3B3E-A5BC9F79F03C}"/>
              </a:ext>
            </a:extLst>
          </p:cNvPr>
          <p:cNvCxnSpPr>
            <a:cxnSpLocks/>
          </p:cNvCxnSpPr>
          <p:nvPr/>
        </p:nvCxnSpPr>
        <p:spPr>
          <a:xfrm flipV="1">
            <a:off x="5827014" y="2713693"/>
            <a:ext cx="927354" cy="1072863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54CF864-CA1E-8609-F832-98F9CCC4E48D}"/>
              </a:ext>
            </a:extLst>
          </p:cNvPr>
          <p:cNvSpPr txBox="1"/>
          <p:nvPr/>
        </p:nvSpPr>
        <p:spPr>
          <a:xfrm>
            <a:off x="1840992" y="4435952"/>
            <a:ext cx="148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PERSISTED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6F8C6C-F530-615B-9963-1F9AAC87D547}"/>
              </a:ext>
            </a:extLst>
          </p:cNvPr>
          <p:cNvCxnSpPr>
            <a:cxnSpLocks/>
          </p:cNvCxnSpPr>
          <p:nvPr/>
        </p:nvCxnSpPr>
        <p:spPr>
          <a:xfrm flipV="1">
            <a:off x="3136200" y="4178658"/>
            <a:ext cx="292608" cy="44196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68754218-49ED-A89F-E32B-6E57B84CF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20" y="5439537"/>
            <a:ext cx="5524500" cy="56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03092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0DD77E-1A90-FA6B-6109-5312758B96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332" y="696408"/>
            <a:ext cx="9471335" cy="54651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2413619-35BC-3258-9EDB-A91DF1D1B4FD}"/>
              </a:ext>
            </a:extLst>
          </p:cNvPr>
          <p:cNvSpPr/>
          <p:nvPr/>
        </p:nvSpPr>
        <p:spPr>
          <a:xfrm>
            <a:off x="5961888" y="3791712"/>
            <a:ext cx="1426464" cy="560832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367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BC7E6-5B07-1429-6130-E25EA6BE6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1AE2979-5CC4-E11D-7730-07920CB2F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008" y="1565871"/>
            <a:ext cx="5354574" cy="2650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B47F63-F3BF-F80B-6254-3C995D730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Indexing JSON (1 object, 1 value)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4E9310-3CE6-B1E9-3603-EBBCCE736AA5}"/>
              </a:ext>
            </a:extLst>
          </p:cNvPr>
          <p:cNvSpPr/>
          <p:nvPr/>
        </p:nvSpPr>
        <p:spPr>
          <a:xfrm>
            <a:off x="3447880" y="3786556"/>
            <a:ext cx="2818808" cy="441960"/>
          </a:xfrm>
          <a:prstGeom prst="rect">
            <a:avLst/>
          </a:prstGeom>
          <a:noFill/>
          <a:ln w="349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C8F4A4-C0A5-B198-BD06-89AF887F1B08}"/>
              </a:ext>
            </a:extLst>
          </p:cNvPr>
          <p:cNvSpPr txBox="1"/>
          <p:nvPr/>
        </p:nvSpPr>
        <p:spPr>
          <a:xfrm>
            <a:off x="6412230" y="1939581"/>
            <a:ext cx="559689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128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),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RIGHT(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LEN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CHARINDEX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9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)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5B9E91B-C014-2374-E5A4-00E3EEB63E0A}"/>
              </a:ext>
            </a:extLst>
          </p:cNvPr>
          <p:cNvCxnSpPr>
            <a:cxnSpLocks/>
          </p:cNvCxnSpPr>
          <p:nvPr/>
        </p:nvCxnSpPr>
        <p:spPr>
          <a:xfrm flipV="1">
            <a:off x="5827014" y="2424223"/>
            <a:ext cx="701377" cy="1362333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8DDBC3D-D574-694E-0793-A75F0006A60B}"/>
              </a:ext>
            </a:extLst>
          </p:cNvPr>
          <p:cNvSpPr txBox="1"/>
          <p:nvPr/>
        </p:nvSpPr>
        <p:spPr>
          <a:xfrm>
            <a:off x="1840992" y="4435952"/>
            <a:ext cx="148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PERSISTED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83CD814-0E6C-7FA5-6224-973DC3FFA14A}"/>
              </a:ext>
            </a:extLst>
          </p:cNvPr>
          <p:cNvCxnSpPr>
            <a:cxnSpLocks/>
          </p:cNvCxnSpPr>
          <p:nvPr/>
        </p:nvCxnSpPr>
        <p:spPr>
          <a:xfrm flipV="1">
            <a:off x="3136200" y="4178658"/>
            <a:ext cx="292608" cy="44196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505461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351690-2C27-CA27-2DA9-FD59F47AA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933" y="702410"/>
            <a:ext cx="9450133" cy="54531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5685047-492D-210C-E557-3741F889FB32}"/>
              </a:ext>
            </a:extLst>
          </p:cNvPr>
          <p:cNvSpPr/>
          <p:nvPr/>
        </p:nvSpPr>
        <p:spPr>
          <a:xfrm>
            <a:off x="5961888" y="3791712"/>
            <a:ext cx="1304544" cy="560832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736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F8916-7B42-32DD-9CBD-CFB84FEA5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E14FAD-03DF-D7CA-E19C-97B2AD237EA9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72769556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BE22E-0633-13CC-2D81-50F795BAF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81D3B-ACF9-D7EC-D68B-755D7878D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Indexing JSON (1 object, multi-value)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1AE6C-130A-428F-14D7-711A83082E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9" y="1690688"/>
            <a:ext cx="3987560" cy="11130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1EEC3D-FF0E-E352-8FD2-BC4D941D2C6A}"/>
              </a:ext>
            </a:extLst>
          </p:cNvPr>
          <p:cNvSpPr txBox="1"/>
          <p:nvPr/>
        </p:nvSpPr>
        <p:spPr>
          <a:xfrm>
            <a:off x="1032128" y="3482138"/>
            <a:ext cx="70633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00FFFF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64032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147FFAC-DA99-46FF-89E2-9A4FDC4D2127}"/>
              </a:ext>
            </a:extLst>
          </p:cNvPr>
          <p:cNvSpPr txBox="1"/>
          <p:nvPr/>
        </p:nvSpPr>
        <p:spPr>
          <a:xfrm>
            <a:off x="5443870" y="805350"/>
            <a:ext cx="6288609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tr_Persons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SET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 BEGIN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   DELETE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   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 END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--ENDIF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inserted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 BEGIN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   INSERT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p</a:t>
            </a: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 END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--ENDIF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5B3F6F-989F-2C7D-0375-FA99EE6298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397" y="1285321"/>
            <a:ext cx="3258266" cy="1319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97993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5A5C1-2B69-33A8-922D-84EE91B52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21394-0816-548C-00DB-D4F223765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Indexing JSON (1 array, 1 value)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B332F7-3A69-1076-E759-DB6DF0DF3A27}"/>
              </a:ext>
            </a:extLst>
          </p:cNvPr>
          <p:cNvSpPr txBox="1"/>
          <p:nvPr/>
        </p:nvSpPr>
        <p:spPr>
          <a:xfrm>
            <a:off x="1032127" y="3016251"/>
            <a:ext cx="706335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00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 </a:t>
            </a:r>
            <a:r>
              <a:rPr lang="en-US" dirty="0">
                <a:solidFill>
                  <a:srgbClr val="FF0000"/>
                </a:solidFill>
                <a:highlight>
                  <a:srgbClr val="00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6FE0E6-99B3-36E4-3A1C-0FF89C33A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7" y="1690688"/>
            <a:ext cx="3637695" cy="103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62993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041025D-F4AB-AB6B-4436-C5BE3122140C}"/>
              </a:ext>
            </a:extLst>
          </p:cNvPr>
          <p:cNvSpPr txBox="1"/>
          <p:nvPr/>
        </p:nvSpPr>
        <p:spPr>
          <a:xfrm>
            <a:off x="5443870" y="805350"/>
            <a:ext cx="6288609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tr_Classes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Classes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Classes_x_Students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--ENDIF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inserted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Classes_x_Students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p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--ENDIF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1B7495-959F-86EC-EBEA-32F1530151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706" y="1099805"/>
            <a:ext cx="3334280" cy="1324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9444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30562</TotalTime>
  <Words>5487</Words>
  <Application>Microsoft Office PowerPoint</Application>
  <PresentationFormat>Widescreen</PresentationFormat>
  <Paragraphs>1022</Paragraphs>
  <Slides>68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7" baseType="lpstr">
      <vt:lpstr>-apple-system</vt:lpstr>
      <vt:lpstr>Arial</vt:lpstr>
      <vt:lpstr>Calibri</vt:lpstr>
      <vt:lpstr>Calibri Light</vt:lpstr>
      <vt:lpstr>Cascadia Mono</vt:lpstr>
      <vt:lpstr>Consolas</vt:lpstr>
      <vt:lpstr>Segoe UI</vt:lpstr>
      <vt:lpstr>SFMono-Regular</vt:lpstr>
      <vt:lpstr>Office Theme</vt:lpstr>
      <vt:lpstr>PowerPoint Presentation</vt:lpstr>
      <vt:lpstr>Preparing for JSON (client tools)</vt:lpstr>
      <vt:lpstr>PowerPoint Presentation</vt:lpstr>
      <vt:lpstr>PowerPoint Presentation</vt:lpstr>
      <vt:lpstr>PowerPoint Presentation</vt:lpstr>
      <vt:lpstr>PowerPoint Presentation</vt:lpstr>
      <vt:lpstr>Preparing for JSON (table architecture)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Inspecting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Querying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Indexing JSON</vt:lpstr>
      <vt:lpstr>Indexing JSON (1 object, 1 value)</vt:lpstr>
      <vt:lpstr>Indexing JSON (1 object, 1 value)</vt:lpstr>
      <vt:lpstr>Indexing JSON (1 object, 1 value)</vt:lpstr>
      <vt:lpstr>PowerPoint Presentation</vt:lpstr>
      <vt:lpstr>Indexing JSON (1 object, 1 value)</vt:lpstr>
      <vt:lpstr>PowerPoint Presentation</vt:lpstr>
      <vt:lpstr>PowerPoint Presentation</vt:lpstr>
      <vt:lpstr>Indexing JSON (1 object, multi-value)</vt:lpstr>
      <vt:lpstr>PowerPoint Presentation</vt:lpstr>
      <vt:lpstr>Indexing JSON (1 array, 1 value)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33</cp:revision>
  <dcterms:created xsi:type="dcterms:W3CDTF">2024-01-27T23:55:18Z</dcterms:created>
  <dcterms:modified xsi:type="dcterms:W3CDTF">2024-03-12T01:40:13Z</dcterms:modified>
</cp:coreProperties>
</file>