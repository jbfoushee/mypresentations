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3" r:id="rId2"/>
    <p:sldId id="311" r:id="rId3"/>
    <p:sldId id="355" r:id="rId4"/>
    <p:sldId id="342" r:id="rId5"/>
    <p:sldId id="345" r:id="rId6"/>
    <p:sldId id="296" r:id="rId7"/>
    <p:sldId id="297" r:id="rId8"/>
    <p:sldId id="360" r:id="rId9"/>
    <p:sldId id="361" r:id="rId10"/>
    <p:sldId id="369" r:id="rId11"/>
    <p:sldId id="362" r:id="rId12"/>
    <p:sldId id="305" r:id="rId13"/>
    <p:sldId id="306" r:id="rId14"/>
    <p:sldId id="307" r:id="rId15"/>
    <p:sldId id="308" r:id="rId16"/>
    <p:sldId id="343" r:id="rId17"/>
    <p:sldId id="370" r:id="rId18"/>
    <p:sldId id="371" r:id="rId19"/>
    <p:sldId id="309" r:id="rId20"/>
    <p:sldId id="341" r:id="rId21"/>
    <p:sldId id="310" r:id="rId22"/>
    <p:sldId id="330" r:id="rId23"/>
    <p:sldId id="331" r:id="rId24"/>
    <p:sldId id="364" r:id="rId25"/>
    <p:sldId id="353" r:id="rId26"/>
    <p:sldId id="354" r:id="rId27"/>
    <p:sldId id="356" r:id="rId28"/>
    <p:sldId id="332" r:id="rId29"/>
    <p:sldId id="334" r:id="rId30"/>
    <p:sldId id="313" r:id="rId31"/>
    <p:sldId id="314" r:id="rId32"/>
    <p:sldId id="357" r:id="rId33"/>
    <p:sldId id="338" r:id="rId34"/>
    <p:sldId id="339" r:id="rId35"/>
    <p:sldId id="358" r:id="rId36"/>
    <p:sldId id="340" r:id="rId37"/>
    <p:sldId id="337" r:id="rId38"/>
    <p:sldId id="36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7" autoAdjust="0"/>
    <p:restoredTop sz="94660"/>
  </p:normalViewPr>
  <p:slideViewPr>
    <p:cSldViewPr snapToGrid="0">
      <p:cViewPr varScale="1">
        <p:scale>
          <a:sx n="85" d="100"/>
          <a:sy n="85" d="100"/>
        </p:scale>
        <p:origin x="6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14F8E-65CA-47D1-8EAA-A546B069D734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48FD7-906B-44ED-8991-51FD58687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5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Putting an index on the JSON column did nothing for us. Notice that with/without the index, neither query had an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04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shrink the column length down for two reasons:</a:t>
            </a:r>
          </a:p>
          <a:p>
            <a:r>
              <a:rPr lang="en-US" dirty="0"/>
              <a:t>1. No one is going to take advantage of the index by verbatim syntax at this point anyway</a:t>
            </a:r>
          </a:p>
          <a:p>
            <a:r>
              <a:rPr lang="en-US" dirty="0"/>
              <a:t>2. No one should have a last name larger than 128 characters</a:t>
            </a:r>
          </a:p>
          <a:p>
            <a:r>
              <a:rPr lang="en-US" dirty="0"/>
              <a:t>I’m also going to favor disk over CPU by storing the value via the PERSISTED keyword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2585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290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get an index seek if I duplicate the definition of the computed column, but I cannot expect developers to use this syntax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141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anything beyond the verbatim definition will result in an index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748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Parents are a one-to-many relationship, I will build a one-to-many relationship table.</a:t>
            </a:r>
          </a:p>
          <a:p>
            <a:r>
              <a:rPr lang="en-US" dirty="0"/>
              <a:t>I will then build a trigger to monitor the incoming JSON and rebuild this </a:t>
            </a:r>
            <a:r>
              <a:rPr lang="en-US" dirty="0" err="1"/>
              <a:t>Persons_x_Parents</a:t>
            </a:r>
            <a:r>
              <a:rPr lang="en-US" dirty="0"/>
              <a:t> table data for the affected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454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 add data to the </a:t>
            </a:r>
            <a:r>
              <a:rPr lang="en-US" dirty="0" err="1"/>
              <a:t>dbo.Persons</a:t>
            </a:r>
            <a:r>
              <a:rPr lang="en-US" dirty="0"/>
              <a:t> table, the JSON is parsed and sent to the </a:t>
            </a:r>
            <a:r>
              <a:rPr lang="en-US" dirty="0" err="1"/>
              <a:t>dbo.Persons_x_Parents</a:t>
            </a:r>
            <a:r>
              <a:rPr lang="en-US" dirty="0"/>
              <a:t>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43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 update a JSON property, notice the rows in </a:t>
            </a:r>
            <a:r>
              <a:rPr lang="en-US" dirty="0" err="1"/>
              <a:t>dbo.Persons_x_Parents</a:t>
            </a:r>
            <a:r>
              <a:rPr lang="en-US" dirty="0"/>
              <a:t> were re-written.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774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trigger was written that way. An update is a combination of rows in inserted and deleted.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32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fix the trigger to account for inserts, updates, and deletes. We can detect the modification type based on data (or lack of data) in the tables inserted and deleted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594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segmenting </a:t>
            </a:r>
            <a:r>
              <a:rPr lang="en-US" dirty="0" err="1"/>
              <a:t>ModTypes</a:t>
            </a:r>
            <a:r>
              <a:rPr lang="en-US" dirty="0"/>
              <a:t>, I can prevent data from being simultaneously inserted and deleted.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174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I’ll use a TSQL MERGE statement to prevent both an INSERT and UPDATE from simultaneously happening.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6B6EA1-B038-4F2A-86A0-5554CC981C7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01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47B5-C9EC-10A0-B24D-5474197FB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F259B-7A0B-8BDE-9BE8-30AB7A886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29CE7-30FF-8AF6-6472-2CFE6F328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0A234-B461-06DB-0109-6AF4CC4D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6F884-3458-1C90-67BE-865E3CAC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66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FA20-7C2F-681C-71C8-8C8B565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854E3-A5ED-D3A9-04A9-0CE3D4D3F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A9F4-D243-08D2-2E70-52A8195B0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13E26-B9E0-4EC6-007A-C21AE1FE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C3A14-521B-1866-D1E4-2C5CDDA2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4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F60E1-B7BB-7BC7-0EEE-F4023319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7D388-F992-2A9C-2FF3-76FF60363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6EC7E-C9B5-F08C-96FB-3663AC59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3049-1F34-76DA-8362-ECC6CD94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5FED-9A20-1C13-C248-695049B6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5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C837-3AD8-8427-316B-A28A49D8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B7311-FA47-5831-D36E-84466E6CE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9D0FC-A9AD-4B5E-AD82-E54627D8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A1BC2-E224-D082-E155-FB702EB0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46A95-FF7A-C00A-17C2-985599A3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5BA5C-1B07-824D-EE51-030F3391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1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1433-94D9-2F2E-3187-11182033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65568-5D61-8C5A-EB18-198F820B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530B9-5D1A-9E7E-167C-16333B381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52213-176E-CF0B-FC96-9B1D2E68C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2AA1EF-B7B6-C723-6E48-FE38B76A9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306FA-38C9-0682-08A4-C2363FAD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38FB43-C069-AE74-5B59-705746BB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CF398-A4A7-9103-1795-0C76B85B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5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802A-BD0E-4587-EA86-6286DC63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BC873-0C4A-AC77-2A76-7B485A00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7661F-9A2E-F9E8-20FD-2029AED2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E943A-0141-6440-866E-188DD02A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4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56AE7-4FCA-EB6E-7DD9-A686B133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A2C866-B042-39A8-5D2F-DF830455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7C045-305D-D0F3-01C8-AD23197C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9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DC42F-9FA2-6404-088E-02F2C5BD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B67E0-007B-3623-D41D-047B10251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59834-0191-C52C-F7B8-828CEEDE2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19C3D-2540-D591-9232-091F9E1F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95184-C97E-B7D7-C50A-E6C9AB0F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09A3A-674C-89E5-67D6-90868B7A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6BF4-302D-EBFC-6E4E-43E48003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17AB8F-2A36-798B-91FF-989B46F9A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92674-DA69-5CC5-519E-744400868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7BE1A-8C90-23EB-99C3-11046E17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4CF4B-BDFF-16AB-0D04-0C930ECC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7B01A-544A-AA80-8704-D465BC9A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9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72B4-C610-5223-93D0-460A2E89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96FFA-E588-903C-A727-F85BB1FFD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E75D-4893-F322-2E8E-1D204DC6E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1C242-F34F-7AFC-9209-D72166CC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E738-DA52-A90E-8030-87863C15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9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711FB3-94B6-93B2-96B1-EC157C11D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B85F7-AE47-97BB-DA14-2A7D8C055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78587-CDCA-25F9-CD86-A526CCE6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F07EE-5A4F-A8B0-0FF5-73CDC56B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B81DF-C8BE-CC6F-3603-24A4BAA2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6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B2992-8053-8E32-8E45-24A72315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6B4DE-1168-4073-3AD7-4D8E3B89C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AB8EB-239E-001F-29F4-E8D0BCFCF3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6C9CC-A808-4635-9C32-9CC159E55C37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9ABEC-4DB0-2250-9771-96BC52665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C8B26-5E6C-B9AC-366B-EDE93AE8A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E6367-0A4B-4188-88A4-F6A62FB81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ve Instructor-Led SQL Querying Advanced Training - Hands-on Course">
            <a:extLst>
              <a:ext uri="{FF2B5EF4-FFF2-40B4-BE49-F238E27FC236}">
                <a16:creationId xmlns:a16="http://schemas.microsoft.com/office/drawing/2014/main" id="{CBDA142E-B6AA-0CE4-512D-E046762D8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063" y="4829875"/>
            <a:ext cx="1698570" cy="17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9FBDC4-6B90-0B55-CFD0-525E83D440FA}"/>
              </a:ext>
            </a:extLst>
          </p:cNvPr>
          <p:cNvSpPr txBox="1"/>
          <p:nvPr/>
        </p:nvSpPr>
        <p:spPr>
          <a:xfrm>
            <a:off x="2682240" y="1612626"/>
            <a:ext cx="6929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The </a:t>
            </a:r>
            <a:r>
              <a:rPr lang="en-US" sz="4800" dirty="0">
                <a:solidFill>
                  <a:srgbClr val="FF00FF"/>
                </a:solidFill>
                <a:latin typeface="Consolas" panose="020B0609020204030204" pitchFamily="49" charset="0"/>
              </a:rPr>
              <a:t>JSON</a:t>
            </a:r>
            <a:r>
              <a:rPr lang="en-US" sz="3600" b="1" dirty="0"/>
              <a:t>  </a:t>
            </a:r>
            <a:r>
              <a:rPr lang="en-US" sz="4800" b="1" dirty="0"/>
              <a:t>T-SQL Operators</a:t>
            </a:r>
            <a:endParaRPr lang="en-US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0ADC9-0801-A08A-74F5-830AB9857B57}"/>
              </a:ext>
            </a:extLst>
          </p:cNvPr>
          <p:cNvSpPr txBox="1"/>
          <p:nvPr/>
        </p:nvSpPr>
        <p:spPr>
          <a:xfrm>
            <a:off x="1255776" y="3178289"/>
            <a:ext cx="31455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AUTO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PATH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JSON_ARRAY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JSON_OBJECT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JSON_QUERY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026" name="Picture 2" descr="Image result for json icon">
            <a:extLst>
              <a:ext uri="{FF2B5EF4-FFF2-40B4-BE49-F238E27FC236}">
                <a16:creationId xmlns:a16="http://schemas.microsoft.com/office/drawing/2014/main" id="{6E43A857-1D75-6FE1-B5A1-A8D445D0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04" y="4995522"/>
            <a:ext cx="1451229" cy="145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71D455-518A-8349-C1FB-99FB44938D8B}"/>
              </a:ext>
            </a:extLst>
          </p:cNvPr>
          <p:cNvSpPr txBox="1"/>
          <p:nvPr/>
        </p:nvSpPr>
        <p:spPr>
          <a:xfrm>
            <a:off x="4216354" y="877960"/>
            <a:ext cx="3759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Indexing with </a:t>
            </a:r>
          </a:p>
        </p:txBody>
      </p:sp>
    </p:spTree>
    <p:extLst>
      <p:ext uri="{BB962C8B-B14F-4D97-AF65-F5344CB8AC3E}">
        <p14:creationId xmlns:p14="http://schemas.microsoft.com/office/powerpoint/2010/main" val="93807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33FA-C9E7-4C62-33D2-267D444E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JSON</a:t>
            </a:r>
          </a:p>
        </p:txBody>
      </p:sp>
    </p:spTree>
    <p:extLst>
      <p:ext uri="{BB962C8B-B14F-4D97-AF65-F5344CB8AC3E}">
        <p14:creationId xmlns:p14="http://schemas.microsoft.com/office/powerpoint/2010/main" val="588402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6A0B58-6B07-0487-8B5D-2A6F57F1B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37" y="634138"/>
            <a:ext cx="9923126" cy="558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0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8769F6-BEC9-DA7E-3AC8-6B5928E616E9}"/>
              </a:ext>
            </a:extLst>
          </p:cNvPr>
          <p:cNvSpPr txBox="1"/>
          <p:nvPr/>
        </p:nvSpPr>
        <p:spPr>
          <a:xfrm>
            <a:off x="1180682" y="718857"/>
            <a:ext cx="74005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LIKE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'%"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name":"Jeff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Foushee"%'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'Jeff 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01BA9B-AB9E-ADB6-A7CA-497C77D4E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681" y="3587496"/>
            <a:ext cx="4601712" cy="27101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8E5231-90BD-052A-1BC7-AB88A7076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609" y="3587496"/>
            <a:ext cx="4714753" cy="26434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65144A-425B-25E2-3E06-63204957467D}"/>
              </a:ext>
            </a:extLst>
          </p:cNvPr>
          <p:cNvSpPr txBox="1"/>
          <p:nvPr/>
        </p:nvSpPr>
        <p:spPr>
          <a:xfrm>
            <a:off x="6253967" y="3004079"/>
            <a:ext cx="489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(Without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nonclustered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index 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column)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3EDEF2-F371-A8CF-52D4-4DFC7CCB81D8}"/>
              </a:ext>
            </a:extLst>
          </p:cNvPr>
          <p:cNvSpPr txBox="1"/>
          <p:nvPr/>
        </p:nvSpPr>
        <p:spPr>
          <a:xfrm>
            <a:off x="1067640" y="3000566"/>
            <a:ext cx="471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(With explicit index 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column)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AD64E0-5311-786B-2449-AB1ABF15935A}"/>
              </a:ext>
            </a:extLst>
          </p:cNvPr>
          <p:cNvGrpSpPr/>
          <p:nvPr/>
        </p:nvGrpSpPr>
        <p:grpSpPr>
          <a:xfrm>
            <a:off x="2879124" y="4440193"/>
            <a:ext cx="6456977" cy="1462299"/>
            <a:chOff x="2879124" y="4440193"/>
            <a:chExt cx="6456977" cy="146229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BADA0C3-4390-254D-5F75-7FD4196754C5}"/>
                </a:ext>
              </a:extLst>
            </p:cNvPr>
            <p:cNvSpPr/>
            <p:nvPr/>
          </p:nvSpPr>
          <p:spPr>
            <a:xfrm>
              <a:off x="2879124" y="5688308"/>
              <a:ext cx="852617" cy="197709"/>
            </a:xfrm>
            <a:prstGeom prst="rect">
              <a:avLst/>
            </a:prstGeom>
            <a:noFill/>
            <a:ln w="603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6800CBD-EE0E-E260-929E-188009523E35}"/>
                </a:ext>
              </a:extLst>
            </p:cNvPr>
            <p:cNvSpPr/>
            <p:nvPr/>
          </p:nvSpPr>
          <p:spPr>
            <a:xfrm>
              <a:off x="2879124" y="4440193"/>
              <a:ext cx="852617" cy="197709"/>
            </a:xfrm>
            <a:prstGeom prst="rect">
              <a:avLst/>
            </a:prstGeom>
            <a:noFill/>
            <a:ln w="603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AD95B4-D5EB-D234-4D74-E846EA2A8190}"/>
                </a:ext>
              </a:extLst>
            </p:cNvPr>
            <p:cNvSpPr/>
            <p:nvPr/>
          </p:nvSpPr>
          <p:spPr>
            <a:xfrm>
              <a:off x="8483484" y="4469025"/>
              <a:ext cx="852617" cy="197709"/>
            </a:xfrm>
            <a:prstGeom prst="rect">
              <a:avLst/>
            </a:prstGeom>
            <a:noFill/>
            <a:ln w="603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938C66-AC6D-C502-F110-FA20D8318B6F}"/>
                </a:ext>
              </a:extLst>
            </p:cNvPr>
            <p:cNvSpPr/>
            <p:nvPr/>
          </p:nvSpPr>
          <p:spPr>
            <a:xfrm>
              <a:off x="8483484" y="5704783"/>
              <a:ext cx="852617" cy="197709"/>
            </a:xfrm>
            <a:prstGeom prst="rect">
              <a:avLst/>
            </a:prstGeom>
            <a:noFill/>
            <a:ln w="603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B2AF89-D32D-D203-9EF8-AC7BE1F15490}"/>
              </a:ext>
            </a:extLst>
          </p:cNvPr>
          <p:cNvGrpSpPr/>
          <p:nvPr/>
        </p:nvGrpSpPr>
        <p:grpSpPr>
          <a:xfrm>
            <a:off x="5275765" y="3805881"/>
            <a:ext cx="5836240" cy="1546560"/>
            <a:chOff x="5275765" y="3805881"/>
            <a:chExt cx="5836240" cy="15465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C8576B-E50D-7123-3A5C-AD3AA26D05C6}"/>
                </a:ext>
              </a:extLst>
            </p:cNvPr>
            <p:cNvSpPr/>
            <p:nvPr/>
          </p:nvSpPr>
          <p:spPr>
            <a:xfrm>
              <a:off x="5288692" y="3805881"/>
              <a:ext cx="493701" cy="28420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977F21-D856-4571-BB71-776F466FF06C}"/>
                </a:ext>
              </a:extLst>
            </p:cNvPr>
            <p:cNvSpPr/>
            <p:nvPr/>
          </p:nvSpPr>
          <p:spPr>
            <a:xfrm>
              <a:off x="5275765" y="5068236"/>
              <a:ext cx="493701" cy="28420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6A2C6D-F887-DD31-6612-80EA9F56F0F0}"/>
                </a:ext>
              </a:extLst>
            </p:cNvPr>
            <p:cNvSpPr/>
            <p:nvPr/>
          </p:nvSpPr>
          <p:spPr>
            <a:xfrm>
              <a:off x="10618304" y="3830595"/>
              <a:ext cx="493701" cy="28420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ABE5D8-5883-F4F2-1D3F-1BC5ED1BFC56}"/>
                </a:ext>
              </a:extLst>
            </p:cNvPr>
            <p:cNvSpPr/>
            <p:nvPr/>
          </p:nvSpPr>
          <p:spPr>
            <a:xfrm>
              <a:off x="10618304" y="5043135"/>
              <a:ext cx="493701" cy="28420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279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33FA-C9E7-4C62-33D2-267D444E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“Indexing” JSON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DEEA3-E607-1E91-3B6E-DF62B8C3AACF}"/>
              </a:ext>
            </a:extLst>
          </p:cNvPr>
          <p:cNvSpPr txBox="1"/>
          <p:nvPr/>
        </p:nvSpPr>
        <p:spPr>
          <a:xfrm>
            <a:off x="1853514" y="2113005"/>
            <a:ext cx="86991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computed columns to simulate how users will “JSON_QUERY” the data. Index the computed columns.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computed columns to build a value that wasn’t otherwise available in the original JSON. Index the computed columns.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table-triggers to deconstruct JSON into child tables. Index the joining columns.</a:t>
            </a:r>
          </a:p>
        </p:txBody>
      </p:sp>
    </p:spTree>
    <p:extLst>
      <p:ext uri="{BB962C8B-B14F-4D97-AF65-F5344CB8AC3E}">
        <p14:creationId xmlns:p14="http://schemas.microsoft.com/office/powerpoint/2010/main" val="2376646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04C3-E652-A3C8-F4DC-9D0A1D66B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“Indexing” JSON (1 object, 1 value)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B76C4-57D0-374A-4940-5AD05203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28" y="1621536"/>
            <a:ext cx="3987560" cy="1113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6C3FFF-E679-5EE6-60AD-ACE3D52EFE24}"/>
              </a:ext>
            </a:extLst>
          </p:cNvPr>
          <p:cNvSpPr txBox="1"/>
          <p:nvPr/>
        </p:nvSpPr>
        <p:spPr>
          <a:xfrm>
            <a:off x="1032128" y="3383280"/>
            <a:ext cx="70633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Persons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name":"Jeff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Foushee"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"parents":[{"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name":"Mom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"},{"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name":"Dad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json_expert":false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04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E8F2-198D-75DC-F552-AD672475D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78318AE-62A0-09AB-C7EC-04092F27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69" y="1565872"/>
            <a:ext cx="4981575" cy="2381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24ACB5-50F2-41F2-2E63-AD4505553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“Indexing” JSON (1 object, 1 value)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E4A33-1691-2B04-DE8C-C5390B3BCAC3}"/>
              </a:ext>
            </a:extLst>
          </p:cNvPr>
          <p:cNvSpPr txBox="1"/>
          <p:nvPr/>
        </p:nvSpPr>
        <p:spPr>
          <a:xfrm>
            <a:off x="3247248" y="5035877"/>
            <a:ext cx="43403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TOP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[name]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JsonDemo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[Persons]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B89996-376D-0C4F-8BD3-50ACE272D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248" y="5978525"/>
            <a:ext cx="5734050" cy="5143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5FF805-00BA-32F3-5AC9-E877A5093165}"/>
              </a:ext>
            </a:extLst>
          </p:cNvPr>
          <p:cNvSpPr/>
          <p:nvPr/>
        </p:nvSpPr>
        <p:spPr>
          <a:xfrm>
            <a:off x="3411710" y="3338358"/>
            <a:ext cx="2343320" cy="441960"/>
          </a:xfrm>
          <a:prstGeom prst="rect">
            <a:avLst/>
          </a:prstGeom>
          <a:noFill/>
          <a:ln w="444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7DEF1-CC2A-D8A4-FB3A-9164778730D5}"/>
              </a:ext>
            </a:extLst>
          </p:cNvPr>
          <p:cNvSpPr txBox="1"/>
          <p:nvPr/>
        </p:nvSpPr>
        <p:spPr>
          <a:xfrm>
            <a:off x="6341223" y="3280608"/>
            <a:ext cx="4483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3EAAC-2A19-F0DD-9A1F-0CEF3B09FB4D}"/>
              </a:ext>
            </a:extLst>
          </p:cNvPr>
          <p:cNvSpPr txBox="1"/>
          <p:nvPr/>
        </p:nvSpPr>
        <p:spPr>
          <a:xfrm>
            <a:off x="1028413" y="4195221"/>
            <a:ext cx="2678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PERSISTED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 False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80E02A-011C-A7CD-D16E-A6A4ED750C94}"/>
              </a:ext>
            </a:extLst>
          </p:cNvPr>
          <p:cNvSpPr/>
          <p:nvPr/>
        </p:nvSpPr>
        <p:spPr>
          <a:xfrm>
            <a:off x="7857461" y="5978525"/>
            <a:ext cx="1210340" cy="514350"/>
          </a:xfrm>
          <a:prstGeom prst="rect">
            <a:avLst/>
          </a:prstGeom>
          <a:noFill/>
          <a:ln w="539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FCFD51-E5B4-F600-96FD-61B91A805D5A}"/>
              </a:ext>
            </a:extLst>
          </p:cNvPr>
          <p:cNvCxnSpPr>
            <a:stCxn id="12" idx="3"/>
          </p:cNvCxnSpPr>
          <p:nvPr/>
        </p:nvCxnSpPr>
        <p:spPr>
          <a:xfrm flipV="1">
            <a:off x="5755030" y="3429000"/>
            <a:ext cx="460419" cy="130338"/>
          </a:xfrm>
          <a:prstGeom prst="line">
            <a:avLst/>
          </a:prstGeom>
          <a:ln w="349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02F8F2-6085-C886-73B8-C484F8DD4933}"/>
              </a:ext>
            </a:extLst>
          </p:cNvPr>
          <p:cNvCxnSpPr>
            <a:cxnSpLocks/>
          </p:cNvCxnSpPr>
          <p:nvPr/>
        </p:nvCxnSpPr>
        <p:spPr>
          <a:xfrm flipH="1">
            <a:off x="3247248" y="3942059"/>
            <a:ext cx="214209" cy="263289"/>
          </a:xfrm>
          <a:prstGeom prst="line">
            <a:avLst/>
          </a:prstGeom>
          <a:ln w="349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656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14A5AE-1B2A-6E55-228B-B065B342A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84" y="618852"/>
            <a:ext cx="9286232" cy="562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8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F21EBB-71A2-9E41-45E7-3EF773A05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557" y="2878139"/>
            <a:ext cx="8966886" cy="3385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4B1BAE-332C-3A53-BF5F-4444F152836B}"/>
              </a:ext>
            </a:extLst>
          </p:cNvPr>
          <p:cNvSpPr txBox="1"/>
          <p:nvPr/>
        </p:nvSpPr>
        <p:spPr>
          <a:xfrm>
            <a:off x="1665073" y="1663787"/>
            <a:ext cx="7590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'Jeff 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EC11A9-55C5-106D-3C9E-3BF52C3B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Now it’s a Seek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B7321C-5715-2674-C4A6-BEA259C85968}"/>
              </a:ext>
            </a:extLst>
          </p:cNvPr>
          <p:cNvSpPr/>
          <p:nvPr/>
        </p:nvSpPr>
        <p:spPr>
          <a:xfrm>
            <a:off x="6289588" y="3323968"/>
            <a:ext cx="2631989" cy="889686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D98917-9134-51DE-7374-6A5C1C578699}"/>
              </a:ext>
            </a:extLst>
          </p:cNvPr>
          <p:cNvSpPr/>
          <p:nvPr/>
        </p:nvSpPr>
        <p:spPr>
          <a:xfrm>
            <a:off x="4090085" y="3052118"/>
            <a:ext cx="5424631" cy="247136"/>
          </a:xfrm>
          <a:prstGeom prst="rect">
            <a:avLst/>
          </a:prstGeom>
          <a:noFill/>
          <a:ln w="444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D2D37D-9649-2877-0340-E8DA3BE06057}"/>
              </a:ext>
            </a:extLst>
          </p:cNvPr>
          <p:cNvGrpSpPr/>
          <p:nvPr/>
        </p:nvGrpSpPr>
        <p:grpSpPr>
          <a:xfrm>
            <a:off x="5263978" y="1294455"/>
            <a:ext cx="5262949" cy="966831"/>
            <a:chOff x="5263978" y="1294455"/>
            <a:chExt cx="5262949" cy="9668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9A0428-A60B-87C3-D59E-5DD90206EF2E}"/>
                </a:ext>
              </a:extLst>
            </p:cNvPr>
            <p:cNvSpPr txBox="1"/>
            <p:nvPr/>
          </p:nvSpPr>
          <p:spPr>
            <a:xfrm>
              <a:off x="5781933" y="1294455"/>
              <a:ext cx="474499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Verbatim to the definition of an indexed column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2345C9-6F1F-5F9A-58F6-A7BEC53BC2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3978" y="1663787"/>
              <a:ext cx="679622" cy="59749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374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33FC76-12A7-4C2F-5A14-33F2E1707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25" y="2902851"/>
            <a:ext cx="8953724" cy="3362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4B1BAE-332C-3A53-BF5F-4444F152836B}"/>
              </a:ext>
            </a:extLst>
          </p:cNvPr>
          <p:cNvSpPr txBox="1"/>
          <p:nvPr/>
        </p:nvSpPr>
        <p:spPr>
          <a:xfrm>
            <a:off x="1665073" y="1663787"/>
            <a:ext cx="7590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[name]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'Jeff 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5EC11A9-55C5-106D-3C9E-3BF52C3B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Now it’s a Seek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08A410-F40B-D48E-B8E5-CC1FFDC63F1C}"/>
              </a:ext>
            </a:extLst>
          </p:cNvPr>
          <p:cNvSpPr/>
          <p:nvPr/>
        </p:nvSpPr>
        <p:spPr>
          <a:xfrm>
            <a:off x="6289588" y="3323968"/>
            <a:ext cx="2631989" cy="889686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8EC762-3397-BBC0-F75B-FF531C2F66FC}"/>
              </a:ext>
            </a:extLst>
          </p:cNvPr>
          <p:cNvSpPr/>
          <p:nvPr/>
        </p:nvSpPr>
        <p:spPr>
          <a:xfrm>
            <a:off x="4473147" y="3064476"/>
            <a:ext cx="1622853" cy="234778"/>
          </a:xfrm>
          <a:prstGeom prst="rect">
            <a:avLst/>
          </a:prstGeom>
          <a:noFill/>
          <a:ln w="444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D4CA1F-8B32-AF9B-D356-EB5E6D561CC1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348681" y="1479121"/>
            <a:ext cx="2137719" cy="81923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01CE2AA-E332-CDF7-6FA4-5F1189A9241C}"/>
              </a:ext>
            </a:extLst>
          </p:cNvPr>
          <p:cNvSpPr txBox="1"/>
          <p:nvPr/>
        </p:nvSpPr>
        <p:spPr>
          <a:xfrm>
            <a:off x="5486400" y="1294455"/>
            <a:ext cx="5040527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name of the computed column that is indexed</a:t>
            </a:r>
          </a:p>
        </p:txBody>
      </p:sp>
    </p:spTree>
    <p:extLst>
      <p:ext uri="{BB962C8B-B14F-4D97-AF65-F5344CB8AC3E}">
        <p14:creationId xmlns:p14="http://schemas.microsoft.com/office/powerpoint/2010/main" val="215228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4B450-37F9-7263-8BDC-6FA81C6A5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42" y="3137329"/>
            <a:ext cx="9790413" cy="31522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20C4F1-8DD7-F9FA-4E4D-2D499D016014}"/>
              </a:ext>
            </a:extLst>
          </p:cNvPr>
          <p:cNvSpPr txBox="1"/>
          <p:nvPr/>
        </p:nvSpPr>
        <p:spPr>
          <a:xfrm>
            <a:off x="997807" y="748785"/>
            <a:ext cx="103951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Convert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varchar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13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'Jeff 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LIKE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'%Foushee'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104EB2-98FA-5F39-1387-E37CAD3AFE48}"/>
              </a:ext>
            </a:extLst>
          </p:cNvPr>
          <p:cNvSpPr/>
          <p:nvPr/>
        </p:nvSpPr>
        <p:spPr>
          <a:xfrm>
            <a:off x="5807675" y="4305687"/>
            <a:ext cx="2631989" cy="8896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BD29E-9974-8839-27B8-08628B5E2A7D}"/>
              </a:ext>
            </a:extLst>
          </p:cNvPr>
          <p:cNvSpPr txBox="1"/>
          <p:nvPr/>
        </p:nvSpPr>
        <p:spPr>
          <a:xfrm>
            <a:off x="6041426" y="654908"/>
            <a:ext cx="515276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verbatim to the definition of an indexed column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832726-FF4A-C972-7F89-0C228B7682FF}"/>
              </a:ext>
            </a:extLst>
          </p:cNvPr>
          <p:cNvCxnSpPr/>
          <p:nvPr/>
        </p:nvCxnSpPr>
        <p:spPr>
          <a:xfrm flipH="1">
            <a:off x="4720281" y="1024240"/>
            <a:ext cx="1321145" cy="2979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DF3B94E-4499-4D20-219C-90BE7E0B61D9}"/>
              </a:ext>
            </a:extLst>
          </p:cNvPr>
          <p:cNvSpPr txBox="1"/>
          <p:nvPr/>
        </p:nvSpPr>
        <p:spPr>
          <a:xfrm>
            <a:off x="6933557" y="1823266"/>
            <a:ext cx="264292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an equality condition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1414B8-637B-4F6A-9391-CF838739268F}"/>
              </a:ext>
            </a:extLst>
          </p:cNvPr>
          <p:cNvCxnSpPr>
            <a:cxnSpLocks/>
          </p:cNvCxnSpPr>
          <p:nvPr/>
        </p:nvCxnSpPr>
        <p:spPr>
          <a:xfrm flipH="1">
            <a:off x="6425514" y="2118608"/>
            <a:ext cx="508043" cy="2979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445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E015-E68F-2C38-7EA6-FF5F1780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76740F3-30C3-AB37-6B6D-C330D787E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9186"/>
            <a:ext cx="5372100" cy="2657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6B9977-5D80-F6B4-271F-EC2F3557D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“Indexing” JSON (1 object, 1 value)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352FD-E253-E572-B5B6-D743D45F15D9}"/>
              </a:ext>
            </a:extLst>
          </p:cNvPr>
          <p:cNvSpPr txBox="1"/>
          <p:nvPr/>
        </p:nvSpPr>
        <p:spPr>
          <a:xfrm>
            <a:off x="5623562" y="4520523"/>
            <a:ext cx="43403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TOP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1000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last_name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JsonDemo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[Persons]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61823F-9636-9362-D007-EBD6FC683F74}"/>
              </a:ext>
            </a:extLst>
          </p:cNvPr>
          <p:cNvSpPr/>
          <p:nvPr/>
        </p:nvSpPr>
        <p:spPr>
          <a:xfrm>
            <a:off x="3447880" y="3786556"/>
            <a:ext cx="2818808" cy="441960"/>
          </a:xfrm>
          <a:prstGeom prst="rect">
            <a:avLst/>
          </a:prstGeom>
          <a:noFill/>
          <a:ln w="3492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27698A-AE3C-F2BF-B06D-B8C5C518844D}"/>
              </a:ext>
            </a:extLst>
          </p:cNvPr>
          <p:cNvSpPr txBox="1"/>
          <p:nvPr/>
        </p:nvSpPr>
        <p:spPr>
          <a:xfrm>
            <a:off x="6400800" y="1939581"/>
            <a:ext cx="567778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RIGHT(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JSON_VALUE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LEN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JSON_VALUE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-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CHARINDEX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JSON_VALUE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994E4E-338A-E0D9-3B3E-A5BC9F79F03C}"/>
              </a:ext>
            </a:extLst>
          </p:cNvPr>
          <p:cNvCxnSpPr>
            <a:cxnSpLocks/>
          </p:cNvCxnSpPr>
          <p:nvPr/>
        </p:nvCxnSpPr>
        <p:spPr>
          <a:xfrm flipV="1">
            <a:off x="5827014" y="2713693"/>
            <a:ext cx="927354" cy="1072863"/>
          </a:xfrm>
          <a:prstGeom prst="line">
            <a:avLst/>
          </a:prstGeom>
          <a:ln w="317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8754218-49ED-A89F-E32B-6E57B84C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0" y="5439537"/>
            <a:ext cx="5524500" cy="56197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C178A1-8E7C-D570-CE87-4EF41684FA1B}"/>
              </a:ext>
            </a:extLst>
          </p:cNvPr>
          <p:cNvCxnSpPr>
            <a:cxnSpLocks/>
          </p:cNvCxnSpPr>
          <p:nvPr/>
        </p:nvCxnSpPr>
        <p:spPr>
          <a:xfrm>
            <a:off x="6266688" y="3938956"/>
            <a:ext cx="3693414" cy="0"/>
          </a:xfrm>
          <a:prstGeom prst="line">
            <a:avLst/>
          </a:prstGeom>
          <a:ln w="317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7DEBA7-DA86-6641-E1E2-1CCEB8360CA1}"/>
              </a:ext>
            </a:extLst>
          </p:cNvPr>
          <p:cNvCxnSpPr>
            <a:cxnSpLocks/>
          </p:cNvCxnSpPr>
          <p:nvPr/>
        </p:nvCxnSpPr>
        <p:spPr>
          <a:xfrm flipH="1" flipV="1">
            <a:off x="9960102" y="3938956"/>
            <a:ext cx="402336" cy="1537157"/>
          </a:xfrm>
          <a:prstGeom prst="line">
            <a:avLst/>
          </a:prstGeom>
          <a:ln w="317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D7C42A-BF06-FE48-4AEB-20F9492FAA96}"/>
              </a:ext>
            </a:extLst>
          </p:cNvPr>
          <p:cNvSpPr/>
          <p:nvPr/>
        </p:nvSpPr>
        <p:spPr>
          <a:xfrm>
            <a:off x="10143460" y="5476112"/>
            <a:ext cx="1210340" cy="525399"/>
          </a:xfrm>
          <a:prstGeom prst="rect">
            <a:avLst/>
          </a:prstGeom>
          <a:noFill/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030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413619-35BC-3258-9EDB-A91DF1D1B4FD}"/>
              </a:ext>
            </a:extLst>
          </p:cNvPr>
          <p:cNvSpPr/>
          <p:nvPr/>
        </p:nvSpPr>
        <p:spPr>
          <a:xfrm>
            <a:off x="5961888" y="3791712"/>
            <a:ext cx="1426464" cy="5608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02B925-183E-A9C7-2BCB-4365296E8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695325"/>
            <a:ext cx="946785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6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C7E6-5B07-1429-6130-E25EA6BE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1AE2979-5CC4-E11D-7730-07920CB2F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08" y="1565871"/>
            <a:ext cx="5354574" cy="26505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B47F63-F3BF-F80B-6254-3C995D73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“Indexing” JSON (1 object, 1 value)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E9310-3CE6-B1E9-3603-EBBCCE736AA5}"/>
              </a:ext>
            </a:extLst>
          </p:cNvPr>
          <p:cNvSpPr/>
          <p:nvPr/>
        </p:nvSpPr>
        <p:spPr>
          <a:xfrm>
            <a:off x="3447880" y="3588845"/>
            <a:ext cx="2818808" cy="441960"/>
          </a:xfrm>
          <a:prstGeom prst="rect">
            <a:avLst/>
          </a:prstGeom>
          <a:noFill/>
          <a:ln w="508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8F4A4-C0A5-B198-BD06-89AF887F1B08}"/>
              </a:ext>
            </a:extLst>
          </p:cNvPr>
          <p:cNvSpPr txBox="1"/>
          <p:nvPr/>
        </p:nvSpPr>
        <p:spPr>
          <a:xfrm>
            <a:off x="6412230" y="1939581"/>
            <a:ext cx="559689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Convert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varchar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128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RIGHT(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JSON_VALUE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LEN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JSON_VALUE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-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CHARINDEX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JSON_VALUE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B9E91B-C014-2374-E5A4-00E3EEB63E0A}"/>
              </a:ext>
            </a:extLst>
          </p:cNvPr>
          <p:cNvCxnSpPr>
            <a:cxnSpLocks/>
          </p:cNvCxnSpPr>
          <p:nvPr/>
        </p:nvCxnSpPr>
        <p:spPr>
          <a:xfrm flipV="1">
            <a:off x="5955957" y="2424223"/>
            <a:ext cx="572434" cy="1208663"/>
          </a:xfrm>
          <a:prstGeom prst="line">
            <a:avLst/>
          </a:prstGeom>
          <a:ln w="317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8DDBC3D-D574-694E-0793-A75F0006A60B}"/>
              </a:ext>
            </a:extLst>
          </p:cNvPr>
          <p:cNvSpPr txBox="1"/>
          <p:nvPr/>
        </p:nvSpPr>
        <p:spPr>
          <a:xfrm>
            <a:off x="998374" y="4411186"/>
            <a:ext cx="2459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PERSISTED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True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3CD814-0E6C-7FA5-6224-973DC3FFA14A}"/>
              </a:ext>
            </a:extLst>
          </p:cNvPr>
          <p:cNvCxnSpPr>
            <a:cxnSpLocks/>
          </p:cNvCxnSpPr>
          <p:nvPr/>
        </p:nvCxnSpPr>
        <p:spPr>
          <a:xfrm flipV="1">
            <a:off x="3370980" y="4178658"/>
            <a:ext cx="292608" cy="441960"/>
          </a:xfrm>
          <a:prstGeom prst="line">
            <a:avLst/>
          </a:prstGeom>
          <a:ln w="317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03889D-5931-8F42-7C78-37D47190084E}"/>
              </a:ext>
            </a:extLst>
          </p:cNvPr>
          <p:cNvSpPr txBox="1"/>
          <p:nvPr/>
        </p:nvSpPr>
        <p:spPr>
          <a:xfrm>
            <a:off x="5623562" y="4520523"/>
            <a:ext cx="43403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TOP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JsonData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last_name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JsonDemo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[Persons]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AA531B-5946-8D86-82BB-2D285DA39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320" y="5439537"/>
            <a:ext cx="552450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05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351690-2C27-CA27-2DA9-FD59F47AA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33" y="702410"/>
            <a:ext cx="9450133" cy="54531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685047-492D-210C-E557-3741F889FB32}"/>
              </a:ext>
            </a:extLst>
          </p:cNvPr>
          <p:cNvSpPr/>
          <p:nvPr/>
        </p:nvSpPr>
        <p:spPr>
          <a:xfrm>
            <a:off x="5961888" y="3791712"/>
            <a:ext cx="1304544" cy="5608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73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FC5BB4-2F8C-D054-3359-0E08644E0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586" y="2917398"/>
            <a:ext cx="7690036" cy="3466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DA339E-22AC-830F-9EAB-8B8047E3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it’s a Seek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FCED0-4A75-9269-F55B-32E17B8EEE97}"/>
              </a:ext>
            </a:extLst>
          </p:cNvPr>
          <p:cNvSpPr txBox="1"/>
          <p:nvPr/>
        </p:nvSpPr>
        <p:spPr>
          <a:xfrm>
            <a:off x="1665073" y="1663787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last_name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C0D71-359A-961C-26A1-99C268831997}"/>
              </a:ext>
            </a:extLst>
          </p:cNvPr>
          <p:cNvSpPr/>
          <p:nvPr/>
        </p:nvSpPr>
        <p:spPr>
          <a:xfrm>
            <a:off x="6904412" y="3362329"/>
            <a:ext cx="2894496" cy="92333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21655E-7F73-E457-E743-689EF0FDA0DB}"/>
              </a:ext>
            </a:extLst>
          </p:cNvPr>
          <p:cNvSpPr/>
          <p:nvPr/>
        </p:nvSpPr>
        <p:spPr>
          <a:xfrm>
            <a:off x="5030304" y="3113903"/>
            <a:ext cx="2062474" cy="248426"/>
          </a:xfrm>
          <a:prstGeom prst="rect">
            <a:avLst/>
          </a:prstGeom>
          <a:noFill/>
          <a:ln w="444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B6253-D83D-81B6-5761-B804295021B9}"/>
              </a:ext>
            </a:extLst>
          </p:cNvPr>
          <p:cNvSpPr txBox="1"/>
          <p:nvPr/>
        </p:nvSpPr>
        <p:spPr>
          <a:xfrm>
            <a:off x="5486400" y="1294455"/>
            <a:ext cx="5040527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name of the computed column that is indexed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658D2E-85F8-C0F6-18A5-C0738B2D11E1}"/>
              </a:ext>
            </a:extLst>
          </p:cNvPr>
          <p:cNvCxnSpPr>
            <a:cxnSpLocks/>
          </p:cNvCxnSpPr>
          <p:nvPr/>
        </p:nvCxnSpPr>
        <p:spPr>
          <a:xfrm flipH="1">
            <a:off x="3793524" y="1690688"/>
            <a:ext cx="1692876" cy="63238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17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C9503A-E66F-3D39-FFA9-EEA056C17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456" y="3709815"/>
            <a:ext cx="9032682" cy="24837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DA339E-22AC-830F-9EAB-8B8047E3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it’s a Seek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FCED0-4A75-9269-F55B-32E17B8EEE97}"/>
              </a:ext>
            </a:extLst>
          </p:cNvPr>
          <p:cNvSpPr txBox="1"/>
          <p:nvPr/>
        </p:nvSpPr>
        <p:spPr>
          <a:xfrm>
            <a:off x="1434456" y="1552511"/>
            <a:ext cx="88505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Convert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varchar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128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),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RIGHT(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CHARINDEX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 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 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C0D71-359A-961C-26A1-99C268831997}"/>
              </a:ext>
            </a:extLst>
          </p:cNvPr>
          <p:cNvSpPr/>
          <p:nvPr/>
        </p:nvSpPr>
        <p:spPr>
          <a:xfrm>
            <a:off x="5915870" y="4131981"/>
            <a:ext cx="2894496" cy="103160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21655E-7F73-E457-E743-689EF0FDA0DB}"/>
              </a:ext>
            </a:extLst>
          </p:cNvPr>
          <p:cNvSpPr/>
          <p:nvPr/>
        </p:nvSpPr>
        <p:spPr>
          <a:xfrm>
            <a:off x="4371253" y="3880023"/>
            <a:ext cx="6095885" cy="251958"/>
          </a:xfrm>
          <a:prstGeom prst="rect">
            <a:avLst/>
          </a:prstGeom>
          <a:noFill/>
          <a:ln w="444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55CD0-9C17-16D1-23F3-0EE3AB60F352}"/>
              </a:ext>
            </a:extLst>
          </p:cNvPr>
          <p:cNvSpPr txBox="1"/>
          <p:nvPr/>
        </p:nvSpPr>
        <p:spPr>
          <a:xfrm>
            <a:off x="5781933" y="1294455"/>
            <a:ext cx="4744994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Verbatim to the definition of an indexed column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3907AD-D669-A38E-FB65-6184C08A1B35}"/>
              </a:ext>
            </a:extLst>
          </p:cNvPr>
          <p:cNvCxnSpPr/>
          <p:nvPr/>
        </p:nvCxnSpPr>
        <p:spPr>
          <a:xfrm flipV="1">
            <a:off x="5053914" y="1690688"/>
            <a:ext cx="691978" cy="58295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320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1FCED0-4A75-9269-F55B-32E17B8EEE97}"/>
              </a:ext>
            </a:extLst>
          </p:cNvPr>
          <p:cNvSpPr txBox="1"/>
          <p:nvPr/>
        </p:nvSpPr>
        <p:spPr>
          <a:xfrm>
            <a:off x="1434456" y="1552511"/>
            <a:ext cx="88505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*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Persons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Convert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varchar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129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),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RIGHT(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CHARINDEX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 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'$.name'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) 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Code" panose="020B0609020000020004" pitchFamily="49" charset="0"/>
                <a:ea typeface="+mn-ea"/>
                <a:cs typeface="Cascadia Code" panose="020B0609020000020004" pitchFamily="49" charset="0"/>
              </a:rPr>
              <a:t>'Foushee'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Code" panose="020B0609020000020004" pitchFamily="49" charset="0"/>
              <a:ea typeface="+mn-ea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55CD0-9C17-16D1-23F3-0EE3AB60F352}"/>
              </a:ext>
            </a:extLst>
          </p:cNvPr>
          <p:cNvSpPr txBox="1"/>
          <p:nvPr/>
        </p:nvSpPr>
        <p:spPr>
          <a:xfrm>
            <a:off x="5781932" y="1294455"/>
            <a:ext cx="509930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verbatim to the definition of an indexed column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3907AD-D669-A38E-FB65-6184C08A1B35}"/>
              </a:ext>
            </a:extLst>
          </p:cNvPr>
          <p:cNvCxnSpPr/>
          <p:nvPr/>
        </p:nvCxnSpPr>
        <p:spPr>
          <a:xfrm flipV="1">
            <a:off x="5053914" y="1690688"/>
            <a:ext cx="691978" cy="5829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54C5D0F-4DD8-166B-18C2-B88849E5A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750" y="3941721"/>
            <a:ext cx="8698234" cy="20313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3D9AA0-B701-E4E9-7233-FD89BD1D5BEE}"/>
              </a:ext>
            </a:extLst>
          </p:cNvPr>
          <p:cNvSpPr/>
          <p:nvPr/>
        </p:nvSpPr>
        <p:spPr>
          <a:xfrm>
            <a:off x="7027978" y="4531938"/>
            <a:ext cx="2906854" cy="14411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42FA34-38C4-9ECE-D31D-2CC941F2DB19}"/>
              </a:ext>
            </a:extLst>
          </p:cNvPr>
          <p:cNvSpPr/>
          <p:nvPr/>
        </p:nvSpPr>
        <p:spPr>
          <a:xfrm>
            <a:off x="5029201" y="4148280"/>
            <a:ext cx="5412260" cy="3001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2812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8916-7B42-32DD-9CBD-CFB84FEA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14FAD-03DF-D7CA-E19C-97B2AD237EA9}"/>
              </a:ext>
            </a:extLst>
          </p:cNvPr>
          <p:cNvSpPr txBox="1"/>
          <p:nvPr/>
        </p:nvSpPr>
        <p:spPr>
          <a:xfrm>
            <a:off x="4437888" y="2816352"/>
            <a:ext cx="33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727695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04C3-E652-A3C8-F4DC-9D0A1D66B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“Indexing” JSON (1 object, multi-value)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B76C4-57D0-374A-4940-5AD05203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28" y="1621536"/>
            <a:ext cx="3987560" cy="1113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6C3FFF-E679-5EE6-60AD-ACE3D52EFE24}"/>
              </a:ext>
            </a:extLst>
          </p:cNvPr>
          <p:cNvSpPr txBox="1"/>
          <p:nvPr/>
        </p:nvSpPr>
        <p:spPr>
          <a:xfrm>
            <a:off x="1032128" y="3383280"/>
            <a:ext cx="70633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Persons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name":"Jeff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Foushee"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 "parents":[{"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name":"Mom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"},{"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name":"Dad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json_expert":false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063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47FFAC-DA99-46FF-89E2-9A4FDC4D2127}"/>
              </a:ext>
            </a:extLst>
          </p:cNvPr>
          <p:cNvSpPr txBox="1"/>
          <p:nvPr/>
        </p:nvSpPr>
        <p:spPr>
          <a:xfrm>
            <a:off x="5222457" y="181957"/>
            <a:ext cx="677396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TRIGGER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tr_Persons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SET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NOCOUNT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IF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BEGIN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DELETE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deleted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affected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--ENDIF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IF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BEGIN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[name]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SELECT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JSON_VALUE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[value]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CROSS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APPLY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OPENJSON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JsonData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'$.parents'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--ENDIF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5B3F6F-989F-2C7D-0375-FA99EE62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24" y="2428393"/>
            <a:ext cx="3258266" cy="13196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7B38BCD-D169-EE07-FEAA-A8652893C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4" y="619381"/>
            <a:ext cx="3987560" cy="111309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C3A6450-E74F-2AB1-2343-31B1FEC05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59" y="619381"/>
            <a:ext cx="3932804" cy="166809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99BCE7D-C943-05E9-81C3-DB0513E431E3}"/>
              </a:ext>
            </a:extLst>
          </p:cNvPr>
          <p:cNvGrpSpPr/>
          <p:nvPr/>
        </p:nvGrpSpPr>
        <p:grpSpPr>
          <a:xfrm>
            <a:off x="3551274" y="1280160"/>
            <a:ext cx="1074975" cy="2122330"/>
            <a:chOff x="3551274" y="1828800"/>
            <a:chExt cx="1074975" cy="178095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262DE2B-BCA2-9D40-CAEF-5B387205FE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6577" y="1828800"/>
              <a:ext cx="628407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0843B33-AF54-AC5B-4389-5895CC91FD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6249" y="1828800"/>
              <a:ext cx="0" cy="1690577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29B33C8-2AD6-9F46-4FF5-F7BE9A835871}"/>
                </a:ext>
              </a:extLst>
            </p:cNvPr>
            <p:cNvCxnSpPr/>
            <p:nvPr/>
          </p:nvCxnSpPr>
          <p:spPr>
            <a:xfrm>
              <a:off x="3551274" y="3519377"/>
              <a:ext cx="105371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EF7E489-BEDF-1D05-C55B-372582E2B2D8}"/>
                </a:ext>
              </a:extLst>
            </p:cNvPr>
            <p:cNvCxnSpPr>
              <a:cxnSpLocks/>
            </p:cNvCxnSpPr>
            <p:nvPr/>
          </p:nvCxnSpPr>
          <p:spPr>
            <a:xfrm>
              <a:off x="3551274" y="3429000"/>
              <a:ext cx="425303" cy="90377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7FDA5AD-49D6-D08A-6D44-32B5F441E4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1274" y="3519377"/>
              <a:ext cx="400211" cy="90377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337F77F-B42F-7996-E56E-4ED3194A4DB7}"/>
              </a:ext>
            </a:extLst>
          </p:cNvPr>
          <p:cNvGrpSpPr/>
          <p:nvPr/>
        </p:nvGrpSpPr>
        <p:grpSpPr>
          <a:xfrm>
            <a:off x="8835081" y="1175927"/>
            <a:ext cx="2998987" cy="2645015"/>
            <a:chOff x="8609439" y="1302758"/>
            <a:chExt cx="2965137" cy="236205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9F2F0F4-5C83-300E-CFC0-18672380EB85}"/>
                </a:ext>
              </a:extLst>
            </p:cNvPr>
            <p:cNvSpPr txBox="1"/>
            <p:nvPr/>
          </p:nvSpPr>
          <p:spPr>
            <a:xfrm>
              <a:off x="10007904" y="1302758"/>
              <a:ext cx="156667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“Magic tables”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9717274-1B99-92BC-3811-1A51243D660D}"/>
                </a:ext>
              </a:extLst>
            </p:cNvPr>
            <p:cNvCxnSpPr>
              <a:cxnSpLocks/>
            </p:cNvCxnSpPr>
            <p:nvPr/>
          </p:nvCxnSpPr>
          <p:spPr>
            <a:xfrm>
              <a:off x="10911840" y="1685075"/>
              <a:ext cx="0" cy="170927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321A946-3443-7C57-7653-4202D49849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9439" y="3396069"/>
              <a:ext cx="2302401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E12E2DA-73DB-5409-E1AA-3EFDEE93B2AF}"/>
                </a:ext>
              </a:extLst>
            </p:cNvPr>
            <p:cNvCxnSpPr>
              <a:cxnSpLocks/>
            </p:cNvCxnSpPr>
            <p:nvPr/>
          </p:nvCxnSpPr>
          <p:spPr>
            <a:xfrm>
              <a:off x="8609439" y="3394353"/>
              <a:ext cx="0" cy="27046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A8AF246-2CF4-724F-6A18-EB16C0E1A7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9439" y="1487424"/>
              <a:ext cx="1398465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DDD000E-6FF0-14F4-8AEF-668C9FBA0C35}"/>
                </a:ext>
              </a:extLst>
            </p:cNvPr>
            <p:cNvCxnSpPr>
              <a:cxnSpLocks/>
            </p:cNvCxnSpPr>
            <p:nvPr/>
          </p:nvCxnSpPr>
          <p:spPr>
            <a:xfrm>
              <a:off x="8609439" y="1487424"/>
              <a:ext cx="0" cy="26509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997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4FF58A-A5CB-956D-30E5-ECA7CA5665A2}"/>
              </a:ext>
            </a:extLst>
          </p:cNvPr>
          <p:cNvSpPr txBox="1"/>
          <p:nvPr/>
        </p:nvSpPr>
        <p:spPr>
          <a:xfrm>
            <a:off x="948007" y="1100876"/>
            <a:ext cx="77541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Persons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name":"Jeff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Foushee"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"parents":[{"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name":"Mom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"},{"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name":"Dad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json_expert":false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}'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6518F-864F-DD5B-EF50-72EB50D87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07" y="4121220"/>
            <a:ext cx="9940584" cy="685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4057E9-177A-79DB-DDFC-4B54CEAC9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50" y="5289433"/>
            <a:ext cx="3290361" cy="9384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9B9F1C-4D9A-AF33-C176-0D4EE14A73CE}"/>
              </a:ext>
            </a:extLst>
          </p:cNvPr>
          <p:cNvSpPr txBox="1"/>
          <p:nvPr/>
        </p:nvSpPr>
        <p:spPr>
          <a:xfrm>
            <a:off x="888693" y="3904616"/>
            <a:ext cx="1195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dbo.Persons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4B928-D684-1F08-DF14-F26C3C20B654}"/>
              </a:ext>
            </a:extLst>
          </p:cNvPr>
          <p:cNvSpPr txBox="1"/>
          <p:nvPr/>
        </p:nvSpPr>
        <p:spPr>
          <a:xfrm>
            <a:off x="888693" y="5023382"/>
            <a:ext cx="2014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dbo.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Persons_x_Parents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621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4FF58A-A5CB-956D-30E5-ECA7CA5665A2}"/>
              </a:ext>
            </a:extLst>
          </p:cNvPr>
          <p:cNvSpPr txBox="1"/>
          <p:nvPr/>
        </p:nvSpPr>
        <p:spPr>
          <a:xfrm>
            <a:off x="923293" y="642185"/>
            <a:ext cx="95923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UPDATE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Persons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name":"Jeff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Foushee"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"parents":[{"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name":"Mom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"},{"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name":"Dad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json_expert":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true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}'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...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UPDATE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[Persons]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JSON_MODIFY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'true'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...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9A9EF0-12A7-49AB-7EBA-78B0AC8909A9}"/>
              </a:ext>
            </a:extLst>
          </p:cNvPr>
          <p:cNvGrpSpPr/>
          <p:nvPr/>
        </p:nvGrpSpPr>
        <p:grpSpPr>
          <a:xfrm>
            <a:off x="923293" y="4121073"/>
            <a:ext cx="9963010" cy="673655"/>
            <a:chOff x="923293" y="4121073"/>
            <a:chExt cx="9963010" cy="6736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CD5D611-81AF-93B5-C268-C69D13A8F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3293" y="4121073"/>
              <a:ext cx="9963010" cy="67365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14D059-D7FF-33AD-7736-AF224A03CAF8}"/>
                </a:ext>
              </a:extLst>
            </p:cNvPr>
            <p:cNvSpPr/>
            <p:nvPr/>
          </p:nvSpPr>
          <p:spPr>
            <a:xfrm>
              <a:off x="9026862" y="4428708"/>
              <a:ext cx="1612305" cy="341282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4A3271E-F45B-EA6E-C09A-9416519F8F17}"/>
              </a:ext>
            </a:extLst>
          </p:cNvPr>
          <p:cNvSpPr txBox="1"/>
          <p:nvPr/>
        </p:nvSpPr>
        <p:spPr>
          <a:xfrm>
            <a:off x="888693" y="3904616"/>
            <a:ext cx="1195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dbo.Persons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3A1367-A124-125F-A317-D7B9F9D14B6C}"/>
              </a:ext>
            </a:extLst>
          </p:cNvPr>
          <p:cNvGrpSpPr/>
          <p:nvPr/>
        </p:nvGrpSpPr>
        <p:grpSpPr>
          <a:xfrm>
            <a:off x="888693" y="5023382"/>
            <a:ext cx="3337318" cy="1206673"/>
            <a:chOff x="888693" y="5023382"/>
            <a:chExt cx="3337318" cy="12066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5681BAE-AF3F-C7A5-4A62-27C399966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5650" y="5289433"/>
              <a:ext cx="3290361" cy="93848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7EFFD4-91F3-588B-F222-9A0B2E7BCEBB}"/>
                </a:ext>
              </a:extLst>
            </p:cNvPr>
            <p:cNvSpPr/>
            <p:nvPr/>
          </p:nvSpPr>
          <p:spPr>
            <a:xfrm>
              <a:off x="1473908" y="5306445"/>
              <a:ext cx="1118794" cy="9236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C47714-837F-7435-CE47-97ACED837F88}"/>
                </a:ext>
              </a:extLst>
            </p:cNvPr>
            <p:cNvSpPr txBox="1"/>
            <p:nvPr/>
          </p:nvSpPr>
          <p:spPr>
            <a:xfrm>
              <a:off x="888693" y="5023382"/>
              <a:ext cx="20141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dbo.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Persons_x_Parents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B535A6A-4E58-38BD-76EF-B42DA7309999}"/>
              </a:ext>
            </a:extLst>
          </p:cNvPr>
          <p:cNvSpPr txBox="1"/>
          <p:nvPr/>
        </p:nvSpPr>
        <p:spPr>
          <a:xfrm>
            <a:off x="1686959" y="5569233"/>
            <a:ext cx="793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-&gt;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-&gt; 4</a:t>
            </a:r>
          </a:p>
        </p:txBody>
      </p:sp>
    </p:spTree>
    <p:extLst>
      <p:ext uri="{BB962C8B-B14F-4D97-AF65-F5344CB8AC3E}">
        <p14:creationId xmlns:p14="http://schemas.microsoft.com/office/powerpoint/2010/main" val="129518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361AA9-50D8-4C02-7358-D547678E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59" y="616256"/>
            <a:ext cx="3895725" cy="1600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47FFAC-DA99-46FF-89E2-9A4FDC4D2127}"/>
              </a:ext>
            </a:extLst>
          </p:cNvPr>
          <p:cNvSpPr txBox="1"/>
          <p:nvPr/>
        </p:nvSpPr>
        <p:spPr>
          <a:xfrm>
            <a:off x="5222457" y="181957"/>
            <a:ext cx="677396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TRIGGER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tr_Persons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SET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NOCOUNT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BEGIN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DELETE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deleted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affected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--ENDIF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BEGIN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[name]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SELECT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JSON_VALUE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[value]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CROSS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APPLY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OPENJSON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JsonData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'$.parents'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--ENDIF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5B3F6F-989F-2C7D-0375-FA99EE629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4" y="2428393"/>
            <a:ext cx="3258266" cy="13196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7B38BCD-D169-EE07-FEAA-A8652893C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24" y="619381"/>
            <a:ext cx="3987560" cy="111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75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47FFAC-DA99-46FF-89E2-9A4FDC4D2127}"/>
              </a:ext>
            </a:extLst>
          </p:cNvPr>
          <p:cNvSpPr txBox="1"/>
          <p:nvPr/>
        </p:nvSpPr>
        <p:spPr>
          <a:xfrm>
            <a:off x="5465135" y="0"/>
            <a:ext cx="6288609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TRIGGER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tr_Persons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[Persons]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NOCOUNT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ISNULL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JSON_VALUE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[value]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INTO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#temp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CROSS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OPENJSON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JsonData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'$.parents'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MERGE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USING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#temp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[$.name]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[name]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TARGET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INSERT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[name]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VALUES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[$.name]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SOURCE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THEN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affected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E5E165-F37B-12CB-E559-A9786CE4B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24" y="2428393"/>
            <a:ext cx="3258266" cy="13196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02A451-3726-A60D-DB91-E16EDBA81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4" y="619381"/>
            <a:ext cx="3987560" cy="11130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FFB018-0CB8-3289-C3A3-B585E07B0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59" y="619381"/>
            <a:ext cx="3932804" cy="166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6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47FFAC-DA99-46FF-89E2-9A4FDC4D2127}"/>
              </a:ext>
            </a:extLst>
          </p:cNvPr>
          <p:cNvSpPr txBox="1"/>
          <p:nvPr/>
        </p:nvSpPr>
        <p:spPr>
          <a:xfrm>
            <a:off x="5465135" y="0"/>
            <a:ext cx="6288609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TRIGGER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tr_Persons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[Persons]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NOCOUNT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ISNULL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JSON_VALUE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[value]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INTO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#temp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CROSS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OPENJSON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JsonData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'$.parents'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MERGE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USING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#temp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[$.name]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[name]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TARGET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INSERT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[name]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VALUES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[$.name]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SOURCE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THEN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affected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E5E165-F37B-12CB-E559-A9786CE4B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24" y="2428393"/>
            <a:ext cx="3258266" cy="13196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02A451-3726-A60D-DB91-E16EDBA81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4" y="619381"/>
            <a:ext cx="3987560" cy="11130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FFB018-0CB8-3289-C3A3-B585E07B0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59" y="619381"/>
            <a:ext cx="3932804" cy="166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92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47FFAC-DA99-46FF-89E2-9A4FDC4D2127}"/>
              </a:ext>
            </a:extLst>
          </p:cNvPr>
          <p:cNvSpPr txBox="1"/>
          <p:nvPr/>
        </p:nvSpPr>
        <p:spPr>
          <a:xfrm>
            <a:off x="5465135" y="0"/>
            <a:ext cx="6288609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ALTER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TRIGGER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tr_Persons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[Persons]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NOCOUNT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ISNULL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JSON_VALUE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[value]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#temp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CROSS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OPENJSON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JsonData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'$.parents'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MERGE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USING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#temp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[$.name]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[name]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TARGET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INSERT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[name]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VALUES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[$.name]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SOURCE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@_PersonID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THEN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Persons_x_Parents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affected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E5E165-F37B-12CB-E559-A9786CE4B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24" y="2428393"/>
            <a:ext cx="3258266" cy="13196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702A451-3726-A60D-DB91-E16EDBA81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4" y="619381"/>
            <a:ext cx="3987560" cy="11130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FFB018-0CB8-3289-C3A3-B585E07B0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59" y="619381"/>
            <a:ext cx="3932804" cy="166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0E5E165-F37B-12CB-E559-A9786CE4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24" y="2428393"/>
            <a:ext cx="3258266" cy="13196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448EC5-3FF3-B03B-7C61-D8B415323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10" y="618482"/>
            <a:ext cx="3924300" cy="1666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E9D1F2-66F5-D354-17BB-178997EB5E65}"/>
              </a:ext>
            </a:extLst>
          </p:cNvPr>
          <p:cNvSpPr txBox="1"/>
          <p:nvPr/>
        </p:nvSpPr>
        <p:spPr>
          <a:xfrm>
            <a:off x="1467981" y="4572644"/>
            <a:ext cx="6098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Persons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INNER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JOIN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Persons_x_Parents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pxp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PersonID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pxp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PersonID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pxp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'Mom'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FE60E9-A163-D9F2-6485-A07C2F12F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084" y="5136291"/>
            <a:ext cx="1266825" cy="76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12D52F-1D11-E6B3-F45B-1CABAF7CC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924" y="447193"/>
            <a:ext cx="6822433" cy="42360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2D6307-8B85-6A4F-9F5D-FC8EB36D5456}"/>
              </a:ext>
            </a:extLst>
          </p:cNvPr>
          <p:cNvSpPr/>
          <p:nvPr/>
        </p:nvSpPr>
        <p:spPr>
          <a:xfrm>
            <a:off x="1136822" y="3163330"/>
            <a:ext cx="3089189" cy="609433"/>
          </a:xfrm>
          <a:prstGeom prst="rect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D9BE9E-E82F-1AB8-AD00-6107425CDF60}"/>
              </a:ext>
            </a:extLst>
          </p:cNvPr>
          <p:cNvCxnSpPr>
            <a:stCxn id="6" idx="3"/>
          </p:cNvCxnSpPr>
          <p:nvPr/>
        </p:nvCxnSpPr>
        <p:spPr>
          <a:xfrm flipV="1">
            <a:off x="4226011" y="3429000"/>
            <a:ext cx="2100648" cy="39047"/>
          </a:xfrm>
          <a:prstGeom prst="line">
            <a:avLst/>
          </a:prstGeom>
          <a:ln w="635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8916-7B42-32DD-9CBD-CFB84FEA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14FAD-03DF-D7CA-E19C-97B2AD237EA9}"/>
              </a:ext>
            </a:extLst>
          </p:cNvPr>
          <p:cNvSpPr txBox="1"/>
          <p:nvPr/>
        </p:nvSpPr>
        <p:spPr>
          <a:xfrm>
            <a:off x="4437888" y="2816352"/>
            <a:ext cx="33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2523874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A5C1-2B69-33A8-922D-84EE91B5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1394-0816-548C-00DB-D4F22376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“Indexing” JSON (multi-object, 1 value)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332F7-3A69-1076-E759-DB6DF0DF3A27}"/>
              </a:ext>
            </a:extLst>
          </p:cNvPr>
          <p:cNvSpPr txBox="1"/>
          <p:nvPr/>
        </p:nvSpPr>
        <p:spPr>
          <a:xfrm>
            <a:off x="1032127" y="3016251"/>
            <a:ext cx="70633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name":"Jeff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Foushee"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"parents":[{"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name":"Mom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"},{"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name":"Dad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json_expert":false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name":"Jesús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Castillo"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"parents":[{"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name":"Mary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"},{"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name":"Joseph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json_expert":true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}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6FE0E6-99B3-36E4-3A1C-0FF89C33A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27" y="1690688"/>
            <a:ext cx="3637695" cy="103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29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4230-E04E-58D1-36B4-DC7D9F77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41025D-F4AB-AB6B-4436-C5BE3122140C}"/>
              </a:ext>
            </a:extLst>
          </p:cNvPr>
          <p:cNvSpPr txBox="1"/>
          <p:nvPr/>
        </p:nvSpPr>
        <p:spPr>
          <a:xfrm>
            <a:off x="5468254" y="0"/>
            <a:ext cx="6288609" cy="6917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TRIGGER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tr_Classes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[Classes]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NOCOUNT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EXISTS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'D'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@_ClassID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@_ClassID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ISNULL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'U'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'I'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JSON_VALUE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[value]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'$.name'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INTO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#temp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CROSS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OPENJSON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JsonData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'$'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MERGE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Classes_x_Students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#temp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[$.name]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[name]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TARGET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StudentName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[$.name]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SOURCE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@_ClassID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Classes_x_Students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deleted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affected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45F16D-1E5C-67DE-772F-83593069F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48" y="632129"/>
            <a:ext cx="3637695" cy="1031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525F5F-14D0-73C3-3DF8-3E11C8181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64" y="656842"/>
            <a:ext cx="3674586" cy="16011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F48DC9-35DA-D44A-286F-06A9696C9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31" y="2432469"/>
            <a:ext cx="4007188" cy="127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4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4230-E04E-58D1-36B4-DC7D9F77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E9E274-7E68-131B-0983-332CDF1D6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64" y="656842"/>
            <a:ext cx="3676650" cy="1504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F48DC9-35DA-D44A-286F-06A9696C9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31" y="2432469"/>
            <a:ext cx="4007188" cy="1277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56F0E2-8C01-46C8-53DB-63292A50BB11}"/>
              </a:ext>
            </a:extLst>
          </p:cNvPr>
          <p:cNvSpPr txBox="1"/>
          <p:nvPr/>
        </p:nvSpPr>
        <p:spPr>
          <a:xfrm>
            <a:off x="1467981" y="4572644"/>
            <a:ext cx="6098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SELECT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.*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INNER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JOIN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Classes_x_Students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cxs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cxs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cxs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'Jeff Foushee'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81206F-3D8D-A9B9-3A8B-B3D939D1E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084" y="5136291"/>
            <a:ext cx="1266825" cy="76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7AF29A-D3F3-5EE1-F1E3-B677C8DA4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630" y="656842"/>
            <a:ext cx="6821339" cy="41128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34CED0-A07B-A033-1B44-A065957FD40B}"/>
              </a:ext>
            </a:extLst>
          </p:cNvPr>
          <p:cNvSpPr/>
          <p:nvPr/>
        </p:nvSpPr>
        <p:spPr>
          <a:xfrm>
            <a:off x="1136822" y="3163330"/>
            <a:ext cx="3459397" cy="609433"/>
          </a:xfrm>
          <a:prstGeom prst="rect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9A4F3C-F25C-5FEC-3706-73FBC2EC50E0}"/>
              </a:ext>
            </a:extLst>
          </p:cNvPr>
          <p:cNvCxnSpPr>
            <a:cxnSpLocks/>
          </p:cNvCxnSpPr>
          <p:nvPr/>
        </p:nvCxnSpPr>
        <p:spPr>
          <a:xfrm>
            <a:off x="4596219" y="3429000"/>
            <a:ext cx="1891078" cy="105032"/>
          </a:xfrm>
          <a:prstGeom prst="line">
            <a:avLst/>
          </a:prstGeom>
          <a:ln w="635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23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A5C1-2B69-33A8-922D-84EE91B5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1394-0816-548C-00DB-D4F22376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“Indexing” JSON (multi-object, multi-value)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332F7-3A69-1076-E759-DB6DF0DF3A27}"/>
              </a:ext>
            </a:extLst>
          </p:cNvPr>
          <p:cNvSpPr txBox="1"/>
          <p:nvPr/>
        </p:nvSpPr>
        <p:spPr>
          <a:xfrm>
            <a:off x="1032127" y="3016251"/>
            <a:ext cx="70633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name":"Jeff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Foushee"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"parents":[{"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name":"Mom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"},{"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name":"Dad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json_expert":false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name":"Jesús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Castillo"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"parents":[{"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name":"Mary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"},{"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name":"Joseph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"}]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,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json_expert":true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}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6FE0E6-99B3-36E4-3A1C-0FF89C33A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27" y="1690688"/>
            <a:ext cx="3637695" cy="103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0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4230-E04E-58D1-36B4-DC7D9F77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49C2D77-E0F5-C1B0-FD4C-B7FD5E0B0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64" y="2422872"/>
            <a:ext cx="3986134" cy="1734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1C3EA5-F6CA-BFC9-BE8A-F72342E7B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80" y="2419824"/>
            <a:ext cx="4011076" cy="1618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44C28E-017A-CB94-E590-649289A8F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64" y="474915"/>
            <a:ext cx="3678004" cy="16026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84CF2B-99DB-F7B0-3616-C2664EACDD47}"/>
              </a:ext>
            </a:extLst>
          </p:cNvPr>
          <p:cNvSpPr txBox="1"/>
          <p:nvPr/>
        </p:nvSpPr>
        <p:spPr>
          <a:xfrm>
            <a:off x="5319970" y="49428"/>
            <a:ext cx="6517800" cy="667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CREATE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TRIGGER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tr_Classes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[Classes]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FOR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UPDATE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NOCOUNT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char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1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-- # Determine if (U)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pdate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 (I)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nsert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 or (D)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elete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-- Skipped for brevity; see previous slides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DECLARE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@_ClassID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@_ClassID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ISNULL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deleted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'U'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'I'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BEGIN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SELECT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JSON_VALUE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[value]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JSON_QUERY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[value]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'$.parents'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'$.parents'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INTO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#temp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inserted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CROSS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APPLY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OPENJSON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JsonData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'$'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MERGE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Classes_x_Students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[target]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USING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#temp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[$.name]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THEN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UPDATE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SET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parents_json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[$.parents]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TARGET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THEN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parents_json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VALUES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[$.name], 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[source]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[$.parents]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NOT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MATCHED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BY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SOURCE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AND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[target]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@_ClassID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THEN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;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IF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@_ModType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'D'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DELETE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Classes_x_Students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INNER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JOIN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deleted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deleted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affected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84C5F-D936-6569-16A4-C53F7F770302}"/>
              </a:ext>
            </a:extLst>
          </p:cNvPr>
          <p:cNvSpPr/>
          <p:nvPr/>
        </p:nvSpPr>
        <p:spPr>
          <a:xfrm>
            <a:off x="1182624" y="1706880"/>
            <a:ext cx="1377696" cy="2682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4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4230-E04E-58D1-36B4-DC7D9F77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6C689D-8492-B695-2FCC-CB1C57C2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80" y="2413223"/>
            <a:ext cx="4011368" cy="1514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44C28E-017A-CB94-E590-649289A8F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64" y="474915"/>
            <a:ext cx="3678004" cy="1602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A6BD09-12FB-96F6-FBD8-A90D45B07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64" y="4808377"/>
            <a:ext cx="3860139" cy="1219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A113AF-EA7F-4212-9A23-1E0D9D6B2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55" y="3903052"/>
            <a:ext cx="2749281" cy="5981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71791C-79CE-D346-FCBC-D2A6BDD5918C}"/>
              </a:ext>
            </a:extLst>
          </p:cNvPr>
          <p:cNvSpPr txBox="1"/>
          <p:nvPr/>
        </p:nvSpPr>
        <p:spPr>
          <a:xfrm>
            <a:off x="5313405" y="58846"/>
            <a:ext cx="6372296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CREATE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TRIGGER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tr_Classes_x_Students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Classes_x_Students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FOR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DELETE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UPDATE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NOCOUNT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DECLARE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@_ModType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char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1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-- # Determine if (U)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pdate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(I)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nsert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or (D)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elete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-- Skipped for brevity; see previous slides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DECLARE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@_StudentName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varchar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128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SELECT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@_StudentName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ISNULL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inserted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deleted 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@_ModType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'U'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'I'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SELECT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JSON_VALUE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[value]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'$.name'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#temp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inserted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CROSS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APPLY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OPENJSON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parents_json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'$'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MERGE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Students_x_Parents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[target]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USING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#temp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[target]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AND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[$.name]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[target]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ParentName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NOT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MATCHED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BY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TARGET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THEN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INSERT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ParentName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VALUES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(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[source]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[source]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[$.name]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NOT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MATCHED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BY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SOURCE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AND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[target]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@_StudentName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THEN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DELETE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;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END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@_ModType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'D'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DELETE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Students_x_Parents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] affected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INNER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JOIN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deleted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deleted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affected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END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79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4230-E04E-58D1-36B4-DC7D9F77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CEBA2-C0D4-FC29-7D50-FEF066BC0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59" y="2404739"/>
            <a:ext cx="3897919" cy="20066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44C28E-017A-CB94-E590-649289A8F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64" y="474915"/>
            <a:ext cx="3678004" cy="1602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A6BD09-12FB-96F6-FBD8-A90D45B07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64" y="4808377"/>
            <a:ext cx="3860139" cy="1219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605373-992B-7DD6-8A23-6CEAD1D84599}"/>
              </a:ext>
            </a:extLst>
          </p:cNvPr>
          <p:cNvSpPr txBox="1"/>
          <p:nvPr/>
        </p:nvSpPr>
        <p:spPr>
          <a:xfrm>
            <a:off x="4989655" y="4251368"/>
            <a:ext cx="609805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SELECT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.*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FROM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INNER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JOIN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Classes_x_Students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cxs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cxs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ClassID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INNER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JOIN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dbo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Students_x_Parents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sxp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cxs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sxp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StudentName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WHERE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sxp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ParentName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'Mom'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Cascadia Mono" panose="020B06090200000200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83A094-1F6C-CD43-7792-B23B5043C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696" y="335566"/>
            <a:ext cx="4943138" cy="29804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BE258B-0E3B-4FB2-7400-F4C3AFA1955F}"/>
              </a:ext>
            </a:extLst>
          </p:cNvPr>
          <p:cNvSpPr/>
          <p:nvPr/>
        </p:nvSpPr>
        <p:spPr>
          <a:xfrm>
            <a:off x="1194435" y="3138250"/>
            <a:ext cx="3459397" cy="506993"/>
          </a:xfrm>
          <a:prstGeom prst="rect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A32CCC-525E-027E-A0BA-BFF725398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7151" y="1114857"/>
            <a:ext cx="4816196" cy="298354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386DBBA-E76E-B7C1-A48B-05E6D0C39AA3}"/>
              </a:ext>
            </a:extLst>
          </p:cNvPr>
          <p:cNvSpPr/>
          <p:nvPr/>
        </p:nvSpPr>
        <p:spPr>
          <a:xfrm>
            <a:off x="1194434" y="5520964"/>
            <a:ext cx="3459397" cy="506993"/>
          </a:xfrm>
          <a:prstGeom prst="rect">
            <a:avLst/>
          </a:prstGeom>
          <a:noFill/>
          <a:ln w="635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C3A03E-1834-BAB1-E9DA-5342535B75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2165" y="4439009"/>
            <a:ext cx="126682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8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8916-7B42-32DD-9CBD-CFB84FEA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14FAD-03DF-D7CA-E19C-97B2AD237EA9}"/>
              </a:ext>
            </a:extLst>
          </p:cNvPr>
          <p:cNvSpPr txBox="1"/>
          <p:nvPr/>
        </p:nvSpPr>
        <p:spPr>
          <a:xfrm>
            <a:off x="4437888" y="2816352"/>
            <a:ext cx="33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833979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6DF3-A139-2C10-F8E0-6CB054D3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Advocating for normalizing all JSON data into RDMBS?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E99C6-3A2A-CD26-1EFF-41DEA348A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45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3557</Words>
  <Application>Microsoft Office PowerPoint</Application>
  <PresentationFormat>Widescreen</PresentationFormat>
  <Paragraphs>519</Paragraphs>
  <Slides>38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Cascadia Code</vt:lpstr>
      <vt:lpstr>Cascadia Mono</vt:lpstr>
      <vt:lpstr>Consolas</vt:lpstr>
      <vt:lpstr>Office Theme</vt:lpstr>
      <vt:lpstr>PowerPoint Presentation</vt:lpstr>
      <vt:lpstr>Indexing JSON</vt:lpstr>
      <vt:lpstr>PowerPoint Presentation</vt:lpstr>
      <vt:lpstr>PowerPoint Presentation</vt:lpstr>
      <vt:lpstr>“Indexing” JSON</vt:lpstr>
      <vt:lpstr>“Indexing” JSON (1 object, 1 value)</vt:lpstr>
      <vt:lpstr>“Indexing” JSON (1 object, 1 value)</vt:lpstr>
      <vt:lpstr>PowerPoint Presentation</vt:lpstr>
      <vt:lpstr>Now it’s a Seek</vt:lpstr>
      <vt:lpstr>Now it’s a Seek</vt:lpstr>
      <vt:lpstr>PowerPoint Presentation</vt:lpstr>
      <vt:lpstr>“Indexing” JSON (1 object, 1 value)</vt:lpstr>
      <vt:lpstr>PowerPoint Presentation</vt:lpstr>
      <vt:lpstr>“Indexing” JSON (1 object, 1 value)</vt:lpstr>
      <vt:lpstr>PowerPoint Presentation</vt:lpstr>
      <vt:lpstr>Now it’s a Seek</vt:lpstr>
      <vt:lpstr>Now it’s a Seek</vt:lpstr>
      <vt:lpstr>PowerPoint Presentation</vt:lpstr>
      <vt:lpstr>PowerPoint Presentation</vt:lpstr>
      <vt:lpstr>“Indexing” JSON (1 object, multi-value)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“Indexing” JSON (multi-object, 1 value)</vt:lpstr>
      <vt:lpstr>PowerPoint Presentation</vt:lpstr>
      <vt:lpstr>PowerPoint Presentation</vt:lpstr>
      <vt:lpstr>“Indexing” JSON (multi-object, multi-value)</vt:lpstr>
      <vt:lpstr>PowerPoint Presentation</vt:lpstr>
      <vt:lpstr>PowerPoint Presentation</vt:lpstr>
      <vt:lpstr>PowerPoint Presentation</vt:lpstr>
      <vt:lpstr>PowerPoint Presentation</vt:lpstr>
      <vt:lpstr>Advocating for normalizing all JSON data into RDMBS?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Foushee</dc:creator>
  <cp:lastModifiedBy>Jeff Foushee</cp:lastModifiedBy>
  <cp:revision>1</cp:revision>
  <dcterms:created xsi:type="dcterms:W3CDTF">2024-04-20T22:17:42Z</dcterms:created>
  <dcterms:modified xsi:type="dcterms:W3CDTF">2024-04-20T22:22:04Z</dcterms:modified>
</cp:coreProperties>
</file>