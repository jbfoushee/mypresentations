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 id="2147483689" r:id="rId2"/>
  </p:sldMasterIdLst>
  <p:notesMasterIdLst>
    <p:notesMasterId r:id="rId51"/>
  </p:notesMasterIdLst>
  <p:sldIdLst>
    <p:sldId id="256" r:id="rId3"/>
    <p:sldId id="257" r:id="rId4"/>
    <p:sldId id="291" r:id="rId5"/>
    <p:sldId id="314" r:id="rId6"/>
    <p:sldId id="302" r:id="rId7"/>
    <p:sldId id="258" r:id="rId8"/>
    <p:sldId id="259" r:id="rId9"/>
    <p:sldId id="260" r:id="rId10"/>
    <p:sldId id="261" r:id="rId11"/>
    <p:sldId id="262" r:id="rId12"/>
    <p:sldId id="283" r:id="rId13"/>
    <p:sldId id="263" r:id="rId14"/>
    <p:sldId id="266" r:id="rId15"/>
    <p:sldId id="315" r:id="rId16"/>
    <p:sldId id="267" r:id="rId17"/>
    <p:sldId id="268" r:id="rId18"/>
    <p:sldId id="270" r:id="rId19"/>
    <p:sldId id="269" r:id="rId20"/>
    <p:sldId id="287" r:id="rId21"/>
    <p:sldId id="303" r:id="rId22"/>
    <p:sldId id="264" r:id="rId23"/>
    <p:sldId id="271" r:id="rId24"/>
    <p:sldId id="281" r:id="rId25"/>
    <p:sldId id="279" r:id="rId26"/>
    <p:sldId id="272" r:id="rId27"/>
    <p:sldId id="273" r:id="rId28"/>
    <p:sldId id="274" r:id="rId29"/>
    <p:sldId id="299" r:id="rId30"/>
    <p:sldId id="282" r:id="rId31"/>
    <p:sldId id="276" r:id="rId32"/>
    <p:sldId id="280" r:id="rId33"/>
    <p:sldId id="286" r:id="rId34"/>
    <p:sldId id="288" r:id="rId35"/>
    <p:sldId id="289" r:id="rId36"/>
    <p:sldId id="284" r:id="rId37"/>
    <p:sldId id="307" r:id="rId38"/>
    <p:sldId id="308" r:id="rId39"/>
    <p:sldId id="309" r:id="rId40"/>
    <p:sldId id="310" r:id="rId41"/>
    <p:sldId id="311" r:id="rId42"/>
    <p:sldId id="312" r:id="rId43"/>
    <p:sldId id="313" r:id="rId44"/>
    <p:sldId id="290" r:id="rId45"/>
    <p:sldId id="294" r:id="rId46"/>
    <p:sldId id="295" r:id="rId47"/>
    <p:sldId id="296" r:id="rId48"/>
    <p:sldId id="300" r:id="rId49"/>
    <p:sldId id="305"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76296" autoAdjust="0"/>
  </p:normalViewPr>
  <p:slideViewPr>
    <p:cSldViewPr snapToGrid="0">
      <p:cViewPr varScale="1">
        <p:scale>
          <a:sx n="90" d="100"/>
          <a:sy n="90" d="100"/>
        </p:scale>
        <p:origin x="528" y="9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7F473-D930-40CF-A164-F39E2E601F13}" type="datetimeFigureOut">
              <a:rPr lang="en-US" smtClean="0"/>
              <a:t>8/18/2023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9D0CF-7A5F-42A2-8CCA-4A796DEC5511}" type="slidenum">
              <a:rPr lang="en-US" smtClean="0"/>
              <a:t>‹#›</a:t>
            </a:fld>
            <a:endParaRPr lang="en-US"/>
          </a:p>
        </p:txBody>
      </p:sp>
    </p:spTree>
    <p:extLst>
      <p:ext uri="{BB962C8B-B14F-4D97-AF65-F5344CB8AC3E}">
        <p14:creationId xmlns:p14="http://schemas.microsoft.com/office/powerpoint/2010/main" val="4291992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a:t>
            </a:fld>
            <a:endParaRPr lang="en-US"/>
          </a:p>
        </p:txBody>
      </p:sp>
    </p:spTree>
    <p:extLst>
      <p:ext uri="{BB962C8B-B14F-4D97-AF65-F5344CB8AC3E}">
        <p14:creationId xmlns:p14="http://schemas.microsoft.com/office/powerpoint/2010/main" val="72924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see here?</a:t>
            </a:r>
          </a:p>
          <a:p>
            <a:r>
              <a:rPr lang="en-US" dirty="0"/>
              <a:t>Scenario 1: The RBAR solution failed updating from horse to train and didn’t revert.</a:t>
            </a:r>
          </a:p>
          <a:p>
            <a:r>
              <a:rPr lang="en-US" dirty="0"/>
              <a:t>Scenario 2: Someone is reading the data while the RBAR solution is still updating data. (Maybe a transaction is involved, maybe not)</a:t>
            </a:r>
          </a:p>
          <a:p>
            <a:r>
              <a:rPr lang="en-US" dirty="0"/>
              <a:t>Scenario 3: Two individuals are independently updating the puzzle at the same time.</a:t>
            </a:r>
          </a:p>
        </p:txBody>
      </p:sp>
      <p:sp>
        <p:nvSpPr>
          <p:cNvPr id="4" name="Slide Number Placeholder 3"/>
          <p:cNvSpPr>
            <a:spLocks noGrp="1"/>
          </p:cNvSpPr>
          <p:nvPr>
            <p:ph type="sldNum" sz="quarter" idx="5"/>
          </p:nvPr>
        </p:nvSpPr>
        <p:spPr/>
        <p:txBody>
          <a:bodyPr/>
          <a:lstStyle/>
          <a:p>
            <a:fld id="{2CD9D0CF-7A5F-42A2-8CCA-4A796DEC5511}" type="slidenum">
              <a:rPr lang="en-US" smtClean="0"/>
              <a:t>2</a:t>
            </a:fld>
            <a:endParaRPr lang="en-US"/>
          </a:p>
        </p:txBody>
      </p:sp>
    </p:spTree>
    <p:extLst>
      <p:ext uri="{BB962C8B-B14F-4D97-AF65-F5344CB8AC3E}">
        <p14:creationId xmlns:p14="http://schemas.microsoft.com/office/powerpoint/2010/main" val="4035860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users are competing to update the same puzzle, I’d rather the last user to update win… then for all users be unhappy.</a:t>
            </a:r>
          </a:p>
        </p:txBody>
      </p:sp>
      <p:sp>
        <p:nvSpPr>
          <p:cNvPr id="4" name="Slide Number Placeholder 3"/>
          <p:cNvSpPr>
            <a:spLocks noGrp="1"/>
          </p:cNvSpPr>
          <p:nvPr>
            <p:ph type="sldNum" sz="quarter" idx="5"/>
          </p:nvPr>
        </p:nvSpPr>
        <p:spPr/>
        <p:txBody>
          <a:bodyPr/>
          <a:lstStyle/>
          <a:p>
            <a:fld id="{2CD9D0CF-7A5F-42A2-8CCA-4A796DEC5511}" type="slidenum">
              <a:rPr lang="en-US" smtClean="0"/>
              <a:t>3</a:t>
            </a:fld>
            <a:endParaRPr lang="en-US"/>
          </a:p>
        </p:txBody>
      </p:sp>
    </p:spTree>
    <p:extLst>
      <p:ext uri="{BB962C8B-B14F-4D97-AF65-F5344CB8AC3E}">
        <p14:creationId xmlns:p14="http://schemas.microsoft.com/office/powerpoint/2010/main" val="279233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point is the Load() routine: Connection management, input formatting, looping cycles</a:t>
            </a:r>
          </a:p>
        </p:txBody>
      </p:sp>
      <p:sp>
        <p:nvSpPr>
          <p:cNvPr id="4" name="Slide Number Placeholder 3"/>
          <p:cNvSpPr>
            <a:spLocks noGrp="1"/>
          </p:cNvSpPr>
          <p:nvPr>
            <p:ph type="sldNum" sz="quarter" idx="5"/>
          </p:nvPr>
        </p:nvSpPr>
        <p:spPr/>
        <p:txBody>
          <a:bodyPr/>
          <a:lstStyle/>
          <a:p>
            <a:fld id="{2CD9D0CF-7A5F-42A2-8CCA-4A796DEC5511}" type="slidenum">
              <a:rPr lang="en-US" smtClean="0"/>
              <a:t>5</a:t>
            </a:fld>
            <a:endParaRPr lang="en-US"/>
          </a:p>
        </p:txBody>
      </p:sp>
    </p:spTree>
    <p:extLst>
      <p:ext uri="{BB962C8B-B14F-4D97-AF65-F5344CB8AC3E}">
        <p14:creationId xmlns:p14="http://schemas.microsoft.com/office/powerpoint/2010/main" val="334187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A tuple is a finite ordered sequence of elements.</a:t>
            </a:r>
          </a:p>
          <a:p>
            <a:endParaRPr lang="en-US" dirty="0"/>
          </a:p>
          <a:p>
            <a:r>
              <a:rPr lang="en-US" dirty="0"/>
              <a:t>Here’s a way to get more than row into the database</a:t>
            </a:r>
          </a:p>
          <a:p>
            <a:r>
              <a:rPr lang="en-US" dirty="0"/>
              <a:t>The comma is separating multiple tuples of information to be added to the table</a:t>
            </a:r>
          </a:p>
          <a:p>
            <a:endParaRPr lang="en-US" dirty="0"/>
          </a:p>
          <a:p>
            <a:r>
              <a:rPr lang="en-US" dirty="0"/>
              <a:t>But we aren’t sending dynamic SQL to the database, so this isn’t a viable option</a:t>
            </a:r>
          </a:p>
        </p:txBody>
      </p:sp>
      <p:sp>
        <p:nvSpPr>
          <p:cNvPr id="4" name="Slide Number Placeholder 3"/>
          <p:cNvSpPr>
            <a:spLocks noGrp="1"/>
          </p:cNvSpPr>
          <p:nvPr>
            <p:ph type="sldNum" sz="quarter" idx="5"/>
          </p:nvPr>
        </p:nvSpPr>
        <p:spPr/>
        <p:txBody>
          <a:bodyPr/>
          <a:lstStyle/>
          <a:p>
            <a:fld id="{2CD9D0CF-7A5F-42A2-8CCA-4A796DEC5511}" type="slidenum">
              <a:rPr lang="en-US" smtClean="0"/>
              <a:t>6</a:t>
            </a:fld>
            <a:endParaRPr lang="en-US"/>
          </a:p>
        </p:txBody>
      </p:sp>
    </p:spTree>
    <p:extLst>
      <p:ext uri="{BB962C8B-B14F-4D97-AF65-F5344CB8AC3E}">
        <p14:creationId xmlns:p14="http://schemas.microsoft.com/office/powerpoint/2010/main" val="4104555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PDW/APS does not understand the User-defined Table Type at this time</a:t>
            </a:r>
          </a:p>
          <a:p>
            <a:endParaRPr lang="en-US" dirty="0"/>
          </a:p>
          <a:p>
            <a:r>
              <a:rPr lang="en-US" dirty="0"/>
              <a:t>This is the setup for our overall example.</a:t>
            </a:r>
          </a:p>
          <a:p>
            <a:r>
              <a:rPr lang="en-US" dirty="0"/>
              <a:t>3 or more factories report measurements to the central database.</a:t>
            </a:r>
          </a:p>
          <a:p>
            <a:r>
              <a:rPr lang="en-US" dirty="0"/>
              <a:t>All the measurements belong to one timestamp; I cannot use a mixture of measurements from different timestamps.</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7</a:t>
            </a:fld>
            <a:endParaRPr lang="en-US"/>
          </a:p>
        </p:txBody>
      </p:sp>
    </p:spTree>
    <p:extLst>
      <p:ext uri="{BB962C8B-B14F-4D97-AF65-F5344CB8AC3E}">
        <p14:creationId xmlns:p14="http://schemas.microsoft.com/office/powerpoint/2010/main" val="1314625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why did I choose an </a:t>
            </a:r>
            <a:r>
              <a:rPr lang="en-US" dirty="0" err="1"/>
              <a:t>ArbitraryID</a:t>
            </a:r>
            <a:r>
              <a:rPr lang="en-US" dirty="0"/>
              <a:t> to serve as PK rather than </a:t>
            </a:r>
            <a:r>
              <a:rPr lang="en-US" dirty="0" err="1"/>
              <a:t>LocationCode</a:t>
            </a:r>
            <a:r>
              <a:rPr lang="en-US" dirty="0"/>
              <a:t>?</a:t>
            </a:r>
          </a:p>
          <a:p>
            <a:endParaRPr lang="en-US" dirty="0"/>
          </a:p>
          <a:p>
            <a:r>
              <a:rPr lang="en-US" b="0" i="0" dirty="0">
                <a:solidFill>
                  <a:srgbClr val="111111"/>
                </a:solidFill>
                <a:effectLst/>
                <a:latin typeface="Roboto" panose="02000000000000000000" pitchFamily="2" charset="0"/>
              </a:rPr>
              <a:t>The primary key determines how your data is stored on disk.</a:t>
            </a:r>
          </a:p>
          <a:p>
            <a:r>
              <a:rPr lang="en-US" b="0" i="0" dirty="0">
                <a:solidFill>
                  <a:srgbClr val="111111"/>
                </a:solidFill>
                <a:effectLst/>
                <a:latin typeface="Roboto" panose="02000000000000000000" pitchFamily="2" charset="0"/>
              </a:rPr>
              <a:t>I do not care that Location 1 is always reorganized to be the first location on disk.</a:t>
            </a:r>
          </a:p>
          <a:p>
            <a:r>
              <a:rPr lang="en-US" b="0" i="0" dirty="0">
                <a:solidFill>
                  <a:srgbClr val="111111"/>
                </a:solidFill>
                <a:effectLst/>
                <a:latin typeface="Roboto" panose="02000000000000000000" pitchFamily="2" charset="0"/>
              </a:rPr>
              <a:t>That is a lot of wasted I/O.</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8</a:t>
            </a:fld>
            <a:endParaRPr lang="en-US"/>
          </a:p>
        </p:txBody>
      </p:sp>
    </p:spTree>
    <p:extLst>
      <p:ext uri="{BB962C8B-B14F-4D97-AF65-F5344CB8AC3E}">
        <p14:creationId xmlns:p14="http://schemas.microsoft.com/office/powerpoint/2010/main" val="2295326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database, expand Programmability, Types.</a:t>
            </a:r>
          </a:p>
          <a:p>
            <a:r>
              <a:rPr lang="en-US" dirty="0"/>
              <a:t>Right-click “User-Defined Table Types” and select New “User Defined Table Type”</a:t>
            </a:r>
          </a:p>
          <a:p>
            <a:endParaRPr lang="en-US" dirty="0"/>
          </a:p>
          <a:p>
            <a:r>
              <a:rPr lang="en-US" dirty="0"/>
              <a:t>We are going to build one that holds a collection of measurements and values.</a:t>
            </a:r>
          </a:p>
          <a:p>
            <a:r>
              <a:rPr lang="en-US" dirty="0"/>
              <a:t>The Location column could have been added, but it would be a repeating value when sent over.</a:t>
            </a:r>
          </a:p>
        </p:txBody>
      </p:sp>
      <p:sp>
        <p:nvSpPr>
          <p:cNvPr id="4" name="Slide Number Placeholder 3"/>
          <p:cNvSpPr>
            <a:spLocks noGrp="1"/>
          </p:cNvSpPr>
          <p:nvPr>
            <p:ph type="sldNum" sz="quarter" idx="5"/>
          </p:nvPr>
        </p:nvSpPr>
        <p:spPr/>
        <p:txBody>
          <a:bodyPr/>
          <a:lstStyle/>
          <a:p>
            <a:fld id="{2CD9D0CF-7A5F-42A2-8CCA-4A796DEC5511}" type="slidenum">
              <a:rPr lang="en-US" smtClean="0"/>
              <a:t>9</a:t>
            </a:fld>
            <a:endParaRPr lang="en-US"/>
          </a:p>
        </p:txBody>
      </p:sp>
    </p:spTree>
    <p:extLst>
      <p:ext uri="{BB962C8B-B14F-4D97-AF65-F5344CB8AC3E}">
        <p14:creationId xmlns:p14="http://schemas.microsoft.com/office/powerpoint/2010/main" val="1954712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T-SQL MERGE statement will not work for this scenario.</a:t>
            </a:r>
          </a:p>
          <a:p>
            <a:endParaRPr lang="en-US" dirty="0"/>
          </a:p>
          <a:p>
            <a:r>
              <a:rPr lang="en-US" sz="1800" dirty="0">
                <a:solidFill>
                  <a:srgbClr val="0000FF"/>
                </a:solidFill>
                <a:latin typeface="Consolas" panose="020B0609020204030204" pitchFamily="49" charset="0"/>
              </a:rPr>
              <a:t>MERGE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USING</a:t>
            </a:r>
            <a:r>
              <a:rPr lang="en-US" sz="1800" dirty="0">
                <a:solidFill>
                  <a:srgbClr val="000000"/>
                </a:solidFill>
                <a:latin typeface="Consolas" panose="020B0609020204030204" pitchFamily="49" charset="0"/>
              </a:rPr>
              <a:t> @dt_Measurements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ON </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LocationCode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@LocationCode</a:t>
            </a:r>
          </a:p>
          <a:p>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dirty="0"/>
              <a:t>The entire table is the target, not a subset of the table.</a:t>
            </a:r>
          </a:p>
          <a:p>
            <a:r>
              <a:rPr lang="en-US" dirty="0"/>
              <a:t>So on the </a:t>
            </a:r>
          </a:p>
          <a:p>
            <a:r>
              <a:rPr lang="en-US" sz="1800" dirty="0">
                <a:solidFill>
                  <a:srgbClr val="0000FF"/>
                </a:solidFill>
                <a:latin typeface="Consolas" panose="020B0609020204030204" pitchFamily="49" charset="0"/>
              </a:rPr>
              <a:t>WHEN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MATCHED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SOURCE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THEN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 </a:t>
            </a:r>
          </a:p>
          <a:p>
            <a:r>
              <a:rPr lang="en-US" sz="1800" dirty="0">
                <a:solidFill>
                  <a:srgbClr val="0000FF"/>
                </a:solidFill>
                <a:latin typeface="Consolas" panose="020B0609020204030204" pitchFamily="49" charset="0"/>
              </a:rPr>
              <a:t>clause, all the locations not ‘</a:t>
            </a:r>
            <a:r>
              <a:rPr lang="en-US" sz="1800" dirty="0" err="1">
                <a:solidFill>
                  <a:srgbClr val="0000FF"/>
                </a:solidFill>
                <a:latin typeface="Consolas" panose="020B0609020204030204" pitchFamily="49" charset="0"/>
              </a:rPr>
              <a:t>upserted</a:t>
            </a:r>
            <a:r>
              <a:rPr lang="en-US" sz="1800" dirty="0">
                <a:solidFill>
                  <a:srgbClr val="0000FF"/>
                </a:solidFill>
                <a:latin typeface="Consolas" panose="020B0609020204030204" pitchFamily="49" charset="0"/>
              </a:rPr>
              <a:t>’ by the MERGE statement are deleted.</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10</a:t>
            </a:fld>
            <a:endParaRPr lang="en-US"/>
          </a:p>
        </p:txBody>
      </p:sp>
    </p:spTree>
    <p:extLst>
      <p:ext uri="{BB962C8B-B14F-4D97-AF65-F5344CB8AC3E}">
        <p14:creationId xmlns:p14="http://schemas.microsoft.com/office/powerpoint/2010/main" val="1949181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to start SQL Profiler for class and focus on login “app”</a:t>
            </a:r>
          </a:p>
          <a:p>
            <a:r>
              <a:rPr lang="en-US" dirty="0"/>
              <a:t>Add “</a:t>
            </a:r>
            <a:r>
              <a:rPr lang="en-US" dirty="0" err="1"/>
              <a:t>RPC:Starting</a:t>
            </a:r>
            <a:r>
              <a:rPr lang="en-US" dirty="0"/>
              <a:t>” and “Exception”</a:t>
            </a:r>
          </a:p>
          <a:p>
            <a:r>
              <a:rPr lang="en-US" dirty="0"/>
              <a:t>Attempt to do everything by SSMS.</a:t>
            </a:r>
          </a:p>
        </p:txBody>
      </p:sp>
      <p:sp>
        <p:nvSpPr>
          <p:cNvPr id="4" name="Slide Number Placeholder 3"/>
          <p:cNvSpPr>
            <a:spLocks noGrp="1"/>
          </p:cNvSpPr>
          <p:nvPr>
            <p:ph type="sldNum" sz="quarter" idx="5"/>
          </p:nvPr>
        </p:nvSpPr>
        <p:spPr/>
        <p:txBody>
          <a:bodyPr/>
          <a:lstStyle/>
          <a:p>
            <a:fld id="{2CD9D0CF-7A5F-42A2-8CCA-4A796DEC5511}" type="slidenum">
              <a:rPr lang="en-US" smtClean="0"/>
              <a:t>11</a:t>
            </a:fld>
            <a:endParaRPr lang="en-US"/>
          </a:p>
        </p:txBody>
      </p:sp>
    </p:spTree>
    <p:extLst>
      <p:ext uri="{BB962C8B-B14F-4D97-AF65-F5344CB8AC3E}">
        <p14:creationId xmlns:p14="http://schemas.microsoft.com/office/powerpoint/2010/main" val="1115698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12</a:t>
            </a:fld>
            <a:endParaRPr lang="en-US"/>
          </a:p>
        </p:txBody>
      </p:sp>
    </p:spTree>
    <p:extLst>
      <p:ext uri="{BB962C8B-B14F-4D97-AF65-F5344CB8AC3E}">
        <p14:creationId xmlns:p14="http://schemas.microsoft.com/office/powerpoint/2010/main" val="1532844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13</a:t>
            </a:fld>
            <a:endParaRPr lang="en-US"/>
          </a:p>
        </p:txBody>
      </p:sp>
    </p:spTree>
    <p:extLst>
      <p:ext uri="{BB962C8B-B14F-4D97-AF65-F5344CB8AC3E}">
        <p14:creationId xmlns:p14="http://schemas.microsoft.com/office/powerpoint/2010/main" val="37871344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14</a:t>
            </a:fld>
            <a:endParaRPr lang="en-US"/>
          </a:p>
        </p:txBody>
      </p:sp>
    </p:spTree>
    <p:extLst>
      <p:ext uri="{BB962C8B-B14F-4D97-AF65-F5344CB8AC3E}">
        <p14:creationId xmlns:p14="http://schemas.microsoft.com/office/powerpoint/2010/main" val="4114311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 saw in SSMS, there is no alternative to the TSQL GRANT EXECUTE statement</a:t>
            </a:r>
          </a:p>
        </p:txBody>
      </p:sp>
      <p:sp>
        <p:nvSpPr>
          <p:cNvPr id="4" name="Slide Number Placeholder 3"/>
          <p:cNvSpPr>
            <a:spLocks noGrp="1"/>
          </p:cNvSpPr>
          <p:nvPr>
            <p:ph type="sldNum" sz="quarter" idx="5"/>
          </p:nvPr>
        </p:nvSpPr>
        <p:spPr/>
        <p:txBody>
          <a:bodyPr/>
          <a:lstStyle/>
          <a:p>
            <a:fld id="{2CD9D0CF-7A5F-42A2-8CCA-4A796DEC5511}" type="slidenum">
              <a:rPr lang="en-US" smtClean="0"/>
              <a:t>15</a:t>
            </a:fld>
            <a:endParaRPr lang="en-US"/>
          </a:p>
        </p:txBody>
      </p:sp>
    </p:spTree>
    <p:extLst>
      <p:ext uri="{BB962C8B-B14F-4D97-AF65-F5344CB8AC3E}">
        <p14:creationId xmlns:p14="http://schemas.microsoft.com/office/powerpoint/2010/main" val="36712084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stored proc that depends on the UDTT ? Yeah, you have to drop that proc before you can drop the UDTT.</a:t>
            </a:r>
          </a:p>
        </p:txBody>
      </p:sp>
      <p:sp>
        <p:nvSpPr>
          <p:cNvPr id="4" name="Slide Number Placeholder 3"/>
          <p:cNvSpPr>
            <a:spLocks noGrp="1"/>
          </p:cNvSpPr>
          <p:nvPr>
            <p:ph type="sldNum" sz="quarter" idx="5"/>
          </p:nvPr>
        </p:nvSpPr>
        <p:spPr/>
        <p:txBody>
          <a:bodyPr/>
          <a:lstStyle/>
          <a:p>
            <a:fld id="{2CD9D0CF-7A5F-42A2-8CCA-4A796DEC5511}" type="slidenum">
              <a:rPr lang="en-US" smtClean="0"/>
              <a:t>16</a:t>
            </a:fld>
            <a:endParaRPr lang="en-US"/>
          </a:p>
        </p:txBody>
      </p:sp>
    </p:spTree>
    <p:extLst>
      <p:ext uri="{BB962C8B-B14F-4D97-AF65-F5344CB8AC3E}">
        <p14:creationId xmlns:p14="http://schemas.microsoft.com/office/powerpoint/2010/main" val="163851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you PAY ATTENTION when you have two windows up with two definitions that you just dropped.</a:t>
            </a:r>
          </a:p>
          <a:p>
            <a:r>
              <a:rPr lang="en-US" dirty="0"/>
              <a:t>Don’t let anyone distract you where you accidentally close windows, or you’ll have to restore a proc/UDTT from backup! (Shameful)</a:t>
            </a:r>
          </a:p>
          <a:p>
            <a:endParaRPr lang="en-US" dirty="0"/>
          </a:p>
          <a:p>
            <a:r>
              <a:rPr lang="en-US" dirty="0"/>
              <a:t>This is why you grant objects to roles, not to individuals</a:t>
            </a:r>
          </a:p>
        </p:txBody>
      </p:sp>
      <p:sp>
        <p:nvSpPr>
          <p:cNvPr id="4" name="Slide Number Placeholder 3"/>
          <p:cNvSpPr>
            <a:spLocks noGrp="1"/>
          </p:cNvSpPr>
          <p:nvPr>
            <p:ph type="sldNum" sz="quarter" idx="5"/>
          </p:nvPr>
        </p:nvSpPr>
        <p:spPr/>
        <p:txBody>
          <a:bodyPr/>
          <a:lstStyle/>
          <a:p>
            <a:fld id="{2CD9D0CF-7A5F-42A2-8CCA-4A796DEC5511}" type="slidenum">
              <a:rPr lang="en-US" smtClean="0"/>
              <a:t>17</a:t>
            </a:fld>
            <a:endParaRPr lang="en-US"/>
          </a:p>
        </p:txBody>
      </p:sp>
    </p:spTree>
    <p:extLst>
      <p:ext uri="{BB962C8B-B14F-4D97-AF65-F5344CB8AC3E}">
        <p14:creationId xmlns:p14="http://schemas.microsoft.com/office/powerpoint/2010/main" val="2843928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ETL behind the scenes to map columns based on names or signatures. Position matters.</a:t>
            </a:r>
          </a:p>
          <a:p>
            <a:r>
              <a:rPr lang="en-US" dirty="0"/>
              <a:t>You will pull your hair out from a “datatype clash” error when it really is a column-ordering issue.</a:t>
            </a:r>
          </a:p>
          <a:p>
            <a:endParaRPr lang="en-US" dirty="0"/>
          </a:p>
          <a:p>
            <a:r>
              <a:rPr lang="en-US" dirty="0"/>
              <a:t>(Transfer column definition to Excel and sort alphabetically if you haven’t done so at this point)</a:t>
            </a:r>
          </a:p>
        </p:txBody>
      </p:sp>
      <p:sp>
        <p:nvSpPr>
          <p:cNvPr id="4" name="Slide Number Placeholder 3"/>
          <p:cNvSpPr>
            <a:spLocks noGrp="1"/>
          </p:cNvSpPr>
          <p:nvPr>
            <p:ph type="sldNum" sz="quarter" idx="5"/>
          </p:nvPr>
        </p:nvSpPr>
        <p:spPr/>
        <p:txBody>
          <a:bodyPr/>
          <a:lstStyle/>
          <a:p>
            <a:fld id="{2CD9D0CF-7A5F-42A2-8CCA-4A796DEC5511}" type="slidenum">
              <a:rPr lang="en-US" smtClean="0"/>
              <a:t>18</a:t>
            </a:fld>
            <a:endParaRPr lang="en-US"/>
          </a:p>
        </p:txBody>
      </p:sp>
    </p:spTree>
    <p:extLst>
      <p:ext uri="{BB962C8B-B14F-4D97-AF65-F5344CB8AC3E}">
        <p14:creationId xmlns:p14="http://schemas.microsoft.com/office/powerpoint/2010/main" val="2495015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send columns or data you don’t need.</a:t>
            </a:r>
          </a:p>
          <a:p>
            <a:endParaRPr lang="en-US" dirty="0"/>
          </a:p>
          <a:p>
            <a:r>
              <a:rPr lang="en-US" dirty="0"/>
              <a:t>Your mileage will vary on the resources given to </a:t>
            </a:r>
            <a:r>
              <a:rPr lang="en-US" dirty="0" err="1"/>
              <a:t>tempdb</a:t>
            </a:r>
            <a:r>
              <a:rPr lang="en-US" dirty="0"/>
              <a:t>.</a:t>
            </a:r>
          </a:p>
        </p:txBody>
      </p:sp>
      <p:sp>
        <p:nvSpPr>
          <p:cNvPr id="4" name="Slide Number Placeholder 3"/>
          <p:cNvSpPr>
            <a:spLocks noGrp="1"/>
          </p:cNvSpPr>
          <p:nvPr>
            <p:ph type="sldNum" sz="quarter" idx="5"/>
          </p:nvPr>
        </p:nvSpPr>
        <p:spPr/>
        <p:txBody>
          <a:bodyPr/>
          <a:lstStyle/>
          <a:p>
            <a:fld id="{2CD9D0CF-7A5F-42A2-8CCA-4A796DEC5511}" type="slidenum">
              <a:rPr lang="en-US" smtClean="0"/>
              <a:t>19</a:t>
            </a:fld>
            <a:endParaRPr lang="en-US"/>
          </a:p>
        </p:txBody>
      </p:sp>
    </p:spTree>
    <p:extLst>
      <p:ext uri="{BB962C8B-B14F-4D97-AF65-F5344CB8AC3E}">
        <p14:creationId xmlns:p14="http://schemas.microsoft.com/office/powerpoint/2010/main" val="29209411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20</a:t>
            </a:fld>
            <a:endParaRPr lang="en-US"/>
          </a:p>
        </p:txBody>
      </p:sp>
    </p:spTree>
    <p:extLst>
      <p:ext uri="{BB962C8B-B14F-4D97-AF65-F5344CB8AC3E}">
        <p14:creationId xmlns:p14="http://schemas.microsoft.com/office/powerpoint/2010/main" val="33112475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pytds</a:t>
            </a:r>
            <a:r>
              <a:rPr lang="en-US" dirty="0"/>
              <a:t> gives you the option to strongly-type the columns before it transfers to SQL Server.</a:t>
            </a:r>
          </a:p>
        </p:txBody>
      </p:sp>
      <p:sp>
        <p:nvSpPr>
          <p:cNvPr id="4" name="Slide Number Placeholder 3"/>
          <p:cNvSpPr>
            <a:spLocks noGrp="1"/>
          </p:cNvSpPr>
          <p:nvPr>
            <p:ph type="sldNum" sz="quarter" idx="5"/>
          </p:nvPr>
        </p:nvSpPr>
        <p:spPr/>
        <p:txBody>
          <a:bodyPr/>
          <a:lstStyle/>
          <a:p>
            <a:fld id="{2CD9D0CF-7A5F-42A2-8CCA-4A796DEC5511}" type="slidenum">
              <a:rPr lang="en-US" smtClean="0"/>
              <a:t>24</a:t>
            </a:fld>
            <a:endParaRPr lang="en-US"/>
          </a:p>
        </p:txBody>
      </p:sp>
    </p:spTree>
    <p:extLst>
      <p:ext uri="{BB962C8B-B14F-4D97-AF65-F5344CB8AC3E}">
        <p14:creationId xmlns:p14="http://schemas.microsoft.com/office/powerpoint/2010/main" val="18288280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a:t>
            </a:r>
            <a:r>
              <a:rPr lang="en-US" dirty="0" err="1"/>
              <a:t>System.Reflection</a:t>
            </a:r>
            <a:r>
              <a:rPr lang="en-US" dirty="0"/>
              <a:t> to convert a collection of some class into a </a:t>
            </a:r>
            <a:r>
              <a:rPr lang="en-US" dirty="0" err="1"/>
              <a:t>DataTable</a:t>
            </a:r>
            <a:r>
              <a:rPr lang="en-US" dirty="0"/>
              <a:t>.</a:t>
            </a:r>
          </a:p>
          <a:p>
            <a:endParaRPr lang="en-US" dirty="0"/>
          </a:p>
          <a:p>
            <a:r>
              <a:rPr lang="en-US" dirty="0"/>
              <a:t>But which properties are revealed? This is decided by the </a:t>
            </a:r>
            <a:r>
              <a:rPr lang="en-US" dirty="0" err="1"/>
              <a:t>BindingFlags</a:t>
            </a:r>
            <a:r>
              <a:rPr lang="en-US" dirty="0"/>
              <a:t> </a:t>
            </a:r>
          </a:p>
        </p:txBody>
      </p:sp>
      <p:sp>
        <p:nvSpPr>
          <p:cNvPr id="4" name="Slide Number Placeholder 3"/>
          <p:cNvSpPr>
            <a:spLocks noGrp="1"/>
          </p:cNvSpPr>
          <p:nvPr>
            <p:ph type="sldNum" sz="quarter" idx="5"/>
          </p:nvPr>
        </p:nvSpPr>
        <p:spPr/>
        <p:txBody>
          <a:bodyPr/>
          <a:lstStyle/>
          <a:p>
            <a:fld id="{2CD9D0CF-7A5F-42A2-8CCA-4A796DEC5511}" type="slidenum">
              <a:rPr lang="en-US" smtClean="0"/>
              <a:t>26</a:t>
            </a:fld>
            <a:endParaRPr lang="en-US"/>
          </a:p>
        </p:txBody>
      </p:sp>
    </p:spTree>
    <p:extLst>
      <p:ext uri="{BB962C8B-B14F-4D97-AF65-F5344CB8AC3E}">
        <p14:creationId xmlns:p14="http://schemas.microsoft.com/office/powerpoint/2010/main" val="12512599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34</a:t>
            </a:fld>
            <a:endParaRPr lang="en-US"/>
          </a:p>
        </p:txBody>
      </p:sp>
    </p:spTree>
    <p:extLst>
      <p:ext uri="{BB962C8B-B14F-4D97-AF65-F5344CB8AC3E}">
        <p14:creationId xmlns:p14="http://schemas.microsoft.com/office/powerpoint/2010/main" val="694626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be concerned with how much cost the inserts took?</a:t>
            </a:r>
          </a:p>
          <a:p>
            <a:r>
              <a:rPr lang="en-US" dirty="0"/>
              <a:t>Probably not, since these are a fixed cost. I cannot tune inserts into a table type.</a:t>
            </a:r>
          </a:p>
        </p:txBody>
      </p:sp>
      <p:sp>
        <p:nvSpPr>
          <p:cNvPr id="4" name="Slide Number Placeholder 3"/>
          <p:cNvSpPr>
            <a:spLocks noGrp="1"/>
          </p:cNvSpPr>
          <p:nvPr>
            <p:ph type="sldNum" sz="quarter" idx="5"/>
          </p:nvPr>
        </p:nvSpPr>
        <p:spPr/>
        <p:txBody>
          <a:bodyPr/>
          <a:lstStyle/>
          <a:p>
            <a:fld id="{2CD9D0CF-7A5F-42A2-8CCA-4A796DEC5511}" type="slidenum">
              <a:rPr lang="en-US" smtClean="0"/>
              <a:t>43</a:t>
            </a:fld>
            <a:endParaRPr lang="en-US"/>
          </a:p>
        </p:txBody>
      </p:sp>
    </p:spTree>
    <p:extLst>
      <p:ext uri="{BB962C8B-B14F-4D97-AF65-F5344CB8AC3E}">
        <p14:creationId xmlns:p14="http://schemas.microsoft.com/office/powerpoint/2010/main" val="2161513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44</a:t>
            </a:fld>
            <a:endParaRPr lang="en-US"/>
          </a:p>
        </p:txBody>
      </p:sp>
    </p:spTree>
    <p:extLst>
      <p:ext uri="{BB962C8B-B14F-4D97-AF65-F5344CB8AC3E}">
        <p14:creationId xmlns:p14="http://schemas.microsoft.com/office/powerpoint/2010/main" val="103978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45</a:t>
            </a:fld>
            <a:endParaRPr lang="en-US"/>
          </a:p>
        </p:txBody>
      </p:sp>
    </p:spTree>
    <p:extLst>
      <p:ext uri="{BB962C8B-B14F-4D97-AF65-F5344CB8AC3E}">
        <p14:creationId xmlns:p14="http://schemas.microsoft.com/office/powerpoint/2010/main" val="12907462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46</a:t>
            </a:fld>
            <a:endParaRPr lang="en-US"/>
          </a:p>
        </p:txBody>
      </p:sp>
    </p:spTree>
    <p:extLst>
      <p:ext uri="{BB962C8B-B14F-4D97-AF65-F5344CB8AC3E}">
        <p14:creationId xmlns:p14="http://schemas.microsoft.com/office/powerpoint/2010/main" val="854256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A8FD8-A818-A287-2284-CC71979CAD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EC2E44-4CD7-E646-CB50-28E2D8A44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CFB3DD-CB8B-15B3-BF40-0F17AF6B3078}"/>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F0B9ACD6-29BE-90BA-41C9-8342C07DE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E3689-A221-2A4E-2820-DEDA070DE05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4404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306B8-67E5-7A3D-F58B-21CEA91773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E403B-4BA5-E4E9-E46D-3FD41BFE2E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A34CFC-8BD8-C705-73B1-9944BC633768}"/>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989D8FF3-D2FA-6B5A-2576-1E0BAF6134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051726-CCD3-3F64-1D2E-3F7A12F5031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4039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28D2-2542-4B96-931D-A5F9D38476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7C98E2-A6B2-FEA1-7E4A-988ECDF340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251015-FD88-F619-9C8D-9420E2FCCF04}"/>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719FA2F8-027F-B047-6148-848DD3BC5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D837D7-86E0-8384-DFCE-38C95BB81E3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107129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D661-269E-DE95-E3FA-F01CFE0A7D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8AB9C-5403-AC9A-6227-B4ACAF6D8B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67B414-EDE5-5D17-20F9-6381C599C4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289215-F598-307E-D0C5-160BB823756A}"/>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a:extLst>
              <a:ext uri="{FF2B5EF4-FFF2-40B4-BE49-F238E27FC236}">
                <a16:creationId xmlns:a16="http://schemas.microsoft.com/office/drawing/2014/main" id="{581AB03C-5D29-4502-C6AD-06E32955A2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35C092-2A60-573F-2D4D-294FCEE47EE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09884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1EB1B-221D-EC9A-08FF-49E32394E0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651D0-9A14-0647-11C5-F083407E2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B770F7-54A9-8A51-4364-A8BDE91CE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700004-510C-6B31-4318-C833793F27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0836F3-3233-4D08-A2B2-8AEB61362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8095EA-DECF-69EB-1396-8E46231E7669}"/>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8" name="Footer Placeholder 7">
            <a:extLst>
              <a:ext uri="{FF2B5EF4-FFF2-40B4-BE49-F238E27FC236}">
                <a16:creationId xmlns:a16="http://schemas.microsoft.com/office/drawing/2014/main" id="{174FA5A6-0186-9E65-3F91-109820A0D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BD97533-0495-E681-59DC-0C16BA607740}"/>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5911391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96623-6A97-D3F5-EEAD-7DD2823E4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457EBF-FAAF-EE54-FF7A-B4B685FF7404}"/>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4" name="Footer Placeholder 3">
            <a:extLst>
              <a:ext uri="{FF2B5EF4-FFF2-40B4-BE49-F238E27FC236}">
                <a16:creationId xmlns:a16="http://schemas.microsoft.com/office/drawing/2014/main" id="{3532E8AD-2A90-0FCE-BC15-C16C636140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D15A6A-5566-A7EC-1A1E-B66CA5A21065}"/>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58271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CD8AE9-FE7B-FDEC-C112-D46B4F98B605}"/>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3" name="Footer Placeholder 2">
            <a:extLst>
              <a:ext uri="{FF2B5EF4-FFF2-40B4-BE49-F238E27FC236}">
                <a16:creationId xmlns:a16="http://schemas.microsoft.com/office/drawing/2014/main" id="{05AB3BB8-D0AE-5246-8414-93A7617E83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1D9D75-E5BF-EEEE-E07A-4879521FEC4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401152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87B8F-97D5-2428-EE5B-81363494C8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BCED-A4F7-0117-A838-9710228CBB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21ADA3-FA98-BC88-8F0A-C9E7AC7EA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146B29-BDC6-46C6-9CC6-29873F50680D}"/>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a:extLst>
              <a:ext uri="{FF2B5EF4-FFF2-40B4-BE49-F238E27FC236}">
                <a16:creationId xmlns:a16="http://schemas.microsoft.com/office/drawing/2014/main" id="{7C54F46D-391C-6B67-A53C-ABA930E874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19CCD4-42D1-1A62-AC8F-76246DDF7381}"/>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80705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080C6-FDEF-A6BF-0814-488F6DD466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A6638E-3B79-1A7B-D53D-19F3AFFA1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01C005-6CCC-55BC-56E8-3E941580CF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3B878-52CC-4F72-B9FF-2218A2A8E83B}"/>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a:extLst>
              <a:ext uri="{FF2B5EF4-FFF2-40B4-BE49-F238E27FC236}">
                <a16:creationId xmlns:a16="http://schemas.microsoft.com/office/drawing/2014/main" id="{E8CE8301-156D-8991-5048-8F53AA33AC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0C7C39-E235-3AD1-AC65-BA568B8FFBC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668294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3852-6FAA-8212-F372-0956A3E3CE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0A74CB-53E3-5316-404B-409A5457F6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2452D1-218D-F7BA-0D3C-612301ECC6EC}"/>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50513DB6-731D-0181-8F62-2095B5735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B3E29D-29A7-0642-C1D6-6C37B56AE55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97846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BE6207-38F3-79D9-A247-0F4FD907C0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92797-E911-A6ED-C90E-CAC1CD438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1B43-2CDB-7AB8-BC06-9D8E2C9D6D2A}"/>
              </a:ext>
            </a:extLst>
          </p:cNvPr>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15D161ED-8DFF-41C7-4746-FBF5154E16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02ED1-586A-132C-E140-0DD091F70E6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13345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5907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5498387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306911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2454379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AFDAFBD-AA74-4F39-B34D-B8A0CE5CD8B0}" type="datetimeFigureOut">
              <a:rPr lang="en-US" smtClean="0"/>
              <a:t>8/18/2023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04019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AFDAFBD-AA74-4F39-B34D-B8A0CE5CD8B0}" type="datetimeFigureOut">
              <a:rPr lang="en-US" smtClean="0"/>
              <a:t>8/18/2023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169005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DAFBD-AA74-4F39-B34D-B8A0CE5CD8B0}" type="datetimeFigureOut">
              <a:rPr lang="en-US" smtClean="0"/>
              <a:t>8/18/2023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8839209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4002894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8/18/2023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87798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0909991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6365179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560708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5044141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34718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88360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8/18/2023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279896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theme" Target="../theme/theme2.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269204-A108-7BD7-37F0-39D7585538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E1DC7-AA3D-C72C-20C8-0DD0B11A00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B53D-C893-197B-8089-B4EBA5DDE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DAFBD-AA74-4F39-B34D-B8A0CE5CD8B0}" type="datetimeFigureOut">
              <a:rPr lang="en-US" smtClean="0"/>
              <a:t>8/18/2023</a:t>
            </a:fld>
            <a:endParaRPr lang="en-US"/>
          </a:p>
        </p:txBody>
      </p:sp>
      <p:sp>
        <p:nvSpPr>
          <p:cNvPr id="5" name="Footer Placeholder 4">
            <a:extLst>
              <a:ext uri="{FF2B5EF4-FFF2-40B4-BE49-F238E27FC236}">
                <a16:creationId xmlns:a16="http://schemas.microsoft.com/office/drawing/2014/main" id="{8FA451B7-C099-9682-E41B-64199EF3FB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E62C067-7E4B-F69D-F136-8E34DAFED7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217002104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FDAFBD-AA74-4F39-B34D-B8A0CE5CD8B0}" type="datetimeFigureOut">
              <a:rPr lang="en-US" smtClean="0"/>
              <a:t>8/18/2023</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5396186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18.gi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66396DF-472C-C46E-5ADE-69BBA5A3A441}"/>
              </a:ext>
            </a:extLst>
          </p:cNvPr>
          <p:cNvSpPr txBox="1"/>
          <p:nvPr/>
        </p:nvSpPr>
        <p:spPr>
          <a:xfrm>
            <a:off x="1219200" y="1605776"/>
            <a:ext cx="9374459" cy="2308324"/>
          </a:xfrm>
          <a:prstGeom prst="rect">
            <a:avLst/>
          </a:prstGeom>
          <a:noFill/>
        </p:spPr>
        <p:txBody>
          <a:bodyPr wrap="square" rtlCol="0">
            <a:spAutoFit/>
          </a:bodyPr>
          <a:lstStyle/>
          <a:p>
            <a:r>
              <a:rPr lang="en-US" sz="4800" b="1" dirty="0"/>
              <a:t>Chew on That!:</a:t>
            </a:r>
          </a:p>
          <a:p>
            <a:r>
              <a:rPr lang="en-US" sz="4800" dirty="0"/>
              <a:t>Sending </a:t>
            </a:r>
            <a:r>
              <a:rPr lang="en-US" sz="4800" dirty="0" err="1"/>
              <a:t>DataTables</a:t>
            </a:r>
            <a:r>
              <a:rPr lang="en-US" sz="4800" dirty="0"/>
              <a:t> and </a:t>
            </a:r>
            <a:r>
              <a:rPr lang="en-US" sz="4800" dirty="0" err="1"/>
              <a:t>DataFrames</a:t>
            </a:r>
            <a:r>
              <a:rPr lang="en-US" sz="4800" dirty="0"/>
              <a:t> to SQL Stored Procedures</a:t>
            </a:r>
          </a:p>
        </p:txBody>
      </p:sp>
      <p:pic>
        <p:nvPicPr>
          <p:cNvPr id="2050" name="Picture 2" descr="Download Python 32 / 64-bit (Terbaru 2022)">
            <a:extLst>
              <a:ext uri="{FF2B5EF4-FFF2-40B4-BE49-F238E27FC236}">
                <a16:creationId xmlns:a16="http://schemas.microsoft.com/office/drawing/2014/main" id="{26552EDE-E75E-10BF-BEFF-21AC3A19F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561" y="5188465"/>
            <a:ext cx="1148345" cy="114834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94601AEB-45AC-9CD1-37FB-844640E77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5223" y="5130037"/>
            <a:ext cx="1428750" cy="14287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owershell Icon #48576 - Free Icons Library">
            <a:extLst>
              <a:ext uri="{FF2B5EF4-FFF2-40B4-BE49-F238E27FC236}">
                <a16:creationId xmlns:a16="http://schemas.microsoft.com/office/drawing/2014/main" id="{CBBEC25C-DEB2-4D5B-7743-F200E07320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53494" y="4955605"/>
            <a:ext cx="1614066" cy="16140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ve Instructor-Led SQL Querying Advanced Training - Hands-on Course">
            <a:extLst>
              <a:ext uri="{FF2B5EF4-FFF2-40B4-BE49-F238E27FC236}">
                <a16:creationId xmlns:a16="http://schemas.microsoft.com/office/drawing/2014/main" id="{904B98AA-8F61-6083-9EDF-117E692A69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55756" y="4955605"/>
            <a:ext cx="1698570" cy="1787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74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3E30AF-39C1-E1F3-69DA-4FC52FEAFD0A}"/>
              </a:ext>
            </a:extLst>
          </p:cNvPr>
          <p:cNvSpPr txBox="1"/>
          <p:nvPr/>
        </p:nvSpPr>
        <p:spPr>
          <a:xfrm>
            <a:off x="6011585" y="6308209"/>
            <a:ext cx="5680364" cy="369332"/>
          </a:xfrm>
          <a:prstGeom prst="rect">
            <a:avLst/>
          </a:prstGeom>
          <a:noFill/>
        </p:spPr>
        <p:txBody>
          <a:bodyPr wrap="square" rtlCol="0">
            <a:spAutoFit/>
          </a:bodyPr>
          <a:lstStyle/>
          <a:p>
            <a:r>
              <a:rPr lang="en-US" dirty="0"/>
              <a:t>With permission from Tim Klein, www.puzzlemontage.com</a:t>
            </a:r>
          </a:p>
        </p:txBody>
      </p:sp>
      <p:pic>
        <p:nvPicPr>
          <p:cNvPr id="5" name="Picture 4">
            <a:extLst>
              <a:ext uri="{FF2B5EF4-FFF2-40B4-BE49-F238E27FC236}">
                <a16:creationId xmlns:a16="http://schemas.microsoft.com/office/drawing/2014/main" id="{216D5FC3-1FB3-6E95-C20F-D54A179B8066}"/>
              </a:ext>
            </a:extLst>
          </p:cNvPr>
          <p:cNvPicPr>
            <a:picLocks noChangeAspect="1"/>
          </p:cNvPicPr>
          <p:nvPr/>
        </p:nvPicPr>
        <p:blipFill>
          <a:blip r:embed="rId3"/>
          <a:stretch>
            <a:fillRect/>
          </a:stretch>
        </p:blipFill>
        <p:spPr>
          <a:xfrm>
            <a:off x="2463517" y="850264"/>
            <a:ext cx="7096136" cy="5157471"/>
          </a:xfrm>
          <a:prstGeom prst="rect">
            <a:avLst/>
          </a:prstGeom>
        </p:spPr>
      </p:pic>
    </p:spTree>
    <p:extLst>
      <p:ext uri="{BB962C8B-B14F-4D97-AF65-F5344CB8AC3E}">
        <p14:creationId xmlns:p14="http://schemas.microsoft.com/office/powerpoint/2010/main" val="22447712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1E724-3454-0ED9-7B71-61CD1E2B901F}"/>
              </a:ext>
            </a:extLst>
          </p:cNvPr>
          <p:cNvSpPr>
            <a:spLocks noGrp="1"/>
          </p:cNvSpPr>
          <p:nvPr>
            <p:ph type="title"/>
          </p:nvPr>
        </p:nvSpPr>
        <p:spPr/>
        <p:txBody>
          <a:bodyPr/>
          <a:lstStyle/>
          <a:p>
            <a:r>
              <a:rPr lang="en-US" dirty="0"/>
              <a:t>Why send all the rows at once?</a:t>
            </a:r>
          </a:p>
        </p:txBody>
      </p:sp>
      <p:sp>
        <p:nvSpPr>
          <p:cNvPr id="3" name="Content Placeholder 2">
            <a:extLst>
              <a:ext uri="{FF2B5EF4-FFF2-40B4-BE49-F238E27FC236}">
                <a16:creationId xmlns:a16="http://schemas.microsoft.com/office/drawing/2014/main" id="{FAEBB5E7-E3F3-A560-76C6-AE2BB967F322}"/>
              </a:ext>
            </a:extLst>
          </p:cNvPr>
          <p:cNvSpPr>
            <a:spLocks noGrp="1"/>
          </p:cNvSpPr>
          <p:nvPr>
            <p:ph idx="1"/>
          </p:nvPr>
        </p:nvSpPr>
        <p:spPr/>
        <p:txBody>
          <a:bodyPr/>
          <a:lstStyle/>
          <a:p>
            <a:pPr marL="171450" indent="-171450">
              <a:buFontTx/>
              <a:buChar char="-"/>
            </a:pPr>
            <a:r>
              <a:rPr lang="en-US" dirty="0"/>
              <a:t>All the data is related. Either all of it updates as a unit or none of it does.</a:t>
            </a:r>
          </a:p>
          <a:p>
            <a:pPr marL="171450" indent="-171450">
              <a:buFontTx/>
              <a:buChar char="-"/>
            </a:pPr>
            <a:r>
              <a:rPr lang="en-US" dirty="0"/>
              <a:t>Keep the lifetime of the transaction to a minimum</a:t>
            </a:r>
          </a:p>
          <a:p>
            <a:pPr marL="171450" indent="-171450">
              <a:buFontTx/>
              <a:buChar char="-"/>
            </a:pPr>
            <a:r>
              <a:rPr lang="en-US" dirty="0"/>
              <a:t>Avoid staging-table management</a:t>
            </a:r>
          </a:p>
          <a:p>
            <a:pPr marL="628650" lvl="1" indent="-171450">
              <a:buFontTx/>
              <a:buChar char="-"/>
            </a:pPr>
            <a:r>
              <a:rPr lang="en-US" dirty="0"/>
              <a:t>procs to pre-clean the staging tables </a:t>
            </a:r>
          </a:p>
          <a:p>
            <a:pPr marL="628650" lvl="1" indent="-171450">
              <a:buFontTx/>
              <a:buChar char="-"/>
            </a:pPr>
            <a:r>
              <a:rPr lang="en-US" dirty="0"/>
              <a:t>procs to swap the data afterwards</a:t>
            </a:r>
          </a:p>
          <a:p>
            <a:pPr marL="171450" indent="-171450">
              <a:buFontTx/>
              <a:buChar char="-"/>
            </a:pPr>
            <a:r>
              <a:rPr lang="en-US" dirty="0"/>
              <a:t>Avoid session management</a:t>
            </a:r>
          </a:p>
          <a:p>
            <a:pPr marL="628650" lvl="1" indent="-171450">
              <a:buFontTx/>
              <a:buChar char="-"/>
            </a:pPr>
            <a:r>
              <a:rPr lang="en-US" dirty="0"/>
              <a:t>Even worse if everyone uses the same common application login</a:t>
            </a:r>
          </a:p>
          <a:p>
            <a:pPr marL="628650" lvl="1" indent="-171450">
              <a:buFontTx/>
              <a:buChar char="-"/>
            </a:pPr>
            <a:endParaRPr lang="en-US" dirty="0"/>
          </a:p>
        </p:txBody>
      </p:sp>
    </p:spTree>
    <p:extLst>
      <p:ext uri="{BB962C8B-B14F-4D97-AF65-F5344CB8AC3E}">
        <p14:creationId xmlns:p14="http://schemas.microsoft.com/office/powerpoint/2010/main" val="16771241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60B561-9B3E-A968-2B4E-7319150C79C4}"/>
              </a:ext>
            </a:extLst>
          </p:cNvPr>
          <p:cNvSpPr txBox="1"/>
          <p:nvPr/>
        </p:nvSpPr>
        <p:spPr>
          <a:xfrm>
            <a:off x="1510146" y="5437227"/>
            <a:ext cx="6802581" cy="400110"/>
          </a:xfrm>
          <a:prstGeom prst="rect">
            <a:avLst/>
          </a:prstGeom>
          <a:noFill/>
        </p:spPr>
        <p:txBody>
          <a:bodyPr wrap="square">
            <a:spAutoFit/>
          </a:bodyPr>
          <a:lstStyle/>
          <a:p>
            <a:r>
              <a:rPr lang="en-US" sz="2000">
                <a:latin typeface="Verdana" panose="020B0604030504040204" pitchFamily="34" charset="0"/>
                <a:ea typeface="Verdana" panose="020B0604030504040204" pitchFamily="34" charset="0"/>
              </a:rPr>
              <a:t>https://github.com/jbfoushee/MyPresentations/</a:t>
            </a:r>
            <a:endParaRPr lang="en-US" sz="2000" dirty="0">
              <a:latin typeface="Verdana" panose="020B0604030504040204" pitchFamily="34" charset="0"/>
              <a:ea typeface="Verdana" panose="020B0604030504040204" pitchFamily="34" charset="0"/>
            </a:endParaRPr>
          </a:p>
        </p:txBody>
      </p:sp>
      <p:sp>
        <p:nvSpPr>
          <p:cNvPr id="5" name="TextBox 4">
            <a:extLst>
              <a:ext uri="{FF2B5EF4-FFF2-40B4-BE49-F238E27FC236}">
                <a16:creationId xmlns:a16="http://schemas.microsoft.com/office/drawing/2014/main" id="{ABF7E1BF-9545-970E-5C17-B09523F51437}"/>
              </a:ext>
            </a:extLst>
          </p:cNvPr>
          <p:cNvSpPr txBox="1"/>
          <p:nvPr/>
        </p:nvSpPr>
        <p:spPr>
          <a:xfrm>
            <a:off x="1510146" y="4895212"/>
            <a:ext cx="7439890"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https://www.linkedin.com/in/jeff-foushee-13b80a100/</a:t>
            </a:r>
          </a:p>
        </p:txBody>
      </p:sp>
      <p:pic>
        <p:nvPicPr>
          <p:cNvPr id="1026" name="Picture 2" descr="Linkedin-logo | myCloudDoor - Expertise for Cloud Transition">
            <a:extLst>
              <a:ext uri="{FF2B5EF4-FFF2-40B4-BE49-F238E27FC236}">
                <a16:creationId xmlns:a16="http://schemas.microsoft.com/office/drawing/2014/main" id="{7541C2E9-3409-6A8C-14FE-E2F786407B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1273" y="4897215"/>
            <a:ext cx="678873" cy="3818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4A4A3218-5674-2C67-8D76-BCC0445E3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272" y="5451764"/>
            <a:ext cx="678874" cy="381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4EF63783-B000-A4BC-CCBD-ECC8D1236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090" y="1578919"/>
            <a:ext cx="2228212" cy="2228212"/>
          </a:xfrm>
          <a:prstGeom prst="rect">
            <a:avLst/>
          </a:prstGeom>
        </p:spPr>
      </p:pic>
      <p:sp>
        <p:nvSpPr>
          <p:cNvPr id="8" name="TextBox 7">
            <a:extLst>
              <a:ext uri="{FF2B5EF4-FFF2-40B4-BE49-F238E27FC236}">
                <a16:creationId xmlns:a16="http://schemas.microsoft.com/office/drawing/2014/main" id="{98A32F5C-E514-95A5-9E67-696F9A1524ED}"/>
              </a:ext>
            </a:extLst>
          </p:cNvPr>
          <p:cNvSpPr txBox="1"/>
          <p:nvPr/>
        </p:nvSpPr>
        <p:spPr>
          <a:xfrm>
            <a:off x="4225637" y="1020663"/>
            <a:ext cx="6442363" cy="2985433"/>
          </a:xfrm>
          <a:prstGeom prst="rect">
            <a:avLst/>
          </a:prstGeom>
          <a:noFill/>
        </p:spPr>
        <p:txBody>
          <a:bodyPr wrap="square" rtlCol="0">
            <a:spAutoFit/>
          </a:bodyPr>
          <a:lstStyle/>
          <a:p>
            <a:r>
              <a:rPr lang="en-US" sz="3600" dirty="0">
                <a:latin typeface="Verdana" panose="020B0604030504040204" pitchFamily="34" charset="0"/>
                <a:ea typeface="Verdana" panose="020B0604030504040204" pitchFamily="34" charset="0"/>
              </a:rPr>
              <a:t>Jeff Foushee</a:t>
            </a:r>
          </a:p>
          <a:p>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Server Database Admin</a:t>
            </a:r>
          </a:p>
          <a:p>
            <a:pPr marL="285750" indent="-285750">
              <a:buFont typeface="Arial" panose="020B0604020202020204" pitchFamily="34" charset="0"/>
              <a:buChar char="•"/>
            </a:pPr>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Programmer</a:t>
            </a:r>
          </a:p>
          <a:p>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Saturday speaker</a:t>
            </a:r>
          </a:p>
          <a:p>
            <a:pPr marL="285750" indent="-285750">
              <a:buFont typeface="Arial" panose="020B0604020202020204" pitchFamily="34" charset="0"/>
              <a:buChar char="•"/>
            </a:pPr>
            <a:endParaRPr lang="en-US" sz="12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Blackjack dealer</a:t>
            </a:r>
          </a:p>
        </p:txBody>
      </p:sp>
    </p:spTree>
    <p:extLst>
      <p:ext uri="{BB962C8B-B14F-4D97-AF65-F5344CB8AC3E}">
        <p14:creationId xmlns:p14="http://schemas.microsoft.com/office/powerpoint/2010/main" val="918283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without UDTTs – Row-by-Agonizing-Row</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Stg_Tbl.Truncate</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("TRUNCATE TABLE </a:t>
            </a:r>
            <a:r>
              <a:rPr lang="en-US" sz="2000" dirty="0" err="1">
                <a:solidFill>
                  <a:schemeClr val="tx1"/>
                </a:solidFill>
                <a:latin typeface="Cascadia Code" panose="020B0609020000020004" pitchFamily="49" charset="0"/>
                <a:cs typeface="Cascadia Code" panose="020B0609020000020004" pitchFamily="49" charset="0"/>
              </a:rPr>
              <a:t>dbo.Staging_Tbl</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Stg_Tbl.Load</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solidFill>
                  <a:schemeClr val="tx1"/>
                </a:solidFill>
                <a:latin typeface="Cascadia Code" panose="020B0609020000020004" pitchFamily="49" charset="0"/>
                <a:cs typeface="Cascadia Code" panose="020B0609020000020004" pitchFamily="49" charset="0"/>
              </a:rPr>
              <a:t>foreach(row) {</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SQL.TryConnect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SQL.Cmd.TryExec</a:t>
            </a:r>
            <a:r>
              <a:rPr lang="en-US" dirty="0">
                <a:solidFill>
                  <a:schemeClr val="tx1"/>
                </a:solidFill>
                <a:latin typeface="Cascadia Code" panose="020B0609020000020004" pitchFamily="49" charset="0"/>
                <a:cs typeface="Cascadia Code" panose="020B0609020000020004" pitchFamily="49" charset="0"/>
              </a:rPr>
              <a:t>(</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EXEC </a:t>
            </a:r>
            <a:r>
              <a:rPr lang="en-US" dirty="0" err="1">
                <a:solidFill>
                  <a:schemeClr val="tx1"/>
                </a:solidFill>
                <a:latin typeface="Cascadia Code" panose="020B0609020000020004" pitchFamily="49" charset="0"/>
                <a:cs typeface="Cascadia Code" panose="020B0609020000020004" pitchFamily="49" charset="0"/>
              </a:rPr>
              <a:t>dbo.AddStgData</a:t>
            </a:r>
            <a:r>
              <a:rPr lang="en-US" dirty="0">
                <a:solidFill>
                  <a:schemeClr val="tx1"/>
                </a:solidFill>
                <a:latin typeface="Cascadia Code" panose="020B0609020000020004" pitchFamily="49" charset="0"/>
                <a:cs typeface="Cascadia Code" panose="020B0609020000020004" pitchFamily="49" charset="0"/>
              </a:rPr>
              <a:t>(@p1=, @p2=,…</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SQL.Close</a:t>
            </a:r>
            <a:r>
              <a:rPr lang="en-US"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latin typeface="Cascadia Code" panose="020B0609020000020004" pitchFamily="49" charset="0"/>
                <a:cs typeface="Cascadia Code" panose="020B0609020000020004" pitchFamily="49" charset="0"/>
              </a:rPr>
              <a:t>}</a:t>
            </a:r>
            <a:endParaRPr lang="en-US" sz="2000" dirty="0">
              <a:solidFill>
                <a:schemeClr val="tx1"/>
              </a:solidFill>
              <a:latin typeface="Cascadia Code" panose="020B0609020000020004" pitchFamily="49" charset="0"/>
              <a:cs typeface="Cascadia Code" panose="020B0609020000020004" pitchFamily="49" charset="0"/>
            </a:endParaRP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Stg_Table.Swap</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dbo.SwapLiveDataWithStg</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endParaRPr lang="en-US" sz="2000" dirty="0"/>
          </a:p>
        </p:txBody>
      </p:sp>
      <p:grpSp>
        <p:nvGrpSpPr>
          <p:cNvPr id="6" name="Group 5">
            <a:extLst>
              <a:ext uri="{FF2B5EF4-FFF2-40B4-BE49-F238E27FC236}">
                <a16:creationId xmlns:a16="http://schemas.microsoft.com/office/drawing/2014/main" id="{819799A3-CE9D-8683-A29B-C13F884751B2}"/>
              </a:ext>
            </a:extLst>
          </p:cNvPr>
          <p:cNvGrpSpPr/>
          <p:nvPr/>
        </p:nvGrpSpPr>
        <p:grpSpPr>
          <a:xfrm>
            <a:off x="1219200" y="2729160"/>
            <a:ext cx="10134600" cy="2258476"/>
            <a:chOff x="1219200" y="2729160"/>
            <a:chExt cx="10134600" cy="2258476"/>
          </a:xfrm>
        </p:grpSpPr>
        <p:sp>
          <p:nvSpPr>
            <p:cNvPr id="4" name="Rectangle 3">
              <a:extLst>
                <a:ext uri="{FF2B5EF4-FFF2-40B4-BE49-F238E27FC236}">
                  <a16:creationId xmlns:a16="http://schemas.microsoft.com/office/drawing/2014/main" id="{13FF19F5-FE41-980A-AB6A-241145B08F1E}"/>
                </a:ext>
              </a:extLst>
            </p:cNvPr>
            <p:cNvSpPr/>
            <p:nvPr/>
          </p:nvSpPr>
          <p:spPr>
            <a:xfrm>
              <a:off x="1219200" y="3283527"/>
              <a:ext cx="8575964" cy="170410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5" name="TextBox 4">
              <a:extLst>
                <a:ext uri="{FF2B5EF4-FFF2-40B4-BE49-F238E27FC236}">
                  <a16:creationId xmlns:a16="http://schemas.microsoft.com/office/drawing/2014/main" id="{601CF719-44A7-E35D-EC3E-58F1149EA6BA}"/>
                </a:ext>
              </a:extLst>
            </p:cNvPr>
            <p:cNvSpPr txBox="1"/>
            <p:nvPr/>
          </p:nvSpPr>
          <p:spPr>
            <a:xfrm>
              <a:off x="9538854" y="2729160"/>
              <a:ext cx="1814946" cy="523220"/>
            </a:xfrm>
            <a:prstGeom prst="rect">
              <a:avLst/>
            </a:prstGeom>
            <a:noFill/>
          </p:spPr>
          <p:txBody>
            <a:bodyPr wrap="square" rtlCol="0">
              <a:spAutoFit/>
            </a:bodyPr>
            <a:lstStyle/>
            <a:p>
              <a:r>
                <a:rPr lang="en-US" sz="2800" dirty="0">
                  <a:solidFill>
                    <a:srgbClr val="FF0000"/>
                  </a:solidFill>
                </a:rPr>
                <a:t>Pain-point</a:t>
              </a:r>
            </a:p>
          </p:txBody>
        </p:sp>
      </p:grpSp>
    </p:spTree>
    <p:extLst>
      <p:ext uri="{BB962C8B-B14F-4D97-AF65-F5344CB8AC3E}">
        <p14:creationId xmlns:p14="http://schemas.microsoft.com/office/powerpoint/2010/main" val="1445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FEEB08-4C57-DFE5-EC0F-9A01F2D40042}"/>
              </a:ext>
            </a:extLst>
          </p:cNvPr>
          <p:cNvSpPr txBox="1"/>
          <p:nvPr/>
        </p:nvSpPr>
        <p:spPr>
          <a:xfrm>
            <a:off x="637954" y="978198"/>
            <a:ext cx="6134986" cy="1200329"/>
          </a:xfrm>
          <a:prstGeom prst="rect">
            <a:avLst/>
          </a:prstGeom>
          <a:noFill/>
        </p:spPr>
        <p:txBody>
          <a:bodyPr wrap="square" rtlCol="0">
            <a:spAutoFit/>
          </a:bodyPr>
          <a:lstStyle/>
          <a:p>
            <a:r>
              <a:rPr lang="en-US" sz="2400" dirty="0">
                <a:solidFill>
                  <a:srgbClr val="0000FF"/>
                </a:solidFill>
                <a:latin typeface="Consolas" panose="020B0609020204030204" pitchFamily="49" charset="0"/>
              </a:rPr>
              <a:t>INSERT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INTO</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dbo</a:t>
            </a:r>
            <a:r>
              <a:rPr lang="en-US" sz="2400" dirty="0" err="1">
                <a:solidFill>
                  <a:srgbClr val="808080"/>
                </a:solidFill>
                <a:latin typeface="Consolas" panose="020B0609020204030204" pitchFamily="49" charset="0"/>
              </a:rPr>
              <a:t>.</a:t>
            </a:r>
            <a:r>
              <a:rPr lang="en-US" sz="2400" dirty="0" err="1">
                <a:solidFill>
                  <a:srgbClr val="000000"/>
                </a:solidFill>
                <a:latin typeface="Consolas" panose="020B0609020204030204" pitchFamily="49" charset="0"/>
              </a:rPr>
              <a:t>MyTable</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VCharCol_1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VCharCol_2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VALUES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34A2033-6D1C-4488-9C35-925A8D6705F5}"/>
              </a:ext>
            </a:extLst>
          </p:cNvPr>
          <p:cNvSpPr txBox="1"/>
          <p:nvPr/>
        </p:nvSpPr>
        <p:spPr>
          <a:xfrm>
            <a:off x="637953" y="2094617"/>
            <a:ext cx="6134987" cy="830997"/>
          </a:xfrm>
          <a:prstGeom prst="rect">
            <a:avLst/>
          </a:prstGeom>
          <a:noFill/>
        </p:spPr>
        <p:txBody>
          <a:bodyPr wrap="square" rtlCol="0">
            <a:spAutoFit/>
          </a:bodyPr>
          <a:lstStyle/>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'MyValue3'</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'MyValue4'</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'MyValue5'</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GETDATE</a:t>
            </a:r>
            <a:r>
              <a:rPr lang="en-US" sz="2400" dirty="0">
                <a:solidFill>
                  <a:srgbClr val="808080"/>
                </a:solidFill>
                <a:latin typeface="Consolas" panose="020B0609020204030204" pitchFamily="49" charset="0"/>
              </a:rPr>
              <a:t>() )</a:t>
            </a:r>
            <a:endParaRPr lang="en-US" sz="2400" dirty="0"/>
          </a:p>
        </p:txBody>
      </p:sp>
      <p:sp>
        <p:nvSpPr>
          <p:cNvPr id="6" name="TextBox 5">
            <a:extLst>
              <a:ext uri="{FF2B5EF4-FFF2-40B4-BE49-F238E27FC236}">
                <a16:creationId xmlns:a16="http://schemas.microsoft.com/office/drawing/2014/main" id="{DB7DED7A-D755-890F-A6C1-9A791C12E3BA}"/>
              </a:ext>
            </a:extLst>
          </p:cNvPr>
          <p:cNvSpPr txBox="1"/>
          <p:nvPr/>
        </p:nvSpPr>
        <p:spPr>
          <a:xfrm>
            <a:off x="723013" y="3637993"/>
            <a:ext cx="7389628" cy="1200329"/>
          </a:xfrm>
          <a:prstGeom prst="rect">
            <a:avLst/>
          </a:prstGeom>
          <a:noFill/>
        </p:spPr>
        <p:txBody>
          <a:bodyPr wrap="square" rtlCol="0">
            <a:spAutoFit/>
          </a:bodyPr>
          <a:lstStyle/>
          <a:p>
            <a:r>
              <a:rPr lang="en-US" sz="2400" dirty="0"/>
              <a:t>One complete transaction</a:t>
            </a:r>
          </a:p>
          <a:p>
            <a:pPr marL="285750" indent="-285750">
              <a:buFontTx/>
              <a:buChar char="-"/>
            </a:pPr>
            <a:r>
              <a:rPr lang="en-US" sz="2400" dirty="0"/>
              <a:t>All rows must commit together</a:t>
            </a:r>
          </a:p>
          <a:p>
            <a:pPr marL="285750" indent="-285750">
              <a:buFontTx/>
              <a:buChar char="-"/>
            </a:pPr>
            <a:r>
              <a:rPr lang="en-US" sz="2400" dirty="0"/>
              <a:t>All values must agree in their respective data signatures </a:t>
            </a:r>
          </a:p>
        </p:txBody>
      </p:sp>
      <p:sp>
        <p:nvSpPr>
          <p:cNvPr id="2" name="TextBox 1">
            <a:extLst>
              <a:ext uri="{FF2B5EF4-FFF2-40B4-BE49-F238E27FC236}">
                <a16:creationId xmlns:a16="http://schemas.microsoft.com/office/drawing/2014/main" id="{49A1F59D-9448-4B6B-5654-4DB2D355D1B4}"/>
              </a:ext>
            </a:extLst>
          </p:cNvPr>
          <p:cNvSpPr txBox="1"/>
          <p:nvPr/>
        </p:nvSpPr>
        <p:spPr>
          <a:xfrm>
            <a:off x="7370618" y="1127127"/>
            <a:ext cx="1385455" cy="523220"/>
          </a:xfrm>
          <a:prstGeom prst="rect">
            <a:avLst/>
          </a:prstGeom>
          <a:noFill/>
        </p:spPr>
        <p:txBody>
          <a:bodyPr wrap="square" rtlCol="0">
            <a:spAutoFit/>
          </a:bodyPr>
          <a:lstStyle/>
          <a:p>
            <a:r>
              <a:rPr lang="en-US" sz="2800" dirty="0"/>
              <a:t>“tuple”</a:t>
            </a:r>
          </a:p>
        </p:txBody>
      </p:sp>
      <p:cxnSp>
        <p:nvCxnSpPr>
          <p:cNvPr id="7" name="Straight Connector 6">
            <a:extLst>
              <a:ext uri="{FF2B5EF4-FFF2-40B4-BE49-F238E27FC236}">
                <a16:creationId xmlns:a16="http://schemas.microsoft.com/office/drawing/2014/main" id="{02CEBF40-9D74-21D3-3327-BA264BD2DEDA}"/>
              </a:ext>
            </a:extLst>
          </p:cNvPr>
          <p:cNvCxnSpPr>
            <a:cxnSpLocks/>
            <a:endCxn id="2" idx="1"/>
          </p:cNvCxnSpPr>
          <p:nvPr/>
        </p:nvCxnSpPr>
        <p:spPr>
          <a:xfrm flipV="1">
            <a:off x="6096000" y="1388737"/>
            <a:ext cx="1274618" cy="55089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68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A summary of new features in Azure SQL Database - Born SQL">
            <a:extLst>
              <a:ext uri="{FF2B5EF4-FFF2-40B4-BE49-F238E27FC236}">
                <a16:creationId xmlns:a16="http://schemas.microsoft.com/office/drawing/2014/main" id="{D5436DE0-41A7-69D5-B698-0B196EE218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2997" y="2016606"/>
            <a:ext cx="1750648" cy="175064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69741D5-C57D-CB84-87AC-F74CD2C4BC67}"/>
              </a:ext>
            </a:extLst>
          </p:cNvPr>
          <p:cNvSpPr txBox="1"/>
          <p:nvPr/>
        </p:nvSpPr>
        <p:spPr>
          <a:xfrm>
            <a:off x="5238059" y="4018272"/>
            <a:ext cx="5294322" cy="2585323"/>
          </a:xfrm>
          <a:prstGeom prst="rect">
            <a:avLst/>
          </a:prstGeom>
          <a:noFill/>
        </p:spPr>
        <p:txBody>
          <a:bodyPr wrap="square" rtlCol="0">
            <a:spAutoFit/>
          </a:bodyPr>
          <a:lstStyle/>
          <a:p>
            <a:r>
              <a:rPr lang="en-US" sz="2400" b="1" dirty="0"/>
              <a:t>On-prem SQL Server (2008+)</a:t>
            </a:r>
          </a:p>
          <a:p>
            <a:r>
              <a:rPr lang="en-US" sz="2400" b="1" dirty="0"/>
              <a:t>Azure SQL Database</a:t>
            </a:r>
          </a:p>
          <a:p>
            <a:r>
              <a:rPr lang="en-US" sz="2400" b="1" dirty="0"/>
              <a:t>Azure SQL Managed Instance</a:t>
            </a:r>
          </a:p>
          <a:p>
            <a:r>
              <a:rPr lang="en-US" sz="2400" b="1" strike="sngStrike" dirty="0"/>
              <a:t>Parallel Data Warehouse (PDW)</a:t>
            </a:r>
          </a:p>
          <a:p>
            <a:r>
              <a:rPr lang="en-US" sz="2400" b="1" strike="sngStrike" dirty="0"/>
              <a:t>Analytics Platform System (APS)</a:t>
            </a:r>
          </a:p>
          <a:p>
            <a:r>
              <a:rPr lang="en-US" sz="2400" b="1" strike="sngStrike" dirty="0"/>
              <a:t>Azure Synapse Analytics SQL pool</a:t>
            </a:r>
          </a:p>
          <a:p>
            <a:endParaRPr lang="en-US" dirty="0"/>
          </a:p>
        </p:txBody>
      </p:sp>
      <p:grpSp>
        <p:nvGrpSpPr>
          <p:cNvPr id="4" name="Group 3">
            <a:extLst>
              <a:ext uri="{FF2B5EF4-FFF2-40B4-BE49-F238E27FC236}">
                <a16:creationId xmlns:a16="http://schemas.microsoft.com/office/drawing/2014/main" id="{177EF875-F0BC-16E9-35DD-F92EDF28776A}"/>
              </a:ext>
            </a:extLst>
          </p:cNvPr>
          <p:cNvGrpSpPr/>
          <p:nvPr/>
        </p:nvGrpSpPr>
        <p:grpSpPr>
          <a:xfrm>
            <a:off x="1177258" y="1084181"/>
            <a:ext cx="9842127" cy="4856459"/>
            <a:chOff x="1177258" y="1084181"/>
            <a:chExt cx="9842127" cy="4856459"/>
          </a:xfrm>
        </p:grpSpPr>
        <p:pic>
          <p:nvPicPr>
            <p:cNvPr id="3082" name="Picture 10" descr="Image result for factory clipart image">
              <a:extLst>
                <a:ext uri="{FF2B5EF4-FFF2-40B4-BE49-F238E27FC236}">
                  <a16:creationId xmlns:a16="http://schemas.microsoft.com/office/drawing/2014/main" id="{40A7B953-985E-6AF1-0142-8D652A5BE0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7258" y="1084181"/>
              <a:ext cx="1653389" cy="175064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Image result for factory clipart image">
              <a:extLst>
                <a:ext uri="{FF2B5EF4-FFF2-40B4-BE49-F238E27FC236}">
                  <a16:creationId xmlns:a16="http://schemas.microsoft.com/office/drawing/2014/main" id="{95B6C33F-3960-7491-970B-A9A6DE9952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65995" y="1101184"/>
              <a:ext cx="1653390" cy="17506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Image result for factory clipart image">
              <a:extLst>
                <a:ext uri="{FF2B5EF4-FFF2-40B4-BE49-F238E27FC236}">
                  <a16:creationId xmlns:a16="http://schemas.microsoft.com/office/drawing/2014/main" id="{3D65264C-633C-B0A2-3B30-02C5757F5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77" y="3744808"/>
              <a:ext cx="1651722" cy="174888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3EBAE383-CF2F-ACB8-1041-3A316A26AA39}"/>
                </a:ext>
              </a:extLst>
            </p:cNvPr>
            <p:cNvCxnSpPr/>
            <p:nvPr/>
          </p:nvCxnSpPr>
          <p:spPr>
            <a:xfrm flipH="1">
              <a:off x="7092176" y="1806498"/>
              <a:ext cx="2074126"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2C8E234-7C84-3E05-14B4-CB44BF8181F5}"/>
                </a:ext>
              </a:extLst>
            </p:cNvPr>
            <p:cNvCxnSpPr>
              <a:cxnSpLocks/>
            </p:cNvCxnSpPr>
            <p:nvPr/>
          </p:nvCxnSpPr>
          <p:spPr>
            <a:xfrm>
              <a:off x="2929168" y="1806498"/>
              <a:ext cx="2132090"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2DAA9B-981F-A4BB-C7DD-F388A5F4F138}"/>
                </a:ext>
              </a:extLst>
            </p:cNvPr>
            <p:cNvCxnSpPr>
              <a:cxnSpLocks/>
            </p:cNvCxnSpPr>
            <p:nvPr/>
          </p:nvCxnSpPr>
          <p:spPr>
            <a:xfrm flipV="1">
              <a:off x="2929168" y="3714750"/>
              <a:ext cx="2132090" cy="9444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8" name="Picture 2" descr="Download Python 32 / 64-bit (Terbaru 2022)">
              <a:extLst>
                <a:ext uri="{FF2B5EF4-FFF2-40B4-BE49-F238E27FC236}">
                  <a16:creationId xmlns:a16="http://schemas.microsoft.com/office/drawing/2014/main" id="{A7A20623-0730-3465-9619-BB9B1537E8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10484" y="1341224"/>
              <a:ext cx="455818" cy="45581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NET Standard and new .NET Framework Logo and Banner | The NeoSmart Files">
              <a:extLst>
                <a:ext uri="{FF2B5EF4-FFF2-40B4-BE49-F238E27FC236}">
                  <a16:creationId xmlns:a16="http://schemas.microsoft.com/office/drawing/2014/main" id="{9E887786-E27E-9515-8A56-062F66340F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8901" y="1332836"/>
              <a:ext cx="455818" cy="45581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4E6BA8A4-1AD8-B67A-F92D-3C1C64C75D99}"/>
                </a:ext>
              </a:extLst>
            </p:cNvPr>
            <p:cNvSpPr txBox="1"/>
            <p:nvPr/>
          </p:nvSpPr>
          <p:spPr>
            <a:xfrm>
              <a:off x="1424250" y="2928526"/>
              <a:ext cx="1183975" cy="369332"/>
            </a:xfrm>
            <a:prstGeom prst="rect">
              <a:avLst/>
            </a:prstGeom>
            <a:noFill/>
          </p:spPr>
          <p:txBody>
            <a:bodyPr wrap="square" rtlCol="0">
              <a:spAutoFit/>
            </a:bodyPr>
            <a:lstStyle/>
            <a:p>
              <a:r>
                <a:rPr lang="en-US" dirty="0"/>
                <a:t>Location 1</a:t>
              </a:r>
            </a:p>
          </p:txBody>
        </p:sp>
        <p:sp>
          <p:nvSpPr>
            <p:cNvPr id="23" name="TextBox 22">
              <a:extLst>
                <a:ext uri="{FF2B5EF4-FFF2-40B4-BE49-F238E27FC236}">
                  <a16:creationId xmlns:a16="http://schemas.microsoft.com/office/drawing/2014/main" id="{868FC253-C198-9CBB-8757-3CE9A6D19916}"/>
                </a:ext>
              </a:extLst>
            </p:cNvPr>
            <p:cNvSpPr txBox="1"/>
            <p:nvPr/>
          </p:nvSpPr>
          <p:spPr>
            <a:xfrm>
              <a:off x="1411964" y="5571308"/>
              <a:ext cx="1183975" cy="369332"/>
            </a:xfrm>
            <a:prstGeom prst="rect">
              <a:avLst/>
            </a:prstGeom>
            <a:noFill/>
          </p:spPr>
          <p:txBody>
            <a:bodyPr wrap="square" rtlCol="0">
              <a:spAutoFit/>
            </a:bodyPr>
            <a:lstStyle/>
            <a:p>
              <a:r>
                <a:rPr lang="en-US" dirty="0"/>
                <a:t>Location 2</a:t>
              </a:r>
            </a:p>
          </p:txBody>
        </p:sp>
        <p:sp>
          <p:nvSpPr>
            <p:cNvPr id="24" name="TextBox 23">
              <a:extLst>
                <a:ext uri="{FF2B5EF4-FFF2-40B4-BE49-F238E27FC236}">
                  <a16:creationId xmlns:a16="http://schemas.microsoft.com/office/drawing/2014/main" id="{F5216EE3-B337-9BDD-4FB7-19451507840C}"/>
                </a:ext>
              </a:extLst>
            </p:cNvPr>
            <p:cNvSpPr txBox="1"/>
            <p:nvPr/>
          </p:nvSpPr>
          <p:spPr>
            <a:xfrm>
              <a:off x="9583775" y="2928526"/>
              <a:ext cx="1183975" cy="369332"/>
            </a:xfrm>
            <a:prstGeom prst="rect">
              <a:avLst/>
            </a:prstGeom>
            <a:noFill/>
          </p:spPr>
          <p:txBody>
            <a:bodyPr wrap="square" rtlCol="0">
              <a:spAutoFit/>
            </a:bodyPr>
            <a:lstStyle/>
            <a:p>
              <a:r>
                <a:rPr lang="en-US" dirty="0"/>
                <a:t>Location 3</a:t>
              </a:r>
            </a:p>
          </p:txBody>
        </p:sp>
        <p:pic>
          <p:nvPicPr>
            <p:cNvPr id="3" name="Picture 2" descr="Powershell Icon #48576 - Free Icons Library">
              <a:extLst>
                <a:ext uri="{FF2B5EF4-FFF2-40B4-BE49-F238E27FC236}">
                  <a16:creationId xmlns:a16="http://schemas.microsoft.com/office/drawing/2014/main" id="{E8BD3459-5F91-0198-1A33-ABBC92FCF2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18900" y="4619249"/>
              <a:ext cx="538085" cy="5380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148926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BFEA-80EA-5E23-011A-0488567341FA}"/>
              </a:ext>
            </a:extLst>
          </p:cNvPr>
          <p:cNvSpPr>
            <a:spLocks noGrp="1"/>
          </p:cNvSpPr>
          <p:nvPr>
            <p:ph type="title"/>
          </p:nvPr>
        </p:nvSpPr>
        <p:spPr/>
        <p:txBody>
          <a:bodyPr/>
          <a:lstStyle/>
          <a:p>
            <a:r>
              <a:rPr lang="en-US" dirty="0"/>
              <a:t>The back-end SQL Server table</a:t>
            </a:r>
          </a:p>
        </p:txBody>
      </p:sp>
      <p:pic>
        <p:nvPicPr>
          <p:cNvPr id="4" name="Picture 3">
            <a:extLst>
              <a:ext uri="{FF2B5EF4-FFF2-40B4-BE49-F238E27FC236}">
                <a16:creationId xmlns:a16="http://schemas.microsoft.com/office/drawing/2014/main" id="{8E37B6E4-FA28-0547-F43E-313F3DCD5189}"/>
              </a:ext>
            </a:extLst>
          </p:cNvPr>
          <p:cNvPicPr>
            <a:picLocks noChangeAspect="1"/>
          </p:cNvPicPr>
          <p:nvPr/>
        </p:nvPicPr>
        <p:blipFill>
          <a:blip r:embed="rId3"/>
          <a:stretch>
            <a:fillRect/>
          </a:stretch>
        </p:blipFill>
        <p:spPr>
          <a:xfrm>
            <a:off x="1104467" y="1546946"/>
            <a:ext cx="7125133" cy="4858555"/>
          </a:xfrm>
          <a:prstGeom prst="rect">
            <a:avLst/>
          </a:prstGeom>
        </p:spPr>
      </p:pic>
      <p:sp>
        <p:nvSpPr>
          <p:cNvPr id="3" name="TextBox 2">
            <a:extLst>
              <a:ext uri="{FF2B5EF4-FFF2-40B4-BE49-F238E27FC236}">
                <a16:creationId xmlns:a16="http://schemas.microsoft.com/office/drawing/2014/main" id="{5A7053D8-E51A-DA75-34DE-42116B789E8E}"/>
              </a:ext>
            </a:extLst>
          </p:cNvPr>
          <p:cNvSpPr txBox="1"/>
          <p:nvPr/>
        </p:nvSpPr>
        <p:spPr>
          <a:xfrm>
            <a:off x="8842664" y="5680363"/>
            <a:ext cx="1898072" cy="369332"/>
          </a:xfrm>
          <a:prstGeom prst="rect">
            <a:avLst/>
          </a:prstGeom>
          <a:noFill/>
        </p:spPr>
        <p:txBody>
          <a:bodyPr wrap="square" rtlCol="0">
            <a:spAutoFit/>
          </a:bodyPr>
          <a:lstStyle/>
          <a:p>
            <a:r>
              <a:rPr lang="en-US" b="1" dirty="0"/>
              <a:t>Composite</a:t>
            </a:r>
            <a:r>
              <a:rPr lang="en-US" dirty="0"/>
              <a:t> </a:t>
            </a:r>
            <a:r>
              <a:rPr lang="en-US" b="1" dirty="0"/>
              <a:t>Key</a:t>
            </a:r>
          </a:p>
        </p:txBody>
      </p:sp>
      <p:sp>
        <p:nvSpPr>
          <p:cNvPr id="5" name="TextBox 4">
            <a:extLst>
              <a:ext uri="{FF2B5EF4-FFF2-40B4-BE49-F238E27FC236}">
                <a16:creationId xmlns:a16="http://schemas.microsoft.com/office/drawing/2014/main" id="{2572E3F6-6578-2887-BD6A-E85322D13B4E}"/>
              </a:ext>
            </a:extLst>
          </p:cNvPr>
          <p:cNvSpPr txBox="1"/>
          <p:nvPr/>
        </p:nvSpPr>
        <p:spPr>
          <a:xfrm>
            <a:off x="8842664" y="4876800"/>
            <a:ext cx="1437409" cy="369332"/>
          </a:xfrm>
          <a:prstGeom prst="rect">
            <a:avLst/>
          </a:prstGeom>
          <a:noFill/>
        </p:spPr>
        <p:txBody>
          <a:bodyPr wrap="square" rtlCol="0">
            <a:spAutoFit/>
          </a:bodyPr>
          <a:lstStyle/>
          <a:p>
            <a:r>
              <a:rPr lang="en-US" b="1" dirty="0"/>
              <a:t>Primary Key</a:t>
            </a:r>
          </a:p>
        </p:txBody>
      </p:sp>
    </p:spTree>
    <p:extLst>
      <p:ext uri="{BB962C8B-B14F-4D97-AF65-F5344CB8AC3E}">
        <p14:creationId xmlns:p14="http://schemas.microsoft.com/office/powerpoint/2010/main" val="503560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5F799DC-BC66-5363-55D4-8E9F9161FE70}"/>
              </a:ext>
            </a:extLst>
          </p:cNvPr>
          <p:cNvPicPr>
            <a:picLocks noChangeAspect="1"/>
          </p:cNvPicPr>
          <p:nvPr/>
        </p:nvPicPr>
        <p:blipFill>
          <a:blip r:embed="rId3"/>
          <a:stretch>
            <a:fillRect/>
          </a:stretch>
        </p:blipFill>
        <p:spPr>
          <a:xfrm>
            <a:off x="714375" y="1576387"/>
            <a:ext cx="7140914" cy="4916488"/>
          </a:xfrm>
          <a:prstGeom prst="rect">
            <a:avLst/>
          </a:prstGeom>
        </p:spPr>
      </p:pic>
      <p:sp>
        <p:nvSpPr>
          <p:cNvPr id="2" name="Title 1">
            <a:extLst>
              <a:ext uri="{FF2B5EF4-FFF2-40B4-BE49-F238E27FC236}">
                <a16:creationId xmlns:a16="http://schemas.microsoft.com/office/drawing/2014/main" id="{7F562E86-F32E-98F9-68DE-9AA7F54C6E47}"/>
              </a:ext>
            </a:extLst>
          </p:cNvPr>
          <p:cNvSpPr>
            <a:spLocks noGrp="1"/>
          </p:cNvSpPr>
          <p:nvPr>
            <p:ph type="title"/>
          </p:nvPr>
        </p:nvSpPr>
        <p:spPr/>
        <p:txBody>
          <a:bodyPr/>
          <a:lstStyle/>
          <a:p>
            <a:r>
              <a:rPr lang="en-US" dirty="0"/>
              <a:t>Create the User-Defined Table Type (UDTT)</a:t>
            </a:r>
          </a:p>
        </p:txBody>
      </p:sp>
      <p:sp>
        <p:nvSpPr>
          <p:cNvPr id="6" name="TextBox 5">
            <a:extLst>
              <a:ext uri="{FF2B5EF4-FFF2-40B4-BE49-F238E27FC236}">
                <a16:creationId xmlns:a16="http://schemas.microsoft.com/office/drawing/2014/main" id="{6917806C-FC8A-7A21-BC74-4762E064E1D5}"/>
              </a:ext>
            </a:extLst>
          </p:cNvPr>
          <p:cNvSpPr txBox="1"/>
          <p:nvPr/>
        </p:nvSpPr>
        <p:spPr>
          <a:xfrm>
            <a:off x="4627418" y="1690688"/>
            <a:ext cx="6726382" cy="3170099"/>
          </a:xfrm>
          <a:prstGeom prst="rect">
            <a:avLst/>
          </a:prstGeom>
          <a:noFill/>
        </p:spPr>
        <p:txBody>
          <a:bodyPr wrap="square" rtlCol="0">
            <a:spAutoFit/>
          </a:bodyPr>
          <a:lstStyle/>
          <a:p>
            <a:r>
              <a:rPr lang="en-US" sz="2000" b="1" dirty="0">
                <a:solidFill>
                  <a:srgbClr val="0000FF"/>
                </a:solidFill>
                <a:latin typeface="Consolas" panose="020B0609020204030204" pitchFamily="49" charset="0"/>
              </a:rPr>
              <a:t>CREATE</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TYPE</a:t>
            </a:r>
            <a:r>
              <a:rPr lang="en-US" sz="2000" b="1" dirty="0">
                <a:solidFill>
                  <a:srgbClr val="000000"/>
                </a:solidFill>
                <a:latin typeface="Consolas" panose="020B0609020204030204" pitchFamily="49" charset="0"/>
              </a:rPr>
              <a:t> [</a:t>
            </a:r>
            <a:r>
              <a:rPr lang="en-US" sz="2000" b="1" dirty="0" err="1">
                <a:solidFill>
                  <a:srgbClr val="000000"/>
                </a:solidFill>
                <a:latin typeface="Consolas" panose="020B0609020204030204" pitchFamily="49" charset="0"/>
              </a:rPr>
              <a:t>dbo</a:t>
            </a:r>
            <a:r>
              <a:rPr lang="en-US" sz="2000" b="1" dirty="0">
                <a:solidFill>
                  <a:srgbClr val="000000"/>
                </a:solidFill>
                <a:latin typeface="Consolas" panose="020B0609020204030204" pitchFamily="49" charset="0"/>
              </a:rPr>
              <a:t>]</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a:t>
            </a:r>
            <a:r>
              <a:rPr lang="en-US" sz="2000" b="1" dirty="0" err="1">
                <a:solidFill>
                  <a:srgbClr val="000000"/>
                </a:solidFill>
                <a:latin typeface="Consolas" panose="020B0609020204030204" pitchFamily="49" charset="0"/>
              </a:rPr>
              <a:t>Type_Measurements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AS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TABLE</a:t>
            </a: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[Measurement] [varchar]</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10</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[Value] [int]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  PRIMARY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KEY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CLUSTERED</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Measurement </a:t>
            </a:r>
            <a:r>
              <a:rPr lang="en-US" sz="2000" b="1" dirty="0">
                <a:solidFill>
                  <a:srgbClr val="0000FF"/>
                </a:solidFill>
                <a:latin typeface="Consolas" panose="020B0609020204030204" pitchFamily="49" charset="0"/>
              </a:rPr>
              <a:t>ASC</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WITH </a:t>
            </a:r>
            <a:r>
              <a:rPr lang="en-US" sz="2000" b="1" dirty="0">
                <a:solidFill>
                  <a:srgbClr val="808080"/>
                </a:solidFill>
                <a:latin typeface="Consolas" panose="020B0609020204030204" pitchFamily="49" charset="0"/>
              </a:rPr>
              <a:t>(</a:t>
            </a:r>
            <a:r>
              <a:rPr lang="en-US" sz="2000" b="1" dirty="0">
                <a:solidFill>
                  <a:srgbClr val="0000FF"/>
                </a:solidFill>
                <a:latin typeface="Consolas" panose="020B0609020204030204" pitchFamily="49" charset="0"/>
              </a:rPr>
              <a:t>IGNORE_DUP_KEY</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OFF</a:t>
            </a:r>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GO</a:t>
            </a:r>
            <a:endParaRPr lang="en-US" sz="20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40017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932AA-4C8E-3AFE-947E-A2177DA9A1CB}"/>
              </a:ext>
            </a:extLst>
          </p:cNvPr>
          <p:cNvSpPr>
            <a:spLocks noGrp="1"/>
          </p:cNvSpPr>
          <p:nvPr>
            <p:ph type="title"/>
          </p:nvPr>
        </p:nvSpPr>
        <p:spPr>
          <a:xfrm>
            <a:off x="838200" y="557038"/>
            <a:ext cx="10515600" cy="915035"/>
          </a:xfrm>
        </p:spPr>
        <p:txBody>
          <a:bodyPr/>
          <a:lstStyle/>
          <a:p>
            <a:r>
              <a:rPr lang="en-US" dirty="0"/>
              <a:t>Create the proc to interact with the UDTT</a:t>
            </a:r>
          </a:p>
        </p:txBody>
      </p:sp>
      <p:sp>
        <p:nvSpPr>
          <p:cNvPr id="4" name="TextBox 3">
            <a:extLst>
              <a:ext uri="{FF2B5EF4-FFF2-40B4-BE49-F238E27FC236}">
                <a16:creationId xmlns:a16="http://schemas.microsoft.com/office/drawing/2014/main" id="{008D5BA5-D622-FDBF-0BC6-466A817ACDFD}"/>
              </a:ext>
            </a:extLst>
          </p:cNvPr>
          <p:cNvSpPr txBox="1"/>
          <p:nvPr/>
        </p:nvSpPr>
        <p:spPr>
          <a:xfrm>
            <a:off x="1017270" y="1810738"/>
            <a:ext cx="10515600" cy="3416320"/>
          </a:xfrm>
          <a:prstGeom prst="rect">
            <a:avLst/>
          </a:prstGeom>
          <a:noFill/>
        </p:spPr>
        <p:txBody>
          <a:bodyPr wrap="square" rtlCol="0">
            <a:spAutoFit/>
          </a:bodyPr>
          <a:lstStyle/>
          <a:p>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PROCEDURE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a:solidFill>
                  <a:srgbClr val="000000"/>
                </a:solidFill>
                <a:latin typeface="Consolas" panose="020B0609020204030204" pitchFamily="49" charset="0"/>
              </a:rPr>
              <a:t>]</a:t>
            </a:r>
            <a:r>
              <a:rPr lang="en-US" sz="2400" b="1" dirty="0">
                <a:solidFill>
                  <a:srgbClr val="808080"/>
                </a:solidFill>
                <a:latin typeface="Consolas" panose="020B0609020204030204" pitchFamily="49" charset="0"/>
              </a:rPr>
              <a:t>.</a:t>
            </a:r>
            <a:r>
              <a:rPr lang="en-US" sz="2400" b="1" dirty="0">
                <a:solidFill>
                  <a:srgbClr val="00000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a:t>
            </a:r>
          </a:p>
          <a:p>
            <a:r>
              <a:rPr lang="en-US" sz="2400" b="1" dirty="0">
                <a:solidFill>
                  <a:srgbClr val="000000"/>
                </a:solidFill>
                <a:latin typeface="Consolas" panose="020B0609020204030204" pitchFamily="49" charset="0"/>
              </a:rPr>
              <a:t>   @LocationCode </a:t>
            </a:r>
            <a:r>
              <a:rPr lang="en-US" sz="2400" b="1" dirty="0" err="1">
                <a:solidFill>
                  <a:srgbClr val="0000FF"/>
                </a:solidFill>
                <a:latin typeface="Consolas" panose="020B0609020204030204" pitchFamily="49" charset="0"/>
              </a:rPr>
              <a:t>smallint</a:t>
            </a:r>
            <a:endParaRPr lang="en-US" sz="2400" b="1" dirty="0">
              <a:solidFill>
                <a:srgbClr val="000000"/>
              </a:solidFill>
              <a:latin typeface="Consolas" panose="020B0609020204030204" pitchFamily="49" charset="0"/>
            </a:endParaRPr>
          </a:p>
          <a:p>
            <a:r>
              <a:rPr lang="en-US" sz="2400" b="1" dirty="0">
                <a:solidFill>
                  <a:srgbClr val="808080"/>
                </a:solidFill>
                <a:latin typeface="Consolas" panose="020B0609020204030204" pitchFamily="49" charset="0"/>
              </a:rPr>
              <a:t>   ,</a:t>
            </a:r>
            <a:r>
              <a:rPr lang="en-US" sz="2400" b="1" dirty="0">
                <a:solidFill>
                  <a:srgbClr val="000000"/>
                </a:solidFill>
                <a:latin typeface="Consolas" panose="020B0609020204030204" pitchFamily="49" charset="0"/>
              </a:rPr>
              <a:t> @dt_Measurements </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dbo</a:t>
            </a:r>
            <a:r>
              <a:rPr lang="en-US" sz="2400" b="1" dirty="0">
                <a:solidFill>
                  <a:srgbClr val="000000"/>
                </a:solidFill>
                <a:highlight>
                  <a:srgbClr val="FFFF00"/>
                </a:highlight>
                <a:latin typeface="Consolas" panose="020B0609020204030204" pitchFamily="49" charset="0"/>
              </a:rPr>
              <a:t>]</a:t>
            </a:r>
            <a:r>
              <a:rPr lang="en-US" sz="2400" b="1" dirty="0">
                <a:solidFill>
                  <a:srgbClr val="808080"/>
                </a:solidFill>
                <a:highlight>
                  <a:srgbClr val="FFFF00"/>
                </a:highlight>
                <a:latin typeface="Consolas" panose="020B0609020204030204" pitchFamily="49" charset="0"/>
              </a:rPr>
              <a:t>.</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Type_Measurements</a:t>
            </a:r>
            <a:r>
              <a:rPr lang="en-US" sz="2400" b="1" dirty="0">
                <a:solidFill>
                  <a:srgbClr val="000000"/>
                </a:solidFill>
                <a:highlight>
                  <a:srgbClr val="FFFF00"/>
                </a:highlight>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READONLY</a:t>
            </a:r>
            <a:endParaRPr lang="en-US" sz="2400" b="1" dirty="0">
              <a:solidFill>
                <a:srgbClr val="000000"/>
              </a:solidFill>
              <a:highlight>
                <a:srgbClr val="FFFF00"/>
              </a:highlight>
              <a:latin typeface="Consolas" panose="020B0609020204030204" pitchFamily="49" charset="0"/>
            </a:endParaRPr>
          </a:p>
          <a:p>
            <a:r>
              <a:rPr lang="en-US" sz="2400" b="1" dirty="0">
                <a:solidFill>
                  <a:srgbClr val="0000FF"/>
                </a:solidFill>
                <a:latin typeface="Consolas" panose="020B0609020204030204" pitchFamily="49" charset="0"/>
              </a:rPr>
              <a:t>AS</a:t>
            </a:r>
            <a:endParaRPr lang="en-US" sz="2400" b="1" dirty="0">
              <a:solidFill>
                <a:srgbClr val="000000"/>
              </a:solidFill>
              <a:latin typeface="Consolas" panose="020B0609020204030204" pitchFamily="49" charset="0"/>
            </a:endParaRPr>
          </a:p>
          <a:p>
            <a:r>
              <a:rPr lang="en-US" sz="2400" b="1" dirty="0">
                <a:solidFill>
                  <a:srgbClr val="0000FF"/>
                </a:solidFill>
                <a:latin typeface="Consolas" panose="020B0609020204030204" pitchFamily="49" charset="0"/>
              </a:rPr>
              <a:t>BEGIN</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  </a:t>
            </a:r>
            <a:r>
              <a:rPr lang="en-US" sz="2400" b="1" dirty="0">
                <a:solidFill>
                  <a:schemeClr val="tx1">
                    <a:lumMod val="65000"/>
                    <a:lumOff val="35000"/>
                  </a:schemeClr>
                </a:solidFill>
                <a:latin typeface="Consolas" panose="020B0609020204030204" pitchFamily="49" charset="0"/>
              </a:rPr>
              <a:t>...(T-SQL MERGE statement. Let’s see it in demo)</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END</a:t>
            </a:r>
            <a:endParaRPr lang="en-US" sz="2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544662A7-C69A-7B30-0485-C025372A5C55}"/>
              </a:ext>
            </a:extLst>
          </p:cNvPr>
          <p:cNvSpPr txBox="1"/>
          <p:nvPr/>
        </p:nvSpPr>
        <p:spPr>
          <a:xfrm>
            <a:off x="6553200" y="4980837"/>
            <a:ext cx="4461163" cy="923330"/>
          </a:xfrm>
          <a:prstGeom prst="rect">
            <a:avLst/>
          </a:prstGeom>
          <a:noFill/>
        </p:spPr>
        <p:txBody>
          <a:bodyPr wrap="square" rtlCol="0">
            <a:spAutoFit/>
          </a:bodyPr>
          <a:lstStyle/>
          <a:p>
            <a:r>
              <a:rPr lang="en-US" sz="1800" b="1" dirty="0">
                <a:solidFill>
                  <a:srgbClr val="FF0000"/>
                </a:solidFill>
                <a:latin typeface="Consolas" panose="020B0609020204030204" pitchFamily="49" charset="0"/>
              </a:rPr>
              <a:t>The table-valued parameter "@</a:t>
            </a:r>
            <a:r>
              <a:rPr lang="en-US" sz="1800" b="1" dirty="0" err="1">
                <a:solidFill>
                  <a:srgbClr val="FF0000"/>
                </a:solidFill>
                <a:latin typeface="Consolas" panose="020B0609020204030204" pitchFamily="49" charset="0"/>
              </a:rPr>
              <a:t>dt_Measurements</a:t>
            </a:r>
            <a:r>
              <a:rPr lang="en-US" sz="1800" b="1" dirty="0">
                <a:solidFill>
                  <a:srgbClr val="FF0000"/>
                </a:solidFill>
                <a:latin typeface="Consolas" panose="020B0609020204030204" pitchFamily="49" charset="0"/>
              </a:rPr>
              <a:t>" must be declared with the READONLY option.</a:t>
            </a:r>
            <a:endParaRPr lang="en-US" b="1" dirty="0">
              <a:solidFill>
                <a:srgbClr val="FF0000"/>
              </a:solidFill>
            </a:endParaRPr>
          </a:p>
        </p:txBody>
      </p:sp>
      <p:cxnSp>
        <p:nvCxnSpPr>
          <p:cNvPr id="6" name="Straight Connector 5">
            <a:extLst>
              <a:ext uri="{FF2B5EF4-FFF2-40B4-BE49-F238E27FC236}">
                <a16:creationId xmlns:a16="http://schemas.microsoft.com/office/drawing/2014/main" id="{59FDF989-D41D-35B5-63F5-7DC68C2A9F08}"/>
              </a:ext>
            </a:extLst>
          </p:cNvPr>
          <p:cNvCxnSpPr>
            <a:cxnSpLocks/>
          </p:cNvCxnSpPr>
          <p:nvPr/>
        </p:nvCxnSpPr>
        <p:spPr>
          <a:xfrm flipV="1">
            <a:off x="9628909" y="3075709"/>
            <a:ext cx="429491" cy="19051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2728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
        <p:nvSpPr>
          <p:cNvPr id="3" name="TextBox 2">
            <a:extLst>
              <a:ext uri="{FF2B5EF4-FFF2-40B4-BE49-F238E27FC236}">
                <a16:creationId xmlns:a16="http://schemas.microsoft.com/office/drawing/2014/main" id="{BFF1BD22-D011-7122-BFDD-BB43607A12B3}"/>
              </a:ext>
            </a:extLst>
          </p:cNvPr>
          <p:cNvSpPr txBox="1"/>
          <p:nvPr/>
        </p:nvSpPr>
        <p:spPr>
          <a:xfrm>
            <a:off x="4849091" y="3429000"/>
            <a:ext cx="2189019" cy="369332"/>
          </a:xfrm>
          <a:prstGeom prst="rect">
            <a:avLst/>
          </a:prstGeom>
          <a:noFill/>
        </p:spPr>
        <p:txBody>
          <a:bodyPr wrap="square" rtlCol="0">
            <a:spAutoFit/>
          </a:bodyPr>
          <a:lstStyle/>
          <a:p>
            <a:r>
              <a:rPr lang="en-US" dirty="0"/>
              <a:t>(Start up Profiler)</a:t>
            </a:r>
          </a:p>
        </p:txBody>
      </p:sp>
    </p:spTree>
    <p:extLst>
      <p:ext uri="{BB962C8B-B14F-4D97-AF65-F5344CB8AC3E}">
        <p14:creationId xmlns:p14="http://schemas.microsoft.com/office/powerpoint/2010/main" val="968510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ADCD-3D58-83D8-2011-F54C6EC06947}"/>
              </a:ext>
            </a:extLst>
          </p:cNvPr>
          <p:cNvSpPr>
            <a:spLocks noGrp="1"/>
          </p:cNvSpPr>
          <p:nvPr>
            <p:ph type="title"/>
          </p:nvPr>
        </p:nvSpPr>
        <p:spPr/>
        <p:txBody>
          <a:bodyPr/>
          <a:lstStyle/>
          <a:p>
            <a:r>
              <a:rPr lang="en-US" dirty="0"/>
              <a:t>Grant the security on the proc</a:t>
            </a:r>
          </a:p>
        </p:txBody>
      </p:sp>
      <p:sp>
        <p:nvSpPr>
          <p:cNvPr id="3" name="Content Placeholder 2">
            <a:extLst>
              <a:ext uri="{FF2B5EF4-FFF2-40B4-BE49-F238E27FC236}">
                <a16:creationId xmlns:a16="http://schemas.microsoft.com/office/drawing/2014/main" id="{123F780A-96D2-7B91-403E-8D6AFE96A261}"/>
              </a:ext>
            </a:extLst>
          </p:cNvPr>
          <p:cNvSpPr>
            <a:spLocks noGrp="1"/>
          </p:cNvSpPr>
          <p:nvPr>
            <p:ph idx="1"/>
          </p:nvPr>
        </p:nvSpPr>
        <p:spPr>
          <a:xfrm>
            <a:off x="838199" y="1825625"/>
            <a:ext cx="10827327" cy="4351338"/>
          </a:xfrm>
        </p:spPr>
        <p:txBody>
          <a:bodyPr>
            <a:normAutofit fontScale="92500"/>
          </a:bodyPr>
          <a:lstStyle/>
          <a:p>
            <a:pPr marL="0" indent="0">
              <a:buNone/>
            </a:pPr>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AUTHORIZATION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TYPE</a:t>
            </a:r>
            <a:r>
              <a:rPr lang="en-US" sz="2400" b="1" dirty="0">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Type_Measurements</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--if new login to database...</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CREATE USER [</a:t>
            </a:r>
            <a:r>
              <a:rPr lang="en-US" sz="2400" b="1" dirty="0" err="1">
                <a:solidFill>
                  <a:srgbClr val="008000"/>
                </a:solidFill>
                <a:latin typeface="Consolas" panose="020B0609020204030204" pitchFamily="49" charset="0"/>
              </a:rPr>
              <a:t>login_alias</a:t>
            </a:r>
            <a:r>
              <a:rPr lang="en-US" sz="2400" b="1" dirty="0">
                <a:solidFill>
                  <a:srgbClr val="008000"/>
                </a:solidFill>
                <a:latin typeface="Consolas" panose="020B0609020204030204" pitchFamily="49" charset="0"/>
              </a:rPr>
              <a:t>] FOR LOGIN [</a:t>
            </a:r>
            <a:r>
              <a:rPr lang="en-US" sz="2400" b="1" dirty="0" err="1">
                <a:solidFill>
                  <a:srgbClr val="008000"/>
                </a:solidFill>
                <a:latin typeface="Consolas" panose="020B0609020204030204" pitchFamily="49" charset="0"/>
              </a:rPr>
              <a:t>login_name</a:t>
            </a: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ALTER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ADD</a:t>
            </a:r>
            <a:r>
              <a:rPr lang="en-US" sz="2400" b="1" dirty="0">
                <a:solidFill>
                  <a:srgbClr val="000000"/>
                </a:solidFill>
                <a:latin typeface="Consolas" panose="020B0609020204030204" pitchFamily="49" charset="0"/>
              </a:rPr>
              <a:t> MEMBER [</a:t>
            </a:r>
            <a:r>
              <a:rPr lang="en-US" sz="2400" b="1" dirty="0" err="1">
                <a:solidFill>
                  <a:srgbClr val="000000"/>
                </a:solidFill>
                <a:latin typeface="Consolas" panose="020B0609020204030204" pitchFamily="49" charset="0"/>
              </a:rPr>
              <a:t>login_alias</a:t>
            </a:r>
            <a:r>
              <a:rPr lang="en-US" sz="2400" b="1" dirty="0">
                <a:solidFill>
                  <a:srgbClr val="000000"/>
                </a:solidFill>
                <a:latin typeface="Consolas" panose="020B0609020204030204" pitchFamily="49" charset="0"/>
              </a:rPr>
              <a:t>]</a:t>
            </a:r>
            <a:endParaRPr lang="en-US" sz="2400" b="1" dirty="0"/>
          </a:p>
        </p:txBody>
      </p:sp>
      <p:grpSp>
        <p:nvGrpSpPr>
          <p:cNvPr id="6" name="Group 5">
            <a:extLst>
              <a:ext uri="{FF2B5EF4-FFF2-40B4-BE49-F238E27FC236}">
                <a16:creationId xmlns:a16="http://schemas.microsoft.com/office/drawing/2014/main" id="{87E5DB9A-8A39-076C-89AB-A3EE1E938BCA}"/>
              </a:ext>
            </a:extLst>
          </p:cNvPr>
          <p:cNvGrpSpPr/>
          <p:nvPr/>
        </p:nvGrpSpPr>
        <p:grpSpPr>
          <a:xfrm>
            <a:off x="697230" y="2994660"/>
            <a:ext cx="10827326" cy="906542"/>
            <a:chOff x="697230" y="2994660"/>
            <a:chExt cx="10024110" cy="906542"/>
          </a:xfrm>
        </p:grpSpPr>
        <p:sp>
          <p:nvSpPr>
            <p:cNvPr id="4" name="TextBox 3">
              <a:extLst>
                <a:ext uri="{FF2B5EF4-FFF2-40B4-BE49-F238E27FC236}">
                  <a16:creationId xmlns:a16="http://schemas.microsoft.com/office/drawing/2014/main" id="{B15DE1F9-25CD-C379-E06C-B461F6BBBBE0}"/>
                </a:ext>
              </a:extLst>
            </p:cNvPr>
            <p:cNvSpPr txBox="1"/>
            <p:nvPr/>
          </p:nvSpPr>
          <p:spPr>
            <a:xfrm>
              <a:off x="7486650" y="3531870"/>
              <a:ext cx="3143250" cy="369332"/>
            </a:xfrm>
            <a:prstGeom prst="rect">
              <a:avLst/>
            </a:prstGeom>
            <a:noFill/>
          </p:spPr>
          <p:txBody>
            <a:bodyPr wrap="square" rtlCol="0">
              <a:spAutoFit/>
            </a:bodyPr>
            <a:lstStyle/>
            <a:p>
              <a:r>
                <a:rPr lang="en-US" dirty="0">
                  <a:solidFill>
                    <a:srgbClr val="FF0000"/>
                  </a:solidFill>
                </a:rPr>
                <a:t>Not available by the GUI in SSMS!</a:t>
              </a:r>
            </a:p>
          </p:txBody>
        </p:sp>
        <p:sp>
          <p:nvSpPr>
            <p:cNvPr id="5" name="Rectangle 4">
              <a:extLst>
                <a:ext uri="{FF2B5EF4-FFF2-40B4-BE49-F238E27FC236}">
                  <a16:creationId xmlns:a16="http://schemas.microsoft.com/office/drawing/2014/main" id="{EB967833-C80B-9CA5-6163-FAFCCEADD30E}"/>
                </a:ext>
              </a:extLst>
            </p:cNvPr>
            <p:cNvSpPr/>
            <p:nvPr/>
          </p:nvSpPr>
          <p:spPr>
            <a:xfrm>
              <a:off x="697230" y="2994660"/>
              <a:ext cx="10024110" cy="90654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18016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(1/6)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800" dirty="0"/>
              <a:t>May have to involve the DBA</a:t>
            </a:r>
          </a:p>
          <a:p>
            <a:endParaRPr lang="en-US" sz="28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db_ddladmin</a:t>
            </a:r>
            <a:r>
              <a:rPr lang="en-US" sz="2400" dirty="0">
                <a:latin typeface="Consolas" panose="020B0609020204030204" pitchFamily="49" charset="0"/>
              </a:rPr>
              <a:t> </a:t>
            </a:r>
            <a:r>
              <a:rPr lang="en-US" sz="2400" dirty="0"/>
              <a:t>to create the proc/UDTT</a:t>
            </a:r>
          </a:p>
          <a:p>
            <a:pPr lvl="1"/>
            <a:endParaRPr lang="en-US" sz="24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db_securityadmin</a:t>
            </a:r>
            <a:r>
              <a:rPr lang="en-US" sz="2400" dirty="0">
                <a:latin typeface="Consolas" panose="020B0609020204030204" pitchFamily="49" charset="0"/>
              </a:rPr>
              <a:t> </a:t>
            </a:r>
            <a:r>
              <a:rPr lang="en-US" sz="2400" dirty="0"/>
              <a:t>to manage the role</a:t>
            </a:r>
          </a:p>
        </p:txBody>
      </p:sp>
    </p:spTree>
    <p:extLst>
      <p:ext uri="{BB962C8B-B14F-4D97-AF65-F5344CB8AC3E}">
        <p14:creationId xmlns:p14="http://schemas.microsoft.com/office/powerpoint/2010/main" val="24812614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(2/6)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400" dirty="0"/>
              <a:t>Synchronization/drift of column signatures (datatypes, lengths)</a:t>
            </a:r>
          </a:p>
          <a:p>
            <a:endParaRPr lang="en-US" sz="2400" dirty="0"/>
          </a:p>
        </p:txBody>
      </p:sp>
      <p:pic>
        <p:nvPicPr>
          <p:cNvPr id="17" name="Picture 16">
            <a:extLst>
              <a:ext uri="{FF2B5EF4-FFF2-40B4-BE49-F238E27FC236}">
                <a16:creationId xmlns:a16="http://schemas.microsoft.com/office/drawing/2014/main" id="{ACDD78E6-55DA-2232-8743-14536E4266F6}"/>
              </a:ext>
            </a:extLst>
          </p:cNvPr>
          <p:cNvPicPr>
            <a:picLocks noChangeAspect="1"/>
          </p:cNvPicPr>
          <p:nvPr/>
        </p:nvPicPr>
        <p:blipFill>
          <a:blip r:embed="rId3"/>
          <a:stretch>
            <a:fillRect/>
          </a:stretch>
        </p:blipFill>
        <p:spPr>
          <a:xfrm>
            <a:off x="1160145" y="2817494"/>
            <a:ext cx="4646632" cy="2339339"/>
          </a:xfrm>
          <a:prstGeom prst="rect">
            <a:avLst/>
          </a:prstGeom>
        </p:spPr>
      </p:pic>
      <p:pic>
        <p:nvPicPr>
          <p:cNvPr id="19" name="Picture 18">
            <a:extLst>
              <a:ext uri="{FF2B5EF4-FFF2-40B4-BE49-F238E27FC236}">
                <a16:creationId xmlns:a16="http://schemas.microsoft.com/office/drawing/2014/main" id="{5BAFFB61-D2DE-59BF-5E2A-16EDE6E89178}"/>
              </a:ext>
            </a:extLst>
          </p:cNvPr>
          <p:cNvPicPr>
            <a:picLocks noChangeAspect="1"/>
          </p:cNvPicPr>
          <p:nvPr/>
        </p:nvPicPr>
        <p:blipFill>
          <a:blip r:embed="rId4"/>
          <a:stretch>
            <a:fillRect/>
          </a:stretch>
        </p:blipFill>
        <p:spPr>
          <a:xfrm>
            <a:off x="5936932" y="2817494"/>
            <a:ext cx="5002428" cy="1824990"/>
          </a:xfrm>
          <a:prstGeom prst="rect">
            <a:avLst/>
          </a:prstGeom>
        </p:spPr>
      </p:pic>
      <p:sp>
        <p:nvSpPr>
          <p:cNvPr id="20" name="Rectangle 19">
            <a:extLst>
              <a:ext uri="{FF2B5EF4-FFF2-40B4-BE49-F238E27FC236}">
                <a16:creationId xmlns:a16="http://schemas.microsoft.com/office/drawing/2014/main" id="{B0AA4471-ACE4-E766-6C99-CB529127B23A}"/>
              </a:ext>
            </a:extLst>
          </p:cNvPr>
          <p:cNvSpPr/>
          <p:nvPr/>
        </p:nvSpPr>
        <p:spPr>
          <a:xfrm>
            <a:off x="2125980" y="4229100"/>
            <a:ext cx="3810952"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563921-9B50-4948-C49D-6A1E7C6B899D}"/>
              </a:ext>
            </a:extLst>
          </p:cNvPr>
          <p:cNvSpPr/>
          <p:nvPr/>
        </p:nvSpPr>
        <p:spPr>
          <a:xfrm>
            <a:off x="7010400" y="4017644"/>
            <a:ext cx="3928960"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8446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CAA23-BF61-4980-3D77-D0E9ED3DD937}"/>
              </a:ext>
            </a:extLst>
          </p:cNvPr>
          <p:cNvSpPr>
            <a:spLocks noGrp="1"/>
          </p:cNvSpPr>
          <p:nvPr>
            <p:ph type="title"/>
          </p:nvPr>
        </p:nvSpPr>
        <p:spPr/>
        <p:txBody>
          <a:bodyPr/>
          <a:lstStyle/>
          <a:p>
            <a:r>
              <a:rPr lang="en-US" dirty="0"/>
              <a:t>Already some concerns? (3/6)</a:t>
            </a:r>
          </a:p>
        </p:txBody>
      </p:sp>
      <p:sp>
        <p:nvSpPr>
          <p:cNvPr id="3" name="Content Placeholder 2">
            <a:extLst>
              <a:ext uri="{FF2B5EF4-FFF2-40B4-BE49-F238E27FC236}">
                <a16:creationId xmlns:a16="http://schemas.microsoft.com/office/drawing/2014/main" id="{009DB8F3-302F-D2DE-5948-4C16A3BD07DD}"/>
              </a:ext>
            </a:extLst>
          </p:cNvPr>
          <p:cNvSpPr>
            <a:spLocks noGrp="1"/>
          </p:cNvSpPr>
          <p:nvPr>
            <p:ph idx="1"/>
          </p:nvPr>
        </p:nvSpPr>
        <p:spPr>
          <a:xfrm>
            <a:off x="677333" y="2160589"/>
            <a:ext cx="9852122" cy="3880773"/>
          </a:xfrm>
        </p:spPr>
        <p:txBody>
          <a:bodyPr>
            <a:normAutofit/>
          </a:bodyPr>
          <a:lstStyle/>
          <a:p>
            <a:r>
              <a:rPr lang="en-US" sz="2400" dirty="0"/>
              <a:t>A UDTT cannot be altered. It can only be dropped/recreated</a:t>
            </a:r>
          </a:p>
          <a:p>
            <a:r>
              <a:rPr lang="en-US" sz="2400" dirty="0"/>
              <a:t>When a UDTT is dropped, its permissions are dropped as well</a:t>
            </a:r>
          </a:p>
          <a:p>
            <a:r>
              <a:rPr lang="en-US" sz="2400" dirty="0"/>
              <a:t>The only known way to GRANT on a UDTT is by T-SQL at this time</a:t>
            </a:r>
          </a:p>
          <a:p>
            <a:pPr marL="457200" lvl="1"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TYPE</a:t>
            </a:r>
            <a:r>
              <a:rPr lang="en-US" sz="2400" b="1" dirty="0">
                <a:solidFill>
                  <a:srgbClr val="808080"/>
                </a:solidFill>
                <a:highlight>
                  <a:srgbClr val="FFFF00"/>
                </a:highlight>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&lt;</a:t>
            </a:r>
            <a:r>
              <a:rPr lang="en-US" sz="2400" b="1" dirty="0" err="1">
                <a:solidFill>
                  <a:srgbClr val="000000"/>
                </a:solidFill>
                <a:latin typeface="Consolas" panose="020B0609020204030204" pitchFamily="49" charset="0"/>
              </a:rPr>
              <a:t>RoleName</a:t>
            </a:r>
            <a:r>
              <a:rPr lang="en-US" sz="2400" b="1" dirty="0">
                <a:solidFill>
                  <a:srgbClr val="000000"/>
                </a:solidFill>
                <a:latin typeface="Consolas" panose="020B0609020204030204" pitchFamily="49" charset="0"/>
              </a:rPr>
              <a:t>&gt;</a:t>
            </a:r>
          </a:p>
          <a:p>
            <a:pPr lvl="1"/>
            <a:endParaRPr lang="en-US" sz="2400" dirty="0"/>
          </a:p>
        </p:txBody>
      </p:sp>
    </p:spTree>
    <p:extLst>
      <p:ext uri="{BB962C8B-B14F-4D97-AF65-F5344CB8AC3E}">
        <p14:creationId xmlns:p14="http://schemas.microsoft.com/office/powerpoint/2010/main" val="1968408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D22-1A52-205F-50DE-EF9B6DB35BF9}"/>
              </a:ext>
            </a:extLst>
          </p:cNvPr>
          <p:cNvSpPr>
            <a:spLocks noGrp="1"/>
          </p:cNvSpPr>
          <p:nvPr>
            <p:ph type="title"/>
          </p:nvPr>
        </p:nvSpPr>
        <p:spPr/>
        <p:txBody>
          <a:bodyPr/>
          <a:lstStyle/>
          <a:p>
            <a:r>
              <a:rPr lang="en-US" dirty="0"/>
              <a:t>Already some concerns? (4/6)</a:t>
            </a:r>
          </a:p>
        </p:txBody>
      </p:sp>
      <p:sp>
        <p:nvSpPr>
          <p:cNvPr id="3" name="Content Placeholder 2">
            <a:extLst>
              <a:ext uri="{FF2B5EF4-FFF2-40B4-BE49-F238E27FC236}">
                <a16:creationId xmlns:a16="http://schemas.microsoft.com/office/drawing/2014/main" id="{C3B73B73-1B3B-4D0A-3621-60F907E0DA07}"/>
              </a:ext>
            </a:extLst>
          </p:cNvPr>
          <p:cNvSpPr>
            <a:spLocks noGrp="1"/>
          </p:cNvSpPr>
          <p:nvPr>
            <p:ph idx="1"/>
          </p:nvPr>
        </p:nvSpPr>
        <p:spPr>
          <a:xfrm>
            <a:off x="838200" y="1690688"/>
            <a:ext cx="10515600" cy="553748"/>
          </a:xfrm>
        </p:spPr>
        <p:txBody>
          <a:bodyPr>
            <a:normAutofit/>
          </a:bodyPr>
          <a:lstStyle/>
          <a:p>
            <a:r>
              <a:rPr lang="en-US" sz="2400" dirty="0"/>
              <a:t>No objects can rely on UDTT before UDTT can be dropped</a:t>
            </a:r>
          </a:p>
        </p:txBody>
      </p:sp>
      <p:pic>
        <p:nvPicPr>
          <p:cNvPr id="8" name="Picture 7">
            <a:extLst>
              <a:ext uri="{FF2B5EF4-FFF2-40B4-BE49-F238E27FC236}">
                <a16:creationId xmlns:a16="http://schemas.microsoft.com/office/drawing/2014/main" id="{B9EAEFA9-7D8D-88EA-4DFD-C3D6E8EA496B}"/>
              </a:ext>
            </a:extLst>
          </p:cNvPr>
          <p:cNvPicPr>
            <a:picLocks noChangeAspect="1"/>
          </p:cNvPicPr>
          <p:nvPr/>
        </p:nvPicPr>
        <p:blipFill>
          <a:blip r:embed="rId3"/>
          <a:stretch>
            <a:fillRect/>
          </a:stretch>
        </p:blipFill>
        <p:spPr>
          <a:xfrm>
            <a:off x="844803" y="2327998"/>
            <a:ext cx="10508997" cy="3735532"/>
          </a:xfrm>
          <a:prstGeom prst="rect">
            <a:avLst/>
          </a:prstGeom>
        </p:spPr>
      </p:pic>
    </p:spTree>
    <p:extLst>
      <p:ext uri="{BB962C8B-B14F-4D97-AF65-F5344CB8AC3E}">
        <p14:creationId xmlns:p14="http://schemas.microsoft.com/office/powerpoint/2010/main" val="2778735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F82887-8B23-1068-76D8-887CAD39D4E6}"/>
              </a:ext>
            </a:extLst>
          </p:cNvPr>
          <p:cNvSpPr>
            <a:spLocks noGrp="1"/>
          </p:cNvSpPr>
          <p:nvPr>
            <p:ph idx="1"/>
          </p:nvPr>
        </p:nvSpPr>
        <p:spPr>
          <a:xfrm>
            <a:off x="1026444" y="5387831"/>
            <a:ext cx="10515600" cy="668193"/>
          </a:xfrm>
        </p:spPr>
        <p:txBody>
          <a:bodyPr/>
          <a:lstStyle/>
          <a:p>
            <a:r>
              <a:rPr lang="en-US" dirty="0"/>
              <a:t>(When a proc is dropped, its permissions are dropped as well)</a:t>
            </a:r>
          </a:p>
          <a:p>
            <a:endParaRPr lang="en-US" dirty="0"/>
          </a:p>
        </p:txBody>
      </p:sp>
      <p:pic>
        <p:nvPicPr>
          <p:cNvPr id="9" name="Picture 8">
            <a:extLst>
              <a:ext uri="{FF2B5EF4-FFF2-40B4-BE49-F238E27FC236}">
                <a16:creationId xmlns:a16="http://schemas.microsoft.com/office/drawing/2014/main" id="{F108F68F-2474-9382-2264-17EFF9469BC0}"/>
              </a:ext>
            </a:extLst>
          </p:cNvPr>
          <p:cNvPicPr>
            <a:picLocks noChangeAspect="1"/>
          </p:cNvPicPr>
          <p:nvPr/>
        </p:nvPicPr>
        <p:blipFill>
          <a:blip r:embed="rId3"/>
          <a:stretch>
            <a:fillRect/>
          </a:stretch>
        </p:blipFill>
        <p:spPr>
          <a:xfrm>
            <a:off x="893618" y="1136072"/>
            <a:ext cx="10648426" cy="3657600"/>
          </a:xfrm>
          <a:prstGeom prst="rect">
            <a:avLst/>
          </a:prstGeom>
        </p:spPr>
      </p:pic>
    </p:spTree>
    <p:extLst>
      <p:ext uri="{BB962C8B-B14F-4D97-AF65-F5344CB8AC3E}">
        <p14:creationId xmlns:p14="http://schemas.microsoft.com/office/powerpoint/2010/main" val="250767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D38F3-67E9-F271-3850-88FA68B77146}"/>
              </a:ext>
            </a:extLst>
          </p:cNvPr>
          <p:cNvSpPr>
            <a:spLocks noGrp="1"/>
          </p:cNvSpPr>
          <p:nvPr>
            <p:ph type="title"/>
          </p:nvPr>
        </p:nvSpPr>
        <p:spPr/>
        <p:txBody>
          <a:bodyPr/>
          <a:lstStyle/>
          <a:p>
            <a:r>
              <a:rPr lang="en-US" dirty="0"/>
              <a:t>Already some concerns? (5/6)</a:t>
            </a:r>
          </a:p>
        </p:txBody>
      </p:sp>
      <p:sp>
        <p:nvSpPr>
          <p:cNvPr id="3" name="Content Placeholder 2">
            <a:extLst>
              <a:ext uri="{FF2B5EF4-FFF2-40B4-BE49-F238E27FC236}">
                <a16:creationId xmlns:a16="http://schemas.microsoft.com/office/drawing/2014/main" id="{5EFF3DAA-3A3C-5388-6FF9-34959D4A334E}"/>
              </a:ext>
            </a:extLst>
          </p:cNvPr>
          <p:cNvSpPr>
            <a:spLocks noGrp="1"/>
          </p:cNvSpPr>
          <p:nvPr>
            <p:ph idx="1"/>
          </p:nvPr>
        </p:nvSpPr>
        <p:spPr/>
        <p:txBody>
          <a:bodyPr>
            <a:normAutofit/>
          </a:bodyPr>
          <a:lstStyle/>
          <a:p>
            <a:r>
              <a:rPr lang="en-US" sz="2400" dirty="0"/>
              <a:t>Ordering of the columns is crucial.</a:t>
            </a:r>
          </a:p>
          <a:p>
            <a:endParaRPr lang="en-US" sz="2400" dirty="0"/>
          </a:p>
        </p:txBody>
      </p:sp>
      <p:pic>
        <p:nvPicPr>
          <p:cNvPr id="4" name="Picture 3">
            <a:extLst>
              <a:ext uri="{FF2B5EF4-FFF2-40B4-BE49-F238E27FC236}">
                <a16:creationId xmlns:a16="http://schemas.microsoft.com/office/drawing/2014/main" id="{BE2B9F3E-1728-EBF4-50DD-42AC9B294DFD}"/>
              </a:ext>
            </a:extLst>
          </p:cNvPr>
          <p:cNvPicPr>
            <a:picLocks noChangeAspect="1"/>
          </p:cNvPicPr>
          <p:nvPr/>
        </p:nvPicPr>
        <p:blipFill>
          <a:blip r:embed="rId3"/>
          <a:stretch>
            <a:fillRect/>
          </a:stretch>
        </p:blipFill>
        <p:spPr>
          <a:xfrm>
            <a:off x="1000817" y="3017520"/>
            <a:ext cx="10190366" cy="2423159"/>
          </a:xfrm>
          <a:prstGeom prst="rect">
            <a:avLst/>
          </a:prstGeom>
        </p:spPr>
      </p:pic>
      <p:pic>
        <p:nvPicPr>
          <p:cNvPr id="4098" name="Picture 2" descr="Free No Symbol, Download Free No Symbol png images, Free ClipArts on ...">
            <a:extLst>
              <a:ext uri="{FF2B5EF4-FFF2-40B4-BE49-F238E27FC236}">
                <a16:creationId xmlns:a16="http://schemas.microsoft.com/office/drawing/2014/main" id="{2C15E97F-B476-FC3A-78F4-E1610772B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6023" y="2720622"/>
            <a:ext cx="3177822" cy="3177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1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15A7-E0D7-9012-26C1-B20F7E396E49}"/>
              </a:ext>
            </a:extLst>
          </p:cNvPr>
          <p:cNvSpPr>
            <a:spLocks noGrp="1"/>
          </p:cNvSpPr>
          <p:nvPr>
            <p:ph type="title"/>
          </p:nvPr>
        </p:nvSpPr>
        <p:spPr/>
        <p:txBody>
          <a:bodyPr/>
          <a:lstStyle/>
          <a:p>
            <a:r>
              <a:rPr lang="en-US" dirty="0"/>
              <a:t>Already some concerns? (6/6)</a:t>
            </a:r>
          </a:p>
        </p:txBody>
      </p:sp>
      <p:sp>
        <p:nvSpPr>
          <p:cNvPr id="3" name="Content Placeholder 2">
            <a:extLst>
              <a:ext uri="{FF2B5EF4-FFF2-40B4-BE49-F238E27FC236}">
                <a16:creationId xmlns:a16="http://schemas.microsoft.com/office/drawing/2014/main" id="{53A67F6F-B6A4-0200-38D7-F5E1EABC4E1E}"/>
              </a:ext>
            </a:extLst>
          </p:cNvPr>
          <p:cNvSpPr>
            <a:spLocks noGrp="1"/>
          </p:cNvSpPr>
          <p:nvPr>
            <p:ph idx="1"/>
          </p:nvPr>
        </p:nvSpPr>
        <p:spPr/>
        <p:txBody>
          <a:bodyPr>
            <a:normAutofit/>
          </a:bodyPr>
          <a:lstStyle/>
          <a:p>
            <a:r>
              <a:rPr lang="en-US" sz="2400" dirty="0"/>
              <a:t>All that data is stored in </a:t>
            </a:r>
            <a:r>
              <a:rPr lang="en-US" sz="2400" dirty="0" err="1"/>
              <a:t>tempdb</a:t>
            </a:r>
            <a:endParaRPr lang="en-US" sz="2400" dirty="0"/>
          </a:p>
          <a:p>
            <a:r>
              <a:rPr lang="en-US" sz="2400" dirty="0"/>
              <a:t>Test, test, test!</a:t>
            </a:r>
          </a:p>
        </p:txBody>
      </p:sp>
    </p:spTree>
    <p:extLst>
      <p:ext uri="{BB962C8B-B14F-4D97-AF65-F5344CB8AC3E}">
        <p14:creationId xmlns:p14="http://schemas.microsoft.com/office/powerpoint/2010/main" val="4097349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 UDTTs</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latin typeface="Cascadia Code" panose="020B0609020000020004" pitchFamily="49" charset="0"/>
                <a:cs typeface="Cascadia Code" panose="020B0609020000020004" pitchFamily="49" charset="0"/>
              </a:rPr>
              <a:t>Data</a:t>
            </a:r>
            <a:r>
              <a:rPr lang="en-US" sz="2000" dirty="0" err="1">
                <a:solidFill>
                  <a:schemeClr val="tx1"/>
                </a:solidFill>
                <a:latin typeface="Cascadia Code" panose="020B0609020000020004" pitchFamily="49" charset="0"/>
                <a:cs typeface="Cascadia Code" panose="020B0609020000020004" pitchFamily="49" charset="0"/>
              </a:rPr>
              <a:t>.Load</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a:latin typeface="Cascadia Code" panose="020B0609020000020004" pitchFamily="49" charset="0"/>
                <a:cs typeface="Cascadia Code" panose="020B0609020000020004" pitchFamily="49" charset="0"/>
              </a:rPr>
              <a:t>   </a:t>
            </a:r>
            <a:r>
              <a:rPr lang="en-US" sz="2000" dirty="0" err="1">
                <a:latin typeface="Cascadia Code" panose="020B0609020000020004" pitchFamily="49" charset="0"/>
                <a:cs typeface="Cascadia Code" panose="020B0609020000020004" pitchFamily="49" charset="0"/>
              </a:rPr>
              <a:t>DataTable</a:t>
            </a:r>
            <a:r>
              <a:rPr lang="en-US" sz="2000" dirty="0">
                <a:latin typeface="Cascadia Code" panose="020B0609020000020004" pitchFamily="49" charset="0"/>
                <a:cs typeface="Cascadia Code" panose="020B0609020000020004" pitchFamily="49" charset="0"/>
              </a:rPr>
              <a:t> dt = </a:t>
            </a:r>
            <a:r>
              <a:rPr lang="en-US" sz="2000" dirty="0" err="1">
                <a:latin typeface="Cascadia Code" panose="020B0609020000020004" pitchFamily="49" charset="0"/>
                <a:cs typeface="Cascadia Code" panose="020B0609020000020004" pitchFamily="49" charset="0"/>
              </a:rPr>
              <a:t>GatherTheData</a:t>
            </a:r>
            <a:r>
              <a:rPr lang="en-US" sz="2000" dirty="0">
                <a:latin typeface="Cascadia Code" panose="020B0609020000020004" pitchFamily="49" charset="0"/>
                <a:cs typeface="Cascadia Code" panose="020B0609020000020004" pitchFamily="49" charset="0"/>
              </a:rPr>
              <a:t>()</a:t>
            </a:r>
          </a:p>
          <a:p>
            <a:pPr marL="0" indent="0">
              <a:buNone/>
            </a:pPr>
            <a:endParaRPr lang="en-US" sz="2000" dirty="0">
              <a:solidFill>
                <a:schemeClr val="tx1"/>
              </a:solidFill>
              <a:latin typeface="Cascadia Code" panose="020B0609020000020004" pitchFamily="49" charset="0"/>
              <a:cs typeface="Cascadia Code" panose="020B0609020000020004" pitchFamily="49" charset="0"/>
            </a:endParaRP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dbo.MergeTheData</a:t>
            </a:r>
            <a:r>
              <a:rPr lang="en-US" sz="2000" dirty="0">
                <a:solidFill>
                  <a:schemeClr val="tx1"/>
                </a:solidFill>
                <a:latin typeface="Cascadia Code" panose="020B0609020000020004" pitchFamily="49" charset="0"/>
                <a:cs typeface="Cascadia Code" panose="020B0609020000020004" pitchFamily="49" charset="0"/>
              </a:rPr>
              <a:t>(@p1={</a:t>
            </a:r>
            <a:r>
              <a:rPr lang="en-US" sz="2000" dirty="0">
                <a:latin typeface="Cascadia Code" panose="020B0609020000020004" pitchFamily="49" charset="0"/>
                <a:cs typeface="Cascadia Code" panose="020B0609020000020004" pitchFamily="49" charset="0"/>
              </a:rPr>
              <a:t>dt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197819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EE488-100C-537B-16EF-5DD434EFE24B}"/>
              </a:ext>
            </a:extLst>
          </p:cNvPr>
          <p:cNvSpPr>
            <a:spLocks noGrp="1"/>
          </p:cNvSpPr>
          <p:nvPr>
            <p:ph type="title"/>
          </p:nvPr>
        </p:nvSpPr>
        <p:spPr/>
        <p:txBody>
          <a:bodyPr/>
          <a:lstStyle/>
          <a:p>
            <a:r>
              <a:rPr lang="en-US" dirty="0"/>
              <a:t>Your Python script</a:t>
            </a:r>
          </a:p>
        </p:txBody>
      </p:sp>
      <p:pic>
        <p:nvPicPr>
          <p:cNvPr id="4" name="Picture 2" descr="Download Python 32 / 64-bit (Terbaru 2022)">
            <a:extLst>
              <a:ext uri="{FF2B5EF4-FFF2-40B4-BE49-F238E27FC236}">
                <a16:creationId xmlns:a16="http://schemas.microsoft.com/office/drawing/2014/main" id="{43E4B979-C00F-BF24-6FCC-90107D77AA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4974" y="2015593"/>
            <a:ext cx="3402052" cy="34020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470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78B9-A063-7904-D17F-F0E741034920}"/>
              </a:ext>
            </a:extLst>
          </p:cNvPr>
          <p:cNvSpPr>
            <a:spLocks noGrp="1"/>
          </p:cNvSpPr>
          <p:nvPr>
            <p:ph type="title"/>
          </p:nvPr>
        </p:nvSpPr>
        <p:spPr/>
        <p:txBody>
          <a:bodyPr>
            <a:normAutofit/>
          </a:bodyPr>
          <a:lstStyle/>
          <a:p>
            <a:r>
              <a:rPr lang="en-US" sz="3200" dirty="0"/>
              <a:t>Converting a Python </a:t>
            </a:r>
            <a:r>
              <a:rPr lang="en-US" sz="3200" dirty="0" err="1"/>
              <a:t>DataFrame</a:t>
            </a:r>
            <a:r>
              <a:rPr lang="en-US" sz="3200" dirty="0"/>
              <a:t> to a Table-valued parameter</a:t>
            </a:r>
          </a:p>
        </p:txBody>
      </p:sp>
      <p:sp>
        <p:nvSpPr>
          <p:cNvPr id="3" name="Content Placeholder 2">
            <a:extLst>
              <a:ext uri="{FF2B5EF4-FFF2-40B4-BE49-F238E27FC236}">
                <a16:creationId xmlns:a16="http://schemas.microsoft.com/office/drawing/2014/main" id="{EA9265C4-F249-3869-F8E6-97E2B2419734}"/>
              </a:ext>
            </a:extLst>
          </p:cNvPr>
          <p:cNvSpPr>
            <a:spLocks noGrp="1"/>
          </p:cNvSpPr>
          <p:nvPr>
            <p:ph idx="1"/>
          </p:nvPr>
        </p:nvSpPr>
        <p:spPr>
          <a:xfrm>
            <a:off x="838200" y="1510145"/>
            <a:ext cx="10785764" cy="4862946"/>
          </a:xfrm>
          <a:solidFill>
            <a:schemeClr val="tx1">
              <a:lumMod val="95000"/>
              <a:lumOff val="5000"/>
            </a:schemeClr>
          </a:solidFill>
        </p:spPr>
        <p:txBody>
          <a:bodyPr>
            <a:noAutofit/>
          </a:bodyPr>
          <a:lstStyle/>
          <a:p>
            <a:pPr marL="0" indent="0">
              <a:buNone/>
            </a:pPr>
            <a:r>
              <a:rPr lang="en-US" sz="2200" b="1" dirty="0" err="1">
                <a:solidFill>
                  <a:srgbClr val="9CDCFE"/>
                </a:solidFill>
                <a:effectLst/>
                <a:latin typeface="Consolas" panose="020B0609020204030204" pitchFamily="49" charset="0"/>
              </a:rPr>
              <a:t>df</a:t>
            </a:r>
            <a:r>
              <a:rPr lang="en-US" sz="2200" b="1" dirty="0">
                <a:solidFill>
                  <a:srgbClr val="D4D4D4"/>
                </a:solidFill>
                <a:effectLst/>
                <a:latin typeface="Consolas" panose="020B0609020204030204" pitchFamily="49" charset="0"/>
              </a:rPr>
              <a:t> = </a:t>
            </a:r>
            <a:r>
              <a:rPr lang="en-US" sz="2200" b="1" dirty="0" err="1">
                <a:solidFill>
                  <a:srgbClr val="4EC9B0"/>
                </a:solidFill>
                <a:effectLst/>
                <a:latin typeface="Consolas" panose="020B0609020204030204" pitchFamily="49" charset="0"/>
              </a:rPr>
              <a:t>pd</a:t>
            </a:r>
            <a:r>
              <a:rPr lang="en-US" sz="2200" b="1" dirty="0" err="1">
                <a:solidFill>
                  <a:srgbClr val="D4D4D4"/>
                </a:solidFill>
                <a:effectLst/>
                <a:latin typeface="Consolas" panose="020B0609020204030204" pitchFamily="49" charset="0"/>
              </a:rPr>
              <a:t>.</a:t>
            </a:r>
            <a:r>
              <a:rPr lang="en-US" sz="2200" b="1" dirty="0" err="1">
                <a:solidFill>
                  <a:srgbClr val="4EC9B0"/>
                </a:solidFill>
                <a:effectLst/>
                <a:latin typeface="Consolas" panose="020B0609020204030204" pitchFamily="49" charset="0"/>
              </a:rPr>
              <a:t>DataFrame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'A'</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'B'</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'C'</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'D'</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'Value'</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1</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2</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3</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4</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5</a:t>
            </a:r>
            <a:r>
              <a:rPr lang="en-US" sz="2200" b="1" dirty="0">
                <a:solidFill>
                  <a:srgbClr val="D4D4D4"/>
                </a:solidFill>
                <a:effectLst/>
                <a:latin typeface="Consolas" panose="020B0609020204030204" pitchFamily="49" charset="0"/>
              </a:rPr>
              <a:t>]                })</a:t>
            </a:r>
          </a:p>
          <a:p>
            <a:pPr marL="0" indent="0">
              <a:buNone/>
            </a:pPr>
            <a:endParaRPr lang="en-US" sz="2200" b="1" dirty="0">
              <a:solidFill>
                <a:srgbClr val="D4D4D4"/>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#['A',</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'B',</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'C',</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'D',</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'E']</a:t>
            </a:r>
            <a:endParaRPr lang="en-US" sz="2200" b="1" dirty="0">
              <a:solidFill>
                <a:srgbClr val="CCCCCC"/>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"Value"</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#[1, 2, 3, 4, 5]</a:t>
            </a:r>
            <a:endParaRPr lang="en-US" sz="2200" b="1" dirty="0">
              <a:solidFill>
                <a:srgbClr val="D4D4D4"/>
              </a:solidFill>
              <a:latin typeface="Consolas" panose="020B0609020204030204" pitchFamily="49" charset="0"/>
            </a:endParaRPr>
          </a:p>
          <a:p>
            <a:pPr marL="0" indent="0">
              <a:buNone/>
            </a:pPr>
            <a:br>
              <a:rPr lang="en-US" sz="2200" b="1" dirty="0">
                <a:solidFill>
                  <a:srgbClr val="D4D4D4"/>
                </a:solidFill>
                <a:effectLst/>
                <a:latin typeface="Consolas" panose="020B0609020204030204" pitchFamily="49" charset="0"/>
              </a:rPr>
            </a:br>
            <a:r>
              <a:rPr lang="en-US" sz="2200" b="1" dirty="0" err="1">
                <a:solidFill>
                  <a:srgbClr val="9CDCFE"/>
                </a:solidFill>
                <a:effectLst/>
                <a:latin typeface="Consolas" panose="020B0609020204030204" pitchFamily="49" charset="0"/>
              </a:rPr>
              <a:t>tvp</a:t>
            </a:r>
            <a:r>
              <a:rPr lang="en-US" sz="2200" b="1" dirty="0">
                <a:solidFill>
                  <a:srgbClr val="D4D4D4"/>
                </a:solidFill>
                <a:effectLst/>
                <a:latin typeface="Consolas" panose="020B0609020204030204" pitchFamily="49" charset="0"/>
              </a:rPr>
              <a:t> = </a:t>
            </a:r>
            <a:r>
              <a:rPr lang="en-US" sz="2200" b="1" dirty="0" err="1">
                <a:solidFill>
                  <a:srgbClr val="9CDCFE"/>
                </a:solidFill>
                <a:effectLst/>
                <a:latin typeface="Consolas" panose="020B0609020204030204" pitchFamily="49" charset="0"/>
              </a:rPr>
              <a:t>df</a:t>
            </a:r>
            <a:r>
              <a:rPr lang="en-US" sz="2200" b="1" dirty="0" err="1">
                <a:solidFill>
                  <a:srgbClr val="D4D4D4"/>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D4D4D4"/>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D4D4D4"/>
                </a:solidFill>
                <a:effectLst/>
                <a:latin typeface="Consolas" panose="020B0609020204030204" pitchFamily="49" charset="0"/>
              </a:rPr>
              <a:t>()</a:t>
            </a:r>
            <a:endParaRPr lang="en-US" sz="2200" b="1" dirty="0"/>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tvp</a:t>
            </a:r>
            <a:r>
              <a:rPr lang="en-US" sz="2200" b="1" dirty="0">
                <a:solidFill>
                  <a:srgbClr val="CCCCCC"/>
                </a:solidFill>
                <a:effectLst/>
                <a:latin typeface="Consolas" panose="020B0609020204030204" pitchFamily="49" charset="0"/>
              </a:rPr>
              <a:t>)  </a:t>
            </a:r>
          </a:p>
          <a:p>
            <a:pPr marL="0" indent="0">
              <a:buNone/>
            </a:pPr>
            <a:r>
              <a:rPr lang="en-US" sz="2200" b="1" dirty="0">
                <a:solidFill>
                  <a:srgbClr val="6A9955"/>
                </a:solidFill>
                <a:effectLst/>
                <a:latin typeface="Consolas" panose="020B0609020204030204" pitchFamily="49" charset="0"/>
              </a:rPr>
              <a:t># [ ['A', 1], ['B', 2], ['C', 3], ['D', 4], ['E', 5] ]</a:t>
            </a:r>
          </a:p>
        </p:txBody>
      </p:sp>
    </p:spTree>
    <p:extLst>
      <p:ext uri="{BB962C8B-B14F-4D97-AF65-F5344CB8AC3E}">
        <p14:creationId xmlns:p14="http://schemas.microsoft.com/office/powerpoint/2010/main" val="1557979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988150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Python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sz="2400" dirty="0"/>
              <a:t>Synchronization/drift of column signatures (order, datatypes, lengths)</a:t>
            </a:r>
          </a:p>
          <a:p>
            <a:endParaRPr lang="en-US" dirty="0"/>
          </a:p>
        </p:txBody>
      </p:sp>
      <p:sp>
        <p:nvSpPr>
          <p:cNvPr id="4" name="TextBox 3">
            <a:extLst>
              <a:ext uri="{FF2B5EF4-FFF2-40B4-BE49-F238E27FC236}">
                <a16:creationId xmlns:a16="http://schemas.microsoft.com/office/drawing/2014/main" id="{7F8FF39A-5294-71BD-3300-6B57437763FE}"/>
              </a:ext>
            </a:extLst>
          </p:cNvPr>
          <p:cNvSpPr txBox="1"/>
          <p:nvPr/>
        </p:nvSpPr>
        <p:spPr>
          <a:xfrm>
            <a:off x="1131570" y="2583181"/>
            <a:ext cx="9932670" cy="3447098"/>
          </a:xfrm>
          <a:prstGeom prst="rect">
            <a:avLst/>
          </a:prstGeom>
          <a:solidFill>
            <a:schemeClr val="tx1"/>
          </a:solidFill>
        </p:spPr>
        <p:txBody>
          <a:bodyPr wrap="square" rtlCol="0">
            <a:spAutoFit/>
          </a:bodyPr>
          <a:lstStyle/>
          <a:p>
            <a:r>
              <a:rPr lang="en-US" sz="2000" b="1" dirty="0" err="1">
                <a:solidFill>
                  <a:srgbClr val="9CDCFE"/>
                </a:solidFill>
                <a:effectLst/>
                <a:latin typeface="Consolas" panose="020B0609020204030204" pitchFamily="49" charset="0"/>
              </a:rPr>
              <a:t>df</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pd</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DataFrame</a:t>
            </a:r>
            <a:r>
              <a:rPr lang="en-US" sz="2000" b="1" dirty="0">
                <a:solidFill>
                  <a:srgbClr val="D4D4D4"/>
                </a:solidFill>
                <a:effectLst/>
                <a:latin typeface="Consolas" panose="020B0609020204030204" pitchFamily="49" charset="0"/>
              </a:rPr>
              <a:t>({</a:t>
            </a:r>
            <a:r>
              <a:rPr lang="en-US" sz="2000" b="1" dirty="0">
                <a:solidFill>
                  <a:srgbClr val="CE9178"/>
                </a:solidFill>
                <a:effectLst/>
                <a:latin typeface="Consolas" panose="020B0609020204030204" pitchFamily="49" charset="0"/>
              </a:rPr>
              <a:t>'Measurement'</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'F'</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'G'</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'H'</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'I'</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'J’</a:t>
            </a:r>
            <a:r>
              <a:rPr lang="en-US" sz="2000" b="1" dirty="0">
                <a:solidFill>
                  <a:srgbClr val="D4D4D4"/>
                </a:solidFill>
                <a:effectLst/>
                <a:latin typeface="Consolas" panose="020B0609020204030204" pitchFamily="49" charset="0"/>
              </a:rPr>
              <a:t>]</a:t>
            </a:r>
          </a:p>
          <a:p>
            <a:r>
              <a:rPr lang="en-US" sz="2000" b="1" dirty="0">
                <a:solidFill>
                  <a:srgbClr val="D4D4D4"/>
                </a:solidFill>
                <a:latin typeface="Consolas" panose="020B0609020204030204" pitchFamily="49" charset="0"/>
              </a:rPr>
              <a:t>                   </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'Value'</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6</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7</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8</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9</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br>
              <a:rPr lang="en-US" sz="2000" b="1" dirty="0">
                <a:solidFill>
                  <a:srgbClr val="D4D4D4"/>
                </a:solidFill>
                <a:effectLst/>
                <a:latin typeface="Consolas" panose="020B0609020204030204" pitchFamily="49" charset="0"/>
              </a:rPr>
            </a:br>
            <a:r>
              <a:rPr lang="en-US" sz="2000" b="1" dirty="0" err="1">
                <a:solidFill>
                  <a:srgbClr val="9CDCFE"/>
                </a:solidFill>
                <a:effectLst/>
                <a:latin typeface="Consolas" panose="020B0609020204030204" pitchFamily="49" charset="0"/>
              </a:rPr>
              <a:t>tvp</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TableValuedParam</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r>
              <a:rPr lang="en-US" sz="2000" b="1" dirty="0" err="1">
                <a:solidFill>
                  <a:srgbClr val="9CDCFE"/>
                </a:solidFill>
                <a:effectLst/>
                <a:latin typeface="Consolas" panose="020B0609020204030204" pitchFamily="49" charset="0"/>
              </a:rPr>
              <a:t>type_name</a:t>
            </a:r>
            <a:r>
              <a:rPr lang="en-US" sz="2000" b="1" dirty="0">
                <a:solidFill>
                  <a:srgbClr val="D4D4D4"/>
                </a:solidFill>
                <a:effectLst/>
                <a:latin typeface="Consolas" panose="020B0609020204030204" pitchFamily="49" charset="0"/>
              </a:rPr>
              <a:t> = </a:t>
            </a:r>
            <a:r>
              <a:rPr lang="en-US" sz="2000" b="1" dirty="0">
                <a:solidFill>
                  <a:srgbClr val="CE9178"/>
                </a:solidFill>
                <a:effectLst/>
                <a:latin typeface="Consolas" panose="020B0609020204030204" pitchFamily="49" charset="0"/>
              </a:rPr>
              <a:t>'</a:t>
            </a:r>
            <a:r>
              <a:rPr lang="en-US" sz="2000" b="1" dirty="0" err="1">
                <a:solidFill>
                  <a:srgbClr val="CE9178"/>
                </a:solidFill>
                <a:effectLst/>
                <a:latin typeface="Consolas" panose="020B0609020204030204" pitchFamily="49" charset="0"/>
              </a:rPr>
              <a:t>dbo.Type_Measurements</a:t>
            </a:r>
            <a:r>
              <a:rPr lang="en-US" sz="2000" b="1" dirty="0">
                <a:solidFill>
                  <a:srgbClr val="CE9178"/>
                </a:solidFill>
                <a:effectLst/>
                <a:latin typeface="Consolas" panose="020B0609020204030204" pitchFamily="49" charset="0"/>
              </a:rPr>
              <a:t>'</a:t>
            </a:r>
            <a:endParaRPr lang="en-US" sz="2000" b="1" dirty="0">
              <a:solidFill>
                <a:srgbClr val="D4D4D4"/>
              </a:solidFill>
              <a:effectLst/>
              <a:latin typeface="Consolas" panose="020B0609020204030204" pitchFamily="49" charset="0"/>
            </a:endParaRP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columns</a:t>
            </a:r>
            <a:r>
              <a:rPr lang="en-US" sz="2000" b="1" dirty="0">
                <a:solidFill>
                  <a:srgbClr val="D4D4D4"/>
                </a:solidFill>
                <a:effectLst/>
                <a:latin typeface="Consolas" panose="020B0609020204030204" pitchFamily="49" charset="0"/>
              </a:rPr>
              <a:t> = (</a:t>
            </a:r>
          </a:p>
          <a:p>
            <a:r>
              <a:rPr lang="en-US" sz="2000" b="1" dirty="0">
                <a:solidFill>
                  <a:srgbClr val="D4D4D4"/>
                </a:solidFill>
                <a:effectLst/>
                <a:latin typeface="Consolas" panose="020B0609020204030204" pitchFamily="49" charset="0"/>
              </a:rPr>
              <a:t>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VarCharType</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size</a:t>
            </a:r>
            <a:r>
              <a:rPr lang="en-US" sz="2000" b="1" dirty="0">
                <a:solidFill>
                  <a:srgbClr val="D4D4D4"/>
                </a:solidFill>
                <a:effectLst/>
                <a:latin typeface="Consolas" panose="020B0609020204030204" pitchFamily="49" charset="0"/>
              </a:rPr>
              <a:t>=</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IntType</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rows</a:t>
            </a:r>
            <a:r>
              <a:rPr lang="en-US" sz="2000" b="1" dirty="0">
                <a:solidFill>
                  <a:srgbClr val="D4D4D4"/>
                </a:solidFill>
                <a:effectLst/>
                <a:latin typeface="Consolas" panose="020B0609020204030204" pitchFamily="49" charset="0"/>
              </a:rPr>
              <a:t> = </a:t>
            </a:r>
            <a:r>
              <a:rPr lang="en-US" sz="2000" b="1" dirty="0" err="1">
                <a:solidFill>
                  <a:srgbClr val="9CDCFE"/>
                </a:solidFill>
                <a:effectLst/>
                <a:latin typeface="Consolas" panose="020B0609020204030204" pitchFamily="49" charset="0"/>
              </a:rPr>
              <a:t>df</a:t>
            </a:r>
            <a:r>
              <a:rPr lang="en-US" sz="2000" b="1" dirty="0" err="1">
                <a:solidFill>
                  <a:srgbClr val="D4D4D4"/>
                </a:solidFill>
                <a:effectLst/>
                <a:latin typeface="Consolas" panose="020B0609020204030204" pitchFamily="49" charset="0"/>
              </a:rPr>
              <a:t>.</a:t>
            </a:r>
            <a:r>
              <a:rPr lang="en-US" sz="2000" b="1" dirty="0" err="1">
                <a:solidFill>
                  <a:srgbClr val="9CDCFE"/>
                </a:solidFill>
                <a:effectLst/>
                <a:latin typeface="Consolas" panose="020B0609020204030204" pitchFamily="49" charset="0"/>
              </a:rPr>
              <a:t>values</a:t>
            </a:r>
            <a:r>
              <a:rPr lang="en-US" sz="2000" b="1" dirty="0" err="1">
                <a:solidFill>
                  <a:srgbClr val="D4D4D4"/>
                </a:solidFill>
                <a:effectLst/>
                <a:latin typeface="Consolas" panose="020B0609020204030204" pitchFamily="49" charset="0"/>
              </a:rPr>
              <a:t>.</a:t>
            </a:r>
            <a:r>
              <a:rPr lang="en-US" sz="2000" b="1" dirty="0" err="1">
                <a:solidFill>
                  <a:srgbClr val="DCDCAA"/>
                </a:solidFill>
                <a:effectLst/>
                <a:latin typeface="Consolas" panose="020B0609020204030204" pitchFamily="49" charset="0"/>
              </a:rPr>
              <a:t>tolist</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p:txBody>
      </p:sp>
      <p:sp>
        <p:nvSpPr>
          <p:cNvPr id="5" name="Rectangle 4">
            <a:extLst>
              <a:ext uri="{FF2B5EF4-FFF2-40B4-BE49-F238E27FC236}">
                <a16:creationId xmlns:a16="http://schemas.microsoft.com/office/drawing/2014/main" id="{5A6F1290-86A4-609C-E1EA-D995FB841DF3}"/>
              </a:ext>
            </a:extLst>
          </p:cNvPr>
          <p:cNvSpPr/>
          <p:nvPr/>
        </p:nvSpPr>
        <p:spPr>
          <a:xfrm>
            <a:off x="2162908" y="4185138"/>
            <a:ext cx="8686800" cy="121333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A1D75E-24CC-7D0A-E8E5-8FF614E73F5E}"/>
              </a:ext>
            </a:extLst>
          </p:cNvPr>
          <p:cNvSpPr/>
          <p:nvPr/>
        </p:nvSpPr>
        <p:spPr>
          <a:xfrm>
            <a:off x="3738282" y="2583182"/>
            <a:ext cx="1990165" cy="709464"/>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8611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9BFB6-CC61-6C3F-165F-5AEB847AD425}"/>
              </a:ext>
            </a:extLst>
          </p:cNvPr>
          <p:cNvSpPr>
            <a:spLocks noGrp="1"/>
          </p:cNvSpPr>
          <p:nvPr>
            <p:ph type="title"/>
          </p:nvPr>
        </p:nvSpPr>
        <p:spPr/>
        <p:txBody>
          <a:bodyPr/>
          <a:lstStyle/>
          <a:p>
            <a:r>
              <a:rPr lang="en-US" dirty="0"/>
              <a:t>Your .NET app</a:t>
            </a:r>
          </a:p>
        </p:txBody>
      </p:sp>
      <p:pic>
        <p:nvPicPr>
          <p:cNvPr id="4" name="Picture 4" descr=".NET Standard and new .NET Framework Logo and Banner | The NeoSmart Files">
            <a:extLst>
              <a:ext uri="{FF2B5EF4-FFF2-40B4-BE49-F238E27FC236}">
                <a16:creationId xmlns:a16="http://schemas.microsoft.com/office/drawing/2014/main" id="{E06DA404-4E47-3B66-F78F-99364BB1E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20" y="1887310"/>
            <a:ext cx="3587660" cy="35876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7179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(1/2)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690688"/>
            <a:ext cx="10515600" cy="5009622"/>
          </a:xfrm>
        </p:spPr>
        <p:txBody>
          <a:bodyPr>
            <a:normAutofit fontScale="92500" lnSpcReduction="20000"/>
          </a:bodyPr>
          <a:lstStyle/>
          <a:p>
            <a:pPr marL="0" indent="0">
              <a:buNone/>
            </a:pPr>
            <a:r>
              <a:rPr lang="en-US" sz="1700" b="1" dirty="0">
                <a:latin typeface="Consolas" panose="020B0609020204030204" pitchFamily="49" charset="0"/>
              </a:rPr>
              <a:t>using </a:t>
            </a:r>
            <a:r>
              <a:rPr lang="en-US" sz="1700" b="1" dirty="0" err="1">
                <a:latin typeface="Consolas" panose="020B0609020204030204" pitchFamily="49" charset="0"/>
              </a:rPr>
              <a:t>System.Reflection</a:t>
            </a:r>
            <a:r>
              <a:rPr lang="en-US" sz="1700" b="1" dirty="0">
                <a:latin typeface="Consolas" panose="020B0609020204030204" pitchFamily="49" charset="0"/>
              </a:rPr>
              <a:t>; </a:t>
            </a:r>
          </a:p>
          <a:p>
            <a:pPr marL="0" indent="0">
              <a:buNone/>
            </a:pPr>
            <a:r>
              <a:rPr lang="en-US" sz="1700" b="1" dirty="0">
                <a:latin typeface="Consolas" panose="020B0609020204030204" pitchFamily="49" charset="0"/>
              </a:rPr>
              <a:t>public static </a:t>
            </a:r>
            <a:r>
              <a:rPr lang="en-US" sz="1700" b="1" dirty="0" err="1">
                <a:latin typeface="Consolas" panose="020B0609020204030204" pitchFamily="49" charset="0"/>
              </a:rPr>
              <a:t>DataTable</a:t>
            </a:r>
            <a:r>
              <a:rPr lang="en-US" sz="1700" b="1" dirty="0">
                <a:latin typeface="Consolas" panose="020B0609020204030204" pitchFamily="49" charset="0"/>
              </a:rPr>
              <a:t> </a:t>
            </a:r>
            <a:r>
              <a:rPr lang="en-US" sz="1700" b="1" dirty="0" err="1">
                <a:latin typeface="Consolas" panose="020B0609020204030204" pitchFamily="49" charset="0"/>
              </a:rPr>
              <a:t>ToDataTable</a:t>
            </a:r>
            <a:r>
              <a:rPr lang="en-US" sz="1700" b="1" dirty="0">
                <a:latin typeface="Consolas" panose="020B0609020204030204" pitchFamily="49" charset="0"/>
              </a:rPr>
              <a:t>&lt;T&gt; (this </a:t>
            </a:r>
            <a:r>
              <a:rPr lang="en-US" sz="1700" b="1" dirty="0" err="1">
                <a:latin typeface="Consolas" panose="020B0609020204030204" pitchFamily="49" charset="0"/>
              </a:rPr>
              <a:t>IList</a:t>
            </a:r>
            <a:r>
              <a:rPr lang="en-US" sz="1700" b="1" dirty="0">
                <a:latin typeface="Consolas" panose="020B0609020204030204" pitchFamily="49" charset="0"/>
              </a:rPr>
              <a:t>&lt;T&gt; list) where T : class</a:t>
            </a:r>
          </a:p>
          <a:p>
            <a:pPr marL="0" indent="0">
              <a:buNone/>
            </a:pPr>
            <a:r>
              <a:rPr lang="en-US" sz="1700" b="1" dirty="0">
                <a:latin typeface="Consolas" panose="020B0609020204030204" pitchFamily="49" charset="0"/>
              </a:rPr>
              <a:t>{</a:t>
            </a:r>
          </a:p>
          <a:p>
            <a:pPr marL="0" indent="0">
              <a:buNone/>
            </a:pPr>
            <a:r>
              <a:rPr lang="en-US" sz="1700" b="1" dirty="0">
                <a:latin typeface="Consolas" panose="020B0609020204030204" pitchFamily="49" charset="0"/>
              </a:rPr>
              <a:t>     var dt = new </a:t>
            </a:r>
            <a:r>
              <a:rPr lang="en-US" sz="1700" b="1" dirty="0" err="1">
                <a:latin typeface="Consolas" panose="020B0609020204030204" pitchFamily="49" charset="0"/>
              </a:rPr>
              <a:t>DataTable</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Type t = </a:t>
            </a:r>
            <a:r>
              <a:rPr lang="en-US" sz="1700" b="1" dirty="0" err="1">
                <a:latin typeface="Consolas" panose="020B0609020204030204" pitchFamily="49" charset="0"/>
              </a:rPr>
              <a:t>typeof</a:t>
            </a:r>
            <a:r>
              <a:rPr lang="en-US" sz="1700" b="1" dirty="0">
                <a:latin typeface="Consolas" panose="020B0609020204030204" pitchFamily="49" charset="0"/>
              </a:rPr>
              <a:t>(T);</a:t>
            </a:r>
          </a:p>
          <a:p>
            <a:pPr marL="0" indent="0">
              <a:buNone/>
            </a:pPr>
            <a:r>
              <a:rPr lang="en-US" sz="1700" b="1" dirty="0">
                <a:latin typeface="Consolas" panose="020B0609020204030204" pitchFamily="49" charset="0"/>
              </a:rPr>
              <a:t>     var properties = </a:t>
            </a:r>
            <a:r>
              <a:rPr lang="en-US" sz="1700" b="1" dirty="0" err="1">
                <a:latin typeface="Consolas" panose="020B0609020204030204" pitchFamily="49" charset="0"/>
              </a:rPr>
              <a:t>t.GetProperties</a:t>
            </a:r>
            <a:r>
              <a:rPr lang="en-US" sz="1700" b="1" dirty="0">
                <a:latin typeface="Consolas" panose="020B0609020204030204" pitchFamily="49" charset="0"/>
              </a:rPr>
              <a:t>(</a:t>
            </a:r>
            <a:r>
              <a:rPr lang="en-US" sz="1700" b="1" dirty="0" err="1">
                <a:highlight>
                  <a:srgbClr val="FFFF00"/>
                </a:highlight>
                <a:latin typeface="Consolas" panose="020B0609020204030204" pitchFamily="49" charset="0"/>
              </a:rPr>
              <a:t>BindingFlags.Instance</a:t>
            </a:r>
            <a:r>
              <a:rPr lang="en-US" sz="1700" b="1" dirty="0">
                <a:highlight>
                  <a:srgbClr val="FFFF00"/>
                </a:highlight>
                <a:latin typeface="Consolas" panose="020B0609020204030204" pitchFamily="49" charset="0"/>
              </a:rPr>
              <a:t> | </a:t>
            </a:r>
            <a:r>
              <a:rPr lang="en-US" sz="1700" b="1" dirty="0" err="1">
                <a:highlight>
                  <a:srgbClr val="FFFF00"/>
                </a:highlight>
                <a:latin typeface="Consolas" panose="020B0609020204030204" pitchFamily="49" charset="0"/>
              </a:rPr>
              <a:t>BindingFlags.Public</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property in properties)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dt.Columns.Add</a:t>
            </a:r>
            <a:r>
              <a:rPr lang="en-US" sz="1700" b="1" dirty="0">
                <a:latin typeface="Consolas" panose="020B0609020204030204" pitchFamily="49" charset="0"/>
              </a:rPr>
              <a:t>(</a:t>
            </a:r>
            <a:r>
              <a:rPr lang="en-US" sz="1700" b="1" dirty="0" err="1">
                <a:latin typeface="Consolas" panose="020B0609020204030204" pitchFamily="49" charset="0"/>
              </a:rPr>
              <a:t>property.Name</a:t>
            </a:r>
            <a:r>
              <a:rPr lang="en-US" sz="1700" b="1" dirty="0">
                <a:latin typeface="Consolas" panose="020B0609020204030204" pitchFamily="49" charset="0"/>
              </a:rPr>
              <a:t>, </a:t>
            </a:r>
            <a:r>
              <a:rPr lang="en-US" sz="1700" b="1" dirty="0" err="1">
                <a:latin typeface="Consolas" panose="020B0609020204030204" pitchFamily="49" charset="0"/>
              </a:rPr>
              <a:t>property.PropertyType</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item in list)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dt.Rows.Add</a:t>
            </a:r>
            <a:r>
              <a:rPr lang="en-US" sz="1700" b="1" dirty="0">
                <a:latin typeface="Consolas" panose="020B0609020204030204" pitchFamily="49" charset="0"/>
              </a:rPr>
              <a:t>(</a:t>
            </a:r>
            <a:r>
              <a:rPr lang="en-US" sz="1700" b="1" dirty="0" err="1">
                <a:latin typeface="Consolas" panose="020B0609020204030204" pitchFamily="49" charset="0"/>
              </a:rPr>
              <a:t>properties.Select</a:t>
            </a:r>
            <a:r>
              <a:rPr lang="en-US" sz="1700" b="1" dirty="0">
                <a:latin typeface="Consolas" panose="020B0609020204030204" pitchFamily="49" charset="0"/>
              </a:rPr>
              <a:t>(p =&gt; </a:t>
            </a:r>
            <a:r>
              <a:rPr lang="en-US" sz="1700" b="1" dirty="0" err="1">
                <a:latin typeface="Consolas" panose="020B0609020204030204" pitchFamily="49" charset="0"/>
              </a:rPr>
              <a:t>p.GetValue</a:t>
            </a:r>
            <a:r>
              <a:rPr lang="en-US" sz="1700" b="1" dirty="0">
                <a:latin typeface="Consolas" panose="020B0609020204030204" pitchFamily="49" charset="0"/>
              </a:rPr>
              <a:t>(item, null)).</a:t>
            </a:r>
            <a:r>
              <a:rPr lang="en-US" sz="1700" b="1" dirty="0" err="1">
                <a:latin typeface="Consolas" panose="020B0609020204030204" pitchFamily="49" charset="0"/>
              </a:rPr>
              <a:t>ToArray</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return dt;</a:t>
            </a:r>
          </a:p>
          <a:p>
            <a:pPr marL="0" indent="0">
              <a:buNone/>
            </a:pPr>
            <a:r>
              <a:rPr lang="en-US" sz="1700" b="1" dirty="0">
                <a:latin typeface="Consolas" panose="020B0609020204030204" pitchFamily="49" charset="0"/>
              </a:rPr>
              <a:t>}</a:t>
            </a:r>
          </a:p>
        </p:txBody>
      </p:sp>
    </p:spTree>
    <p:extLst>
      <p:ext uri="{BB962C8B-B14F-4D97-AF65-F5344CB8AC3E}">
        <p14:creationId xmlns:p14="http://schemas.microsoft.com/office/powerpoint/2010/main" val="2378489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lstStyle/>
          <a:p>
            <a:r>
              <a:rPr lang="en-US" dirty="0" err="1"/>
              <a:t>BindingFlags</a:t>
            </a:r>
            <a:r>
              <a:rPr lang="en-US" dirty="0"/>
              <a:t> </a:t>
            </a:r>
            <a:r>
              <a:rPr lang="en-US" dirty="0" err="1"/>
              <a:t>enum</a:t>
            </a:r>
            <a:endParaRPr lang="en-US" dirty="0"/>
          </a:p>
        </p:txBody>
      </p:sp>
      <p:graphicFrame>
        <p:nvGraphicFramePr>
          <p:cNvPr id="4" name="Table 3">
            <a:extLst>
              <a:ext uri="{FF2B5EF4-FFF2-40B4-BE49-F238E27FC236}">
                <a16:creationId xmlns:a16="http://schemas.microsoft.com/office/drawing/2014/main" id="{38375509-395A-F297-6202-8A4E64A022C9}"/>
              </a:ext>
            </a:extLst>
          </p:cNvPr>
          <p:cNvGraphicFramePr>
            <a:graphicFrameLocks noGrp="1"/>
          </p:cNvGraphicFramePr>
          <p:nvPr>
            <p:extLst>
              <p:ext uri="{D42A27DB-BD31-4B8C-83A1-F6EECF244321}">
                <p14:modId xmlns:p14="http://schemas.microsoft.com/office/powerpoint/2010/main" val="3949566006"/>
              </p:ext>
            </p:extLst>
          </p:nvPr>
        </p:nvGraphicFramePr>
        <p:xfrm>
          <a:off x="925687" y="1600377"/>
          <a:ext cx="10171290" cy="4252713"/>
        </p:xfrm>
        <a:graphic>
          <a:graphicData uri="http://schemas.openxmlformats.org/drawingml/2006/table">
            <a:tbl>
              <a:tblPr>
                <a:tableStyleId>{5C22544A-7EE6-4342-B048-85BDC9FD1C3A}</a:tableStyleId>
              </a:tblPr>
              <a:tblGrid>
                <a:gridCol w="1763479">
                  <a:extLst>
                    <a:ext uri="{9D8B030D-6E8A-4147-A177-3AD203B41FA5}">
                      <a16:colId xmlns:a16="http://schemas.microsoft.com/office/drawing/2014/main" val="1294808270"/>
                    </a:ext>
                  </a:extLst>
                </a:gridCol>
                <a:gridCol w="773655">
                  <a:extLst>
                    <a:ext uri="{9D8B030D-6E8A-4147-A177-3AD203B41FA5}">
                      <a16:colId xmlns:a16="http://schemas.microsoft.com/office/drawing/2014/main" val="611636110"/>
                    </a:ext>
                  </a:extLst>
                </a:gridCol>
                <a:gridCol w="7634156">
                  <a:extLst>
                    <a:ext uri="{9D8B030D-6E8A-4147-A177-3AD203B41FA5}">
                      <a16:colId xmlns:a16="http://schemas.microsoft.com/office/drawing/2014/main" val="6329214"/>
                    </a:ext>
                  </a:extLst>
                </a:gridCol>
              </a:tblGrid>
              <a:tr h="369455">
                <a:tc>
                  <a:txBody>
                    <a:bodyPr/>
                    <a:lstStyle/>
                    <a:p>
                      <a:pPr algn="l" fontAlgn="t"/>
                      <a:r>
                        <a:rPr lang="en-US" sz="1800" u="none" strike="noStrike">
                          <a:effectLst/>
                        </a:rPr>
                        <a:t>Default</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0</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 binding flags are defined, and nothing shall be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39546280"/>
                  </a:ext>
                </a:extLst>
              </a:tr>
              <a:tr h="369455">
                <a:tc>
                  <a:txBody>
                    <a:bodyPr/>
                    <a:lstStyle/>
                    <a:p>
                      <a:pPr algn="l" fontAlgn="t"/>
                      <a:r>
                        <a:rPr lang="en-US" sz="1800" u="none" strike="noStrike">
                          <a:effectLst/>
                        </a:rPr>
                        <a:t>IgnoreCase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the case of the member name should not be considered when binding.</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957271661"/>
                  </a:ext>
                </a:extLst>
              </a:tr>
              <a:tr h="738909">
                <a:tc>
                  <a:txBody>
                    <a:bodyPr/>
                    <a:lstStyle/>
                    <a:p>
                      <a:pPr algn="l" fontAlgn="t"/>
                      <a:r>
                        <a:rPr lang="en-US" sz="1800" u="none" strike="noStrike">
                          <a:effectLst/>
                        </a:rPr>
                        <a:t>DeclaredOnly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only members declared at the level of the supplied type's hierarchy should be considered. Inherited members are not considered.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3065548439"/>
                  </a:ext>
                </a:extLst>
              </a:tr>
              <a:tr h="369455">
                <a:tc>
                  <a:txBody>
                    <a:bodyPr/>
                    <a:lstStyle/>
                    <a:p>
                      <a:pPr algn="l" fontAlgn="t"/>
                      <a:r>
                        <a:rPr lang="en-US" sz="1800" u="none" strike="noStrike">
                          <a:effectLst/>
                        </a:rPr>
                        <a:t>Instance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instance members are to be included in the search.</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08458604"/>
                  </a:ext>
                </a:extLst>
              </a:tr>
              <a:tr h="369455">
                <a:tc>
                  <a:txBody>
                    <a:bodyPr/>
                    <a:lstStyle/>
                    <a:p>
                      <a:pPr algn="l" fontAlgn="t"/>
                      <a:r>
                        <a:rPr lang="en-US" sz="1800" u="none" strike="noStrike">
                          <a:effectLst/>
                        </a:rPr>
                        <a:t>Static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8</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static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759207552"/>
                  </a:ext>
                </a:extLst>
              </a:tr>
              <a:tr h="369455">
                <a:tc>
                  <a:txBody>
                    <a:bodyPr/>
                    <a:lstStyle/>
                    <a:p>
                      <a:pPr algn="l" fontAlgn="t"/>
                      <a:r>
                        <a:rPr lang="en-US" sz="1800" u="none" strike="noStrike">
                          <a:effectLst/>
                        </a:rPr>
                        <a:t>Public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16</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676635773"/>
                  </a:ext>
                </a:extLst>
              </a:tr>
              <a:tr h="369455">
                <a:tc>
                  <a:txBody>
                    <a:bodyPr/>
                    <a:lstStyle/>
                    <a:p>
                      <a:pPr algn="l" fontAlgn="t"/>
                      <a:r>
                        <a:rPr lang="en-US" sz="1800" u="none" strike="noStrike" dirty="0" err="1">
                          <a:effectLst/>
                        </a:rPr>
                        <a:t>NonPublic</a:t>
                      </a:r>
                      <a:endParaRPr lang="en-US" sz="1800" b="0" i="0" u="none" strike="noStrike" dirty="0">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32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non-public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75431648"/>
                  </a:ext>
                </a:extLst>
              </a:tr>
              <a:tr h="1108364">
                <a:tc>
                  <a:txBody>
                    <a:bodyPr/>
                    <a:lstStyle/>
                    <a:p>
                      <a:pPr algn="l" fontAlgn="t"/>
                      <a:r>
                        <a:rPr lang="en-US" sz="1800" u="none" strike="noStrike">
                          <a:effectLst/>
                        </a:rPr>
                        <a:t>FlattenHierarchy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64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and protected static members up the hierarchy should be returned. Private static members in inherited classes are not returned. Static members include fields, methods, events, and properties. Nested types are not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635431540"/>
                  </a:ext>
                </a:extLst>
              </a:tr>
            </a:tbl>
          </a:graphicData>
        </a:graphic>
      </p:graphicFrame>
      <p:sp>
        <p:nvSpPr>
          <p:cNvPr id="8" name="TextBox 7">
            <a:extLst>
              <a:ext uri="{FF2B5EF4-FFF2-40B4-BE49-F238E27FC236}">
                <a16:creationId xmlns:a16="http://schemas.microsoft.com/office/drawing/2014/main" id="{CE432927-DBC9-4527-FBC3-269EF21DAEC4}"/>
              </a:ext>
            </a:extLst>
          </p:cNvPr>
          <p:cNvSpPr txBox="1"/>
          <p:nvPr/>
        </p:nvSpPr>
        <p:spPr>
          <a:xfrm>
            <a:off x="1535288" y="6123543"/>
            <a:ext cx="8952089" cy="369332"/>
          </a:xfrm>
          <a:prstGeom prst="rect">
            <a:avLst/>
          </a:prstGeom>
          <a:noFill/>
        </p:spPr>
        <p:txBody>
          <a:bodyPr wrap="square">
            <a:spAutoFit/>
          </a:bodyPr>
          <a:lstStyle/>
          <a:p>
            <a:r>
              <a:rPr lang="en-US" dirty="0"/>
              <a:t>https://learn.microsoft.com/en-us/dotnet/api/system.reflection.bindingflags?view=net-7.0</a:t>
            </a:r>
          </a:p>
        </p:txBody>
      </p:sp>
    </p:spTree>
    <p:extLst>
      <p:ext uri="{BB962C8B-B14F-4D97-AF65-F5344CB8AC3E}">
        <p14:creationId xmlns:p14="http://schemas.microsoft.com/office/powerpoint/2010/main" val="3336530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C8AEB6-F068-EB30-3AA0-ED42E2F8600E}"/>
              </a:ext>
            </a:extLst>
          </p:cNvPr>
          <p:cNvGraphicFramePr>
            <a:graphicFrameLocks noGrp="1"/>
          </p:cNvGraphicFramePr>
          <p:nvPr>
            <p:extLst>
              <p:ext uri="{D42A27DB-BD31-4B8C-83A1-F6EECF244321}">
                <p14:modId xmlns:p14="http://schemas.microsoft.com/office/powerpoint/2010/main" val="1548715995"/>
              </p:ext>
            </p:extLst>
          </p:nvPr>
        </p:nvGraphicFramePr>
        <p:xfrm>
          <a:off x="552449" y="344777"/>
          <a:ext cx="10905262" cy="6267450"/>
        </p:xfrm>
        <a:graphic>
          <a:graphicData uri="http://schemas.openxmlformats.org/drawingml/2006/table">
            <a:tbl>
              <a:tblPr>
                <a:tableStyleId>{5C22544A-7EE6-4342-B048-85BDC9FD1C3A}</a:tableStyleId>
              </a:tblPr>
              <a:tblGrid>
                <a:gridCol w="1761260">
                  <a:extLst>
                    <a:ext uri="{9D8B030D-6E8A-4147-A177-3AD203B41FA5}">
                      <a16:colId xmlns:a16="http://schemas.microsoft.com/office/drawing/2014/main" val="1765237731"/>
                    </a:ext>
                  </a:extLst>
                </a:gridCol>
                <a:gridCol w="1122218">
                  <a:extLst>
                    <a:ext uri="{9D8B030D-6E8A-4147-A177-3AD203B41FA5}">
                      <a16:colId xmlns:a16="http://schemas.microsoft.com/office/drawing/2014/main" val="1369667532"/>
                    </a:ext>
                  </a:extLst>
                </a:gridCol>
                <a:gridCol w="346364">
                  <a:extLst>
                    <a:ext uri="{9D8B030D-6E8A-4147-A177-3AD203B41FA5}">
                      <a16:colId xmlns:a16="http://schemas.microsoft.com/office/drawing/2014/main" val="609876937"/>
                    </a:ext>
                  </a:extLst>
                </a:gridCol>
                <a:gridCol w="969818">
                  <a:extLst>
                    <a:ext uri="{9D8B030D-6E8A-4147-A177-3AD203B41FA5}">
                      <a16:colId xmlns:a16="http://schemas.microsoft.com/office/drawing/2014/main" val="1040104518"/>
                    </a:ext>
                  </a:extLst>
                </a:gridCol>
                <a:gridCol w="96982">
                  <a:extLst>
                    <a:ext uri="{9D8B030D-6E8A-4147-A177-3AD203B41FA5}">
                      <a16:colId xmlns:a16="http://schemas.microsoft.com/office/drawing/2014/main" val="1249286153"/>
                    </a:ext>
                  </a:extLst>
                </a:gridCol>
                <a:gridCol w="1011382">
                  <a:extLst>
                    <a:ext uri="{9D8B030D-6E8A-4147-A177-3AD203B41FA5}">
                      <a16:colId xmlns:a16="http://schemas.microsoft.com/office/drawing/2014/main" val="4007440791"/>
                    </a:ext>
                  </a:extLst>
                </a:gridCol>
                <a:gridCol w="96982">
                  <a:extLst>
                    <a:ext uri="{9D8B030D-6E8A-4147-A177-3AD203B41FA5}">
                      <a16:colId xmlns:a16="http://schemas.microsoft.com/office/drawing/2014/main" val="2830545298"/>
                    </a:ext>
                  </a:extLst>
                </a:gridCol>
                <a:gridCol w="997527">
                  <a:extLst>
                    <a:ext uri="{9D8B030D-6E8A-4147-A177-3AD203B41FA5}">
                      <a16:colId xmlns:a16="http://schemas.microsoft.com/office/drawing/2014/main" val="3366760376"/>
                    </a:ext>
                  </a:extLst>
                </a:gridCol>
                <a:gridCol w="96982">
                  <a:extLst>
                    <a:ext uri="{9D8B030D-6E8A-4147-A177-3AD203B41FA5}">
                      <a16:colId xmlns:a16="http://schemas.microsoft.com/office/drawing/2014/main" val="2232960125"/>
                    </a:ext>
                  </a:extLst>
                </a:gridCol>
                <a:gridCol w="983672">
                  <a:extLst>
                    <a:ext uri="{9D8B030D-6E8A-4147-A177-3AD203B41FA5}">
                      <a16:colId xmlns:a16="http://schemas.microsoft.com/office/drawing/2014/main" val="958381604"/>
                    </a:ext>
                  </a:extLst>
                </a:gridCol>
                <a:gridCol w="96982">
                  <a:extLst>
                    <a:ext uri="{9D8B030D-6E8A-4147-A177-3AD203B41FA5}">
                      <a16:colId xmlns:a16="http://schemas.microsoft.com/office/drawing/2014/main" val="593615071"/>
                    </a:ext>
                  </a:extLst>
                </a:gridCol>
                <a:gridCol w="1080655">
                  <a:extLst>
                    <a:ext uri="{9D8B030D-6E8A-4147-A177-3AD203B41FA5}">
                      <a16:colId xmlns:a16="http://schemas.microsoft.com/office/drawing/2014/main" val="764416596"/>
                    </a:ext>
                  </a:extLst>
                </a:gridCol>
                <a:gridCol w="83127">
                  <a:extLst>
                    <a:ext uri="{9D8B030D-6E8A-4147-A177-3AD203B41FA5}">
                      <a16:colId xmlns:a16="http://schemas.microsoft.com/office/drawing/2014/main" val="1362732119"/>
                    </a:ext>
                  </a:extLst>
                </a:gridCol>
                <a:gridCol w="942109">
                  <a:extLst>
                    <a:ext uri="{9D8B030D-6E8A-4147-A177-3AD203B41FA5}">
                      <a16:colId xmlns:a16="http://schemas.microsoft.com/office/drawing/2014/main" val="2255132360"/>
                    </a:ext>
                  </a:extLst>
                </a:gridCol>
                <a:gridCol w="96982">
                  <a:extLst>
                    <a:ext uri="{9D8B030D-6E8A-4147-A177-3AD203B41FA5}">
                      <a16:colId xmlns:a16="http://schemas.microsoft.com/office/drawing/2014/main" val="2800736593"/>
                    </a:ext>
                  </a:extLst>
                </a:gridCol>
                <a:gridCol w="1122220">
                  <a:extLst>
                    <a:ext uri="{9D8B030D-6E8A-4147-A177-3AD203B41FA5}">
                      <a16:colId xmlns:a16="http://schemas.microsoft.com/office/drawing/2014/main" val="205436391"/>
                    </a:ext>
                  </a:extLst>
                </a:gridCol>
              </a:tblGrid>
              <a:tr h="922268">
                <a:tc>
                  <a:txBody>
                    <a:bodyPr/>
                    <a:lstStyle/>
                    <a:p>
                      <a:pPr algn="l" fontAlgn="b"/>
                      <a:r>
                        <a:rPr lang="en-US" sz="2000" u="none" strike="noStrike" dirty="0">
                          <a:effectLst/>
                        </a:rPr>
                        <a:t>Enum Combo</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800" b="1" dirty="0"/>
                        <a:t>Ʃ </a:t>
                      </a:r>
                      <a:r>
                        <a:rPr lang="en-US" sz="2000" u="none" strike="noStrike" dirty="0">
                          <a:effectLst/>
                        </a:rPr>
                        <a:t>(Enums)</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internal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internal property</a:t>
                      </a:r>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07806782"/>
                  </a:ext>
                </a:extLst>
              </a:tr>
              <a:tr h="0">
                <a:tc>
                  <a:txBody>
                    <a:bodyPr/>
                    <a:lstStyle/>
                    <a:p>
                      <a:pPr algn="l" fontAlgn="b"/>
                      <a:endParaRPr lang="en-US"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25344589"/>
                  </a:ext>
                </a:extLst>
              </a:tr>
              <a:tr h="297506">
                <a:tc>
                  <a:txBody>
                    <a:bodyPr/>
                    <a:lstStyle/>
                    <a:p>
                      <a:pPr algn="l" fontAlgn="b"/>
                      <a:r>
                        <a:rPr lang="en-US" sz="2000" u="none" strike="noStrike">
                          <a:effectLst/>
                        </a:rPr>
                        <a:t>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067182032"/>
                  </a:ext>
                </a:extLst>
              </a:tr>
              <a:tr h="297506">
                <a:tc>
                  <a:txBody>
                    <a:bodyPr/>
                    <a:lstStyle/>
                    <a:p>
                      <a:pPr algn="l" fontAlgn="b"/>
                      <a:r>
                        <a:rPr lang="en-US" sz="2000" u="none" strike="noStrike">
                          <a:effectLst/>
                        </a:rPr>
                        <a:t>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21314919"/>
                  </a:ext>
                </a:extLst>
              </a:tr>
              <a:tr h="297506">
                <a:tc>
                  <a:txBody>
                    <a:bodyPr/>
                    <a:lstStyle/>
                    <a:p>
                      <a:pPr algn="l" fontAlgn="b"/>
                      <a:r>
                        <a:rPr lang="en-US" sz="2000" u="none" strike="noStrike">
                          <a:effectLst/>
                        </a:rPr>
                        <a:t>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26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288108750"/>
                  </a:ext>
                </a:extLst>
              </a:tr>
              <a:tr h="297506">
                <a:tc>
                  <a:txBody>
                    <a:bodyPr/>
                    <a:lstStyle/>
                    <a:p>
                      <a:pPr algn="l" fontAlgn="b"/>
                      <a:r>
                        <a:rPr lang="en-US" sz="2000" u="none" strike="noStrike">
                          <a:effectLst/>
                        </a:rPr>
                        <a:t>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294704849"/>
                  </a:ext>
                </a:extLst>
              </a:tr>
              <a:tr h="297506">
                <a:tc>
                  <a:txBody>
                    <a:bodyPr/>
                    <a:lstStyle/>
                    <a:p>
                      <a:pPr algn="l" fontAlgn="b"/>
                      <a:r>
                        <a:rPr lang="en-US" sz="2000" u="none" strike="noStrike">
                          <a:effectLst/>
                        </a:rPr>
                        <a:t>P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30</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53325931"/>
                  </a:ext>
                </a:extLst>
              </a:tr>
              <a:tr h="297506">
                <a:tc>
                  <a:txBody>
                    <a:bodyPr/>
                    <a:lstStyle/>
                    <a:p>
                      <a:pPr algn="l" fontAlgn="b"/>
                      <a:r>
                        <a:rPr lang="en-US" sz="2000" u="none" strike="noStrike">
                          <a:effectLst/>
                        </a:rPr>
                        <a:t>N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38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504013427"/>
                  </a:ext>
                </a:extLst>
              </a:tr>
              <a:tr h="297506">
                <a:tc>
                  <a:txBody>
                    <a:bodyPr/>
                    <a:lstStyle/>
                    <a:p>
                      <a:pPr algn="l" fontAlgn="b"/>
                      <a:r>
                        <a:rPr lang="en-US" sz="2000" u="none" strike="noStrike">
                          <a:effectLst/>
                        </a:rPr>
                        <a:t>N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771995229"/>
                  </a:ext>
                </a:extLst>
              </a:tr>
              <a:tr h="297506">
                <a:tc>
                  <a:txBody>
                    <a:bodyPr/>
                    <a:lstStyle/>
                    <a:p>
                      <a:pPr algn="l" fontAlgn="b"/>
                      <a:r>
                        <a:rPr lang="en-US" sz="2000" u="none" strike="noStrike">
                          <a:effectLst/>
                        </a:rPr>
                        <a:t>N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42</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57049834"/>
                  </a:ext>
                </a:extLst>
              </a:tr>
              <a:tr h="297506">
                <a:tc>
                  <a:txBody>
                    <a:bodyPr/>
                    <a:lstStyle/>
                    <a:p>
                      <a:pPr algn="l" fontAlgn="b"/>
                      <a:r>
                        <a:rPr lang="en-US" sz="2000" u="none" strike="noStrike">
                          <a:effectLst/>
                        </a:rPr>
                        <a:t>N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042635410"/>
                  </a:ext>
                </a:extLst>
              </a:tr>
              <a:tr h="297506">
                <a:tc>
                  <a:txBody>
                    <a:bodyPr/>
                    <a:lstStyle/>
                    <a:p>
                      <a:pPr algn="l" fontAlgn="b"/>
                      <a:r>
                        <a:rPr lang="en-US" sz="2000" u="none" strike="noStrike">
                          <a:effectLst/>
                        </a:rPr>
                        <a:t>N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607590324"/>
                  </a:ext>
                </a:extLst>
              </a:tr>
              <a:tr h="297506">
                <a:tc>
                  <a:txBody>
                    <a:bodyPr/>
                    <a:lstStyle/>
                    <a:p>
                      <a:pPr algn="l" fontAlgn="b"/>
                      <a:r>
                        <a:rPr lang="en-US" sz="2000" u="none" strike="noStrike">
                          <a:effectLst/>
                        </a:rPr>
                        <a:t>N + P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114920311"/>
                  </a:ext>
                </a:extLst>
              </a:tr>
              <a:tr h="297506">
                <a:tc>
                  <a:txBody>
                    <a:bodyPr/>
                    <a:lstStyle/>
                    <a:p>
                      <a:pPr algn="l" fontAlgn="b"/>
                      <a:r>
                        <a:rPr lang="en-US" sz="2000" u="none" strike="noStrike">
                          <a:effectLst/>
                        </a:rPr>
                        <a:t>N + 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33553177"/>
                  </a:ext>
                </a:extLst>
              </a:tr>
              <a:tr h="297506">
                <a:tc>
                  <a:txBody>
                    <a:bodyPr/>
                    <a:lstStyle/>
                    <a:p>
                      <a:pPr algn="l" fontAlgn="b"/>
                      <a:r>
                        <a:rPr lang="en-US" sz="2000" u="none" strike="noStrike">
                          <a:effectLst/>
                        </a:rPr>
                        <a:t>N + 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56</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36371053"/>
                  </a:ext>
                </a:extLst>
              </a:tr>
              <a:tr h="297506">
                <a:tc>
                  <a:txBody>
                    <a:bodyPr/>
                    <a:lstStyle/>
                    <a:p>
                      <a:pPr algn="l" fontAlgn="b"/>
                      <a:r>
                        <a:rPr lang="en-US" sz="2000" u="none" strike="noStrike">
                          <a:effectLst/>
                        </a:rPr>
                        <a:t>N + 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21896805"/>
                  </a:ext>
                </a:extLst>
              </a:tr>
              <a:tr h="297506">
                <a:tc>
                  <a:txBody>
                    <a:bodyPr/>
                    <a:lstStyle/>
                    <a:p>
                      <a:pPr algn="l" fontAlgn="b"/>
                      <a:r>
                        <a:rPr lang="en-US" sz="2000" u="none" strike="noStrike">
                          <a:effectLst/>
                        </a:rPr>
                        <a:t>N + 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312232029"/>
                  </a:ext>
                </a:extLst>
              </a:tr>
              <a:tr h="297506">
                <a:tc>
                  <a:txBody>
                    <a:bodyPr/>
                    <a:lstStyle/>
                    <a:p>
                      <a:pPr algn="l" fontAlgn="b"/>
                      <a:r>
                        <a:rPr lang="pt-BR" sz="2000" u="none" strike="noStrike">
                          <a:effectLst/>
                        </a:rPr>
                        <a:t>N + P + S + I + D</a:t>
                      </a:r>
                      <a:endParaRPr lang="pt-BR"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05648445"/>
                  </a:ext>
                </a:extLst>
              </a:tr>
            </a:tbl>
          </a:graphicData>
        </a:graphic>
      </p:graphicFrame>
    </p:spTree>
    <p:extLst>
      <p:ext uri="{BB962C8B-B14F-4D97-AF65-F5344CB8AC3E}">
        <p14:creationId xmlns:p14="http://schemas.microsoft.com/office/powerpoint/2010/main" val="28331926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2046725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(2/2)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524000"/>
            <a:ext cx="10515600" cy="5209309"/>
          </a:xfrm>
        </p:spPr>
        <p:txBody>
          <a:bodyPr>
            <a:normAutofit fontScale="92500" lnSpcReduction="10000"/>
          </a:bodyPr>
          <a:lstStyle/>
          <a:p>
            <a:pPr marL="0" indent="0">
              <a:buNone/>
            </a:pPr>
            <a:r>
              <a:rPr lang="en-US" sz="2000" b="1" dirty="0">
                <a:latin typeface="Consolas" panose="020B0609020204030204" pitchFamily="49" charset="0"/>
              </a:rPr>
              <a:t>public static </a:t>
            </a:r>
            <a:r>
              <a:rPr lang="en-US" sz="2000" b="1" dirty="0" err="1">
                <a:latin typeface="Consolas" panose="020B0609020204030204" pitchFamily="49" charset="0"/>
              </a:rPr>
              <a:t>DataTable</a:t>
            </a:r>
            <a:r>
              <a:rPr lang="en-US" sz="2000" b="1" dirty="0">
                <a:latin typeface="Consolas" panose="020B0609020204030204" pitchFamily="49" charset="0"/>
              </a:rPr>
              <a:t> </a:t>
            </a:r>
            <a:r>
              <a:rPr lang="en-US" sz="2000" b="1" dirty="0" err="1">
                <a:latin typeface="Consolas" panose="020B0609020204030204" pitchFamily="49" charset="0"/>
              </a:rPr>
              <a:t>ToDataTable</a:t>
            </a:r>
            <a:r>
              <a:rPr lang="en-US" sz="2000" b="1" dirty="0">
                <a:latin typeface="Consolas" panose="020B0609020204030204" pitchFamily="49" charset="0"/>
              </a:rPr>
              <a:t>(</a:t>
            </a:r>
            <a:r>
              <a:rPr lang="en-US" sz="2000" b="1" dirty="0" err="1">
                <a:latin typeface="Consolas" panose="020B0609020204030204" pitchFamily="49" charset="0"/>
              </a:rPr>
              <a:t>IList</a:t>
            </a:r>
            <a:r>
              <a:rPr lang="en-US" sz="2000" b="1" dirty="0">
                <a:latin typeface="Consolas" panose="020B0609020204030204" pitchFamily="49" charset="0"/>
              </a:rPr>
              <a:t>&lt;</a:t>
            </a:r>
            <a:r>
              <a:rPr lang="en-US" sz="2000" b="1" dirty="0" err="1">
                <a:latin typeface="Consolas" panose="020B0609020204030204" pitchFamily="49" charset="0"/>
              </a:rPr>
              <a:t>clsMeasure</a:t>
            </a:r>
            <a:r>
              <a:rPr lang="en-US" sz="2000" b="1" dirty="0">
                <a:latin typeface="Consolas" panose="020B0609020204030204" pitchFamily="49" charset="0"/>
              </a:rPr>
              <a:t>&gt; list)</a:t>
            </a:r>
          </a:p>
          <a:p>
            <a:pPr marL="0" indent="0">
              <a:buNone/>
            </a:pPr>
            <a:r>
              <a:rPr lang="en-US" sz="1800" b="1" dirty="0">
                <a:latin typeface="Consolas" panose="020B0609020204030204" pitchFamily="49" charset="0"/>
              </a:rPr>
              <a:t>{</a:t>
            </a:r>
          </a:p>
          <a:p>
            <a:pPr marL="0" indent="0">
              <a:buNone/>
            </a:pPr>
            <a:r>
              <a:rPr lang="en-US" sz="2000" b="1" dirty="0">
                <a:latin typeface="Consolas" panose="020B0609020204030204" pitchFamily="49" charset="0"/>
              </a:rPr>
              <a:t>     var dt = new </a:t>
            </a:r>
            <a:r>
              <a:rPr lang="en-US" sz="2000" b="1" dirty="0" err="1">
                <a:latin typeface="Consolas" panose="020B0609020204030204" pitchFamily="49" charset="0"/>
              </a:rPr>
              <a:t>DataTable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a:t>
            </a:r>
            <a:r>
              <a:rPr lang="en-US" sz="2000" b="1" dirty="0" err="1">
                <a:highlight>
                  <a:srgbClr val="FFFF00"/>
                </a:highlight>
                <a:latin typeface="Consolas" panose="020B0609020204030204" pitchFamily="49" charset="0"/>
              </a:rPr>
              <a:t>MeasureName</a:t>
            </a:r>
            <a:r>
              <a:rPr lang="en-US" sz="2000" b="1" dirty="0">
                <a:highlight>
                  <a:srgbClr val="FFFF00"/>
                </a:highlight>
                <a:latin typeface="Consolas" panose="020B0609020204030204" pitchFamily="49" charset="0"/>
              </a:rPr>
              <a:t>",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(string));</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("Value",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(int));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foreach (var item in list) {</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DataRow</a:t>
            </a: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 = new </a:t>
            </a:r>
            <a:r>
              <a:rPr lang="en-US" sz="2000" b="1" dirty="0" err="1">
                <a:latin typeface="Consolas" panose="020B0609020204030204" pitchFamily="49" charset="0"/>
              </a:rPr>
              <a:t>DataTable</a:t>
            </a:r>
            <a:r>
              <a:rPr lang="en-US" sz="2000" b="1" dirty="0">
                <a:latin typeface="Consolas" panose="020B0609020204030204" pitchFamily="49" charset="0"/>
              </a:rPr>
              <a:t>().</a:t>
            </a:r>
            <a:r>
              <a:rPr lang="en-US" sz="2000" b="1" dirty="0" err="1">
                <a:latin typeface="Consolas" panose="020B0609020204030204" pitchFamily="49" charset="0"/>
              </a:rPr>
              <a:t>NewRow</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a:t>
            </a:r>
            <a:r>
              <a:rPr lang="en-US" sz="2000" b="1" dirty="0" err="1">
                <a:latin typeface="Consolas" panose="020B0609020204030204" pitchFamily="49" charset="0"/>
              </a:rPr>
              <a:t>MeasureName</a:t>
            </a:r>
            <a:r>
              <a:rPr lang="en-US" sz="2000" b="1" dirty="0">
                <a:latin typeface="Consolas" panose="020B0609020204030204" pitchFamily="49" charset="0"/>
              </a:rPr>
              <a:t>"] = </a:t>
            </a:r>
            <a:r>
              <a:rPr lang="en-US" sz="2000" b="1" dirty="0" err="1">
                <a:latin typeface="Consolas" panose="020B0609020204030204" pitchFamily="49" charset="0"/>
              </a:rPr>
              <a:t>item.MeasureName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["Value"] = </a:t>
            </a:r>
            <a:r>
              <a:rPr lang="en-US" sz="2000" b="1" dirty="0" err="1">
                <a:latin typeface="Consolas" panose="020B0609020204030204" pitchFamily="49" charset="0"/>
              </a:rPr>
              <a:t>item.Value</a:t>
            </a:r>
            <a:r>
              <a:rPr lang="en-US" sz="2000" b="1" dirty="0">
                <a:latin typeface="Consolas" panose="020B0609020204030204" pitchFamily="49" charset="0"/>
              </a:rPr>
              <a: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dt.Rows.Add</a:t>
            </a:r>
            <a:r>
              <a:rPr lang="en-US" sz="2000" b="1" dirty="0">
                <a:latin typeface="Consolas" panose="020B0609020204030204" pitchFamily="49" charset="0"/>
              </a:rPr>
              <a:t>(</a:t>
            </a:r>
            <a:r>
              <a:rPr lang="en-US" sz="2000" b="1" dirty="0" err="1">
                <a:latin typeface="Consolas" panose="020B0609020204030204" pitchFamily="49" charset="0"/>
              </a:rPr>
              <a:t>dr</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p>
          <a:p>
            <a:pPr marL="0" indent="0">
              <a:buNone/>
            </a:pPr>
            <a:endParaRPr lang="en-US" sz="200" b="1" dirty="0">
              <a:latin typeface="Consolas" panose="020B0609020204030204" pitchFamily="49" charset="0"/>
            </a:endParaRPr>
          </a:p>
          <a:p>
            <a:pPr marL="0" indent="0">
              <a:buNone/>
            </a:pPr>
            <a:r>
              <a:rPr lang="en-US" sz="2100" b="1" dirty="0">
                <a:latin typeface="Consolas" panose="020B0609020204030204" pitchFamily="49" charset="0"/>
              </a:rPr>
              <a:t>     return dt;</a:t>
            </a:r>
          </a:p>
          <a:p>
            <a:pPr marL="0" indent="0">
              <a:buNone/>
            </a:pPr>
            <a:r>
              <a:rPr lang="en-US" sz="2100" b="1" dirty="0">
                <a:latin typeface="Consolas" panose="020B0609020204030204" pitchFamily="49" charset="0"/>
              </a:rPr>
              <a:t>}</a:t>
            </a:r>
          </a:p>
        </p:txBody>
      </p:sp>
    </p:spTree>
    <p:extLst>
      <p:ext uri="{BB962C8B-B14F-4D97-AF65-F5344CB8AC3E}">
        <p14:creationId xmlns:p14="http://schemas.microsoft.com/office/powerpoint/2010/main" val="830031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.NET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a:p>
            <a:r>
              <a:rPr lang="en-US" dirty="0" err="1"/>
              <a:t>BindingsEnum</a:t>
            </a:r>
            <a:r>
              <a:rPr lang="en-US" dirty="0"/>
              <a:t> not very precise</a:t>
            </a:r>
          </a:p>
          <a:p>
            <a:endParaRPr lang="en-US" dirty="0"/>
          </a:p>
          <a:p>
            <a:r>
              <a:rPr lang="en-US" dirty="0"/>
              <a:t>Using </a:t>
            </a:r>
            <a:r>
              <a:rPr lang="en-US" dirty="0" err="1"/>
              <a:t>System.Reflection</a:t>
            </a:r>
            <a:r>
              <a:rPr lang="en-US" dirty="0"/>
              <a:t> for </a:t>
            </a:r>
            <a:r>
              <a:rPr lang="en-US" dirty="0" err="1"/>
              <a:t>DataTable</a:t>
            </a:r>
            <a:r>
              <a:rPr lang="en-US" dirty="0"/>
              <a:t> conversion could have long-term unintended effects if code is altered in the future</a:t>
            </a:r>
          </a:p>
        </p:txBody>
      </p:sp>
    </p:spTree>
    <p:extLst>
      <p:ext uri="{BB962C8B-B14F-4D97-AF65-F5344CB8AC3E}">
        <p14:creationId xmlns:p14="http://schemas.microsoft.com/office/powerpoint/2010/main" val="3861915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50D8-15D6-90A9-B39F-BC6765BA1D16}"/>
              </a:ext>
            </a:extLst>
          </p:cNvPr>
          <p:cNvSpPr>
            <a:spLocks noGrp="1"/>
          </p:cNvSpPr>
          <p:nvPr>
            <p:ph type="title"/>
          </p:nvPr>
        </p:nvSpPr>
        <p:spPr/>
        <p:txBody>
          <a:bodyPr/>
          <a:lstStyle/>
          <a:p>
            <a:r>
              <a:rPr lang="en-US" dirty="0"/>
              <a:t>Your PowerShell script</a:t>
            </a:r>
          </a:p>
        </p:txBody>
      </p:sp>
      <p:pic>
        <p:nvPicPr>
          <p:cNvPr id="1026" name="Picture 2" descr="Powershell Icon #48576 - Free Icons Library">
            <a:extLst>
              <a:ext uri="{FF2B5EF4-FFF2-40B4-BE49-F238E27FC236}">
                <a16:creationId xmlns:a16="http://schemas.microsoft.com/office/drawing/2014/main" id="{E6FC4382-87C9-8618-7656-0DC8E9AA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600" y="1253490"/>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439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B9CD2-86AC-5263-9C3E-94E995D218AD}"/>
              </a:ext>
            </a:extLst>
          </p:cNvPr>
          <p:cNvSpPr>
            <a:spLocks noGrp="1"/>
          </p:cNvSpPr>
          <p:nvPr>
            <p:ph type="title"/>
          </p:nvPr>
        </p:nvSpPr>
        <p:spPr/>
        <p:txBody>
          <a:bodyPr/>
          <a:lstStyle/>
          <a:p>
            <a:r>
              <a:rPr lang="en-US" dirty="0" err="1"/>
              <a:t>PSObject</a:t>
            </a:r>
            <a:r>
              <a:rPr lang="en-US" dirty="0"/>
              <a:t> != </a:t>
            </a:r>
            <a:r>
              <a:rPr lang="en-US" dirty="0" err="1"/>
              <a:t>DataTable</a:t>
            </a:r>
            <a:endParaRPr lang="en-US" dirty="0"/>
          </a:p>
        </p:txBody>
      </p:sp>
      <p:sp>
        <p:nvSpPr>
          <p:cNvPr id="3" name="Content Placeholder 2">
            <a:extLst>
              <a:ext uri="{FF2B5EF4-FFF2-40B4-BE49-F238E27FC236}">
                <a16:creationId xmlns:a16="http://schemas.microsoft.com/office/drawing/2014/main" id="{5045195E-1530-D968-2C28-E04839D4CD14}"/>
              </a:ext>
            </a:extLst>
          </p:cNvPr>
          <p:cNvSpPr>
            <a:spLocks noGrp="1"/>
          </p:cNvSpPr>
          <p:nvPr>
            <p:ph idx="1"/>
          </p:nvPr>
        </p:nvSpPr>
        <p:spPr/>
        <p:txBody>
          <a:bodyPr/>
          <a:lstStyle/>
          <a:p>
            <a:pPr marL="0" indent="0">
              <a:buNone/>
            </a:pPr>
            <a:r>
              <a:rPr lang="en-US" dirty="0"/>
              <a:t>“Out-</a:t>
            </a:r>
            <a:r>
              <a:rPr lang="en-US" dirty="0" err="1"/>
              <a:t>Gridview</a:t>
            </a:r>
            <a:r>
              <a:rPr lang="en-US" dirty="0"/>
              <a:t>” gives the impression that every object is a </a:t>
            </a:r>
            <a:r>
              <a:rPr lang="en-US" dirty="0" err="1"/>
              <a:t>DataTable</a:t>
            </a:r>
            <a:endParaRPr lang="en-US" dirty="0"/>
          </a:p>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383C1450-F88F-2CB3-BAE4-83240AD0E1F0}"/>
              </a:ext>
            </a:extLst>
          </p:cNvPr>
          <p:cNvPicPr>
            <a:picLocks noChangeAspect="1"/>
          </p:cNvPicPr>
          <p:nvPr/>
        </p:nvPicPr>
        <p:blipFill>
          <a:blip r:embed="rId2"/>
          <a:stretch>
            <a:fillRect/>
          </a:stretch>
        </p:blipFill>
        <p:spPr>
          <a:xfrm>
            <a:off x="1070263" y="2651846"/>
            <a:ext cx="10185933" cy="3333318"/>
          </a:xfrm>
          <a:prstGeom prst="rect">
            <a:avLst/>
          </a:prstGeom>
        </p:spPr>
      </p:pic>
      <p:sp>
        <p:nvSpPr>
          <p:cNvPr id="8" name="TextBox 7">
            <a:extLst>
              <a:ext uri="{FF2B5EF4-FFF2-40B4-BE49-F238E27FC236}">
                <a16:creationId xmlns:a16="http://schemas.microsoft.com/office/drawing/2014/main" id="{358CA65B-DAF7-C3BD-3D62-14AC98EC625B}"/>
              </a:ext>
            </a:extLst>
          </p:cNvPr>
          <p:cNvSpPr txBox="1"/>
          <p:nvPr/>
        </p:nvSpPr>
        <p:spPr>
          <a:xfrm>
            <a:off x="2881745" y="4655127"/>
            <a:ext cx="3325091" cy="461665"/>
          </a:xfrm>
          <a:prstGeom prst="rect">
            <a:avLst/>
          </a:prstGeom>
          <a:noFill/>
        </p:spPr>
        <p:txBody>
          <a:bodyPr wrap="square" rtlCol="0">
            <a:spAutoFit/>
          </a:bodyPr>
          <a:lstStyle/>
          <a:p>
            <a:r>
              <a:rPr lang="en-US" sz="2400" dirty="0" err="1"/>
              <a:t>GetType</a:t>
            </a:r>
            <a:r>
              <a:rPr lang="en-US" sz="2400" dirty="0"/>
              <a:t>() = “Object</a:t>
            </a:r>
            <a:r>
              <a:rPr lang="en-US" sz="2400" dirty="0">
                <a:latin typeface="Consolas" panose="020B0609020204030204" pitchFamily="49" charset="0"/>
              </a:rPr>
              <a:t>[]</a:t>
            </a:r>
            <a:r>
              <a:rPr lang="en-US" sz="2400" dirty="0"/>
              <a:t>”</a:t>
            </a:r>
          </a:p>
        </p:txBody>
      </p:sp>
      <p:sp>
        <p:nvSpPr>
          <p:cNvPr id="9" name="TextBox 8">
            <a:extLst>
              <a:ext uri="{FF2B5EF4-FFF2-40B4-BE49-F238E27FC236}">
                <a16:creationId xmlns:a16="http://schemas.microsoft.com/office/drawing/2014/main" id="{744FF4A2-7F42-A996-C4EE-AF54608EEC85}"/>
              </a:ext>
            </a:extLst>
          </p:cNvPr>
          <p:cNvSpPr txBox="1"/>
          <p:nvPr/>
        </p:nvSpPr>
        <p:spPr>
          <a:xfrm>
            <a:off x="7931105" y="4655126"/>
            <a:ext cx="3325091" cy="461665"/>
          </a:xfrm>
          <a:prstGeom prst="rect">
            <a:avLst/>
          </a:prstGeom>
          <a:noFill/>
        </p:spPr>
        <p:txBody>
          <a:bodyPr wrap="square" rtlCol="0">
            <a:spAutoFit/>
          </a:bodyPr>
          <a:lstStyle/>
          <a:p>
            <a:r>
              <a:rPr lang="en-US" sz="2400" dirty="0" err="1"/>
              <a:t>GetType</a:t>
            </a:r>
            <a:r>
              <a:rPr lang="en-US" sz="2400" dirty="0"/>
              <a:t>() = “</a:t>
            </a:r>
            <a:r>
              <a:rPr lang="en-US" sz="2400" dirty="0" err="1"/>
              <a:t>DataTable</a:t>
            </a:r>
            <a:r>
              <a:rPr lang="en-US" sz="2400" dirty="0"/>
              <a:t>”</a:t>
            </a:r>
          </a:p>
        </p:txBody>
      </p:sp>
    </p:spTree>
    <p:extLst>
      <p:ext uri="{BB962C8B-B14F-4D97-AF65-F5344CB8AC3E}">
        <p14:creationId xmlns:p14="http://schemas.microsoft.com/office/powerpoint/2010/main" val="2177215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4163699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a:t>
            </a:r>
          </a:p>
        </p:txBody>
      </p:sp>
      <p:pic>
        <p:nvPicPr>
          <p:cNvPr id="7" name="Picture 6">
            <a:extLst>
              <a:ext uri="{FF2B5EF4-FFF2-40B4-BE49-F238E27FC236}">
                <a16:creationId xmlns:a16="http://schemas.microsoft.com/office/drawing/2014/main" id="{8FDB2EC5-DFD2-4C93-C51E-632A82342A10}"/>
              </a:ext>
            </a:extLst>
          </p:cNvPr>
          <p:cNvPicPr>
            <a:picLocks noChangeAspect="1"/>
          </p:cNvPicPr>
          <p:nvPr/>
        </p:nvPicPr>
        <p:blipFill>
          <a:blip r:embed="rId2"/>
          <a:stretch>
            <a:fillRect/>
          </a:stretch>
        </p:blipFill>
        <p:spPr>
          <a:xfrm>
            <a:off x="1097280" y="1440179"/>
            <a:ext cx="9692640" cy="4870193"/>
          </a:xfrm>
          <a:prstGeom prst="rect">
            <a:avLst/>
          </a:prstGeom>
        </p:spPr>
      </p:pic>
      <p:sp>
        <p:nvSpPr>
          <p:cNvPr id="8" name="Rectangle 7">
            <a:extLst>
              <a:ext uri="{FF2B5EF4-FFF2-40B4-BE49-F238E27FC236}">
                <a16:creationId xmlns:a16="http://schemas.microsoft.com/office/drawing/2014/main" id="{6A857927-D068-DF11-B933-1242E15B6311}"/>
              </a:ext>
            </a:extLst>
          </p:cNvPr>
          <p:cNvSpPr/>
          <p:nvPr/>
        </p:nvSpPr>
        <p:spPr>
          <a:xfrm>
            <a:off x="5554980" y="3977640"/>
            <a:ext cx="365760" cy="221742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C97241-B4EB-D0D2-5D68-A0C2EB614E61}"/>
              </a:ext>
            </a:extLst>
          </p:cNvPr>
          <p:cNvSpPr/>
          <p:nvPr/>
        </p:nvSpPr>
        <p:spPr>
          <a:xfrm>
            <a:off x="1097280" y="426339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93CA93A-2602-39E1-75D3-A420B2E5C1FB}"/>
              </a:ext>
            </a:extLst>
          </p:cNvPr>
          <p:cNvSpPr/>
          <p:nvPr/>
        </p:nvSpPr>
        <p:spPr>
          <a:xfrm>
            <a:off x="1097280" y="603189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DB1027-E409-B577-87A8-6876A3687502}"/>
              </a:ext>
            </a:extLst>
          </p:cNvPr>
          <p:cNvSpPr/>
          <p:nvPr/>
        </p:nvSpPr>
        <p:spPr>
          <a:xfrm>
            <a:off x="1097280" y="471227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637EA-201F-64DD-A0B8-922C00B1311C}"/>
              </a:ext>
            </a:extLst>
          </p:cNvPr>
          <p:cNvSpPr/>
          <p:nvPr/>
        </p:nvSpPr>
        <p:spPr>
          <a:xfrm>
            <a:off x="1097280" y="561003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C4D60FD-A0E5-C6B8-B3B9-D7343A254B76}"/>
              </a:ext>
            </a:extLst>
          </p:cNvPr>
          <p:cNvSpPr/>
          <p:nvPr/>
        </p:nvSpPr>
        <p:spPr>
          <a:xfrm>
            <a:off x="1097280" y="5146243"/>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221E773-0F9A-3667-3B6A-7E8B4F2A3E30}"/>
              </a:ext>
            </a:extLst>
          </p:cNvPr>
          <p:cNvPicPr>
            <a:picLocks noChangeAspect="1"/>
          </p:cNvPicPr>
          <p:nvPr/>
        </p:nvPicPr>
        <p:blipFill>
          <a:blip r:embed="rId3"/>
          <a:stretch>
            <a:fillRect/>
          </a:stretch>
        </p:blipFill>
        <p:spPr>
          <a:xfrm>
            <a:off x="8639385" y="1690688"/>
            <a:ext cx="1621650" cy="682800"/>
          </a:xfrm>
          <a:prstGeom prst="rect">
            <a:avLst/>
          </a:prstGeom>
        </p:spPr>
      </p:pic>
    </p:spTree>
    <p:extLst>
      <p:ext uri="{BB962C8B-B14F-4D97-AF65-F5344CB8AC3E}">
        <p14:creationId xmlns:p14="http://schemas.microsoft.com/office/powerpoint/2010/main" val="3746285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endParaRPr lang="en-US" dirty="0"/>
          </a:p>
        </p:txBody>
      </p:sp>
    </p:spTree>
    <p:extLst>
      <p:ext uri="{BB962C8B-B14F-4D97-AF65-F5344CB8AC3E}">
        <p14:creationId xmlns:p14="http://schemas.microsoft.com/office/powerpoint/2010/main" val="3109957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308324"/>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824254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pic>
        <p:nvPicPr>
          <p:cNvPr id="6" name="Picture 5">
            <a:extLst>
              <a:ext uri="{FF2B5EF4-FFF2-40B4-BE49-F238E27FC236}">
                <a16:creationId xmlns:a16="http://schemas.microsoft.com/office/drawing/2014/main" id="{FCED4FF0-8F8A-252E-C4F5-DE44E1C170F3}"/>
              </a:ext>
            </a:extLst>
          </p:cNvPr>
          <p:cNvPicPr>
            <a:picLocks noChangeAspect="1"/>
          </p:cNvPicPr>
          <p:nvPr/>
        </p:nvPicPr>
        <p:blipFill>
          <a:blip r:embed="rId2"/>
          <a:stretch>
            <a:fillRect/>
          </a:stretch>
        </p:blipFill>
        <p:spPr>
          <a:xfrm>
            <a:off x="7313034" y="2460828"/>
            <a:ext cx="2923804" cy="968172"/>
          </a:xfrm>
          <a:prstGeom prst="rect">
            <a:avLst/>
          </a:prstGeom>
        </p:spPr>
      </p:pic>
    </p:spTree>
    <p:extLst>
      <p:ext uri="{BB962C8B-B14F-4D97-AF65-F5344CB8AC3E}">
        <p14:creationId xmlns:p14="http://schemas.microsoft.com/office/powerpoint/2010/main" val="40220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31865391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5845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40405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UDTT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p:txBody>
      </p:sp>
      <p:pic>
        <p:nvPicPr>
          <p:cNvPr id="4" name="Picture 3">
            <a:extLst>
              <a:ext uri="{FF2B5EF4-FFF2-40B4-BE49-F238E27FC236}">
                <a16:creationId xmlns:a16="http://schemas.microsoft.com/office/drawing/2014/main" id="{E6B8D3C5-B425-D14B-D516-79859AA8D832}"/>
              </a:ext>
            </a:extLst>
          </p:cNvPr>
          <p:cNvPicPr>
            <a:picLocks noChangeAspect="1"/>
          </p:cNvPicPr>
          <p:nvPr/>
        </p:nvPicPr>
        <p:blipFill>
          <a:blip r:embed="rId2"/>
          <a:stretch>
            <a:fillRect/>
          </a:stretch>
        </p:blipFill>
        <p:spPr>
          <a:xfrm>
            <a:off x="7313034" y="1705824"/>
            <a:ext cx="2923804" cy="1073295"/>
          </a:xfrm>
          <a:prstGeom prst="rect">
            <a:avLst/>
          </a:prstGeom>
        </p:spPr>
      </p:pic>
      <p:pic>
        <p:nvPicPr>
          <p:cNvPr id="8" name="Picture 7">
            <a:extLst>
              <a:ext uri="{FF2B5EF4-FFF2-40B4-BE49-F238E27FC236}">
                <a16:creationId xmlns:a16="http://schemas.microsoft.com/office/drawing/2014/main" id="{73AB745E-0C92-C7C3-D91D-BE616D65ED52}"/>
              </a:ext>
            </a:extLst>
          </p:cNvPr>
          <p:cNvPicPr>
            <a:picLocks noChangeAspect="1"/>
          </p:cNvPicPr>
          <p:nvPr/>
        </p:nvPicPr>
        <p:blipFill>
          <a:blip r:embed="rId3"/>
          <a:stretch>
            <a:fillRect/>
          </a:stretch>
        </p:blipFill>
        <p:spPr>
          <a:xfrm>
            <a:off x="7313034" y="3110710"/>
            <a:ext cx="2923804" cy="968172"/>
          </a:xfrm>
          <a:prstGeom prst="rect">
            <a:avLst/>
          </a:prstGeom>
        </p:spPr>
      </p:pic>
    </p:spTree>
    <p:extLst>
      <p:ext uri="{BB962C8B-B14F-4D97-AF65-F5344CB8AC3E}">
        <p14:creationId xmlns:p14="http://schemas.microsoft.com/office/powerpoint/2010/main" val="47269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71B9C-FDE8-9B1D-BD13-65BE7124C36C}"/>
              </a:ext>
            </a:extLst>
          </p:cNvPr>
          <p:cNvSpPr>
            <a:spLocks noGrp="1"/>
          </p:cNvSpPr>
          <p:nvPr>
            <p:ph type="title"/>
          </p:nvPr>
        </p:nvSpPr>
        <p:spPr/>
        <p:txBody>
          <a:bodyPr/>
          <a:lstStyle/>
          <a:p>
            <a:r>
              <a:rPr lang="en-US" dirty="0"/>
              <a:t>Performance-tuning a UDTT</a:t>
            </a:r>
          </a:p>
        </p:txBody>
      </p:sp>
      <p:pic>
        <p:nvPicPr>
          <p:cNvPr id="13" name="Picture 12">
            <a:extLst>
              <a:ext uri="{FF2B5EF4-FFF2-40B4-BE49-F238E27FC236}">
                <a16:creationId xmlns:a16="http://schemas.microsoft.com/office/drawing/2014/main" id="{B3D2C086-0B9C-D9F9-7BEC-D7BBD31F6B52}"/>
              </a:ext>
            </a:extLst>
          </p:cNvPr>
          <p:cNvPicPr>
            <a:picLocks noChangeAspect="1"/>
          </p:cNvPicPr>
          <p:nvPr/>
        </p:nvPicPr>
        <p:blipFill>
          <a:blip r:embed="rId3"/>
          <a:stretch>
            <a:fillRect/>
          </a:stretch>
        </p:blipFill>
        <p:spPr>
          <a:xfrm>
            <a:off x="838200" y="1552143"/>
            <a:ext cx="10828936" cy="4391458"/>
          </a:xfrm>
          <a:prstGeom prst="rect">
            <a:avLst/>
          </a:prstGeom>
        </p:spPr>
      </p:pic>
    </p:spTree>
    <p:extLst>
      <p:ext uri="{BB962C8B-B14F-4D97-AF65-F5344CB8AC3E}">
        <p14:creationId xmlns:p14="http://schemas.microsoft.com/office/powerpoint/2010/main" val="1321800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pic>
        <p:nvPicPr>
          <p:cNvPr id="1028" name="Picture 4" descr="Poking the Bear | New Orleans Pelicans | BourbonStreetShots.com">
            <a:extLst>
              <a:ext uri="{FF2B5EF4-FFF2-40B4-BE49-F238E27FC236}">
                <a16:creationId xmlns:a16="http://schemas.microsoft.com/office/drawing/2014/main" id="{04BEAAF5-4206-D88E-B011-CEEFA329D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894" y="1524434"/>
            <a:ext cx="7116906" cy="4666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8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sp>
        <p:nvSpPr>
          <p:cNvPr id="3" name="TextBox 2">
            <a:extLst>
              <a:ext uri="{FF2B5EF4-FFF2-40B4-BE49-F238E27FC236}">
                <a16:creationId xmlns:a16="http://schemas.microsoft.com/office/drawing/2014/main" id="{B51180C9-9903-F49C-669D-994528CEB4BC}"/>
              </a:ext>
            </a:extLst>
          </p:cNvPr>
          <p:cNvSpPr txBox="1"/>
          <p:nvPr/>
        </p:nvSpPr>
        <p:spPr>
          <a:xfrm>
            <a:off x="955962" y="1482436"/>
            <a:ext cx="10764983" cy="4893647"/>
          </a:xfrm>
          <a:prstGeom prst="rect">
            <a:avLst/>
          </a:prstGeom>
          <a:solidFill>
            <a:schemeClr val="tx1"/>
          </a:solidFill>
        </p:spPr>
        <p:txBody>
          <a:bodyPr wrap="square" rtlCol="0">
            <a:spAutoFit/>
          </a:bodyPr>
          <a:lstStyle/>
          <a:p>
            <a:r>
              <a:rPr lang="en-US" sz="2400" b="1" dirty="0">
                <a:solidFill>
                  <a:srgbClr val="C586C0"/>
                </a:solidFill>
                <a:effectLst/>
                <a:latin typeface="Consolas" panose="020B0609020204030204" pitchFamily="49" charset="0"/>
              </a:rPr>
              <a:t>import</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random</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string</a:t>
            </a:r>
            <a:endParaRPr lang="en-US" sz="2400" b="1" dirty="0">
              <a:solidFill>
                <a:srgbClr val="CCCCCC"/>
              </a:solidFill>
              <a:effectLst/>
              <a:latin typeface="Consolas" panose="020B0609020204030204" pitchFamily="49" charset="0"/>
            </a:endParaRPr>
          </a:p>
          <a:p>
            <a:endParaRPr lang="en-US" sz="2400" b="1" dirty="0">
              <a:solidFill>
                <a:srgbClr val="569CD6"/>
              </a:solidFill>
              <a:effectLst/>
              <a:latin typeface="Consolas" panose="020B0609020204030204" pitchFamily="49" charset="0"/>
            </a:endParaRPr>
          </a:p>
          <a:p>
            <a:r>
              <a:rPr lang="en-US" sz="2400" b="1" dirty="0">
                <a:solidFill>
                  <a:srgbClr val="569CD6"/>
                </a:solidFill>
                <a:effectLst/>
                <a:latin typeface="Consolas" panose="020B0609020204030204" pitchFamily="49" charset="0"/>
              </a:rPr>
              <a:t>def</a:t>
            </a:r>
            <a:r>
              <a:rPr lang="en-US" sz="2400" b="1" dirty="0">
                <a:solidFill>
                  <a:srgbClr val="CCCCCC"/>
                </a:solidFill>
                <a:effectLst/>
                <a:latin typeface="Consolas" panose="020B0609020204030204" pitchFamily="49" charset="0"/>
              </a:rPr>
              <a:t> </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ascii_lowercase</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digits</a:t>
            </a:r>
            <a:endParaRPr lang="en-US" sz="2400" b="1" dirty="0">
              <a:solidFill>
                <a:srgbClr val="CCCCCC"/>
              </a:solidFill>
              <a:effectLst/>
              <a:latin typeface="Consolas" panose="020B0609020204030204" pitchFamily="49" charset="0"/>
            </a:endParaRPr>
          </a:p>
          <a:p>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return</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a:t>
            </a:r>
            <a:r>
              <a:rPr lang="en-US" sz="2400" b="1" dirty="0">
                <a:solidFill>
                  <a:srgbClr val="CCCCCC"/>
                </a:solidFill>
                <a:effectLst/>
                <a:latin typeface="Consolas" panose="020B0609020204030204" pitchFamily="49" charset="0"/>
              </a:rPr>
              <a:t>.</a:t>
            </a:r>
            <a:r>
              <a:rPr lang="en-US" sz="2400" b="1" dirty="0">
                <a:solidFill>
                  <a:srgbClr val="DCDCAA"/>
                </a:solidFill>
                <a:effectLst/>
                <a:latin typeface="Consolas" panose="020B0609020204030204" pitchFamily="49" charset="0"/>
              </a:rPr>
              <a:t>join</a:t>
            </a:r>
            <a:r>
              <a:rPr lang="en-US" sz="2400" b="1" dirty="0">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random</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choice</a:t>
            </a:r>
            <a:r>
              <a:rPr lang="en-US" sz="2400" b="1" dirty="0">
                <a:solidFill>
                  <a:srgbClr val="CCCCCC"/>
                </a:solidFill>
                <a:effectLst/>
                <a:latin typeface="Consolas" panose="020B0609020204030204" pitchFamily="49" charset="0"/>
              </a:rPr>
              <a:t>(</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i</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br>
              <a:rPr lang="en-US" sz="2400" b="1" dirty="0">
                <a:solidFill>
                  <a:srgbClr val="CCCCCC"/>
                </a:solidFill>
                <a:effectLst/>
                <a:latin typeface="Consolas" panose="020B0609020204030204" pitchFamily="49" charset="0"/>
              </a:rPr>
            </a:b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'Measurement'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'Value'</a:t>
            </a:r>
            <a:r>
              <a:rPr lang="en-US" sz="2400" b="1" dirty="0">
                <a:solidFill>
                  <a:srgbClr val="CCCCCC"/>
                </a:solidFill>
                <a:effectLst/>
                <a:latin typeface="Consolas" panose="020B0609020204030204" pitchFamily="49" charset="0"/>
              </a:rPr>
              <a:t>]</a:t>
            </a:r>
          </a:p>
          <a:p>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p>
          <a:p>
            <a:r>
              <a:rPr lang="en-US" sz="2400" b="1" dirty="0">
                <a:solidFill>
                  <a:srgbClr val="CCCCCC"/>
                </a:solidFill>
                <a:effectLst/>
                <a:latin typeface="Consolas" panose="020B0609020204030204" pitchFamily="49" charset="0"/>
              </a:rPr>
              <a:t> </a:t>
            </a:r>
          </a:p>
          <a:p>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5000000</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lst</a:t>
            </a:r>
            <a:r>
              <a:rPr lang="en-US" sz="2400" b="1" dirty="0" err="1">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append</a:t>
            </a:r>
            <a:r>
              <a:rPr lang="en-US" sz="2400" b="1" dirty="0">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10</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p>
          <a:p>
            <a:r>
              <a:rPr lang="en-US" sz="2400" b="1" dirty="0" err="1">
                <a:solidFill>
                  <a:srgbClr val="9CDCFE"/>
                </a:solidFill>
                <a:effectLst/>
                <a:latin typeface="Consolas" panose="020B0609020204030204" pitchFamily="49" charset="0"/>
              </a:rPr>
              <a:t>df</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pd</a:t>
            </a:r>
            <a:r>
              <a:rPr lang="en-US" sz="2400" b="1" dirty="0" err="1">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DataFrame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columns</a:t>
            </a:r>
            <a:r>
              <a:rPr lang="en-US" sz="2400" b="1" dirty="0">
                <a:solidFill>
                  <a:srgbClr val="D4D4D4"/>
                </a:solidFill>
                <a:effectLst/>
                <a:latin typeface="Consolas" panose="020B0609020204030204" pitchFamily="49" charset="0"/>
              </a:rPr>
              <a:t>=</a:t>
            </a: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a:t>
            </a:r>
          </a:p>
        </p:txBody>
      </p:sp>
      <p:sp>
        <p:nvSpPr>
          <p:cNvPr id="4" name="Rectangle 3">
            <a:extLst>
              <a:ext uri="{FF2B5EF4-FFF2-40B4-BE49-F238E27FC236}">
                <a16:creationId xmlns:a16="http://schemas.microsoft.com/office/drawing/2014/main" id="{46C1F588-4360-6BEA-F51A-0E7CB0F44C2C}"/>
              </a:ext>
            </a:extLst>
          </p:cNvPr>
          <p:cNvSpPr/>
          <p:nvPr/>
        </p:nvSpPr>
        <p:spPr>
          <a:xfrm>
            <a:off x="2550867" y="4768409"/>
            <a:ext cx="2339788" cy="413191"/>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3436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B7140-7745-3B8C-6C9F-275DB31818CD}"/>
              </a:ext>
            </a:extLst>
          </p:cNvPr>
          <p:cNvPicPr>
            <a:picLocks noChangeAspect="1"/>
          </p:cNvPicPr>
          <p:nvPr/>
        </p:nvPicPr>
        <p:blipFill>
          <a:blip r:embed="rId3"/>
          <a:stretch>
            <a:fillRect/>
          </a:stretch>
        </p:blipFill>
        <p:spPr>
          <a:xfrm>
            <a:off x="535428" y="419749"/>
            <a:ext cx="11121143" cy="6018501"/>
          </a:xfrm>
          <a:prstGeom prst="rect">
            <a:avLst/>
          </a:prstGeom>
        </p:spPr>
      </p:pic>
    </p:spTree>
    <p:extLst>
      <p:ext uri="{BB962C8B-B14F-4D97-AF65-F5344CB8AC3E}">
        <p14:creationId xmlns:p14="http://schemas.microsoft.com/office/powerpoint/2010/main" val="3418415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808C7-4687-8CAF-CA67-D6F64ECEF728}"/>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0C4A8D2-F243-AE85-404D-613EFB9A3E41}"/>
              </a:ext>
            </a:extLst>
          </p:cNvPr>
          <p:cNvSpPr>
            <a:spLocks noGrp="1"/>
          </p:cNvSpPr>
          <p:nvPr>
            <p:ph idx="1"/>
          </p:nvPr>
        </p:nvSpPr>
        <p:spPr/>
        <p:txBody>
          <a:bodyPr>
            <a:normAutofit/>
          </a:bodyPr>
          <a:lstStyle/>
          <a:p>
            <a:r>
              <a:rPr lang="en-US" sz="2400" dirty="0"/>
              <a:t>This is great, and I can’t wait to implement it back home!</a:t>
            </a:r>
          </a:p>
          <a:p>
            <a:r>
              <a:rPr lang="en-US" sz="2400" dirty="0"/>
              <a:t>I learned a lot </a:t>
            </a:r>
            <a:r>
              <a:rPr lang="en-US" sz="2400"/>
              <a:t>about UDTTs</a:t>
            </a:r>
            <a:r>
              <a:rPr lang="en-US" sz="2400" dirty="0"/>
              <a:t>, but I will continue to do things the way I currently insert data</a:t>
            </a:r>
          </a:p>
          <a:p>
            <a:r>
              <a:rPr lang="en-US" sz="2400" dirty="0"/>
              <a:t>This is great because now I can effectively argue against this solution</a:t>
            </a:r>
          </a:p>
          <a:p>
            <a:endParaRPr lang="en-US" sz="2400" dirty="0"/>
          </a:p>
          <a:p>
            <a:endParaRPr lang="en-US" sz="2400" dirty="0"/>
          </a:p>
        </p:txBody>
      </p:sp>
    </p:spTree>
    <p:extLst>
      <p:ext uri="{BB962C8B-B14F-4D97-AF65-F5344CB8AC3E}">
        <p14:creationId xmlns:p14="http://schemas.microsoft.com/office/powerpoint/2010/main" val="3160636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KEEP CLAPPING AND PLEASE NO QUESTIONS - Keep Calm and Posters Generator ...">
            <a:extLst>
              <a:ext uri="{FF2B5EF4-FFF2-40B4-BE49-F238E27FC236}">
                <a16:creationId xmlns:a16="http://schemas.microsoft.com/office/drawing/2014/main" id="{C7062154-267C-8F33-118A-A586F067D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8815" y="608951"/>
            <a:ext cx="4834370" cy="5640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74377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47198</TotalTime>
  <Words>3295</Words>
  <Application>Microsoft Office PowerPoint</Application>
  <PresentationFormat>Widescreen</PresentationFormat>
  <Paragraphs>497</Paragraphs>
  <Slides>48</Slides>
  <Notes>26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48</vt:i4>
      </vt:variant>
    </vt:vector>
  </HeadingPairs>
  <TitlesOfParts>
    <vt:vector size="61" baseType="lpstr">
      <vt:lpstr>Arial</vt:lpstr>
      <vt:lpstr>Calibri</vt:lpstr>
      <vt:lpstr>Calibri Light</vt:lpstr>
      <vt:lpstr>Cascadia Code</vt:lpstr>
      <vt:lpstr>Consolas</vt:lpstr>
      <vt:lpstr>Roboto</vt:lpstr>
      <vt:lpstr>Segoe UI</vt:lpstr>
      <vt:lpstr>Trebuchet MS</vt:lpstr>
      <vt:lpstr>Verdana</vt:lpstr>
      <vt:lpstr>Wingdings</vt:lpstr>
      <vt:lpstr>Wingdings 3</vt:lpstr>
      <vt:lpstr>Office Theme</vt:lpstr>
      <vt:lpstr>Facet</vt:lpstr>
      <vt:lpstr>PowerPoint Presentation</vt:lpstr>
      <vt:lpstr>PowerPoint Presentation</vt:lpstr>
      <vt:lpstr>Why send all the rows at once?</vt:lpstr>
      <vt:lpstr>PowerPoint Presentation</vt:lpstr>
      <vt:lpstr>Life without UDTTs – Row-by-Agonizing-Row</vt:lpstr>
      <vt:lpstr>PowerPoint Presentation</vt:lpstr>
      <vt:lpstr>PowerPoint Presentation</vt:lpstr>
      <vt:lpstr>The back-end SQL Server table</vt:lpstr>
      <vt:lpstr>Create the User-Defined Table Type (UDTT)</vt:lpstr>
      <vt:lpstr>Create the proc to interact with the UDTT</vt:lpstr>
      <vt:lpstr>Demo Time</vt:lpstr>
      <vt:lpstr>Grant the security on the proc</vt:lpstr>
      <vt:lpstr>Already some concerns? (1/6)</vt:lpstr>
      <vt:lpstr>Already some concerns? (2/6)</vt:lpstr>
      <vt:lpstr>Already some concerns? (3/6)</vt:lpstr>
      <vt:lpstr>Already some concerns? (4/6)</vt:lpstr>
      <vt:lpstr>PowerPoint Presentation</vt:lpstr>
      <vt:lpstr>Already some concerns? (5/6)</vt:lpstr>
      <vt:lpstr>Already some concerns? (6/6)</vt:lpstr>
      <vt:lpstr>Life with UDTTs</vt:lpstr>
      <vt:lpstr>Your Python script</vt:lpstr>
      <vt:lpstr>Converting a Python DataFrame to a Table-valued parameter</vt:lpstr>
      <vt:lpstr>Demo Time</vt:lpstr>
      <vt:lpstr>Python concerns?</vt:lpstr>
      <vt:lpstr>Your .NET app</vt:lpstr>
      <vt:lpstr>Converting an IList&lt;class&gt; into a DataTable (1/2)</vt:lpstr>
      <vt:lpstr>BindingFlags enum</vt:lpstr>
      <vt:lpstr>PowerPoint Presentation</vt:lpstr>
      <vt:lpstr>Demo Time</vt:lpstr>
      <vt:lpstr>Converting an IList&lt;class&gt; into a DataTable (2/2)</vt:lpstr>
      <vt:lpstr>.NET concerns?</vt:lpstr>
      <vt:lpstr>Your PowerShell script</vt:lpstr>
      <vt:lpstr>PSObject != DataTable</vt:lpstr>
      <vt:lpstr>Demo Time</vt:lpstr>
      <vt:lpstr>Performance-tuning a UDTT</vt:lpstr>
      <vt:lpstr>Performance-tuning a UDTT (steps)</vt:lpstr>
      <vt:lpstr>Performance-tuning a UDTT (steps)</vt:lpstr>
      <vt:lpstr>Performance-tuning a UDTT (steps)</vt:lpstr>
      <vt:lpstr>Performance-tuning a UDTT (steps)</vt:lpstr>
      <vt:lpstr>Performance-tuning a UDTT (steps)</vt:lpstr>
      <vt:lpstr>Performance-tuning a UDTT (steps)</vt:lpstr>
      <vt:lpstr>Performance-tuning a UDTT (steps)</vt:lpstr>
      <vt:lpstr>Performance-tuning a UDTT</vt:lpstr>
      <vt:lpstr>Let’s Anger It!</vt:lpstr>
      <vt:lpstr>Let’s Anger It!</vt:lpstr>
      <vt:lpstr>PowerPoint Presentation</vt:lpstr>
      <vt:lpstr>Where to go from here?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 F</dc:creator>
  <cp:lastModifiedBy>Jeff F</cp:lastModifiedBy>
  <cp:revision>10</cp:revision>
  <dcterms:created xsi:type="dcterms:W3CDTF">2023-05-18T00:35:51Z</dcterms:created>
  <dcterms:modified xsi:type="dcterms:W3CDTF">2023-08-18T11:09:05Z</dcterms:modified>
</cp:coreProperties>
</file>