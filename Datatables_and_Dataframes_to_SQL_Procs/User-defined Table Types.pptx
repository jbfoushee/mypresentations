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  <p:sldMasterId id="2147483689" r:id="rId2"/>
  </p:sldMasterIdLst>
  <p:notesMasterIdLst>
    <p:notesMasterId r:id="rId45"/>
  </p:notesMasterIdLst>
  <p:sldIdLst>
    <p:sldId id="379" r:id="rId3"/>
    <p:sldId id="256" r:id="rId4"/>
    <p:sldId id="257" r:id="rId5"/>
    <p:sldId id="291" r:id="rId6"/>
    <p:sldId id="349" r:id="rId7"/>
    <p:sldId id="302" r:id="rId8"/>
    <p:sldId id="258" r:id="rId9"/>
    <p:sldId id="259" r:id="rId10"/>
    <p:sldId id="260" r:id="rId11"/>
    <p:sldId id="261" r:id="rId12"/>
    <p:sldId id="262" r:id="rId13"/>
    <p:sldId id="283" r:id="rId14"/>
    <p:sldId id="263" r:id="rId15"/>
    <p:sldId id="266" r:id="rId16"/>
    <p:sldId id="316" r:id="rId17"/>
    <p:sldId id="267" r:id="rId18"/>
    <p:sldId id="268" r:id="rId19"/>
    <p:sldId id="270" r:id="rId20"/>
    <p:sldId id="287" r:id="rId21"/>
    <p:sldId id="317" r:id="rId22"/>
    <p:sldId id="303" r:id="rId23"/>
    <p:sldId id="264" r:id="rId24"/>
    <p:sldId id="281" r:id="rId25"/>
    <p:sldId id="272" r:id="rId26"/>
    <p:sldId id="282" r:id="rId27"/>
    <p:sldId id="286" r:id="rId28"/>
    <p:sldId id="289" r:id="rId29"/>
    <p:sldId id="284" r:id="rId30"/>
    <p:sldId id="307" r:id="rId31"/>
    <p:sldId id="308" r:id="rId32"/>
    <p:sldId id="309" r:id="rId33"/>
    <p:sldId id="310" r:id="rId34"/>
    <p:sldId id="311" r:id="rId35"/>
    <p:sldId id="312" r:id="rId36"/>
    <p:sldId id="313" r:id="rId37"/>
    <p:sldId id="290" r:id="rId38"/>
    <p:sldId id="294" r:id="rId39"/>
    <p:sldId id="295" r:id="rId40"/>
    <p:sldId id="296" r:id="rId41"/>
    <p:sldId id="300" r:id="rId42"/>
    <p:sldId id="305" r:id="rId43"/>
    <p:sldId id="31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ff F" initials="JF" lastIdx="1" clrIdx="0">
    <p:extLst>
      <p:ext uri="{19B8F6BF-5375-455C-9EA6-DF929625EA0E}">
        <p15:presenceInfo xmlns:p15="http://schemas.microsoft.com/office/powerpoint/2012/main" userId="f003630136abce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B3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6296" autoAdjust="0"/>
  </p:normalViewPr>
  <p:slideViewPr>
    <p:cSldViewPr snapToGrid="0">
      <p:cViewPr varScale="1">
        <p:scale>
          <a:sx n="87" d="100"/>
          <a:sy n="87" d="100"/>
        </p:scale>
        <p:origin x="145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7F473-D930-40CF-A164-F39E2E601F13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9D0CF-7A5F-42A2-8CCA-4A796DEC5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92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47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 you see here?</a:t>
            </a:r>
          </a:p>
          <a:p>
            <a:r>
              <a:rPr lang="en-US" dirty="0"/>
              <a:t>Scenario 1: The RBAR solution failed updating from horse to train and didn’t revert.</a:t>
            </a:r>
          </a:p>
          <a:p>
            <a:r>
              <a:rPr lang="en-US" dirty="0"/>
              <a:t>Scenario 2: Someone is reading the data while the RBAR solution is still updating data. (Maybe a transaction is involved, maybe not)</a:t>
            </a:r>
          </a:p>
          <a:p>
            <a:r>
              <a:rPr lang="en-US" dirty="0"/>
              <a:t>Scenario 3: Two individuals are independently updating the puzzle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860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two users are competing to update the same puzzle, I’d rather the last user to update win… then for all users be unhappy.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37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pain point is the Load() routine: Connection management, input formatting, looping cycles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87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 tuple is a finite ordered sequence of elements.</a:t>
            </a:r>
          </a:p>
          <a:p>
            <a:endParaRPr lang="en-US" dirty="0"/>
          </a:p>
          <a:p>
            <a:r>
              <a:rPr lang="en-US" dirty="0"/>
              <a:t>Here’s a way to get more than row into the database</a:t>
            </a:r>
          </a:p>
          <a:p>
            <a:r>
              <a:rPr lang="en-US" dirty="0"/>
              <a:t>The comma is separating multiple tuples of information to be added to the table</a:t>
            </a:r>
          </a:p>
          <a:p>
            <a:endParaRPr lang="en-US" dirty="0"/>
          </a:p>
          <a:p>
            <a:r>
              <a:rPr lang="en-US" dirty="0"/>
              <a:t>But we aren’t sending dynamic SQL to the database, so this isn’t a viable option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555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PDW/APS does not understand the User-defined Table Type at this time</a:t>
            </a:r>
          </a:p>
          <a:p>
            <a:endParaRPr lang="en-US" dirty="0"/>
          </a:p>
          <a:p>
            <a:r>
              <a:rPr lang="en-US" dirty="0"/>
              <a:t>This is the setup for our overall example.</a:t>
            </a:r>
          </a:p>
          <a:p>
            <a:r>
              <a:rPr lang="en-US" dirty="0"/>
              <a:t>3 or more factories report measurements to the central database.</a:t>
            </a:r>
          </a:p>
          <a:p>
            <a:r>
              <a:rPr lang="en-US" dirty="0"/>
              <a:t>All the measurements belong to one timestamp; I cannot use a mixture of measurements from different timestamps.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25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allows, why did I choose an </a:t>
            </a:r>
            <a:r>
              <a:rPr lang="en-US" dirty="0" err="1"/>
              <a:t>ArbitraryID</a:t>
            </a:r>
            <a:r>
              <a:rPr lang="en-US" dirty="0"/>
              <a:t> to serve as PK rather than </a:t>
            </a:r>
            <a:r>
              <a:rPr lang="en-US" dirty="0" err="1"/>
              <a:t>LocationCode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The primary key determines how your data is stored on disk.</a:t>
            </a:r>
          </a:p>
          <a:p>
            <a:r>
              <a:rPr 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I do not care that Location 1 is always reorganized to be the first location on disk.</a:t>
            </a:r>
          </a:p>
          <a:p>
            <a:r>
              <a:rPr 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That is a lot of wasted I/O.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26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Within the database, expand Programmability, Types.</a:t>
            </a:r>
          </a:p>
          <a:p>
            <a:r>
              <a:rPr lang="en-US" dirty="0"/>
              <a:t>Right-click “User-Defined Table Types” and select New “User Defined Table Type”</a:t>
            </a:r>
          </a:p>
          <a:p>
            <a:endParaRPr lang="en-US" dirty="0"/>
          </a:p>
          <a:p>
            <a:r>
              <a:rPr lang="en-US" dirty="0"/>
              <a:t>We are going to build one that holds a collection of measurements and values.</a:t>
            </a:r>
          </a:p>
          <a:p>
            <a:r>
              <a:rPr lang="en-US" dirty="0"/>
              <a:t>The Location column could have been added, but it would be a repeating value when sent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12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1819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to start SQL Profiler for class and focus on login “app”</a:t>
            </a:r>
          </a:p>
          <a:p>
            <a:r>
              <a:rPr lang="en-US" dirty="0"/>
              <a:t>Add “</a:t>
            </a:r>
            <a:r>
              <a:rPr lang="en-US" dirty="0" err="1"/>
              <a:t>RPC:Starting</a:t>
            </a:r>
            <a:r>
              <a:rPr lang="en-US" dirty="0"/>
              <a:t>” and “Exception”</a:t>
            </a:r>
          </a:p>
          <a:p>
            <a:r>
              <a:rPr lang="en-US" dirty="0"/>
              <a:t>Attempt to do everything by SSMS.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6983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44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in mind, you would have the same issue with staging tables, so this may not be an issue to you.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344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send columns or data you don’t need.</a:t>
            </a:r>
          </a:p>
          <a:p>
            <a:endParaRPr lang="en-US" dirty="0"/>
          </a:p>
          <a:p>
            <a:r>
              <a:rPr lang="en-US" dirty="0"/>
              <a:t>Your mileage will vary on the resources given to </a:t>
            </a:r>
            <a:r>
              <a:rPr lang="en-US" dirty="0" err="1"/>
              <a:t>tempdb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244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we saw in SSMS, there is no alternative to the TSQL GRANT EXECUTE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08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stored proc that depends on the UDTT ? Yeah, you have to drop that proc before you can drop the UDTT.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516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you PAY ATTENTION when you have two windows up with two definitions that you just dropped.</a:t>
            </a:r>
          </a:p>
          <a:p>
            <a:r>
              <a:rPr lang="en-US" dirty="0"/>
              <a:t>Don’t let anyone distract you where you accidentally close windows, or you’ll have to restore a proc/UDTT from backup! (Shameful)</a:t>
            </a:r>
          </a:p>
          <a:p>
            <a:endParaRPr lang="en-US" dirty="0"/>
          </a:p>
          <a:p>
            <a:r>
              <a:rPr lang="en-US" dirty="0"/>
              <a:t>This is why you grant objects to roles, not to individuals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282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send columns or data you don’t need.</a:t>
            </a:r>
          </a:p>
          <a:p>
            <a:endParaRPr lang="en-US" dirty="0"/>
          </a:p>
          <a:p>
            <a:r>
              <a:rPr lang="en-US" dirty="0"/>
              <a:t>Your mileage will vary on the resources given to </a:t>
            </a:r>
            <a:r>
              <a:rPr lang="en-US" dirty="0" err="1"/>
              <a:t>tempdb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9411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send columns or data you don’t need.</a:t>
            </a:r>
          </a:p>
          <a:p>
            <a:endParaRPr lang="en-US" dirty="0"/>
          </a:p>
          <a:p>
            <a:r>
              <a:rPr lang="en-US" dirty="0"/>
              <a:t>Your mileage will vary on the resources given to </a:t>
            </a:r>
            <a:r>
              <a:rPr lang="en-US" dirty="0" err="1"/>
              <a:t>tempdb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689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2475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263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2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Type_Measurements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N'K'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11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N'L'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12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N'M'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13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N'N'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14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N'O'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15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usp_Measurements_Upsert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@LocationCode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@dt_Measurements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@p2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37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Should I be concerned with how much cost the inserts took?</a:t>
            </a:r>
          </a:p>
          <a:p>
            <a:r>
              <a:rPr lang="en-US" dirty="0"/>
              <a:t>Probably not, since these are a fixed cost. I cannot tune inserts into a table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5131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783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462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9D0CF-7A5F-42A2-8CCA-4A796DEC551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56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A8FD8-A818-A287-2284-CC71979CA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C2E44-4CD7-E646-CB50-28E2D8A44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FB3DD-CB8B-15B3-BF40-0F17AF6B3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9ACD6-29BE-90BA-41C9-8342C07DE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E3689-A221-2A4E-2820-DEDA070DE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404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306B8-67E5-7A3D-F58B-21CEA917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E403B-4BA5-E4E9-E46D-3FD41BFE2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34CFC-8BD8-C705-73B1-9944BC633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D8FF3-D2FA-6B5A-2576-1E0BAF61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51726-CCD3-3F64-1D2E-3F7A12F50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91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E28D2-2542-4B96-931D-A5F9D3847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C98E2-A6B2-FEA1-7E4A-988ECDF34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51015-FD88-F619-9C8D-9420E2FCC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FA2F8-027F-B047-6148-848DD3BC5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837D7-86E0-8384-DFCE-38C95BB8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12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D661-269E-DE95-E3FA-F01CFE0A7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8AB9C-5403-AC9A-6227-B4ACAF6D8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67B414-EDE5-5D17-20F9-6381C599C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89215-F598-307E-D0C5-160BB8237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AB03C-5D29-4502-C6AD-06E32955A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5C092-2A60-573F-2D4D-294FCEE4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84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1EB1B-221D-EC9A-08FF-49E32394E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651D0-9A14-0647-11C5-F083407E2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770F7-54A9-8A51-4364-A8BDE91CE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700004-510C-6B31-4318-C833793F27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0836F3-3233-4D08-A2B2-8AEB613628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095EA-DECF-69EB-1396-8E46231E7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4FA5A6-0186-9E65-3F91-109820A0D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97533-0495-E681-59DC-0C16BA607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39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6623-6A97-D3F5-EEAD-7DD2823E4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457EBF-FAAF-EE54-FF7A-B4B685FF7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32E8AD-2A90-0FCE-BC15-C16C63614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15A6A-5566-A7EC-1A1E-B66CA5A2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271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D8AE9-FE7B-FDEC-C112-D46B4F98B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AB3BB8-D0AE-5246-8414-93A7617E8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D9D75-E5BF-EEEE-E07A-4879521FE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152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7B8F-97D5-2428-EE5B-81363494C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2BCED-A4F7-0117-A838-9710228CB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1ADA3-FA98-BC88-8F0A-C9E7AC7EA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46B29-BDC6-46C6-9CC6-29873F506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4F46D-391C-6B67-A53C-ABA930E87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19CCD4-42D1-1A62-AC8F-76246DDF7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05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080C6-FDEF-A6BF-0814-488F6DD4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6638E-3B79-1A7B-D53D-19F3AFFA15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1C005-6CCC-55BC-56E8-3E941580C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3B878-52CC-4F72-B9FF-2218A2A8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E8301-156D-8991-5048-8F53AA33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C7C39-E235-3AD1-AC65-BA568B8FF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294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3852-6FAA-8212-F372-0956A3E3C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A74CB-53E3-5316-404B-409A5457F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452D1-218D-F7BA-0D3C-612301EC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13DB6-731D-0181-8F62-2095B5735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3E29D-29A7-0642-C1D6-6C37B56A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461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BE6207-38F3-79D9-A247-0F4FD907C0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92797-E911-A6ED-C90E-CAC1CD438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1B43-2CDB-7AB8-BC06-9D8E2C9D6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161ED-8DFF-41C7-4746-FBF5154E1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02ED1-586A-132C-E140-0DD091F70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3451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072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38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91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37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019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005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209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2894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7798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991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5179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708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44141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718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0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989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269204-A108-7BD7-37F0-39D758553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E1DC7-AA3D-C72C-20C8-0DD0B11A0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AB53D-C893-197B-8089-B4EBA5DDE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451B7-C099-9682-E41B-64199EF3F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2C067-7E4B-F69D-F136-8E34DAFED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021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DAFBD-AA74-4F39-B34D-B8A0CE5CD8B0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1DBEE3E-F04A-4C6C-9A1F-85BCCA1C6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18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69F34-9CC1-E59F-E59F-51DB3D97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Reviewing after the presentation?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7A4AD-2DB8-D681-74A7-3A47132B8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49" y="2184885"/>
            <a:ext cx="10096500" cy="1362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330FE9-AB35-44BA-F17A-6FD0DAAB70CE}"/>
              </a:ext>
            </a:extLst>
          </p:cNvPr>
          <p:cNvSpPr txBox="1"/>
          <p:nvPr/>
        </p:nvSpPr>
        <p:spPr>
          <a:xfrm>
            <a:off x="2152997" y="4735629"/>
            <a:ext cx="7886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 sure to enable the Notes for slide-specific content</a:t>
            </a:r>
          </a:p>
        </p:txBody>
      </p:sp>
    </p:spTree>
    <p:extLst>
      <p:ext uri="{BB962C8B-B14F-4D97-AF65-F5344CB8AC3E}">
        <p14:creationId xmlns:p14="http://schemas.microsoft.com/office/powerpoint/2010/main" val="1346962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6396DF-472C-C46E-5ADE-69BBA5A3A441}"/>
              </a:ext>
            </a:extLst>
          </p:cNvPr>
          <p:cNvSpPr txBox="1"/>
          <p:nvPr/>
        </p:nvSpPr>
        <p:spPr>
          <a:xfrm>
            <a:off x="1219200" y="1605776"/>
            <a:ext cx="93744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Chew on That!:</a:t>
            </a:r>
          </a:p>
          <a:p>
            <a:r>
              <a:rPr lang="en-US" sz="4800" dirty="0"/>
              <a:t>Sending </a:t>
            </a:r>
            <a:r>
              <a:rPr lang="en-US" sz="4800" dirty="0" err="1"/>
              <a:t>DataTables</a:t>
            </a:r>
            <a:r>
              <a:rPr lang="en-US" sz="4800" dirty="0"/>
              <a:t> and </a:t>
            </a:r>
            <a:r>
              <a:rPr lang="en-US" sz="4800" dirty="0" err="1"/>
              <a:t>DataFrames</a:t>
            </a:r>
            <a:r>
              <a:rPr lang="en-US" sz="4800" dirty="0"/>
              <a:t> to SQL Stored Procedures</a:t>
            </a:r>
          </a:p>
        </p:txBody>
      </p:sp>
      <p:pic>
        <p:nvPicPr>
          <p:cNvPr id="2050" name="Picture 2" descr="Download Python 32 / 64-bit (Terbaru 2022)">
            <a:extLst>
              <a:ext uri="{FF2B5EF4-FFF2-40B4-BE49-F238E27FC236}">
                <a16:creationId xmlns:a16="http://schemas.microsoft.com/office/drawing/2014/main" id="{26552EDE-E75E-10BF-BEFF-21AC3A19F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561" y="5188465"/>
            <a:ext cx="1148345" cy="1148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.NET Standard and new .NET Framework Logo and Banner | The NeoSmart Files">
            <a:extLst>
              <a:ext uri="{FF2B5EF4-FFF2-40B4-BE49-F238E27FC236}">
                <a16:creationId xmlns:a16="http://schemas.microsoft.com/office/drawing/2014/main" id="{94601AEB-45AC-9CD1-37FB-844640E77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5223" y="5130037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Powershell Icon #48576 - Free Icons Library">
            <a:extLst>
              <a:ext uri="{FF2B5EF4-FFF2-40B4-BE49-F238E27FC236}">
                <a16:creationId xmlns:a16="http://schemas.microsoft.com/office/drawing/2014/main" id="{CBBEC25C-DEB2-4D5B-7743-F200E0732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3494" y="4955605"/>
            <a:ext cx="1614066" cy="1614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ve Instructor-Led SQL Querying Advanced Training - Hands-on Course">
            <a:extLst>
              <a:ext uri="{FF2B5EF4-FFF2-40B4-BE49-F238E27FC236}">
                <a16:creationId xmlns:a16="http://schemas.microsoft.com/office/drawing/2014/main" id="{904B98AA-8F61-6083-9EDF-117E692A6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756" y="4955605"/>
            <a:ext cx="1698570" cy="178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1745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3E30AF-39C1-E1F3-69DA-4FC52FEAFD0A}"/>
              </a:ext>
            </a:extLst>
          </p:cNvPr>
          <p:cNvSpPr txBox="1"/>
          <p:nvPr/>
        </p:nvSpPr>
        <p:spPr>
          <a:xfrm>
            <a:off x="6011585" y="6308209"/>
            <a:ext cx="5680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permission from Tim Klein, www.puzzlemontage.com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D5FC3-1FB3-6E95-C20F-D54A179B8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517" y="850264"/>
            <a:ext cx="7096136" cy="515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71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1E724-3454-0ED9-7B71-61CD1E2B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send all the rows at once?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BB5E7-E3F3-A560-76C6-AE2BB967F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All the data is related. Either all of it updates as a unit or none of it does.</a:t>
            </a:r>
          </a:p>
          <a:p>
            <a:pPr marL="171450" indent="-171450">
              <a:buFontTx/>
              <a:buChar char="-"/>
            </a:pPr>
            <a:r>
              <a:rPr lang="en-US" dirty="0"/>
              <a:t>Keep the lifetime of the transaction to a minimum</a:t>
            </a:r>
          </a:p>
          <a:p>
            <a:pPr marL="171450" indent="-171450">
              <a:buFontTx/>
              <a:buChar char="-"/>
            </a:pPr>
            <a:r>
              <a:rPr lang="en-US" dirty="0"/>
              <a:t>Avoid staging-table management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procs to pre-clean the staging tables 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procs to swap the data afterwards</a:t>
            </a:r>
          </a:p>
          <a:p>
            <a:pPr marL="171450" indent="-171450">
              <a:buFontTx/>
              <a:buChar char="-"/>
            </a:pPr>
            <a:r>
              <a:rPr lang="en-US" dirty="0"/>
              <a:t>Avoid session management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Even worse if everyone uses the same common application login</a:t>
            </a:r>
          </a:p>
          <a:p>
            <a:pPr marL="628650" lvl="1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124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60B561-9B3E-A968-2B4E-7319150C79C4}"/>
              </a:ext>
            </a:extLst>
          </p:cNvPr>
          <p:cNvSpPr txBox="1"/>
          <p:nvPr/>
        </p:nvSpPr>
        <p:spPr>
          <a:xfrm>
            <a:off x="1510146" y="5437227"/>
            <a:ext cx="6802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</a:rPr>
              <a:t>https://github.com/jbfoushee/MyPresentations/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7E1BF-9545-970E-5C17-B09523F51437}"/>
              </a:ext>
            </a:extLst>
          </p:cNvPr>
          <p:cNvSpPr txBox="1"/>
          <p:nvPr/>
        </p:nvSpPr>
        <p:spPr>
          <a:xfrm>
            <a:off x="1510146" y="4895212"/>
            <a:ext cx="74398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https://www.linkedin.com/in/jeff-foushee/</a:t>
            </a:r>
          </a:p>
        </p:txBody>
      </p:sp>
      <p:pic>
        <p:nvPicPr>
          <p:cNvPr id="1026" name="Picture 2" descr="Linkedin-logo | myCloudDoor - Expertise for Cloud Transition">
            <a:extLst>
              <a:ext uri="{FF2B5EF4-FFF2-40B4-BE49-F238E27FC236}">
                <a16:creationId xmlns:a16="http://schemas.microsoft.com/office/drawing/2014/main" id="{7541C2E9-3409-6A8C-14FE-E2F786407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3" y="4897215"/>
            <a:ext cx="678873" cy="38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Logo, symbol, meaning, history, PNG, brand">
            <a:extLst>
              <a:ext uri="{FF2B5EF4-FFF2-40B4-BE49-F238E27FC236}">
                <a16:creationId xmlns:a16="http://schemas.microsoft.com/office/drawing/2014/main" id="{4A4A3218-5674-2C67-8D76-BCC0445E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2" y="5451764"/>
            <a:ext cx="678874" cy="38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F63783-B000-A4BC-CCBD-ECC8D1236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13" y="1145792"/>
            <a:ext cx="2049795" cy="2049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A32F5C-E514-95A5-9E67-696F9A1524ED}"/>
              </a:ext>
            </a:extLst>
          </p:cNvPr>
          <p:cNvSpPr txBox="1"/>
          <p:nvPr/>
        </p:nvSpPr>
        <p:spPr>
          <a:xfrm>
            <a:off x="3426741" y="1020663"/>
            <a:ext cx="644236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Jeff Foushee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Server Database 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Programmer</a:t>
            </a:r>
          </a:p>
          <a:p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Saturday speaker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Blackjack dealer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14BE0B-5E89-8A06-24B5-EF1DF4E65A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7879" y="4371263"/>
            <a:ext cx="1628368" cy="16166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677BCE5-5CCD-CDCE-8476-CA5DF0421C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416" y="1315960"/>
            <a:ext cx="2308474" cy="187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236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0B22D-6451-4E9C-AF3A-064233F22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 without UDTTs – Row-by-Agonizing-Row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DDE86-6846-6CBA-B865-0C2ACE1C9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535"/>
            <a:ext cx="10515600" cy="46672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Stg_Tbl.Truncate</a:t>
            </a:r>
            <a:r>
              <a:rPr lang="en-US" sz="2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20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SQL.TryConnect</a:t>
            </a:r>
            <a:r>
              <a:rPr lang="en-US" sz="2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20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SQL.Cmd.TryExec</a:t>
            </a:r>
            <a:r>
              <a:rPr lang="en-US" sz="2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("TRUNCATE TABLE </a:t>
            </a:r>
            <a:r>
              <a:rPr lang="en-US" sz="20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dbo.Staging_Tbl</a:t>
            </a:r>
            <a:r>
              <a:rPr lang="en-US" sz="2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pPr marL="457200" lvl="1" indent="0">
              <a:buNone/>
            </a:pPr>
            <a:r>
              <a:rPr lang="en-US" sz="20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SQL.Close</a:t>
            </a:r>
            <a:r>
              <a:rPr lang="en-US" sz="2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Stg_Tbl.Load</a:t>
            </a:r>
            <a:r>
              <a:rPr lang="en-US" sz="2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foreach(row) {</a:t>
            </a:r>
          </a:p>
          <a:p>
            <a:pPr marL="914400" lvl="2" indent="0">
              <a:buNone/>
            </a:pPr>
            <a:r>
              <a:rPr lang="en-US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SQL.TryConnect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914400" lvl="2" indent="0">
              <a:buNone/>
            </a:pPr>
            <a:r>
              <a:rPr lang="en-US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SQL.Cmd.TryExec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EXEC </a:t>
            </a:r>
            <a:r>
              <a:rPr lang="en-US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dbo.AddStgData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(@p1=, @p2=,…</a:t>
            </a:r>
            <a:r>
              <a:rPr lang="en-US" sz="2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marL="914400" lvl="2" indent="0">
              <a:buNone/>
            </a:pPr>
            <a:r>
              <a:rPr lang="en-US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SQL.Close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en-US" sz="20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Stg_Table.Swap</a:t>
            </a:r>
            <a:r>
              <a:rPr lang="en-US" sz="2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20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SQL.TryConnect</a:t>
            </a:r>
            <a:r>
              <a:rPr lang="en-US" sz="2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20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SQL.Cmd.TryExec</a:t>
            </a:r>
            <a:r>
              <a:rPr lang="en-US" sz="2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("EXEC </a:t>
            </a:r>
            <a:r>
              <a:rPr lang="en-US" sz="20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dbo.SwapLiveDataWithStg</a:t>
            </a:r>
            <a:r>
              <a:rPr lang="en-US" sz="2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()")</a:t>
            </a:r>
          </a:p>
          <a:p>
            <a:pPr marL="457200" lvl="1" indent="0">
              <a:buNone/>
            </a:pPr>
            <a:r>
              <a:rPr lang="en-US" sz="20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SQL.Close</a:t>
            </a:r>
            <a:r>
              <a:rPr lang="en-US" sz="2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endParaRPr lang="en-US" sz="20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9799A3-CE9D-8683-A29B-C13F884751B2}"/>
              </a:ext>
            </a:extLst>
          </p:cNvPr>
          <p:cNvGrpSpPr/>
          <p:nvPr/>
        </p:nvGrpSpPr>
        <p:grpSpPr>
          <a:xfrm>
            <a:off x="1219200" y="2729160"/>
            <a:ext cx="10134600" cy="2258476"/>
            <a:chOff x="1219200" y="2729160"/>
            <a:chExt cx="10134600" cy="225847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3FF19F5-FE41-980A-AB6A-241145B08F1E}"/>
                </a:ext>
              </a:extLst>
            </p:cNvPr>
            <p:cNvSpPr/>
            <p:nvPr/>
          </p:nvSpPr>
          <p:spPr>
            <a:xfrm>
              <a:off x="1219200" y="3283527"/>
              <a:ext cx="8575964" cy="1704109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01CF719-44A7-E35D-EC3E-58F1149EA6BA}"/>
                </a:ext>
              </a:extLst>
            </p:cNvPr>
            <p:cNvSpPr txBox="1"/>
            <p:nvPr/>
          </p:nvSpPr>
          <p:spPr>
            <a:xfrm>
              <a:off x="9538854" y="2729160"/>
              <a:ext cx="18149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Pain-point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5106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FEEB08-4C57-DFE5-EC0F-9A01F2D40042}"/>
              </a:ext>
            </a:extLst>
          </p:cNvPr>
          <p:cNvSpPr txBox="1"/>
          <p:nvPr/>
        </p:nvSpPr>
        <p:spPr>
          <a:xfrm>
            <a:off x="637954" y="978198"/>
            <a:ext cx="61349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MyTable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IntCol_1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IntCol_2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VALUES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4A2033-6D1C-4488-9C35-925A8D6705F5}"/>
              </a:ext>
            </a:extLst>
          </p:cNvPr>
          <p:cNvSpPr txBox="1"/>
          <p:nvPr/>
        </p:nvSpPr>
        <p:spPr>
          <a:xfrm>
            <a:off x="637953" y="2094617"/>
            <a:ext cx="61349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() )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7DED7A-D755-890F-A6C1-9A791C12E3BA}"/>
              </a:ext>
            </a:extLst>
          </p:cNvPr>
          <p:cNvSpPr txBox="1"/>
          <p:nvPr/>
        </p:nvSpPr>
        <p:spPr>
          <a:xfrm>
            <a:off x="723013" y="3637993"/>
            <a:ext cx="73896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One complete transaction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All rows must commit together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All values must agree in their respective data signatures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A1F59D-9448-4B6B-5654-4DB2D355D1B4}"/>
              </a:ext>
            </a:extLst>
          </p:cNvPr>
          <p:cNvSpPr txBox="1"/>
          <p:nvPr/>
        </p:nvSpPr>
        <p:spPr>
          <a:xfrm>
            <a:off x="7397992" y="1325950"/>
            <a:ext cx="1429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“tuple”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CEBF40-9D74-21D3-3327-BA264BD2DEDA}"/>
              </a:ext>
            </a:extLst>
          </p:cNvPr>
          <p:cNvCxnSpPr>
            <a:cxnSpLocks/>
            <a:endCxn id="2" idx="1"/>
          </p:cNvCxnSpPr>
          <p:nvPr/>
        </p:nvCxnSpPr>
        <p:spPr>
          <a:xfrm flipV="1">
            <a:off x="2916820" y="1587560"/>
            <a:ext cx="4481172" cy="363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68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A summary of new features in Azure SQL Database - Born SQL">
            <a:extLst>
              <a:ext uri="{FF2B5EF4-FFF2-40B4-BE49-F238E27FC236}">
                <a16:creationId xmlns:a16="http://schemas.microsoft.com/office/drawing/2014/main" id="{D5436DE0-41A7-69D5-B698-0B196EE21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997" y="2016606"/>
            <a:ext cx="1750648" cy="1750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9741D5-C57D-CB84-87AC-F74CD2C4BC67}"/>
              </a:ext>
            </a:extLst>
          </p:cNvPr>
          <p:cNvSpPr txBox="1"/>
          <p:nvPr/>
        </p:nvSpPr>
        <p:spPr>
          <a:xfrm>
            <a:off x="5238059" y="4018272"/>
            <a:ext cx="529432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On-prem SQL Server (2008+)</a:t>
            </a:r>
          </a:p>
          <a:p>
            <a:r>
              <a:rPr lang="en-US" sz="2400" b="1" dirty="0"/>
              <a:t>Azure SQL Database</a:t>
            </a:r>
          </a:p>
          <a:p>
            <a:r>
              <a:rPr lang="en-US" sz="2400" b="1" dirty="0"/>
              <a:t>Azure SQL Managed Instance</a:t>
            </a:r>
          </a:p>
          <a:p>
            <a:r>
              <a:rPr lang="en-US" sz="2400" b="1" strike="sngStrike" dirty="0"/>
              <a:t>Parallel Data Warehouse (PDW)</a:t>
            </a:r>
          </a:p>
          <a:p>
            <a:r>
              <a:rPr lang="en-US" sz="2400" b="1" strike="sngStrike" dirty="0"/>
              <a:t>Analytics Platform System (APS)</a:t>
            </a:r>
          </a:p>
          <a:p>
            <a:r>
              <a:rPr lang="en-US" sz="2400" b="1" strike="sngStrike" dirty="0"/>
              <a:t>Azure Synapse Analytics SQL pool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77EF875-F0BC-16E9-35DD-F92EDF28776A}"/>
              </a:ext>
            </a:extLst>
          </p:cNvPr>
          <p:cNvGrpSpPr/>
          <p:nvPr/>
        </p:nvGrpSpPr>
        <p:grpSpPr>
          <a:xfrm>
            <a:off x="1177258" y="1084181"/>
            <a:ext cx="9842127" cy="4856459"/>
            <a:chOff x="1177258" y="1084181"/>
            <a:chExt cx="9842127" cy="4856459"/>
          </a:xfrm>
        </p:grpSpPr>
        <p:pic>
          <p:nvPicPr>
            <p:cNvPr id="3082" name="Picture 10" descr="Image result for factory clipart image">
              <a:extLst>
                <a:ext uri="{FF2B5EF4-FFF2-40B4-BE49-F238E27FC236}">
                  <a16:creationId xmlns:a16="http://schemas.microsoft.com/office/drawing/2014/main" id="{40A7B953-985E-6AF1-0142-8D652A5BE0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7258" y="1084181"/>
              <a:ext cx="1653389" cy="17506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10" descr="Image result for factory clipart image">
              <a:extLst>
                <a:ext uri="{FF2B5EF4-FFF2-40B4-BE49-F238E27FC236}">
                  <a16:creationId xmlns:a16="http://schemas.microsoft.com/office/drawing/2014/main" id="{95B6C33F-3960-7491-970B-A9A6DE9952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65995" y="1101184"/>
              <a:ext cx="1653390" cy="17506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0" descr="Image result for factory clipart image">
              <a:extLst>
                <a:ext uri="{FF2B5EF4-FFF2-40B4-BE49-F238E27FC236}">
                  <a16:creationId xmlns:a16="http://schemas.microsoft.com/office/drawing/2014/main" id="{3D65264C-633C-B0A2-3B30-02C5757F52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377" y="3744808"/>
              <a:ext cx="1651722" cy="1748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EBAE383-CF2F-ACB8-1041-3A316A26AA39}"/>
                </a:ext>
              </a:extLst>
            </p:cNvPr>
            <p:cNvCxnSpPr/>
            <p:nvPr/>
          </p:nvCxnSpPr>
          <p:spPr>
            <a:xfrm flipH="1">
              <a:off x="7092176" y="1806498"/>
              <a:ext cx="2074126" cy="80660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2C8E234-7C84-3E05-14B4-CB44BF81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929168" y="1806498"/>
              <a:ext cx="2132090" cy="80660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A2DAA9B-981F-A4BB-C7DD-F388A5F4F1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9168" y="3714750"/>
              <a:ext cx="2132090" cy="94445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2" descr="Download Python 32 / 64-bit (Terbaru 2022)">
              <a:extLst>
                <a:ext uri="{FF2B5EF4-FFF2-40B4-BE49-F238E27FC236}">
                  <a16:creationId xmlns:a16="http://schemas.microsoft.com/office/drawing/2014/main" id="{A7A20623-0730-3465-9619-BB9B1537E8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0484" y="1341224"/>
              <a:ext cx="455818" cy="455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4" descr=".NET Standard and new .NET Framework Logo and Banner | The NeoSmart Files">
              <a:extLst>
                <a:ext uri="{FF2B5EF4-FFF2-40B4-BE49-F238E27FC236}">
                  <a16:creationId xmlns:a16="http://schemas.microsoft.com/office/drawing/2014/main" id="{9E887786-E27E-9515-8A56-062F66340F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8901" y="1332836"/>
              <a:ext cx="455818" cy="455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E6BA8A4-1AD8-B67A-F92D-3C1C64C75D99}"/>
                </a:ext>
              </a:extLst>
            </p:cNvPr>
            <p:cNvSpPr txBox="1"/>
            <p:nvPr/>
          </p:nvSpPr>
          <p:spPr>
            <a:xfrm>
              <a:off x="1424250" y="2928526"/>
              <a:ext cx="11839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Location 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68FC253-C198-9CBB-8757-3CE9A6D19916}"/>
                </a:ext>
              </a:extLst>
            </p:cNvPr>
            <p:cNvSpPr txBox="1"/>
            <p:nvPr/>
          </p:nvSpPr>
          <p:spPr>
            <a:xfrm>
              <a:off x="1411964" y="5571308"/>
              <a:ext cx="11839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Location 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5216EE3-B337-9BDD-4FB7-19451507840C}"/>
                </a:ext>
              </a:extLst>
            </p:cNvPr>
            <p:cNvSpPr txBox="1"/>
            <p:nvPr/>
          </p:nvSpPr>
          <p:spPr>
            <a:xfrm>
              <a:off x="9583775" y="2928526"/>
              <a:ext cx="11839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Location 3</a:t>
              </a:r>
            </a:p>
          </p:txBody>
        </p:sp>
        <p:pic>
          <p:nvPicPr>
            <p:cNvPr id="3" name="Picture 2" descr="Powershell Icon #48576 - Free Icons Library">
              <a:extLst>
                <a:ext uri="{FF2B5EF4-FFF2-40B4-BE49-F238E27FC236}">
                  <a16:creationId xmlns:a16="http://schemas.microsoft.com/office/drawing/2014/main" id="{E8BD3459-5F91-0198-1A33-ABBC92FCF2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8900" y="4619249"/>
              <a:ext cx="538085" cy="5380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48926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ABFEA-80EA-5E23-011A-048856734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back-end SQL Server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37B6E4-FA28-0547-F43E-313F3DCD5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467" y="1546946"/>
            <a:ext cx="7125133" cy="48585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7053D8-E51A-DA75-34DE-42116B789E8E}"/>
              </a:ext>
            </a:extLst>
          </p:cNvPr>
          <p:cNvSpPr txBox="1"/>
          <p:nvPr/>
        </p:nvSpPr>
        <p:spPr>
          <a:xfrm>
            <a:off x="8842664" y="5680363"/>
            <a:ext cx="189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Composite</a:t>
            </a:r>
            <a:r>
              <a:rPr lang="en-US" dirty="0"/>
              <a:t> </a:t>
            </a:r>
            <a:r>
              <a:rPr lang="en-US" b="1" dirty="0"/>
              <a:t>Key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72E3F6-6578-2887-BD6A-E85322D13B4E}"/>
              </a:ext>
            </a:extLst>
          </p:cNvPr>
          <p:cNvSpPr txBox="1"/>
          <p:nvPr/>
        </p:nvSpPr>
        <p:spPr>
          <a:xfrm>
            <a:off x="8842664" y="4876800"/>
            <a:ext cx="1437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Primary Key</a:t>
            </a:r>
          </a:p>
        </p:txBody>
      </p:sp>
    </p:spTree>
    <p:extLst>
      <p:ext uri="{BB962C8B-B14F-4D97-AF65-F5344CB8AC3E}">
        <p14:creationId xmlns:p14="http://schemas.microsoft.com/office/powerpoint/2010/main" val="503560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5F799DC-BC66-5363-55D4-8E9F9161F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576387"/>
            <a:ext cx="7140914" cy="4916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562E86-F32E-98F9-68DE-9AA7F54C6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the User-Defined Table Type (UDTT)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17806C-FC8A-7A21-BC74-4762E064E1D5}"/>
              </a:ext>
            </a:extLst>
          </p:cNvPr>
          <p:cNvSpPr txBox="1"/>
          <p:nvPr/>
        </p:nvSpPr>
        <p:spPr>
          <a:xfrm>
            <a:off x="4627418" y="1690688"/>
            <a:ext cx="67263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Type_Measurements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</a:p>
          <a:p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[Measurement] [varchar]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NULL,</a:t>
            </a: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[Value] [int] 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NULL,</a:t>
            </a: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  PRIMARY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KEY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CLUSTERED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Measurement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ASC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  WITH 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IGNORE_DUP_KEY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OFF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017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932AA-4C8E-3AFE-947E-A2177DA9A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038"/>
            <a:ext cx="10515600" cy="915035"/>
          </a:xfrm>
        </p:spPr>
        <p:txBody>
          <a:bodyPr/>
          <a:lstStyle/>
          <a:p>
            <a:r>
              <a:rPr lang="en-US" dirty="0"/>
              <a:t>Create the proc to interact with the UDTT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D5BA5-D622-FDBF-0BC6-466A817ACDFD}"/>
              </a:ext>
            </a:extLst>
          </p:cNvPr>
          <p:cNvSpPr txBox="1"/>
          <p:nvPr/>
        </p:nvSpPr>
        <p:spPr>
          <a:xfrm>
            <a:off x="1017270" y="1810738"/>
            <a:ext cx="10515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2400" b="1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usp_Measurements_Upsert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@LocationCode </a:t>
            </a:r>
            <a:r>
              <a:rPr lang="en-US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smallint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808080"/>
                </a:solidFill>
                <a:latin typeface="Consolas" panose="020B0609020204030204" pitchFamily="49" charset="0"/>
              </a:rPr>
              <a:t>   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@dt_Measurements </a:t>
            </a:r>
            <a:r>
              <a:rPr lang="en-US" sz="24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</a:t>
            </a:r>
            <a:r>
              <a:rPr lang="en-US" sz="24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dbo</a:t>
            </a:r>
            <a:r>
              <a:rPr lang="en-US" sz="24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]</a:t>
            </a:r>
            <a:r>
              <a:rPr lang="en-US" sz="2400" b="1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sz="24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</a:t>
            </a:r>
            <a:r>
              <a:rPr lang="en-US" sz="24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Type_Measurements</a:t>
            </a:r>
            <a:r>
              <a:rPr lang="en-US" sz="24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] </a:t>
            </a:r>
            <a:r>
              <a:rPr lang="en-US" sz="24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READONLY</a:t>
            </a:r>
            <a:endParaRPr lang="en-US" sz="24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</a:p>
          <a:p>
            <a:endParaRPr lang="en-US" sz="24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...(T-SQL MERGE statement. Let’s see it in demo)</a:t>
            </a:r>
          </a:p>
          <a:p>
            <a:endParaRPr lang="en-US" sz="24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4662A7-C69A-7B30-0485-C025372A5C55}"/>
              </a:ext>
            </a:extLst>
          </p:cNvPr>
          <p:cNvSpPr txBox="1"/>
          <p:nvPr/>
        </p:nvSpPr>
        <p:spPr>
          <a:xfrm>
            <a:off x="6553200" y="4980837"/>
            <a:ext cx="44611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The table-valued parameter "@</a:t>
            </a:r>
            <a:r>
              <a:rPr lang="en-US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dt_Measurements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" must be declared with the READONLY option.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9FDF989-D41D-35B5-63F5-7DC68C2A9F08}"/>
              </a:ext>
            </a:extLst>
          </p:cNvPr>
          <p:cNvCxnSpPr>
            <a:cxnSpLocks/>
          </p:cNvCxnSpPr>
          <p:nvPr/>
        </p:nvCxnSpPr>
        <p:spPr>
          <a:xfrm flipV="1">
            <a:off x="9628909" y="3075709"/>
            <a:ext cx="429491" cy="1905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728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6A5F5-2C57-07D4-DF17-8FE9866EC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Time</a:t>
            </a:r>
          </a:p>
        </p:txBody>
      </p:sp>
    </p:spTree>
    <p:extLst>
      <p:ext uri="{BB962C8B-B14F-4D97-AF65-F5344CB8AC3E}">
        <p14:creationId xmlns:p14="http://schemas.microsoft.com/office/powerpoint/2010/main" val="968510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5ADCD-3D58-83D8-2011-F54C6EC06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Grant the security on the proc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F780A-96D2-7B91-403E-8D6AFE96A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27327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ROLE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MeasureProc_Executor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AUTHORIZATION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2400" b="1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usp_Measurements_Upsert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MeasureProc_Executor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2400" b="1" dirty="0">
                <a:solidFill>
                  <a:srgbClr val="808080"/>
                </a:solidFill>
                <a:latin typeface="Consolas" panose="020B0609020204030204" pitchFamily="49" charset="0"/>
              </a:rPr>
              <a:t>::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2400" b="1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Type_Measurements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MeasureProc_Executor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8000"/>
                </a:solidFill>
                <a:latin typeface="Consolas" panose="020B0609020204030204" pitchFamily="49" charset="0"/>
              </a:rPr>
              <a:t>/*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8000"/>
                </a:solidFill>
                <a:latin typeface="Consolas" panose="020B0609020204030204" pitchFamily="49" charset="0"/>
              </a:rPr>
              <a:t>--if new login to database...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8000"/>
                </a:solidFill>
                <a:latin typeface="Consolas" panose="020B0609020204030204" pitchFamily="49" charset="0"/>
              </a:rPr>
              <a:t>CREATE USER [</a:t>
            </a:r>
            <a:r>
              <a:rPr lang="en-US" sz="24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login_alias</a:t>
            </a:r>
            <a:r>
              <a:rPr lang="en-US" sz="2400" b="1" dirty="0">
                <a:solidFill>
                  <a:srgbClr val="008000"/>
                </a:solidFill>
                <a:latin typeface="Consolas" panose="020B0609020204030204" pitchFamily="49" charset="0"/>
              </a:rPr>
              <a:t>] FOR LOGIN [</a:t>
            </a:r>
            <a:r>
              <a:rPr lang="en-US" sz="24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login_name</a:t>
            </a:r>
            <a:r>
              <a:rPr lang="en-US" sz="2400" b="1" dirty="0">
                <a:solidFill>
                  <a:srgbClr val="008000"/>
                </a:solidFill>
                <a:latin typeface="Consolas" panose="020B0609020204030204" pitchFamily="49" charset="0"/>
              </a:rPr>
              <a:t>]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ALTER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ROLE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MeasureProc_Executor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ADD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MEMBER [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login_alias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endParaRPr lang="en-US" sz="2400" b="1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7E5DB9A-8A39-076C-89AB-A3EE1E938BCA}"/>
              </a:ext>
            </a:extLst>
          </p:cNvPr>
          <p:cNvGrpSpPr/>
          <p:nvPr/>
        </p:nvGrpSpPr>
        <p:grpSpPr>
          <a:xfrm>
            <a:off x="697230" y="2994660"/>
            <a:ext cx="10827326" cy="906542"/>
            <a:chOff x="697230" y="2994660"/>
            <a:chExt cx="10024110" cy="90654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15DE1F9-25CD-C379-E06C-B461F6BBBBE0}"/>
                </a:ext>
              </a:extLst>
            </p:cNvPr>
            <p:cNvSpPr txBox="1"/>
            <p:nvPr/>
          </p:nvSpPr>
          <p:spPr>
            <a:xfrm>
              <a:off x="7486650" y="3531870"/>
              <a:ext cx="3143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Not available by the GUI in SSMS!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B967833-C80B-9CA5-6163-FAFCCEADD30E}"/>
                </a:ext>
              </a:extLst>
            </p:cNvPr>
            <p:cNvSpPr/>
            <p:nvPr/>
          </p:nvSpPr>
          <p:spPr>
            <a:xfrm>
              <a:off x="697230" y="2994660"/>
              <a:ext cx="10024110" cy="90654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18016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BD1A-8421-B6AE-21FE-A802BFF20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Already some concerns? (1/6)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56817-8202-DD24-1E99-89FE6FFC9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3080"/>
            <a:ext cx="10515600" cy="4393883"/>
          </a:xfrm>
        </p:spPr>
        <p:txBody>
          <a:bodyPr>
            <a:normAutofit/>
          </a:bodyPr>
          <a:lstStyle/>
          <a:p>
            <a:r>
              <a:rPr lang="en-US" sz="2800" dirty="0"/>
              <a:t>May have to involve the DBA</a:t>
            </a:r>
          </a:p>
          <a:p>
            <a:endParaRPr lang="en-US" sz="2800" dirty="0"/>
          </a:p>
          <a:p>
            <a:pPr lvl="1"/>
            <a:r>
              <a:rPr lang="en-US" sz="2400" dirty="0" err="1">
                <a:latin typeface="Consolas" panose="020B0609020204030204" pitchFamily="49" charset="0"/>
              </a:rPr>
              <a:t>db_owner</a:t>
            </a:r>
            <a:r>
              <a:rPr lang="en-US" sz="2400" dirty="0">
                <a:latin typeface="Consolas" panose="020B0609020204030204" pitchFamily="49" charset="0"/>
              </a:rPr>
              <a:t> / </a:t>
            </a:r>
            <a:r>
              <a:rPr lang="en-US" sz="2400" dirty="0" err="1">
                <a:latin typeface="Consolas" panose="020B0609020204030204" pitchFamily="49" charset="0"/>
              </a:rPr>
              <a:t>db_ddladmin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/>
              <a:t>to create the proc/UDTT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 err="1">
                <a:latin typeface="Consolas" panose="020B0609020204030204" pitchFamily="49" charset="0"/>
              </a:rPr>
              <a:t>db_owner</a:t>
            </a:r>
            <a:r>
              <a:rPr lang="en-US" sz="2400" dirty="0">
                <a:latin typeface="Consolas" panose="020B0609020204030204" pitchFamily="49" charset="0"/>
              </a:rPr>
              <a:t> / </a:t>
            </a:r>
            <a:r>
              <a:rPr lang="en-US" sz="2400" dirty="0" err="1">
                <a:latin typeface="Consolas" panose="020B0609020204030204" pitchFamily="49" charset="0"/>
              </a:rPr>
              <a:t>db_securityadmin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/>
              <a:t>to manage the role</a:t>
            </a:r>
          </a:p>
        </p:txBody>
      </p:sp>
    </p:spTree>
    <p:extLst>
      <p:ext uri="{BB962C8B-B14F-4D97-AF65-F5344CB8AC3E}">
        <p14:creationId xmlns:p14="http://schemas.microsoft.com/office/powerpoint/2010/main" val="2481261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C15A7-E0D7-9012-26C1-B20F7E39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Already some concerns? (2/6)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67F6F-B6A4-0200-38D7-F5E1EABC4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8328"/>
            <a:ext cx="8596668" cy="3439809"/>
          </a:xfrm>
        </p:spPr>
        <p:txBody>
          <a:bodyPr>
            <a:normAutofit lnSpcReduction="10000"/>
          </a:bodyPr>
          <a:lstStyle/>
          <a:p>
            <a:r>
              <a:rPr lang="en-US" sz="2600" dirty="0"/>
              <a:t>Meta-data synchronization</a:t>
            </a:r>
          </a:p>
          <a:p>
            <a:pPr lvl="1"/>
            <a:r>
              <a:rPr lang="en-US" sz="2000" dirty="0"/>
              <a:t>SQL Table to SQL UDTT (datatypes, lengths, </a:t>
            </a:r>
            <a:r>
              <a:rPr lang="en-US" sz="2000" strike="sngStrike" kern="100" dirty="0">
                <a:solidFill>
                  <a:schemeClr val="bg1">
                    <a:lumMod val="65000"/>
                  </a:schemeClr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column names</a:t>
            </a:r>
            <a:r>
              <a:rPr lang="en-US" sz="2000" dirty="0"/>
              <a:t> )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SQL UDTT to code (</a:t>
            </a:r>
            <a:r>
              <a:rPr lang="en-US" sz="2000" dirty="0" err="1">
                <a:solidFill>
                  <a:srgbClr val="FF0000"/>
                </a:solidFill>
              </a:rPr>
              <a:t>positionals</a:t>
            </a:r>
            <a:r>
              <a:rPr lang="en-US" sz="2000" dirty="0"/>
              <a:t>, datatypes, lengths, </a:t>
            </a:r>
            <a:r>
              <a:rPr lang="en-US" sz="2000" strike="sngStrike" kern="100" dirty="0">
                <a:solidFill>
                  <a:schemeClr val="bg1">
                    <a:lumMod val="65000"/>
                  </a:schemeClr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column names</a:t>
            </a:r>
            <a:r>
              <a:rPr lang="en-US" sz="2000" dirty="0"/>
              <a:t> 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AC433E-03C7-66AF-5CFC-AE752057B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927" y="2618107"/>
            <a:ext cx="3460292" cy="17028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FDDF59-36EE-AB73-8597-2698CF31B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010" y="2677373"/>
            <a:ext cx="4369626" cy="110754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AD11876-10DC-3155-5212-B7825E8CE7C1}"/>
              </a:ext>
            </a:extLst>
          </p:cNvPr>
          <p:cNvSpPr/>
          <p:nvPr/>
        </p:nvSpPr>
        <p:spPr>
          <a:xfrm>
            <a:off x="2523280" y="3518854"/>
            <a:ext cx="2707938" cy="536944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4F584E-8DFA-207F-A154-A4BA4238AE40}"/>
              </a:ext>
            </a:extLst>
          </p:cNvPr>
          <p:cNvSpPr/>
          <p:nvPr/>
        </p:nvSpPr>
        <p:spPr>
          <a:xfrm>
            <a:off x="6402805" y="3207999"/>
            <a:ext cx="3201014" cy="583634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35D5CD-11BB-D3BC-2884-991D66D9E0F0}"/>
              </a:ext>
            </a:extLst>
          </p:cNvPr>
          <p:cNvSpPr txBox="1"/>
          <p:nvPr/>
        </p:nvSpPr>
        <p:spPr>
          <a:xfrm>
            <a:off x="1770927" y="5067888"/>
            <a:ext cx="6736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scadia Mono" panose="020B0609020000020004" pitchFamily="49" charset="0"/>
              </a:rPr>
              <a:t>1: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 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</a:rPr>
              <a:t>dt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3DB37E"/>
                </a:solidFill>
                <a:latin typeface="Cascadia Mono" panose="020B0609020000020004" pitchFamily="49" charset="0"/>
              </a:rPr>
              <a:t>DataTable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scadia Mono" panose="020B0609020000020004" pitchFamily="49" charset="0"/>
              </a:rPr>
              <a:t>2: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</a:rPr>
              <a:t>dt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.Columns.</a:t>
            </a:r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  <a:latin typeface="Cascadia Mono" panose="020B0609020000020004" pitchFamily="49" charset="0"/>
              </a:rPr>
              <a:t>Add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MeasureName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typeof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scadia Mono" panose="020B0609020000020004" pitchFamily="49" charset="0"/>
              </a:rPr>
              <a:t>3: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</a:rPr>
              <a:t>dt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.Columns.</a:t>
            </a:r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  <a:latin typeface="Cascadia Mono" panose="020B0609020000020004" pitchFamily="49" charset="0"/>
              </a:rPr>
              <a:t>Add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"Value"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typeof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830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CAA23-BF61-4980-3D77-D0E9ED3DD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Already some concerns? (3/6)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DB8F3-302F-D2DE-5948-4C16A3BD0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852122" cy="3880773"/>
          </a:xfrm>
        </p:spPr>
        <p:txBody>
          <a:bodyPr>
            <a:normAutofit/>
          </a:bodyPr>
          <a:lstStyle/>
          <a:p>
            <a:r>
              <a:rPr lang="en-US" sz="2400" dirty="0"/>
              <a:t>A UDTT cannot be altered. It can only be dropped/recreated</a:t>
            </a:r>
          </a:p>
          <a:p>
            <a:r>
              <a:rPr lang="en-US" sz="2400" dirty="0"/>
              <a:t>When a UDTT is dropped, its permissions are dropped as well</a:t>
            </a:r>
          </a:p>
          <a:p>
            <a:r>
              <a:rPr lang="en-US" sz="2400" dirty="0"/>
              <a:t>The only known way to GRANT on a UDTT is by T-SQL at this time</a:t>
            </a:r>
          </a:p>
          <a:p>
            <a:pPr marL="457200" lvl="1" indent="0">
              <a:buNone/>
            </a:pP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sz="2400" b="1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2400" b="1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Type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RoleName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68408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CED22-1A52-205F-50DE-EF9B6DB35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Already some concerns? (4/6)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73B73-1B3B-4D0A-3621-60F907E0D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53748"/>
          </a:xfrm>
        </p:spPr>
        <p:txBody>
          <a:bodyPr>
            <a:normAutofit/>
          </a:bodyPr>
          <a:lstStyle/>
          <a:p>
            <a:r>
              <a:rPr lang="en-US" sz="2400" dirty="0"/>
              <a:t>No objects can rely on UDTT before UDTT can be dropped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EAEFA9-7D8D-88EA-4DFD-C3D6E8EA4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03" y="2327998"/>
            <a:ext cx="10508997" cy="373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735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82887-8B23-1068-76D8-887CAD39D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444" y="5387831"/>
            <a:ext cx="10515600" cy="668193"/>
          </a:xfrm>
        </p:spPr>
        <p:txBody>
          <a:bodyPr/>
          <a:lstStyle/>
          <a:p>
            <a:r>
              <a:rPr lang="en-US" dirty="0"/>
              <a:t>(When a proc is dropped, its permissions are dropped as well)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08F68F-2474-9382-2264-17EFF9469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618" y="1136072"/>
            <a:ext cx="10648426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672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C15A7-E0D7-9012-26C1-B20F7E39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Already some concerns? (5/6)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67F6F-B6A4-0200-38D7-F5E1EABC4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Versioning</a:t>
            </a:r>
          </a:p>
          <a:p>
            <a:pPr lvl="1"/>
            <a:r>
              <a:rPr lang="en-US" sz="2200" dirty="0"/>
              <a:t>Structure of the UDDT changes </a:t>
            </a:r>
          </a:p>
          <a:p>
            <a:pPr lvl="2"/>
            <a:r>
              <a:rPr lang="en-US" sz="2000" dirty="0"/>
              <a:t>more/less columns</a:t>
            </a:r>
          </a:p>
          <a:p>
            <a:pPr lvl="2"/>
            <a:r>
              <a:rPr lang="en-US" sz="2000" dirty="0"/>
              <a:t>Requires a new proc to handle the change</a:t>
            </a:r>
          </a:p>
          <a:p>
            <a:pPr lvl="2"/>
            <a:r>
              <a:rPr lang="en-US" sz="2000" dirty="0"/>
              <a:t>How/Will you force users to new proc/UDDT?</a:t>
            </a:r>
          </a:p>
          <a:p>
            <a:pPr lvl="2"/>
            <a:r>
              <a:rPr lang="en-US" sz="2000" dirty="0"/>
              <a:t>How to identify old/new versions?</a:t>
            </a:r>
            <a:endParaRPr lang="en-US" sz="1600" dirty="0"/>
          </a:p>
          <a:p>
            <a:pPr lvl="1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97349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C15A7-E0D7-9012-26C1-B20F7E39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Already some concerns? (6/6)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67F6F-B6A4-0200-38D7-F5E1EABC4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All that data is stored in </a:t>
            </a:r>
            <a:r>
              <a:rPr lang="en-US" sz="2400" dirty="0" err="1"/>
              <a:t>tempdb</a:t>
            </a:r>
            <a:endParaRPr lang="en-US" sz="2400" dirty="0"/>
          </a:p>
          <a:p>
            <a:r>
              <a:rPr lang="en-US" sz="2400" dirty="0"/>
              <a:t>Test, test, test!</a:t>
            </a:r>
          </a:p>
        </p:txBody>
      </p:sp>
    </p:spTree>
    <p:extLst>
      <p:ext uri="{BB962C8B-B14F-4D97-AF65-F5344CB8AC3E}">
        <p14:creationId xmlns:p14="http://schemas.microsoft.com/office/powerpoint/2010/main" val="2628668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0B22D-6451-4E9C-AF3A-064233F22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 with UDTTs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DDE86-6846-6CBA-B865-0C2ACE1C9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535"/>
            <a:ext cx="10515600" cy="46672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Data</a:t>
            </a:r>
            <a:r>
              <a:rPr lang="en-US" sz="20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.Load</a:t>
            </a:r>
            <a:r>
              <a:rPr lang="en-US" sz="2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US" sz="2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DataTable</a:t>
            </a: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dt = </a:t>
            </a:r>
            <a:r>
              <a:rPr lang="en-US" sz="2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GatherTheData</a:t>
            </a: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457200" lvl="1" indent="0">
              <a:buNone/>
            </a:pPr>
            <a:r>
              <a:rPr lang="en-US" sz="20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SQL.TryConnect</a:t>
            </a:r>
            <a:r>
              <a:rPr lang="en-US" sz="2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20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SQL.Cmd.TryExec</a:t>
            </a:r>
            <a:r>
              <a:rPr lang="en-US" sz="2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("EXEC </a:t>
            </a:r>
            <a:r>
              <a:rPr lang="en-US" sz="20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dbo.MergeTheData</a:t>
            </a:r>
            <a:r>
              <a:rPr lang="en-US" sz="2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(@p1={</a:t>
            </a: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dt</a:t>
            </a:r>
            <a:r>
              <a:rPr lang="en-US" sz="2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})")</a:t>
            </a:r>
          </a:p>
          <a:p>
            <a:pPr marL="457200" lvl="1" indent="0">
              <a:buNone/>
            </a:pPr>
            <a:r>
              <a:rPr lang="en-US" sz="20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SQL.Close</a:t>
            </a:r>
            <a:r>
              <a:rPr lang="en-US" sz="2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97819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EE488-100C-537B-16EF-5DD434EFE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Python script</a:t>
            </a:r>
          </a:p>
        </p:txBody>
      </p:sp>
      <p:pic>
        <p:nvPicPr>
          <p:cNvPr id="4" name="Picture 2" descr="Download Python 32 / 64-bit (Terbaru 2022)">
            <a:extLst>
              <a:ext uri="{FF2B5EF4-FFF2-40B4-BE49-F238E27FC236}">
                <a16:creationId xmlns:a16="http://schemas.microsoft.com/office/drawing/2014/main" id="{43E4B979-C00F-BF24-6FCC-90107D77A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974" y="2015593"/>
            <a:ext cx="3402052" cy="3402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1470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6A5F5-2C57-07D4-DF17-8FE9866EC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Time</a:t>
            </a:r>
          </a:p>
        </p:txBody>
      </p:sp>
    </p:spTree>
    <p:extLst>
      <p:ext uri="{BB962C8B-B14F-4D97-AF65-F5344CB8AC3E}">
        <p14:creationId xmlns:p14="http://schemas.microsoft.com/office/powerpoint/2010/main" val="3988150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9BFB6-CC61-6C3F-165F-5AEB847A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.NET app</a:t>
            </a:r>
          </a:p>
        </p:txBody>
      </p:sp>
      <p:pic>
        <p:nvPicPr>
          <p:cNvPr id="4" name="Picture 4" descr=".NET Standard and new .NET Framework Logo and Banner | The NeoSmart Files">
            <a:extLst>
              <a:ext uri="{FF2B5EF4-FFF2-40B4-BE49-F238E27FC236}">
                <a16:creationId xmlns:a16="http://schemas.microsoft.com/office/drawing/2014/main" id="{E06DA404-4E47-3B66-F78F-99364BB1E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8920" y="1887310"/>
            <a:ext cx="3587660" cy="3587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71791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6A5F5-2C57-07D4-DF17-8FE9866EC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Time</a:t>
            </a:r>
          </a:p>
        </p:txBody>
      </p:sp>
    </p:spTree>
    <p:extLst>
      <p:ext uri="{BB962C8B-B14F-4D97-AF65-F5344CB8AC3E}">
        <p14:creationId xmlns:p14="http://schemas.microsoft.com/office/powerpoint/2010/main" val="2046725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750D8-15D6-90A9-B39F-BC6765BA1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PowerShell script</a:t>
            </a:r>
          </a:p>
        </p:txBody>
      </p:sp>
      <p:pic>
        <p:nvPicPr>
          <p:cNvPr id="1026" name="Picture 2" descr="Powershell Icon #48576 - Free Icons Library">
            <a:extLst>
              <a:ext uri="{FF2B5EF4-FFF2-40B4-BE49-F238E27FC236}">
                <a16:creationId xmlns:a16="http://schemas.microsoft.com/office/drawing/2014/main" id="{E6FC4382-87C9-8618-7656-0DC8E9AA5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253490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34399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6A5F5-2C57-07D4-DF17-8FE9866EC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Time</a:t>
            </a:r>
          </a:p>
        </p:txBody>
      </p:sp>
    </p:spTree>
    <p:extLst>
      <p:ext uri="{BB962C8B-B14F-4D97-AF65-F5344CB8AC3E}">
        <p14:creationId xmlns:p14="http://schemas.microsoft.com/office/powerpoint/2010/main" val="41636990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F581C-1A26-B138-2F1B-17DB0DABB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Performance-tuning a UDTT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B2EC5-DFD2-4C93-C51E-632A82342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40179"/>
            <a:ext cx="9692640" cy="48701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A857927-D068-DF11-B933-1242E15B6311}"/>
              </a:ext>
            </a:extLst>
          </p:cNvPr>
          <p:cNvSpPr/>
          <p:nvPr/>
        </p:nvSpPr>
        <p:spPr>
          <a:xfrm>
            <a:off x="5554980" y="3977640"/>
            <a:ext cx="365760" cy="2217420"/>
          </a:xfrm>
          <a:prstGeom prst="rect">
            <a:avLst/>
          </a:prstGeom>
          <a:noFill/>
          <a:ln w="476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C97241-B4EB-D0D2-5D68-A0C2EB614E61}"/>
              </a:ext>
            </a:extLst>
          </p:cNvPr>
          <p:cNvSpPr/>
          <p:nvPr/>
        </p:nvSpPr>
        <p:spPr>
          <a:xfrm>
            <a:off x="1097280" y="4263390"/>
            <a:ext cx="3154680" cy="251460"/>
          </a:xfrm>
          <a:prstGeom prst="rect">
            <a:avLst/>
          </a:prstGeom>
          <a:noFill/>
          <a:ln w="476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3CA93A-2602-39E1-75D3-A420B2E5C1FB}"/>
              </a:ext>
            </a:extLst>
          </p:cNvPr>
          <p:cNvSpPr/>
          <p:nvPr/>
        </p:nvSpPr>
        <p:spPr>
          <a:xfrm>
            <a:off x="1097280" y="6031892"/>
            <a:ext cx="3154680" cy="251460"/>
          </a:xfrm>
          <a:prstGeom prst="rect">
            <a:avLst/>
          </a:prstGeom>
          <a:noFill/>
          <a:ln w="476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DB1027-E409-B577-87A8-6876A3687502}"/>
              </a:ext>
            </a:extLst>
          </p:cNvPr>
          <p:cNvSpPr/>
          <p:nvPr/>
        </p:nvSpPr>
        <p:spPr>
          <a:xfrm>
            <a:off x="1097280" y="4712270"/>
            <a:ext cx="3154680" cy="251460"/>
          </a:xfrm>
          <a:prstGeom prst="rect">
            <a:avLst/>
          </a:prstGeom>
          <a:noFill/>
          <a:ln w="476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C637EA-201F-64DD-A0B8-922C00B1311C}"/>
              </a:ext>
            </a:extLst>
          </p:cNvPr>
          <p:cNvSpPr/>
          <p:nvPr/>
        </p:nvSpPr>
        <p:spPr>
          <a:xfrm>
            <a:off x="1097280" y="5610032"/>
            <a:ext cx="3154680" cy="251460"/>
          </a:xfrm>
          <a:prstGeom prst="rect">
            <a:avLst/>
          </a:prstGeom>
          <a:noFill/>
          <a:ln w="476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4D60FD-A0E5-C6B8-B3B9-D7343A254B76}"/>
              </a:ext>
            </a:extLst>
          </p:cNvPr>
          <p:cNvSpPr/>
          <p:nvPr/>
        </p:nvSpPr>
        <p:spPr>
          <a:xfrm>
            <a:off x="1097280" y="5146243"/>
            <a:ext cx="3154680" cy="251460"/>
          </a:xfrm>
          <a:prstGeom prst="rect">
            <a:avLst/>
          </a:prstGeom>
          <a:noFill/>
          <a:ln w="476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21E773-0F9A-3667-3B6A-7E8B4F2A3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9385" y="1690688"/>
            <a:ext cx="1621650" cy="6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2855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F581C-1A26-B138-2F1B-17DB0DABB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Performance-tuning a UDTT (steps)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104CE-AA4C-15AA-A925-91D0F4E32BEF}"/>
              </a:ext>
            </a:extLst>
          </p:cNvPr>
          <p:cNvSpPr txBox="1"/>
          <p:nvPr/>
        </p:nvSpPr>
        <p:spPr>
          <a:xfrm>
            <a:off x="1253836" y="1815378"/>
            <a:ext cx="96843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Type_Measurements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N'K'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11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N'L'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12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N'M'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13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N'N'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14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N'O'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15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usp_Measurements_Upsert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@LocationCode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@dt_Measurements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@p2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957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F581C-1A26-B138-2F1B-17DB0DABB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Performance-tuning a UDTT (steps)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104CE-AA4C-15AA-A925-91D0F4E32BEF}"/>
              </a:ext>
            </a:extLst>
          </p:cNvPr>
          <p:cNvSpPr txBox="1"/>
          <p:nvPr/>
        </p:nvSpPr>
        <p:spPr>
          <a:xfrm>
            <a:off x="1253836" y="1815378"/>
            <a:ext cx="96843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Type_Measurements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N'K'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11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N'L'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12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N'M'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13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N'N'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14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N'O'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15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--exec [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].[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usp_Measurements_Upsert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] @LocationCode=2,@dt_Measurements=@p2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2547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F581C-1A26-B138-2F1B-17DB0DABB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Performance-tuning a UDTT (steps)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104CE-AA4C-15AA-A925-91D0F4E32BEF}"/>
              </a:ext>
            </a:extLst>
          </p:cNvPr>
          <p:cNvSpPr txBox="1"/>
          <p:nvPr/>
        </p:nvSpPr>
        <p:spPr>
          <a:xfrm>
            <a:off x="1253836" y="1815378"/>
            <a:ext cx="96843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Type_Measurements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N'K'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11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N'L'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12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N'M'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13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N'N'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14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N'O'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15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#p2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--exec [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].[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usp_Measurements_Upsert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] @LocationCode=2,@dt_Measurements=@p2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ED4FF0-8F8A-252E-C4F5-DE44E1C17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034" y="2460828"/>
            <a:ext cx="2923804" cy="96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053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F581C-1A26-B138-2F1B-17DB0DABB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Performance-tuning a UDTT (steps)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104CE-AA4C-15AA-A925-91D0F4E32BEF}"/>
              </a:ext>
            </a:extLst>
          </p:cNvPr>
          <p:cNvSpPr txBox="1"/>
          <p:nvPr/>
        </p:nvSpPr>
        <p:spPr>
          <a:xfrm>
            <a:off x="1253836" y="1815378"/>
            <a:ext cx="96843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Type_Measurements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--insert into @p2 values(N'K',11)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--insert into @p2 values(N'L',12)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--insert into @p2 values(N'M',13)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--insert into @p2 values(N'N',14)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--insert into @p2 values(N'O',15)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#p2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--exec [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].[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usp_Measurements_Upsert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] @LocationCode=2,@dt_Measurements=@p2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5391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F581C-1A26-B138-2F1B-17DB0DABB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Performance-tuning a UDTT (steps)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104CE-AA4C-15AA-A925-91D0F4E32BEF}"/>
              </a:ext>
            </a:extLst>
          </p:cNvPr>
          <p:cNvSpPr txBox="1"/>
          <p:nvPr/>
        </p:nvSpPr>
        <p:spPr>
          <a:xfrm>
            <a:off x="1253836" y="1815378"/>
            <a:ext cx="96843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Type_Measurements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--insert into @p2 values(N'K',11)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--insert into @p2 values(N'L',12)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--insert into @p2 values(N'M',13)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--insert into @p2 values(N'N',14)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--insert into @p2 values(N'O',15)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#p2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#p2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--exec [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].[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usp_Measurements_Upsert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] @LocationCode=2,@dt_Measurements=@p2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55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F581C-1A26-B138-2F1B-17DB0DABB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Performance-tuning a UDTT (steps)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104CE-AA4C-15AA-A925-91D0F4E32BEF}"/>
              </a:ext>
            </a:extLst>
          </p:cNvPr>
          <p:cNvSpPr txBox="1"/>
          <p:nvPr/>
        </p:nvSpPr>
        <p:spPr>
          <a:xfrm>
            <a:off x="1253836" y="1815378"/>
            <a:ext cx="96843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Type_Measurements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--insert into @p2 values(N'K',11)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--insert into @p2 values(N'L',12)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--insert into @p2 values(N'M',13)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--insert into @p2 values(N'N',14)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--insert into @p2 values(N'O',15)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--SELECT * INTO #p2 FROM @p2</a:t>
            </a:r>
            <a:b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#p2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--exec [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].[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usp_Measurements_Upsert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] @LocationCode=2,@dt_Measurements=@p2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5865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F581C-1A26-B138-2F1B-17DB0DABB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Performance-tuning a UDTT (steps)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104CE-AA4C-15AA-A925-91D0F4E32BEF}"/>
              </a:ext>
            </a:extLst>
          </p:cNvPr>
          <p:cNvSpPr txBox="1"/>
          <p:nvPr/>
        </p:nvSpPr>
        <p:spPr>
          <a:xfrm>
            <a:off x="1253836" y="1815378"/>
            <a:ext cx="96843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Type_Measurements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--insert into @p2 values(N'K',11)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--insert into @p2 values(N'L',12)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--insert into @p2 values(N'M',13)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--insert into @p2 values(N'N',14)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--insert into @p2 values(N'O',15)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--SELECT * INTO #p2 FROM @p2</a:t>
            </a:r>
            <a:b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@p2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#p2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usp_Measurements_Upsert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@LocationCode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@dt_Measurements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@p2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B8D3C5-B425-D14B-D516-79859AA8D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034" y="1705824"/>
            <a:ext cx="2923804" cy="10732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AB745E-0C92-C7C3-D91D-BE616D65E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034" y="3110710"/>
            <a:ext cx="2923804" cy="96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69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71B9C-FDE8-9B1D-BD13-65BE7124C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Performance-tuning a UDTT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3D2C086-0B9C-D9F9-7BEC-D7BBD31F6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52143"/>
            <a:ext cx="10828936" cy="439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8001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6A5F5-2C57-07D4-DF17-8FE9866EC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Anger It!</a:t>
            </a:r>
          </a:p>
        </p:txBody>
      </p:sp>
      <p:pic>
        <p:nvPicPr>
          <p:cNvPr id="1028" name="Picture 4" descr="Poking the Bear | New Orleans Pelicans | BourbonStreetShots.com">
            <a:extLst>
              <a:ext uri="{FF2B5EF4-FFF2-40B4-BE49-F238E27FC236}">
                <a16:creationId xmlns:a16="http://schemas.microsoft.com/office/drawing/2014/main" id="{04BEAAF5-4206-D88E-B011-CEEFA329D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894" y="1524434"/>
            <a:ext cx="7116906" cy="4666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6988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6A5F5-2C57-07D4-DF17-8FE9866EC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Anger It!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1180C9-9903-F49C-669D-994528CEB4BC}"/>
              </a:ext>
            </a:extLst>
          </p:cNvPr>
          <p:cNvSpPr txBox="1"/>
          <p:nvPr/>
        </p:nvSpPr>
        <p:spPr>
          <a:xfrm>
            <a:off x="955962" y="1482436"/>
            <a:ext cx="10764983" cy="489364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24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2400" b="1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randomword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240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letters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400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ascii_lowercase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400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digits</a:t>
            </a:r>
            <a:endParaRPr lang="en-US" sz="24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2400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1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2400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choice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letters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400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b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2400" b="1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'Measurement'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'Value'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240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sz="2400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5000000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sz="2400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2400" b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randomword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240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sz="240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sz="2400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US" sz="2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en-US" sz="2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C1F588-4360-6BEA-F51A-0E7CB0F44C2C}"/>
              </a:ext>
            </a:extLst>
          </p:cNvPr>
          <p:cNvSpPr/>
          <p:nvPr/>
        </p:nvSpPr>
        <p:spPr>
          <a:xfrm>
            <a:off x="2550867" y="4768409"/>
            <a:ext cx="2339788" cy="413191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363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BB7140-7745-3B8C-6C9F-275DB3181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28" y="419749"/>
            <a:ext cx="11121143" cy="601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4159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808C7-4687-8CAF-CA67-D6F64ECEF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go from here?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4A8D2-F243-AE85-404D-613EFB9A3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This is great, and I can’t wait to implement it back home!</a:t>
            </a:r>
          </a:p>
          <a:p>
            <a:r>
              <a:rPr lang="en-US" sz="2400" dirty="0"/>
              <a:t>I learned a lot </a:t>
            </a:r>
            <a:r>
              <a:rPr lang="en-US" sz="2400"/>
              <a:t>about UDTTs</a:t>
            </a:r>
            <a:r>
              <a:rPr lang="en-US" sz="2400" dirty="0"/>
              <a:t>, but I will continue to do things the way I currently insert data</a:t>
            </a:r>
          </a:p>
          <a:p>
            <a:r>
              <a:rPr lang="en-US" sz="2400" dirty="0"/>
              <a:t>This is great because now I can effectively argue against this solution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606360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KEEP CLAPPING AND PLEASE NO QUESTIONS - Keep Calm and Posters Generator ...">
            <a:extLst>
              <a:ext uri="{FF2B5EF4-FFF2-40B4-BE49-F238E27FC236}">
                <a16:creationId xmlns:a16="http://schemas.microsoft.com/office/drawing/2014/main" id="{C7062154-267C-8F33-118A-A586F067D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8815" y="608951"/>
            <a:ext cx="4834370" cy="5640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74377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60B561-9B3E-A968-2B4E-7319150C79C4}"/>
              </a:ext>
            </a:extLst>
          </p:cNvPr>
          <p:cNvSpPr txBox="1"/>
          <p:nvPr/>
        </p:nvSpPr>
        <p:spPr>
          <a:xfrm>
            <a:off x="1510146" y="5437227"/>
            <a:ext cx="6802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</a:rPr>
              <a:t>https://github.com/jbfoushee/MyPresentations/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7E1BF-9545-970E-5C17-B09523F51437}"/>
              </a:ext>
            </a:extLst>
          </p:cNvPr>
          <p:cNvSpPr txBox="1"/>
          <p:nvPr/>
        </p:nvSpPr>
        <p:spPr>
          <a:xfrm>
            <a:off x="1510146" y="4895212"/>
            <a:ext cx="74398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https://www.linkedin.com/in</a:t>
            </a:r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</a:rPr>
              <a:t>/jeff-foushee/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26" name="Picture 2" descr="Linkedin-logo | myCloudDoor - Expertise for Cloud Transition">
            <a:extLst>
              <a:ext uri="{FF2B5EF4-FFF2-40B4-BE49-F238E27FC236}">
                <a16:creationId xmlns:a16="http://schemas.microsoft.com/office/drawing/2014/main" id="{7541C2E9-3409-6A8C-14FE-E2F786407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3" y="4897215"/>
            <a:ext cx="678873" cy="38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Logo, symbol, meaning, history, PNG, brand">
            <a:extLst>
              <a:ext uri="{FF2B5EF4-FFF2-40B4-BE49-F238E27FC236}">
                <a16:creationId xmlns:a16="http://schemas.microsoft.com/office/drawing/2014/main" id="{4A4A3218-5674-2C67-8D76-BCC0445E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2" y="5451764"/>
            <a:ext cx="678874" cy="38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F63783-B000-A4BC-CCBD-ECC8D1236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90" y="1578919"/>
            <a:ext cx="2228212" cy="2228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A32F5C-E514-95A5-9E67-696F9A1524ED}"/>
              </a:ext>
            </a:extLst>
          </p:cNvPr>
          <p:cNvSpPr txBox="1"/>
          <p:nvPr/>
        </p:nvSpPr>
        <p:spPr>
          <a:xfrm>
            <a:off x="4225637" y="1020663"/>
            <a:ext cx="644236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Jeff Foushee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Server Database 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Programmer</a:t>
            </a:r>
          </a:p>
          <a:p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Saturday speaker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Blackjack dealer</a:t>
            </a:r>
          </a:p>
        </p:txBody>
      </p:sp>
    </p:spTree>
    <p:extLst>
      <p:ext uri="{BB962C8B-B14F-4D97-AF65-F5344CB8AC3E}">
        <p14:creationId xmlns:p14="http://schemas.microsoft.com/office/powerpoint/2010/main" val="3600115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48863</TotalTime>
  <Words>2408</Words>
  <Application>Microsoft Office PowerPoint</Application>
  <PresentationFormat>Widescreen</PresentationFormat>
  <Paragraphs>331</Paragraphs>
  <Slides>42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4" baseType="lpstr">
      <vt:lpstr>Arial</vt:lpstr>
      <vt:lpstr>Calibri</vt:lpstr>
      <vt:lpstr>Calibri Light</vt:lpstr>
      <vt:lpstr>Cascadia Code</vt:lpstr>
      <vt:lpstr>Cascadia Mono</vt:lpstr>
      <vt:lpstr>Consolas</vt:lpstr>
      <vt:lpstr>Roboto</vt:lpstr>
      <vt:lpstr>Trebuchet MS</vt:lpstr>
      <vt:lpstr>Verdana</vt:lpstr>
      <vt:lpstr>Wingdings 3</vt:lpstr>
      <vt:lpstr>Office Theme</vt:lpstr>
      <vt:lpstr>Facet</vt:lpstr>
      <vt:lpstr>Reviewing after the presentation?</vt:lpstr>
      <vt:lpstr>PowerPoint Presentation</vt:lpstr>
      <vt:lpstr>PowerPoint Presentation</vt:lpstr>
      <vt:lpstr>Why send all the rows at once?</vt:lpstr>
      <vt:lpstr>PowerPoint Presentation</vt:lpstr>
      <vt:lpstr>Life without UDTTs – Row-by-Agonizing-Row</vt:lpstr>
      <vt:lpstr>PowerPoint Presentation</vt:lpstr>
      <vt:lpstr>PowerPoint Presentation</vt:lpstr>
      <vt:lpstr>The back-end SQL Server table</vt:lpstr>
      <vt:lpstr>Create the User-Defined Table Type (UDTT)</vt:lpstr>
      <vt:lpstr>Create the proc to interact with the UDTT</vt:lpstr>
      <vt:lpstr>Demo Time</vt:lpstr>
      <vt:lpstr>Grant the security on the proc</vt:lpstr>
      <vt:lpstr>Already some concerns? (1/6)</vt:lpstr>
      <vt:lpstr>Already some concerns? (2/6)</vt:lpstr>
      <vt:lpstr>Already some concerns? (3/6)</vt:lpstr>
      <vt:lpstr>Already some concerns? (4/6)</vt:lpstr>
      <vt:lpstr>PowerPoint Presentation</vt:lpstr>
      <vt:lpstr>Already some concerns? (5/6)</vt:lpstr>
      <vt:lpstr>Already some concerns? (6/6)</vt:lpstr>
      <vt:lpstr>Life with UDTTs</vt:lpstr>
      <vt:lpstr>Your Python script</vt:lpstr>
      <vt:lpstr>Demo Time</vt:lpstr>
      <vt:lpstr>Your .NET app</vt:lpstr>
      <vt:lpstr>Demo Time</vt:lpstr>
      <vt:lpstr>Your PowerShell script</vt:lpstr>
      <vt:lpstr>Demo Time</vt:lpstr>
      <vt:lpstr>Performance-tuning a UDTT</vt:lpstr>
      <vt:lpstr>Performance-tuning a UDTT (steps)</vt:lpstr>
      <vt:lpstr>Performance-tuning a UDTT (steps)</vt:lpstr>
      <vt:lpstr>Performance-tuning a UDTT (steps)</vt:lpstr>
      <vt:lpstr>Performance-tuning a UDTT (steps)</vt:lpstr>
      <vt:lpstr>Performance-tuning a UDTT (steps)</vt:lpstr>
      <vt:lpstr>Performance-tuning a UDTT (steps)</vt:lpstr>
      <vt:lpstr>Performance-tuning a UDTT (steps)</vt:lpstr>
      <vt:lpstr>Performance-tuning a UDTT</vt:lpstr>
      <vt:lpstr>Let’s Anger It!</vt:lpstr>
      <vt:lpstr>Let’s Anger It!</vt:lpstr>
      <vt:lpstr>PowerPoint Presentation</vt:lpstr>
      <vt:lpstr>Where to go from here?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 F</dc:creator>
  <cp:lastModifiedBy>Jeff Foushee</cp:lastModifiedBy>
  <cp:revision>23</cp:revision>
  <dcterms:created xsi:type="dcterms:W3CDTF">2023-05-18T00:35:51Z</dcterms:created>
  <dcterms:modified xsi:type="dcterms:W3CDTF">2024-07-21T15:42:49Z</dcterms:modified>
</cp:coreProperties>
</file>